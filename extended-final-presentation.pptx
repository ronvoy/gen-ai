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Helvetica Neue"/>
              </a:rPr>
              <a:t>MID-TERM EMPIRICAL STUDY — EXTENDED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67712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0B0B0B"/>
                </a:solidFill>
                <a:latin typeface="Helvetica Neue"/>
              </a:rPr>
              <a:t>LAMBADA &amp; MMLU Benchmark</a:t>
            </a:r>
          </a:p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0B0B0B"/>
                </a:solidFill>
                <a:latin typeface="Helvetica Neue"/>
              </a:rPr>
              <a:t>A Nine-Stage Evaluation of Small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52514E"/>
                </a:solidFill>
                <a:latin typeface="Helvetica Neue"/>
              </a:rPr>
              <a:t>Beyond accuracy: calibration, consistency, context, robustness,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52514E"/>
                </a:solidFill>
                <a:latin typeface="Helvetica Neue"/>
              </a:rPr>
              <a:t>latency, token efficiency, cost and reliability.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8,550 MMLU questions  ·  3,000 LAMBADA passages  ·  3 models  ·  9 measured stages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4846320"/>
            <a:ext cx="10515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50474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98781"/>
                </a:solidFill>
                <a:latin typeface="Helvetica Neue"/>
              </a:rPr>
              <a:t>SUBMITTED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4009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B0B0B"/>
                </a:solidFill>
                <a:latin typeface="Helvetica Neue"/>
              </a:rPr>
              <a:t>Prof. Anna Corazza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98781"/>
                </a:solidFill>
                <a:latin typeface="Helvetica Neue"/>
              </a:rPr>
              <a:t>TEAM WORK — SUBMITTED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9846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B0B0B"/>
                </a:solidFill>
                <a:latin typeface="Helvetica Neue"/>
              </a:rPr>
              <a:t>Francesco Ventimiglia   ·   Danilo Rodriguez   ·   Rohan Baidya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98781"/>
                </a:solidFill>
                <a:latin typeface="Helvetica Neue"/>
              </a:rPr>
              <a:t>github.com/ronvoy/gen-ai   ·   unina.cc/gen-ai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Helvetica Neue"/>
              </a:rPr>
              <a:t>Research Question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48640" y="1691640"/>
            <a:ext cx="11064240" cy="1920240"/>
          </a:xfrm>
          <a:prstGeom prst="rect">
            <a:avLst/>
          </a:prstGeom>
          <a:solidFill>
            <a:srgbClr val="F9F9F7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28600" bIns="228600"/>
          <a:lstStyle/>
          <a:p>
            <a:pPr>
              <a:lnSpc>
                <a:spcPct val="125000"/>
              </a:lnSpc>
            </a:pPr>
            <a:r>
              <a:rPr sz="2100" b="1">
                <a:solidFill>
                  <a:srgbClr val="0B0B0B"/>
                </a:solidFill>
                <a:latin typeface="Helvetica Neue"/>
              </a:rPr>
              <a:t>Among three small language models built with different compression strategies, which best balances quality, calibration, robustness, latency, cost and reliability — on long-range context prediction (LAMBADA) and broad knowledge and reasoning (MMLU)?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2514E"/>
                </a:solidFill>
                <a:latin typeface="Helvetica Neue"/>
              </a:rPr>
              <a:t>In particular: a single accuracy number cannot separate a wrong answer from an unparseable one, a confident-and-right model from a confident-and-wrong one, or cheap tokens from a cheap correct answer. This study measures those separately.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Why accuracy alone cannot answer 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9828"/>
                <a:gridCol w="4204411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A single accuracy number cannot distinguish…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Stage that can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a wrong answer from an unparseable one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1 · parse-failure rate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confident-and-right from confident-and-wrong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2 · ECE, Brier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a stable answer from a lucky one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3 · answer stability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comprehension from local n-gram matching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4 · context ablation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a robust score from a fragile one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5 · perturbation deltas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a fast model from a slow one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6 · TTFT, TPOT, p95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cheap tokens from cheap correct answers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7–8 · cost per correct answer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a clean run from one that silently retried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9 · retries, failover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30352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Helvetica Neue"/>
              </a:rPr>
              <a:t>Each stage exists because it separates two things that accuracy conflates.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EXPERIMENTAL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How one run executes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48640" y="1783080"/>
            <a:ext cx="3566160" cy="1115568"/>
          </a:xfrm>
          <a:prstGeom prst="rect">
            <a:avLst/>
          </a:prstGeom>
          <a:solidFill>
            <a:srgbClr val="F9F9F7"/>
          </a:solidFill>
          <a:ln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74520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Helvetica Neue"/>
              </a:rPr>
              <a:t>1   Configure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03704"/>
            <a:ext cx="3236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RunConfig: models, decoding,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passes, dataset, parallelism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61104" y="1783080"/>
            <a:ext cx="3566160" cy="1115568"/>
          </a:xfrm>
          <a:prstGeom prst="rect">
            <a:avLst/>
          </a:prstGeom>
          <a:solidFill>
            <a:srgbClr val="F9F9F7"/>
          </a:solidFill>
          <a:ln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874520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Helvetica Neue"/>
              </a:rPr>
              <a:t>2   Pre-flight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203704"/>
            <a:ext cx="3236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probe each provider;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warn if rate-limited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3568" y="1783080"/>
            <a:ext cx="3566160" cy="1115568"/>
          </a:xfrm>
          <a:prstGeom prst="rect">
            <a:avLst/>
          </a:prstGeom>
          <a:solidFill>
            <a:srgbClr val="F9F9F7"/>
          </a:solidFill>
          <a:ln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874520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Helvetica Neue"/>
              </a:rPr>
              <a:t>3   Estimate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203704"/>
            <a:ext cx="3236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print the API-call multiplier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before spending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44952"/>
            <a:ext cx="3566160" cy="1115568"/>
          </a:xfrm>
          <a:prstGeom prst="rect">
            <a:avLst/>
          </a:prstGeom>
          <a:solidFill>
            <a:srgbClr val="F9F9F7"/>
          </a:solidFill>
          <a:ln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136392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Helvetica Neue"/>
              </a:rPr>
              <a:t>4   Scored 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465576"/>
            <a:ext cx="3236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chain-of-thought, non-streamed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→ headline accuracy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3044952"/>
            <a:ext cx="3566160" cy="1115568"/>
          </a:xfrm>
          <a:prstGeom prst="rect">
            <a:avLst/>
          </a:prstGeom>
          <a:solidFill>
            <a:srgbClr val="F9F9F7"/>
          </a:solidFill>
          <a:ln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3136392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Helvetica Neue"/>
              </a:rPr>
              <a:t>5   Extended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3465576"/>
            <a:ext cx="3236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streamed → TTFT, TPOT,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tokens, cost, provider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73568" y="3044952"/>
            <a:ext cx="3566160" cy="1115568"/>
          </a:xfrm>
          <a:prstGeom prst="rect">
            <a:avLst/>
          </a:prstGeom>
          <a:solidFill>
            <a:srgbClr val="F9F9F7"/>
          </a:solidFill>
          <a:ln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136392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Helvetica Neue"/>
              </a:rPr>
              <a:t>6   Optional passes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3465576"/>
            <a:ext cx="3236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calibration · repeats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robustness · ablation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06824"/>
            <a:ext cx="3566160" cy="1115568"/>
          </a:xfrm>
          <a:prstGeom prst="rect">
            <a:avLst/>
          </a:prstGeom>
          <a:solidFill>
            <a:srgbClr val="F9F9F7"/>
          </a:solidFill>
          <a:ln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98264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Helvetica Neue"/>
              </a:rPr>
              <a:t>7   Compute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4727448"/>
            <a:ext cx="3236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nine metric blocks, each marked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available or not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61104" y="4306824"/>
            <a:ext cx="3566160" cy="1115568"/>
          </a:xfrm>
          <a:prstGeom prst="rect">
            <a:avLst/>
          </a:prstGeom>
          <a:solidFill>
            <a:srgbClr val="F9F9F7"/>
          </a:solidFill>
          <a:ln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25696" y="4398264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Helvetica Neue"/>
              </a:rPr>
              <a:t>8   Aggregate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5696" y="4727448"/>
            <a:ext cx="3236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rank; refuse if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configurations differ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73568" y="4306824"/>
            <a:ext cx="3566160" cy="1115568"/>
          </a:xfrm>
          <a:prstGeom prst="rect">
            <a:avLst/>
          </a:prstGeom>
          <a:solidFill>
            <a:srgbClr val="F9F9F7"/>
          </a:solidFill>
          <a:ln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0" y="4398264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Helvetica Neue"/>
              </a:rPr>
              <a:t>9   Publish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4727448"/>
            <a:ext cx="3236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results · history · web view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2514E"/>
                </a:solidFill>
                <a:latin typeface="Helvetica Neue"/>
              </a:rPr>
              <a:t>report · slides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898781"/>
                </a:solidFill>
                <a:latin typeface="Helvetica Neue"/>
              </a:rPr>
              <a:t>Stage 10 — TP/PP/DP/SP/CP/EP, VRAM, energy — is absent by design: none of it is observable through a hosted inference API.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EXPERIMENTAL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Two measurement passes per item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11064239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993"/>
                <a:gridCol w="3319272"/>
                <a:gridCol w="1217066"/>
                <a:gridCol w="4978908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Pass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Prompt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Streamed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Produces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Scored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chain-of-thought, then a letter/word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headline accuracy, reasoning analysis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Extended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identical prompt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TTFT, TPOT, throughput, tokens, cost, reliability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Calibration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direct answer, max_tokens = 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option probabilities → NLL, ECE, Brier, rank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703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WHY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05072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TTFT — time to first token — cannot be observed from a single blocking response, so latency requires streaming.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The scored pass also parses and grades the reasoning text, which the streamed path does not.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Providers return log-probabilities for the final token only; at max_tokens = 1 that token is the answer, which is what makes calibration recoverable at 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A78D6"/>
                </a:solidFill>
                <a:latin typeface="Helvetica Neue"/>
              </a:rPr>
              <a:t>Because they are separate API calls, the two accuracies differ slightly even at temperature 0. That residual is serving non-determinism — the web view states the delta rather than showing two numbers unexplained.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Ten stages defined, nine measurable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91640"/>
          <a:ext cx="11064239" cy="3771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"/>
                <a:gridCol w="2766060"/>
                <a:gridCol w="4315053"/>
                <a:gridCol w="1106424"/>
                <a:gridCol w="232349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Stage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Purpose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Band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Observable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Task Quality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Is the answer right?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Probabilistic Quality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Is its confidence earned?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conditional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Reasoning &amp; Consistency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Same answer twice?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Context Behavior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Is it reading the passage?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Robustness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Does the score survive input change?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API Performance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How fast did it respond?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Token Efficiency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How many tokens consumed?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Economics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What did it cost?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Reliability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Did the calls succeed?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Hardware &amp; Distributed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TP/PP/DP · VRAM · energy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no — excluded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98781"/>
                </a:solidFill>
                <a:latin typeface="Helvetica Neue"/>
              </a:rPr>
              <a:t>P0 stages come out of every run. P1 stages each cost one extra pass over the dataset, so they are opt-in and the runner prints the multiplier before spending.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Configuration is not a metric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110642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8351"/>
                <a:gridCol w="4978908"/>
                <a:gridCol w="4646980"/>
              </a:tblGrid>
              <a:tr h="402336"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Configuration variable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Metric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Nature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an input you choose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an output you observe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Examples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TP, PP, DP, SP, CP, EP · dtype · batch size · temperature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accuracy · ECE · TTFT · cost · success rate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Lives in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benchmark_config.py → RunConfig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metrics/ → result blocks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Role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independent variable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dependent variable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8404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2514E"/>
                </a:solidFill>
                <a:latin typeface="Helvetica Neue"/>
              </a:rPr>
              <a:t>Folding a parallelism degree into the same dictionary as an accuracy score invites a category error — ranking models on a composite that blends a hardware layout with a quality measurement.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1772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A78D6"/>
                </a:solidFill>
                <a:latin typeface="Helvetica Neue"/>
              </a:rPr>
              <a:t>A parallelism degree is not a virtue.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1206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Consequence: every result file carries the RunConfig that produced it, and the comparison layer reports comparable: false rather than publishing a confounded ranking when two runs differ.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Datasets and scale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1106424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4425696"/>
                <a:gridCol w="4425696"/>
              </a:tblGrid>
              <a:tr h="402336"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MMLU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LAMBADA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Task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4-option multiple choice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predict the final word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Tests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knowledge and reasoning, 57 subjects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long-range reading comprehension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Items per model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2,850  (57 subjects × 50)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1,000 passages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Chance baseline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25%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≈ 0% (open vocabulary)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Scored by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letter match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normalised word match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Source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HF datasets-server, cached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BookCorpus test split, local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98781"/>
                </a:solidFill>
                <a:latin typeface="Helvetica Neue"/>
              </a:rPr>
              <a:t>Ground truth comes from the source datasets — the official answer key and the gold target word — never inferred.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INVOLVED 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Three compression strategies compared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11064239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563"/>
                <a:gridCol w="995781"/>
                <a:gridCol w="4757623"/>
                <a:gridCol w="3319272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Params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Architecture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Key technique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Gemma-3-4B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4B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Dense decoder-only, interleaved local/global attention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Knowledge distillation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Llama-3.2-3B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3B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Dense decoder-only with Grouped Query Attention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Pruning + distillation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Ministral-8B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8B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Decoder-only with Sliding Window Attention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Native 8B, not distilled down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794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THE COMPARISON THIS SETS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Two compressed models (Gemma, Llama) against one trained at its native size (Ministral).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All three queried through the same API, with one shared configuration, so differences are attributable to the models.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No weights are changed — only decoding parameters vary, and identically across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CONSIDERED MODEL(S)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B0B0B"/>
                </a:solidFill>
                <a:latin typeface="Helvetica Neue"/>
              </a:rPr>
              <a:t>Gemma-3-4B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157276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Helvetica Neue"/>
              </a:rPr>
              <a:t>Google ·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04288"/>
            <a:ext cx="5349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Dense decoder-only transformer that interleaves five local sliding-window attention layers with one global layer, so most layers stay cheap while information still crosses the whole context.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011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KEY PROPERTIES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304288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5:1 local / global attention interleaving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Grouped Query Attention with QK-norm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128k-token context window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Distilled from a larger teacher model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461772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TRADE-OFF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02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B0B0B"/>
                </a:solidFill>
                <a:latin typeface="Helvetica Neue"/>
              </a:rPr>
              <a:t>Strong quality per parameter; global reasoning can lag full attention.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CONSIDERED MODEL(S)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B0B0B"/>
                </a:solidFill>
                <a:latin typeface="Helvetica Neue"/>
              </a:rPr>
              <a:t>Llama-3.2-3B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157276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Helvetica Neue"/>
              </a:rPr>
              <a:t>Meta · 3B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04288"/>
            <a:ext cx="5349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The standard Llama recipe scaled down: rotary position embeddings, grouped query attention and SwiGLU feed-forward layers, pruned and distilled from larger Llama 3.1 checkpoints.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011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KEY PROPERTIES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304288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Dense decoder-only, no architectural novelty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RoPE for length generalisation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Grouped Query Attention, SwiGLU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Smallest and fastest of the three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461772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TRADE-OFF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02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B0B0B"/>
                </a:solidFill>
                <a:latin typeface="Helvetica Neue"/>
              </a:rPr>
              <a:t>Very small and quick to serve; lower ceiling on complex reasoning.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CONSIDERED MODEL(S)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B0B0B"/>
                </a:solidFill>
                <a:latin typeface="Helvetica Neue"/>
              </a:rPr>
              <a:t>Ministral-8B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157276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Helvetica Neue"/>
              </a:rPr>
              <a:t>Mistral AI · 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04288"/>
            <a:ext cx="5349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Interleaved sliding-window attention keeps memory low on long inputs; grouped query attention shrinks the KV cache further. Trained at 8B rather than compressed down from a larger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011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KEY PROPERTIES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304288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Interleaved sliding window attention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Grouped Query Attention for a smaller KV cache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Depth propagates context beyond one window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Tuned for long-context edge inference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461772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TRADE-OFF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02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B0B0B"/>
                </a:solidFill>
                <a:latin typeface="Helvetica Neue"/>
              </a:rPr>
              <a:t>Best quality here; distant context can fade across windows.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COMMENTS AND DISCUSSION BEFORE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Stages 1–2 · Quality and calibration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1106423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4132"/>
                <a:gridCol w="6859828"/>
                <a:gridCol w="1770278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Metric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Good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Overall accuracy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correct ÷ questions actually answered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higher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Macro accuracy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mean of per-subject accuracies, so a big subject cannot dominate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higher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Normalised accuracy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(acc − 25%) ÷ 75% — distance above coin-flipping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higher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Wilson 95% CI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binomial interval that stays inside [0,1] at small 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narrower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Parse-failure rate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no extractable answer — disobedience, not ignorance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ECE / MCE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does stated confidence match observed accuracy; and the worst bin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Brier score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proper scoring rule — cannot be gamed by hedging at 50%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NLL / perplexity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how surprised the model was by the truth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A78D6"/>
                </a:solidFill>
                <a:latin typeface="Helvetica Neue"/>
              </a:rPr>
              <a:t>Accuracy is scored over questions the API answered. A request refused with a 429 says nothing about what the model knows; counting it wrong measures provider load.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COMMENTS AND DISCUSSION BEFORE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Stages 3–5 · Consistency, context, robustness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11064238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4132"/>
                <a:gridCol w="6859828"/>
                <a:gridCol w="1770278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Metric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Good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Answer stability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share of items where every repeat gave the same answer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higher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Self-consistency gain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majority-vote accuracy minus single-sample accuracy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higher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Context utilisation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acc(full passage) − acc(last sentence only)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higher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Utilisation ratio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share of skill that depends on the wider passage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higher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Accuracy drop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baseline minus perturbed accuracy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→ 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Flip rate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answers that changed at all — catches offsetting errors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Broke / fixed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right→wrong and wrong→right, counted separately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TWO THINGS WORTH STATING ALOUD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010912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At temperature 0 any instability comes from the serving stack, not sampling — if seed spread rivals the gap between two models, that gap is noise.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Flat accuracy under perturbation is not robustness if equal numbers of answers broke and were accidentally fixed.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COMMENTS AND DISCUSSION BEFORE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Stages 6–9 · Serving, cost and reliability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1106423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4132"/>
                <a:gridCol w="6859828"/>
                <a:gridCol w="1770278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Metric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Good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TTFT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time to the first content token — what makes a chat feel responsive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TPOT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(E2E − TTFT) ÷ (tokens − 1) — steady-state generation rate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p95 / p99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tail latency; for serving the tail is the user experience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Reasoning tokens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tokens spent thinking — 0 is a real answer, not a gap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Cost per 1M tokens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blended price actually paid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Cost per correct answer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money per useful answer — the selection criterion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Invalid output rate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a 200 response carrying nothing usable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Retries / failover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how hard the client tried; whether the backend changed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lower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A78D6"/>
                </a:solidFill>
                <a:latin typeface="Helvetica Neue"/>
              </a:rPr>
              <a:t>A run that silently retried a third of its requests produces the same accuracy table as a clean one. Stage 9 is the only place that difference survives.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COMMENTS AND DISCUSSION BEFORE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What this setup cannot measure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1106423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3126"/>
                <a:gridCol w="2212848"/>
                <a:gridCol w="4868265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Field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Accuracy, consistency, context, robustness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measured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prompt manipulation and repeat calls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TTFT / TPOT / E2E, throughput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measured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client-side, from the streamed response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Tokens, reasoning tokens, cost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provider-reported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returned in the API usage payload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Calibration (ECE, Brier, NLL)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provider-dependent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only some providers return log-probabilities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VRAM, KV cache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analytic only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computed from published architecture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Energy, communication overhead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unavailable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needs on-host telemetry we do not have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TP / PP / DP / SP / CP / EP effects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unavailable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0B0B"/>
                          </a:solidFill>
                          <a:latin typeface="Helvetica Neue"/>
                        </a:rPr>
                        <a:t>the provider chooses the layout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4632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Every numeric field carries a source tag — measured, provider_reported, analytic_model, or unavailable with a reason. Unmeasurable blocks are emitted as available: false, never as zeros.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A78D6"/>
                </a:solidFill>
                <a:latin typeface="Helvetica Neue"/>
              </a:rPr>
              <a:t>A fabricated calibration figure would be worse than a missing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MMLU — task quality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157276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Helvetica Neue"/>
              </a:rPr>
              <a:t>2,850 items per model  ·  Wilson 95% confidence intervals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011680"/>
          <a:ext cx="11064239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9272"/>
                <a:gridCol w="1991563"/>
                <a:gridCol w="2434132"/>
                <a:gridCol w="1659636"/>
                <a:gridCol w="1659636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</a:rPr>
                        <a:t>Accuracy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</a:rPr>
                        <a:t>95% CI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</a:rPr>
                        <a:t>Error rate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</a:rPr>
                        <a:t>Parse fail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Gemma-3-4B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B0B0B"/>
                          </a:solidFill>
                          <a:latin typeface="Helvetica Neue"/>
                        </a:rPr>
                        <a:t>60.4%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58.5 – 62.1%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39.6%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0.4%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Llama-3.2-3B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B0B0B"/>
                          </a:solidFill>
                          <a:latin typeface="Helvetica Neue"/>
                        </a:rPr>
                        <a:t>54.7%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52.8 – 56.5%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45.3%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11.7%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Ministral-8B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B0B0B"/>
                          </a:solidFill>
                          <a:latin typeface="Helvetica Neue"/>
                        </a:rPr>
                        <a:t>79.3%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77.8 – 80.8%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20.7%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0.6%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READING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24528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Ministral-8B leads at 79.3%.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Llama-3.2-3B returns no parseable answer on 11.7% of items — an instruction-following failure, reported apart from being wrong because the fixes differ.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Intervals are shown so differences inside them are not claimed as findings.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MMLU — serving, cost and reliability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11064238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4775"/>
                <a:gridCol w="1438351"/>
                <a:gridCol w="1438351"/>
                <a:gridCol w="1548993"/>
                <a:gridCol w="1438351"/>
                <a:gridCol w="1548993"/>
                <a:gridCol w="1106424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TTFT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E2E p95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Tok / correct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$ / 1M tok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$ / correct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Success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Gemma-3-4B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0.582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3.117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564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$0.0821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$0.000046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99.9%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Llama-3.2-3B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0.330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1.171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572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$0.1453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$0.000083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Ministral-8B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0.413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2.738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419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$0.1226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$0.000051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7490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READING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41648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Gemma-3-4B costs $0.000046 per correct answer against $0.000083 for Llama-3.2-3B — 1.8× more.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Latency is client-measured; tokens and cost are provider-reported. Nothing here is estimated.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MMLU — composite ranking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11064238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0837"/>
                <a:gridCol w="3037242"/>
                <a:gridCol w="1410148"/>
                <a:gridCol w="1627094"/>
                <a:gridCol w="1410148"/>
                <a:gridCol w="1410148"/>
                <a:gridCol w="1518621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Quality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Robustness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Efficiency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Reliability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Composite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ministral-8b-2512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0.793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0.476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0.994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0.776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llama-3.2-3b-instruct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0.547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0.883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0.659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gemma-3-4b-it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0.604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0.373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0.996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0.627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7947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Helvetica Neue"/>
              </a:rPr>
              <a:t>composite  =  0.50 · quality   +   0.15 · calibration   +   0.15 · robustness   +   0.10 · efficiency   +   0.10 · reliability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Calibration is absent because the routed providers returned no log-probabilities. Rather than scoring it zero, the weight is redistributed over the components that were measured, and each row records which those were.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all models share one run configuration - differences are attributable to the models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LAMBADA — task quality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157276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Helvetica Neue"/>
              </a:rPr>
              <a:t>1,000 items per model  ·  Wilson 95% confidence intervals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011680"/>
          <a:ext cx="11064239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9272"/>
                <a:gridCol w="1991563"/>
                <a:gridCol w="2434132"/>
                <a:gridCol w="1659636"/>
                <a:gridCol w="1659636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</a:rPr>
                        <a:t>Accuracy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</a:rPr>
                        <a:t>95% CI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</a:rPr>
                        <a:t>Error rate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</a:rPr>
                        <a:t>Parse fail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Gemma-3-4B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B0B0B"/>
                          </a:solidFill>
                          <a:latin typeface="Helvetica Neue"/>
                        </a:rPr>
                        <a:t>18.0%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15.7 – 20.5%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82.0%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0.1%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Llama-3.2-3B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B0B0B"/>
                          </a:solidFill>
                          <a:latin typeface="Helvetica Neue"/>
                        </a:rPr>
                        <a:t>22.5%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20.0 – 25.2%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77.5%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Ministral-8B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B0B0B"/>
                          </a:solidFill>
                          <a:latin typeface="Helvetica Neue"/>
                        </a:rPr>
                        <a:t>39.9%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36.9 – 43.0%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60.1%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Helvetica Neue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READING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24528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Ministral-8B leads at 39.9%.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Intervals are shown so differences inside them are not claimed as findings.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LAMBADA — serving, cost and reliability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11064238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4775"/>
                <a:gridCol w="1438351"/>
                <a:gridCol w="1438351"/>
                <a:gridCol w="1548993"/>
                <a:gridCol w="1438351"/>
                <a:gridCol w="1548993"/>
                <a:gridCol w="1106424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TTFT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E2E p95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Tok / correct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$ / 1M tok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$ / correct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Success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Gemma-3-4B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0.531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1.336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1060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$0.1005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$0.000107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Llama-3.2-3B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0.345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0.665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954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$0.1062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$0.000101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Ministral-8B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0.537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1.316 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462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$0.2082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$0.000096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7490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Helvetica Neue"/>
              </a:rPr>
              <a:t>READING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41648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Gemma-3-4B has the cheapest tokens, but Ministral-8B the cheapest correct answer — accuracy converts token price into value.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Ministral-8B costs $0.000096 per correct answer against $0.000107 for Gemma-3-4B — 1.1× more.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Latency is client-measured; tokens and cost are provider-reported. Nothing here is estimated.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LAMBADA — composite ranking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11064238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0837"/>
                <a:gridCol w="3037242"/>
                <a:gridCol w="1410148"/>
                <a:gridCol w="1627094"/>
                <a:gridCol w="1410148"/>
                <a:gridCol w="1410148"/>
                <a:gridCol w="1518621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Quality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Robustness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Efficiency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Reliability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Composite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ministral-8b-2512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0.399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0.623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0.517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llama-3.2-3b-instruct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0.225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0.446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gemma-3-4b-it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0.180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0.657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Helvetica Neue"/>
                        </a:rPr>
                        <a:t>0.999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0.365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7947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Helvetica Neue"/>
              </a:rPr>
              <a:t>composite  =  0.50 · quality   +   0.15 · calibration   +   0.15 · robustness   +   0.10 · efficiency   +   0.10 · reliability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Calibration is absent because the routed providers returned no log-probabilities. Rather than scoring it zero, the weight is redistributed over the components that were measured, and each row records which those were.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all models share one run configuration - differences are attributable to the models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The web view — run record and stages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16459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0B0B"/>
                </a:solidFill>
                <a:latin typeface="Helvetica Neue"/>
              </a:rPr>
              <a:t>The run record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5349240" cy="3017520"/>
          </a:xfrm>
          <a:prstGeom prst="rect">
            <a:avLst/>
          </a:prstGeom>
          <a:solidFill>
            <a:srgbClr val="F9F9F7"/>
          </a:solidFill>
          <a:ln w="12700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98781"/>
                </a:solidFill>
                <a:latin typeface="Helvetica Neue"/>
              </a:rPr>
              <a:t>[ screenshot placeholder ]</a:t>
            </a:r>
          </a:p>
          <a:p>
            <a:pPr algn="ctr"/>
            <a:r>
              <a:rPr sz="1100" b="0">
                <a:solidFill>
                  <a:srgbClr val="898781"/>
                </a:solidFill>
                <a:latin typeface="Helvetica Neue"/>
              </a:rPr>
              <a:t>diagram-analysis/analysis-01-history-overview.png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2064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898781"/>
                </a:solidFill>
                <a:latin typeface="Helvetica Neue"/>
              </a:rPr>
              <a:t>History: one card per run, with metric-family and configuration chips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459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0B0B"/>
                </a:solidFill>
                <a:latin typeface="Helvetica Neue"/>
              </a:rPr>
              <a:t>Nine stages per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011680"/>
            <a:ext cx="5349240" cy="3017520"/>
          </a:xfrm>
          <a:prstGeom prst="rect">
            <a:avLst/>
          </a:prstGeom>
          <a:solidFill>
            <a:srgbClr val="F9F9F7"/>
          </a:solidFill>
          <a:ln w="12700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98781"/>
                </a:solidFill>
                <a:latin typeface="Helvetica Neue"/>
              </a:rPr>
              <a:t>[ screenshot placeholder ]</a:t>
            </a:r>
          </a:p>
          <a:p>
            <a:pPr algn="ctr"/>
            <a:r>
              <a:rPr sz="1100" b="0">
                <a:solidFill>
                  <a:srgbClr val="898781"/>
                </a:solidFill>
                <a:latin typeface="Helvetica Neue"/>
              </a:rPr>
              <a:t>diagram-analysis/analysis-03-stage-list.png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12064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898781"/>
                </a:solidFill>
                <a:latin typeface="Helvetica Neue"/>
              </a:rPr>
              <a:t>Families with no data carry an n/a badge rather than being hidden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The web view — quality and calibration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16459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0B0B"/>
                </a:solidFill>
                <a:latin typeface="Helvetica Neue"/>
              </a:rPr>
              <a:t>Stage 1 in the web 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5349240" cy="3017520"/>
          </a:xfrm>
          <a:prstGeom prst="rect">
            <a:avLst/>
          </a:prstGeom>
          <a:solidFill>
            <a:srgbClr val="F9F9F7"/>
          </a:solidFill>
          <a:ln w="12700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98781"/>
                </a:solidFill>
                <a:latin typeface="Helvetica Neue"/>
              </a:rPr>
              <a:t>[ screenshot placeholder ]</a:t>
            </a:r>
          </a:p>
          <a:p>
            <a:pPr algn="ctr"/>
            <a:r>
              <a:rPr sz="1100" b="0">
                <a:solidFill>
                  <a:srgbClr val="898781"/>
                </a:solidFill>
                <a:latin typeface="Helvetica Neue"/>
              </a:rPr>
              <a:t>diagram-analysis/analysis-04-task-quality.png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2064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898781"/>
                </a:solidFill>
                <a:latin typeface="Helvetica Neue"/>
              </a:rPr>
              <a:t>Wilson intervals, per-subject tables and option-position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459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0B0B"/>
                </a:solidFill>
                <a:latin typeface="Helvetica Neue"/>
              </a:rPr>
              <a:t>Stage 2 — reporting absence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011680"/>
            <a:ext cx="5349240" cy="3017520"/>
          </a:xfrm>
          <a:prstGeom prst="rect">
            <a:avLst/>
          </a:prstGeom>
          <a:solidFill>
            <a:srgbClr val="F9F9F7"/>
          </a:solidFill>
          <a:ln w="12700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98781"/>
                </a:solidFill>
                <a:latin typeface="Helvetica Neue"/>
              </a:rPr>
              <a:t>[ screenshot placeholder ]</a:t>
            </a:r>
          </a:p>
          <a:p>
            <a:pPr algn="ctr"/>
            <a:r>
              <a:rPr sz="1100" b="0">
                <a:solidFill>
                  <a:srgbClr val="898781"/>
                </a:solidFill>
                <a:latin typeface="Helvetica Neue"/>
              </a:rPr>
              <a:t>diagram-analysis/analysis-06-calibration-unavailable.png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12064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898781"/>
                </a:solidFill>
                <a:latin typeface="Helvetica Neue"/>
              </a:rPr>
              <a:t>An explicit unavailability notice with its reason, instead of a zero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The web view — latency and reliability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16459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0B0B"/>
                </a:solidFill>
                <a:latin typeface="Helvetica Neue"/>
              </a:rPr>
              <a:t>Stage 6 — latency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5349240" cy="3017520"/>
          </a:xfrm>
          <a:prstGeom prst="rect">
            <a:avLst/>
          </a:prstGeom>
          <a:solidFill>
            <a:srgbClr val="F9F9F7"/>
          </a:solidFill>
          <a:ln w="12700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98781"/>
                </a:solidFill>
                <a:latin typeface="Helvetica Neue"/>
              </a:rPr>
              <a:t>[ screenshot placeholder ]</a:t>
            </a:r>
          </a:p>
          <a:p>
            <a:pPr algn="ctr"/>
            <a:r>
              <a:rPr sz="1100" b="0">
                <a:solidFill>
                  <a:srgbClr val="898781"/>
                </a:solidFill>
                <a:latin typeface="Helvetica Neue"/>
              </a:rPr>
              <a:t>diagram-analysis/analysis-10-api-performance.png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2064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898781"/>
                </a:solidFill>
                <a:latin typeface="Helvetica Neue"/>
              </a:rPr>
              <a:t>TTFT, TPOT and E2E with p50 / p95 / p99, plus throughput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459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0B0B"/>
                </a:solidFill>
                <a:latin typeface="Helvetica Neue"/>
              </a:rPr>
              <a:t>Stage 9 — reliability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011680"/>
            <a:ext cx="5349240" cy="3017520"/>
          </a:xfrm>
          <a:prstGeom prst="rect">
            <a:avLst/>
          </a:prstGeom>
          <a:solidFill>
            <a:srgbClr val="F9F9F7"/>
          </a:solidFill>
          <a:ln w="12700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98781"/>
                </a:solidFill>
                <a:latin typeface="Helvetica Neue"/>
              </a:rPr>
              <a:t>[ screenshot placeholder ]</a:t>
            </a:r>
          </a:p>
          <a:p>
            <a:pPr algn="ctr"/>
            <a:r>
              <a:rPr sz="1100" b="0">
                <a:solidFill>
                  <a:srgbClr val="898781"/>
                </a:solidFill>
                <a:latin typeface="Helvetica Neue"/>
              </a:rPr>
              <a:t>diagram-analysis/analysis-13-reliability.png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12064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898781"/>
                </a:solidFill>
                <a:latin typeface="Helvetica Neue"/>
              </a:rPr>
              <a:t>Retries, failures and provider failover — invisible to accuracy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The web view — configuration and controls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16459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0B0B"/>
                </a:solidFill>
                <a:latin typeface="Helvetica Neue"/>
              </a:rPr>
              <a:t>Configuration as input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5349240" cy="3017520"/>
          </a:xfrm>
          <a:prstGeom prst="rect">
            <a:avLst/>
          </a:prstGeom>
          <a:solidFill>
            <a:srgbClr val="F9F9F7"/>
          </a:solidFill>
          <a:ln w="12700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98781"/>
                </a:solidFill>
                <a:latin typeface="Helvetica Neue"/>
              </a:rPr>
              <a:t>[ screenshot placeholder ]</a:t>
            </a:r>
          </a:p>
          <a:p>
            <a:pPr algn="ctr"/>
            <a:r>
              <a:rPr sz="1100" b="0">
                <a:solidFill>
                  <a:srgbClr val="898781"/>
                </a:solidFill>
                <a:latin typeface="Helvetica Neue"/>
              </a:rPr>
              <a:t>diagram-analysis/analysis-14-run-config.png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2064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898781"/>
                </a:solidFill>
                <a:latin typeface="Helvetica Neue"/>
              </a:rPr>
              <a:t>TP/PP/DP/SP/CP/EP recorded and labelled as input, never scored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459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0B0B"/>
                </a:solidFill>
                <a:latin typeface="Helvetica Neue"/>
              </a:rPr>
              <a:t>Run controls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011680"/>
            <a:ext cx="5349240" cy="3017520"/>
          </a:xfrm>
          <a:prstGeom prst="rect">
            <a:avLst/>
          </a:prstGeom>
          <a:solidFill>
            <a:srgbClr val="F9F9F7"/>
          </a:solidFill>
          <a:ln w="12700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98781"/>
                </a:solidFill>
                <a:latin typeface="Helvetica Neue"/>
              </a:rPr>
              <a:t>[ screenshot placeholder ]</a:t>
            </a:r>
          </a:p>
          <a:p>
            <a:pPr algn="ctr"/>
            <a:r>
              <a:rPr sz="1100" b="0">
                <a:solidFill>
                  <a:srgbClr val="898781"/>
                </a:solidFill>
                <a:latin typeface="Helvetica Neue"/>
              </a:rPr>
              <a:t>diagram-analysis/analysis-15-decoding-panel.png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12064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898781"/>
                </a:solidFill>
                <a:latin typeface="Helvetica Neue"/>
              </a:rPr>
              <a:t>Nine decoding parameters; the call multiplier shown before spending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DISCUSSION OF 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Findings accuracy alone would have missed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11064239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563"/>
                <a:gridCol w="9072676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Stage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Finding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1 · Task Quality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Llama-3.2-3B returns no parseable answer on 11.7% of questions — disobedience scored as ignorance.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Tokenization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On 3+-token targets Ministral-8B holds 34% while Gemma-3-4B collapses to 3% — a vocabulary handicap, not a comprehension gap.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9 · Reliability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Gemma-3-4B: 40 retries, 0.1% transport failures — invisible in an accuracy table and unrecoverable after the fact without this stage.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8 · Economics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Llama-3.2-3B costs 1.8× more per correct answer than Gemma-3-4B — token price inverts once accuracy is applied.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2 · Probabilistic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Helvetica Neue"/>
                        </a:rPr>
                        <a:t>Whether calibration is obtainable at all depends on which provider OpenRouter routes to — a property of the serving path, not the model.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DISCUSSION OF 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0B0B"/>
                </a:solidFill>
                <a:latin typeface="Helvetica Neue"/>
              </a:rPr>
              <a:t>Part of the LAMBADA gap is the tokenizer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11064237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4132"/>
                <a:gridCol w="1880920"/>
                <a:gridCol w="1438351"/>
                <a:gridCol w="1548993"/>
                <a:gridCol w="1548993"/>
                <a:gridCol w="2212848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1-token targets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2-token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3+-token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Collapse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Tokenizer exact?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Gemma-3-4B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23.6%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10.6%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2.6%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+21.0 pp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no — fallback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Llama-3.2-3B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29.5%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13.4%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2.6%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+26.9 pp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no — fallback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Ministral-8B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44.3%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34.8%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34.5%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+9.8 pp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70332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A multi-token target must be produced correctly several times over — a mechanical handicap, not a comprehension one.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 i="0">
                <a:solidFill>
                  <a:srgbClr val="52514E"/>
                </a:solidFill>
                <a:latin typeface="Helvetica Neue"/>
              </a:rPr>
              <a:t>—  Comparing raw LAMBADA scores without this split treats a vocabulary difference as a capability difference.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A78D6"/>
                </a:solidFill>
                <a:latin typeface="Helvetica Neue"/>
              </a:rPr>
              <a:t>Caveat: Gemma-3-4B, Llama-3.2-3B fell back to a generic BPE vocabulary because their Hugging Face tokenizers are gated. The trend within each model holds; the fragmentation rates are not comparable across models.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0B0B"/>
                </a:solidFill>
                <a:latin typeface="Helvetica Neue"/>
              </a:rPr>
              <a:t>Conclusions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B0B0B"/>
                </a:solidFill>
                <a:latin typeface="Helvetica Neue"/>
              </a:rPr>
              <a:t>Does a larger, non-distilled model beat smaller compressed ones?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9384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2514E"/>
                </a:solidFill>
                <a:latin typeface="Helvetica Neue"/>
              </a:rPr>
              <a:t>On task quality, consistently — Ministral-8B leads both benchmarks. But the nine-stage view shows the answer is not one-dimensional: the smaller models win on latency and, on MMLU, on cost per correct answer, and second place changes hands depending on whether reliability is counted.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8152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B0B0B"/>
                </a:solidFill>
                <a:latin typeface="Helvetica Neue"/>
              </a:rPr>
              <a:t>What the extra stages bought.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02152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2514E"/>
                </a:solidFill>
                <a:latin typeface="Helvetica Neue"/>
              </a:rPr>
              <a:t>Findings invisible to accuracy alone: an instruction-following failure mistaken for ignorance; a tokenizer handicap mistaken for a comprehension gap; a token price that inverts once accuracy is applied; and serving failures hidden inside a clean score.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54296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B0B0B"/>
                </a:solidFill>
                <a:latin typeface="Helvetica Neue"/>
              </a:rPr>
              <a:t>The methodological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7492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2514E"/>
                </a:solidFill>
                <a:latin typeface="Helvetica Neue"/>
              </a:rPr>
              <a:t>Configuration and measurement are kept apart — parallelism degrees and decoding settings are inputs recorded in a run manifest, never folded into a score. That is what lets the comparison layer refuse to rank runs that are not comparable, which is the correct output in that case.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17220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Helvetica Neue"/>
              </a:rPr>
              <a:t>Absence is reported, not filled in — the difference between a benchmark you can cite and one you cannot.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LAMBADA &amp; MMLU Benchmark Evaluation — Extended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98781"/>
                </a:solidFill>
                <a:latin typeface="Helvetica Neue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78D6"/>
                </a:solidFill>
                <a:latin typeface="Helvetica Neue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B0B0B"/>
                </a:solidFill>
                <a:latin typeface="Helvetica Neue"/>
              </a:rPr>
              <a:t>Sources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508760"/>
            <a:ext cx="1109167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178308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Hendrycks, D. et al. (2021). Measuring Massive Multitask Language Understanding. ICLR 2021.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Paperno, D. et al. (2016). The LAMBADA dataset. ACL 2016.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Guo, C. et al. (2017). On Calibration of Modern Neural Networks. ICML 2017.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Brier, G. W. (1950). Verification of Forecasts Expressed in Terms of Probability. Monthly Weather Review.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Wilson, E. B. (1927). Probable Inference, the Law of Succession, and Statistical Inference. JASA.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Wang, X. et al. (2023). Self-Consistency Improves Chain of Thought Reasoning. ICLR 2023.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Gao, L. et al. (2024). A Framework for Few-Shot Language Model Evaluation (lm-evaluation-harness).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Shoeybi, M. et al. (2019). Megatron-LM: Training Multi-Billion Parameter Models Using Model Parallelism.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Kwon, W. et al. (2023). Efficient Memory Management for LLM Serving with PagedAttention (vLLM). SOSP 2023.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00" b="0" i="0">
                <a:solidFill>
                  <a:srgbClr val="52514E"/>
                </a:solidFill>
                <a:latin typeface="Helvetica Neue"/>
              </a:rPr>
              <a:t>—  Google (2025) Gemma 3 technical report · Meta (2024) Llama 3.2 model card · Mistral AI (2024) Ministral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Helvetica Neue"/>
              </a:rPr>
              <a:t>github.com/ronvoy/gen-ai   ·   unina.cc/gen-ai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