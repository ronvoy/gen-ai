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874519"/>
            <a:ext cx="10515600" cy="365760"/>
          </a:xfrm>
          <a:prstGeom prst="rect">
            <a:avLst/>
          </a:prstGeom>
          <a:noFill/>
        </p:spPr>
        <p:txBody>
          <a:bodyPr wrap="square">
            <a:spAutoFit/>
          </a:bodyPr>
          <a:lstStyle/>
          <a:p>
            <a:pPr algn="l">
              <a:lnSpc>
                <a:spcPct val="115000"/>
              </a:lnSpc>
            </a:pPr>
            <a:r>
              <a:rPr sz="1400" b="1" i="0">
                <a:solidFill>
                  <a:srgbClr val="2A78D6"/>
                </a:solidFill>
                <a:latin typeface="Helvetica Neue"/>
              </a:rPr>
              <a:t>MID-TERM EMPIRICAL STUDY — EXTENDED</a:t>
            </a:r>
          </a:p>
        </p:txBody>
      </p:sp>
      <p:sp>
        <p:nvSpPr>
          <p:cNvPr id="5" name="TextBox 4"/>
          <p:cNvSpPr txBox="1"/>
          <p:nvPr/>
        </p:nvSpPr>
        <p:spPr>
          <a:xfrm>
            <a:off x="822960" y="2267712"/>
            <a:ext cx="10515600" cy="1554480"/>
          </a:xfrm>
          <a:prstGeom prst="rect">
            <a:avLst/>
          </a:prstGeom>
          <a:noFill/>
        </p:spPr>
        <p:txBody>
          <a:bodyPr wrap="square">
            <a:spAutoFit/>
          </a:bodyPr>
          <a:lstStyle/>
          <a:p>
            <a:pPr algn="l">
              <a:lnSpc>
                <a:spcPct val="112000"/>
              </a:lnSpc>
            </a:pPr>
            <a:r>
              <a:rPr sz="3400" b="1" i="0">
                <a:solidFill>
                  <a:srgbClr val="0B0B0B"/>
                </a:solidFill>
                <a:latin typeface="Helvetica Neue"/>
              </a:rPr>
              <a:t>LAMBADA &amp; MMLU Benchmark</a:t>
            </a:r>
          </a:p>
          <a:p>
            <a:pPr algn="l">
              <a:lnSpc>
                <a:spcPct val="112000"/>
              </a:lnSpc>
            </a:pPr>
            <a:r>
              <a:rPr sz="3400" b="1" i="0">
                <a:solidFill>
                  <a:srgbClr val="0B0B0B"/>
                </a:solidFill>
                <a:latin typeface="Helvetica Neue"/>
              </a:rPr>
              <a:t>A Nine-Stage Evaluation of Small Language Models</a:t>
            </a:r>
          </a:p>
        </p:txBody>
      </p:sp>
      <p:sp>
        <p:nvSpPr>
          <p:cNvPr id="6" name="TextBox 5"/>
          <p:cNvSpPr txBox="1"/>
          <p:nvPr/>
        </p:nvSpPr>
        <p:spPr>
          <a:xfrm>
            <a:off x="822960" y="3657600"/>
            <a:ext cx="10515600" cy="822960"/>
          </a:xfrm>
          <a:prstGeom prst="rect">
            <a:avLst/>
          </a:prstGeom>
          <a:noFill/>
        </p:spPr>
        <p:txBody>
          <a:bodyPr wrap="square">
            <a:spAutoFit/>
          </a:bodyPr>
          <a:lstStyle/>
          <a:p>
            <a:pPr algn="l">
              <a:lnSpc>
                <a:spcPct val="130000"/>
              </a:lnSpc>
            </a:pPr>
            <a:r>
              <a:rPr sz="1450" b="0" i="0">
                <a:solidFill>
                  <a:srgbClr val="52514E"/>
                </a:solidFill>
                <a:latin typeface="Helvetica Neue"/>
              </a:rPr>
              <a:t>Beyond accuracy: calibration, consistency, context, robustness,</a:t>
            </a:r>
          </a:p>
          <a:p>
            <a:pPr algn="l">
              <a:lnSpc>
                <a:spcPct val="130000"/>
              </a:lnSpc>
            </a:pPr>
            <a:r>
              <a:rPr sz="1450" b="0" i="0">
                <a:solidFill>
                  <a:srgbClr val="52514E"/>
                </a:solidFill>
                <a:latin typeface="Helvetica Neue"/>
              </a:rPr>
              <a:t>latency, token efficiency, cost and reliability.</a:t>
            </a:r>
          </a:p>
        </p:txBody>
      </p:sp>
      <p:sp>
        <p:nvSpPr>
          <p:cNvPr id="7" name="TextBox 6"/>
          <p:cNvSpPr txBox="1"/>
          <p:nvPr/>
        </p:nvSpPr>
        <p:spPr>
          <a:xfrm>
            <a:off x="822960" y="4370832"/>
            <a:ext cx="10515600" cy="320040"/>
          </a:xfrm>
          <a:prstGeom prst="rect">
            <a:avLst/>
          </a:prstGeom>
          <a:noFill/>
        </p:spPr>
        <p:txBody>
          <a:bodyPr wrap="square">
            <a:spAutoFit/>
          </a:bodyPr>
          <a:lstStyle/>
          <a:p>
            <a:pPr algn="l">
              <a:lnSpc>
                <a:spcPct val="115000"/>
              </a:lnSpc>
            </a:pPr>
            <a:r>
              <a:rPr sz="1250" b="1" i="0">
                <a:solidFill>
                  <a:srgbClr val="2A78D6"/>
                </a:solidFill>
                <a:latin typeface="Helvetica Neue"/>
              </a:rPr>
              <a:t>8,550 MMLU questions  ·  3,000 LAMBADA passages  ·  3 models  ·  9 measured stages</a:t>
            </a:r>
          </a:p>
        </p:txBody>
      </p:sp>
      <p:cxnSp>
        <p:nvCxnSpPr>
          <p:cNvPr id="8" name="Connector 7"/>
          <p:cNvCxnSpPr/>
          <p:nvPr/>
        </p:nvCxnSpPr>
        <p:spPr>
          <a:xfrm>
            <a:off x="822960" y="4846320"/>
            <a:ext cx="10515600"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22960" y="5047488"/>
            <a:ext cx="5486400" cy="320040"/>
          </a:xfrm>
          <a:prstGeom prst="rect">
            <a:avLst/>
          </a:prstGeom>
          <a:noFill/>
        </p:spPr>
        <p:txBody>
          <a:bodyPr wrap="square">
            <a:spAutoFit/>
          </a:bodyPr>
          <a:lstStyle/>
          <a:p>
            <a:pPr algn="l">
              <a:lnSpc>
                <a:spcPct val="115000"/>
              </a:lnSpc>
            </a:pPr>
            <a:r>
              <a:rPr sz="1050" b="1" i="0">
                <a:solidFill>
                  <a:srgbClr val="898781"/>
                </a:solidFill>
                <a:latin typeface="Helvetica Neue"/>
              </a:rPr>
              <a:t>SUBMITTED TO</a:t>
            </a:r>
          </a:p>
        </p:txBody>
      </p:sp>
      <p:sp>
        <p:nvSpPr>
          <p:cNvPr id="10" name="TextBox 9"/>
          <p:cNvSpPr txBox="1"/>
          <p:nvPr/>
        </p:nvSpPr>
        <p:spPr>
          <a:xfrm>
            <a:off x="822960" y="5340096"/>
            <a:ext cx="5486400" cy="365760"/>
          </a:xfrm>
          <a:prstGeom prst="rect">
            <a:avLst/>
          </a:prstGeom>
          <a:noFill/>
        </p:spPr>
        <p:txBody>
          <a:bodyPr wrap="square">
            <a:spAutoFit/>
          </a:bodyPr>
          <a:lstStyle/>
          <a:p>
            <a:pPr algn="l">
              <a:lnSpc>
                <a:spcPct val="115000"/>
              </a:lnSpc>
            </a:pPr>
            <a:r>
              <a:rPr sz="1400" b="0" i="0">
                <a:solidFill>
                  <a:srgbClr val="0B0B0B"/>
                </a:solidFill>
                <a:latin typeface="Helvetica Neue"/>
              </a:rPr>
              <a:t>Prof. Anna Corazza</a:t>
            </a:r>
          </a:p>
        </p:txBody>
      </p:sp>
      <p:sp>
        <p:nvSpPr>
          <p:cNvPr id="11" name="TextBox 10"/>
          <p:cNvSpPr txBox="1"/>
          <p:nvPr/>
        </p:nvSpPr>
        <p:spPr>
          <a:xfrm>
            <a:off x="822960" y="5705856"/>
            <a:ext cx="8229600" cy="320040"/>
          </a:xfrm>
          <a:prstGeom prst="rect">
            <a:avLst/>
          </a:prstGeom>
          <a:noFill/>
        </p:spPr>
        <p:txBody>
          <a:bodyPr wrap="square">
            <a:spAutoFit/>
          </a:bodyPr>
          <a:lstStyle/>
          <a:p>
            <a:pPr algn="l">
              <a:lnSpc>
                <a:spcPct val="115000"/>
              </a:lnSpc>
            </a:pPr>
            <a:r>
              <a:rPr sz="1050" b="1" i="0">
                <a:solidFill>
                  <a:srgbClr val="898781"/>
                </a:solidFill>
                <a:latin typeface="Helvetica Neue"/>
              </a:rPr>
              <a:t>TEAM WORK — SUBMITTED BY</a:t>
            </a:r>
          </a:p>
        </p:txBody>
      </p:sp>
      <p:sp>
        <p:nvSpPr>
          <p:cNvPr id="12" name="TextBox 11"/>
          <p:cNvSpPr txBox="1"/>
          <p:nvPr/>
        </p:nvSpPr>
        <p:spPr>
          <a:xfrm>
            <a:off x="822960" y="5998464"/>
            <a:ext cx="8229600" cy="365760"/>
          </a:xfrm>
          <a:prstGeom prst="rect">
            <a:avLst/>
          </a:prstGeom>
          <a:noFill/>
        </p:spPr>
        <p:txBody>
          <a:bodyPr wrap="square">
            <a:spAutoFit/>
          </a:bodyPr>
          <a:lstStyle/>
          <a:p>
            <a:pPr algn="l">
              <a:lnSpc>
                <a:spcPct val="115000"/>
              </a:lnSpc>
            </a:pPr>
            <a:r>
              <a:rPr sz="1400" b="0" i="0">
                <a:solidFill>
                  <a:srgbClr val="0B0B0B"/>
                </a:solidFill>
                <a:latin typeface="Helvetica Neue"/>
              </a:rPr>
              <a:t>Francesco Ventimiglia   ·   Danilo Rodriguez   ·   Rohan Baidya</a:t>
            </a:r>
          </a:p>
        </p:txBody>
      </p:sp>
      <p:sp>
        <p:nvSpPr>
          <p:cNvPr id="13" name="TextBox 12"/>
          <p:cNvSpPr txBox="1"/>
          <p:nvPr/>
        </p:nvSpPr>
        <p:spPr>
          <a:xfrm>
            <a:off x="822960" y="6419088"/>
            <a:ext cx="8229600" cy="320040"/>
          </a:xfrm>
          <a:prstGeom prst="rect">
            <a:avLst/>
          </a:prstGeom>
          <a:noFill/>
        </p:spPr>
        <p:txBody>
          <a:bodyPr wrap="square">
            <a:spAutoFit/>
          </a:bodyPr>
          <a:lstStyle/>
          <a:p>
            <a:pPr algn="l">
              <a:lnSpc>
                <a:spcPct val="115000"/>
              </a:lnSpc>
            </a:pPr>
            <a:r>
              <a:rPr sz="1050" b="0" i="0">
                <a:solidFill>
                  <a:srgbClr val="898781"/>
                </a:solidFill>
                <a:latin typeface="Helvetica Neue"/>
              </a:rPr>
              <a:t>github.com/ronvoy/gen-ai   ·   unina.cc/gen-ai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510528"/>
            <a:ext cx="5486400" cy="274320"/>
          </a:xfrm>
          <a:prstGeom prst="rect">
            <a:avLst/>
          </a:prstGeom>
          <a:noFill/>
        </p:spPr>
        <p:txBody>
          <a:bodyPr wrap="square">
            <a:spAutoFit/>
          </a:bodyPr>
          <a:lstStyle/>
          <a:p>
            <a:pPr algn="l">
              <a:lnSpc>
                <a:spcPct val="115000"/>
              </a:lnSpc>
            </a:pPr>
            <a:r>
              <a:rPr sz="900" b="0" i="0">
                <a:solidFill>
                  <a:srgbClr val="898781"/>
                </a:solidFill>
                <a:latin typeface="Helvetica Neue"/>
              </a:rPr>
              <a:t>LAMBADA &amp; MMLU Benchmark Evaluation — Extended</a:t>
            </a:r>
          </a:p>
        </p:txBody>
      </p:sp>
      <p:sp>
        <p:nvSpPr>
          <p:cNvPr id="4" name="TextBox 3"/>
          <p:cNvSpPr txBox="1"/>
          <p:nvPr/>
        </p:nvSpPr>
        <p:spPr>
          <a:xfrm>
            <a:off x="11338560" y="6510528"/>
            <a:ext cx="457200" cy="274320"/>
          </a:xfrm>
          <a:prstGeom prst="rect">
            <a:avLst/>
          </a:prstGeom>
          <a:noFill/>
        </p:spPr>
        <p:txBody>
          <a:bodyPr wrap="square">
            <a:spAutoFit/>
          </a:bodyPr>
          <a:lstStyle/>
          <a:p>
            <a:pPr algn="r">
              <a:lnSpc>
                <a:spcPct val="115000"/>
              </a:lnSpc>
            </a:pPr>
            <a:r>
              <a:rPr sz="900" b="0" i="0">
                <a:solidFill>
                  <a:srgbClr val="898781"/>
                </a:solidFill>
                <a:latin typeface="Helvetica Neue"/>
              </a:rPr>
              <a:t>1</a:t>
            </a:r>
          </a:p>
        </p:txBody>
      </p:sp>
      <p:sp>
        <p:nvSpPr>
          <p:cNvPr id="5" name="TextBox 4"/>
          <p:cNvSpPr txBox="1"/>
          <p:nvPr/>
        </p:nvSpPr>
        <p:spPr>
          <a:xfrm>
            <a:off x="548640" y="502920"/>
            <a:ext cx="11064240" cy="640080"/>
          </a:xfrm>
          <a:prstGeom prst="rect">
            <a:avLst/>
          </a:prstGeom>
          <a:noFill/>
        </p:spPr>
        <p:txBody>
          <a:bodyPr wrap="square">
            <a:spAutoFit/>
          </a:bodyPr>
          <a:lstStyle/>
          <a:p>
            <a:pPr algn="l">
              <a:lnSpc>
                <a:spcPct val="115000"/>
              </a:lnSpc>
            </a:pPr>
            <a:r>
              <a:rPr sz="3000" b="1" i="0">
                <a:solidFill>
                  <a:srgbClr val="0B0B0B"/>
                </a:solidFill>
                <a:latin typeface="Helvetica Neue"/>
              </a:rPr>
              <a:t>Research Question</a:t>
            </a:r>
          </a:p>
        </p:txBody>
      </p:sp>
      <p:cxnSp>
        <p:nvCxnSpPr>
          <p:cNvPr id="6" name="Connector 5"/>
          <p:cNvCxnSpPr/>
          <p:nvPr/>
        </p:nvCxnSpPr>
        <p:spPr>
          <a:xfrm>
            <a:off x="548640" y="1188720"/>
            <a:ext cx="11091672"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548640" y="1691640"/>
            <a:ext cx="11064240" cy="1920240"/>
          </a:xfrm>
          <a:prstGeom prst="rect">
            <a:avLst/>
          </a:prstGeom>
          <a:solidFill>
            <a:srgbClr val="F9F9F7"/>
          </a:solidFill>
          <a:ln w="1905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320040" tIns="228600" bIns="228600"/>
          <a:lstStyle/>
          <a:p>
            <a:pPr>
              <a:lnSpc>
                <a:spcPct val="125000"/>
              </a:lnSpc>
            </a:pPr>
            <a:r>
              <a:rPr sz="2100" b="1">
                <a:solidFill>
                  <a:srgbClr val="0B0B0B"/>
                </a:solidFill>
                <a:latin typeface="Helvetica Neue"/>
              </a:rPr>
              <a:t>Among three small language models built with different compression strategies, which best balances quality, calibration, robustness, latency, cost and reliability — on long-range context prediction (LAMBADA) and broad knowledge and reasoning (MMLU)?</a:t>
            </a:r>
          </a:p>
        </p:txBody>
      </p:sp>
      <p:sp>
        <p:nvSpPr>
          <p:cNvPr id="8" name="TextBox 7"/>
          <p:cNvSpPr txBox="1"/>
          <p:nvPr/>
        </p:nvSpPr>
        <p:spPr>
          <a:xfrm>
            <a:off x="548640" y="3931920"/>
            <a:ext cx="11064240" cy="1463040"/>
          </a:xfrm>
          <a:prstGeom prst="rect">
            <a:avLst/>
          </a:prstGeom>
          <a:noFill/>
        </p:spPr>
        <p:txBody>
          <a:bodyPr wrap="square">
            <a:spAutoFit/>
          </a:bodyPr>
          <a:lstStyle/>
          <a:p>
            <a:pPr algn="l">
              <a:lnSpc>
                <a:spcPct val="130000"/>
              </a:lnSpc>
            </a:pPr>
            <a:r>
              <a:rPr sz="1600" b="0" i="0">
                <a:solidFill>
                  <a:srgbClr val="52514E"/>
                </a:solidFill>
                <a:latin typeface="Helvetica Neue"/>
              </a:rPr>
              <a:t>In particular: a single accuracy number cannot separate a wrong answer from an unparseable one, a confident-and-right model from a confident-and-wrong one, or cheap tokens from a cheap correct answer. This study measures those separately.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510528"/>
            <a:ext cx="5486400" cy="274320"/>
          </a:xfrm>
          <a:prstGeom prst="rect">
            <a:avLst/>
          </a:prstGeom>
          <a:noFill/>
        </p:spPr>
        <p:txBody>
          <a:bodyPr wrap="square">
            <a:spAutoFit/>
          </a:bodyPr>
          <a:lstStyle/>
          <a:p>
            <a:pPr algn="l">
              <a:lnSpc>
                <a:spcPct val="115000"/>
              </a:lnSpc>
            </a:pPr>
            <a:r>
              <a:rPr sz="900" b="0" i="0">
                <a:solidFill>
                  <a:srgbClr val="898781"/>
                </a:solidFill>
                <a:latin typeface="Helvetica Neue"/>
              </a:rPr>
              <a:t>LAMBADA &amp; MMLU Benchmark Evaluation — Extended</a:t>
            </a:r>
          </a:p>
        </p:txBody>
      </p:sp>
      <p:sp>
        <p:nvSpPr>
          <p:cNvPr id="4" name="TextBox 3"/>
          <p:cNvSpPr txBox="1"/>
          <p:nvPr/>
        </p:nvSpPr>
        <p:spPr>
          <a:xfrm>
            <a:off x="11338560" y="6510528"/>
            <a:ext cx="457200" cy="274320"/>
          </a:xfrm>
          <a:prstGeom prst="rect">
            <a:avLst/>
          </a:prstGeom>
          <a:noFill/>
        </p:spPr>
        <p:txBody>
          <a:bodyPr wrap="square">
            <a:spAutoFit/>
          </a:bodyPr>
          <a:lstStyle/>
          <a:p>
            <a:pPr algn="r">
              <a:lnSpc>
                <a:spcPct val="115000"/>
              </a:lnSpc>
            </a:pPr>
            <a:r>
              <a:rPr sz="900" b="0" i="0">
                <a:solidFill>
                  <a:srgbClr val="898781"/>
                </a:solidFill>
                <a:latin typeface="Helvetica Neue"/>
              </a:rPr>
              <a:t>2</a:t>
            </a:r>
          </a:p>
        </p:txBody>
      </p:sp>
      <p:sp>
        <p:nvSpPr>
          <p:cNvPr id="5" name="TextBox 4"/>
          <p:cNvSpPr txBox="1"/>
          <p:nvPr/>
        </p:nvSpPr>
        <p:spPr>
          <a:xfrm>
            <a:off x="548640" y="320040"/>
            <a:ext cx="10058400" cy="320040"/>
          </a:xfrm>
          <a:prstGeom prst="rect">
            <a:avLst/>
          </a:prstGeom>
          <a:noFill/>
        </p:spPr>
        <p:txBody>
          <a:bodyPr wrap="square">
            <a:spAutoFit/>
          </a:bodyPr>
          <a:lstStyle/>
          <a:p>
            <a:pPr algn="l">
              <a:lnSpc>
                <a:spcPct val="115000"/>
              </a:lnSpc>
            </a:pPr>
            <a:r>
              <a:rPr sz="1250" b="1" i="0">
                <a:solidFill>
                  <a:srgbClr val="2A78D6"/>
                </a:solidFill>
                <a:latin typeface="Helvetica Neue"/>
              </a:rPr>
              <a:t>RESEARCH QUESTION</a:t>
            </a:r>
          </a:p>
        </p:txBody>
      </p:sp>
      <p:sp>
        <p:nvSpPr>
          <p:cNvPr id="6" name="TextBox 5"/>
          <p:cNvSpPr txBox="1"/>
          <p:nvPr/>
        </p:nvSpPr>
        <p:spPr>
          <a:xfrm>
            <a:off x="548640" y="914400"/>
            <a:ext cx="11064240" cy="640080"/>
          </a:xfrm>
          <a:prstGeom prst="rect">
            <a:avLst/>
          </a:prstGeom>
          <a:noFill/>
        </p:spPr>
        <p:txBody>
          <a:bodyPr wrap="square">
            <a:spAutoFit/>
          </a:bodyPr>
          <a:lstStyle/>
          <a:p>
            <a:pPr algn="l">
              <a:lnSpc>
                <a:spcPct val="115000"/>
              </a:lnSpc>
            </a:pPr>
            <a:r>
              <a:rPr sz="2600" b="1" i="0">
                <a:solidFill>
                  <a:srgbClr val="0B0B0B"/>
                </a:solidFill>
                <a:latin typeface="Helvetica Neue"/>
              </a:rPr>
              <a:t>Why accuracy alone cannot answer it</a:t>
            </a:r>
          </a:p>
        </p:txBody>
      </p:sp>
      <p:cxnSp>
        <p:nvCxnSpPr>
          <p:cNvPr id="7" name="Connector 6"/>
          <p:cNvCxnSpPr/>
          <p:nvPr/>
        </p:nvCxnSpPr>
        <p:spPr>
          <a:xfrm>
            <a:off x="548640" y="1508760"/>
            <a:ext cx="11091672"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548640" y="1783080"/>
          <a:ext cx="11064239" cy="3291840"/>
        </p:xfrm>
        <a:graphic>
          <a:graphicData uri="http://schemas.openxmlformats.org/drawingml/2006/table">
            <a:tbl>
              <a:tblPr firstRow="1" bandRow="1">
                <a:tableStyleId>{5C22544A-7EE6-4342-B048-85BDC9FD1C3A}</a:tableStyleId>
              </a:tblPr>
              <a:tblGrid>
                <a:gridCol w="6859828"/>
                <a:gridCol w="4204411"/>
              </a:tblGrid>
              <a:tr h="365760">
                <a:tc>
                  <a:txBody>
                    <a:bodyPr/>
                    <a:lstStyle/>
                    <a:p>
                      <a:pPr algn="l"/>
                      <a:r>
                        <a:rPr sz="1300" b="1">
                          <a:solidFill>
                            <a:srgbClr val="FFFFFF"/>
                          </a:solidFill>
                          <a:latin typeface="Helvetica Neue"/>
                        </a:rPr>
                        <a:t>A single accuracy number cannot distinguish…</a:t>
                      </a:r>
                    </a:p>
                  </a:txBody>
                  <a:tcPr marL="73152" marR="73152" marT="27432" marB="27432" anchor="ctr">
                    <a:solidFill>
                      <a:srgbClr val="0B0B0B"/>
                    </a:solidFill>
                  </a:tcPr>
                </a:tc>
                <a:tc>
                  <a:txBody>
                    <a:bodyPr/>
                    <a:lstStyle/>
                    <a:p>
                      <a:pPr algn="ctr"/>
                      <a:r>
                        <a:rPr sz="1300" b="1">
                          <a:solidFill>
                            <a:srgbClr val="FFFFFF"/>
                          </a:solidFill>
                          <a:latin typeface="Helvetica Neue"/>
                        </a:rPr>
                        <a:t>Stage that can</a:t>
                      </a:r>
                    </a:p>
                  </a:txBody>
                  <a:tcPr marL="73152" marR="73152" marT="27432" marB="27432" anchor="ctr">
                    <a:solidFill>
                      <a:srgbClr val="0B0B0B"/>
                    </a:solidFill>
                  </a:tcPr>
                </a:tc>
              </a:tr>
              <a:tr h="365760">
                <a:tc>
                  <a:txBody>
                    <a:bodyPr/>
                    <a:lstStyle/>
                    <a:p>
                      <a:pPr algn="l"/>
                      <a:r>
                        <a:rPr sz="1300" b="0">
                          <a:solidFill>
                            <a:srgbClr val="0B0B0B"/>
                          </a:solidFill>
                          <a:latin typeface="Helvetica Neue"/>
                        </a:rPr>
                        <a:t>a wrong answer from an unparseable one</a:t>
                      </a:r>
                    </a:p>
                  </a:txBody>
                  <a:tcPr marL="73152" marR="73152" marT="27432" marB="27432" anchor="ctr">
                    <a:solidFill>
                      <a:srgbClr val="FCFCFB"/>
                    </a:solidFill>
                  </a:tcPr>
                </a:tc>
                <a:tc>
                  <a:txBody>
                    <a:bodyPr/>
                    <a:lstStyle/>
                    <a:p>
                      <a:pPr algn="ctr"/>
                      <a:r>
                        <a:rPr sz="1300" b="0">
                          <a:solidFill>
                            <a:srgbClr val="0B0B0B"/>
                          </a:solidFill>
                          <a:latin typeface="Helvetica Neue"/>
                        </a:rPr>
                        <a:t>1 · parse-failure rate</a:t>
                      </a:r>
                    </a:p>
                  </a:txBody>
                  <a:tcPr marL="73152" marR="73152" marT="27432" marB="27432" anchor="ctr">
                    <a:solidFill>
                      <a:srgbClr val="FCFCFB"/>
                    </a:solidFill>
                  </a:tcPr>
                </a:tc>
              </a:tr>
              <a:tr h="365760">
                <a:tc>
                  <a:txBody>
                    <a:bodyPr/>
                    <a:lstStyle/>
                    <a:p>
                      <a:pPr algn="l"/>
                      <a:r>
                        <a:rPr sz="1300" b="0">
                          <a:solidFill>
                            <a:srgbClr val="0B0B0B"/>
                          </a:solidFill>
                          <a:latin typeface="Helvetica Neue"/>
                        </a:rPr>
                        <a:t>confident-and-right from confident-and-wrong</a:t>
                      </a:r>
                    </a:p>
                  </a:txBody>
                  <a:tcPr marL="73152" marR="73152" marT="27432" marB="27432" anchor="ctr">
                    <a:solidFill>
                      <a:srgbClr val="FCFCFB"/>
                    </a:solidFill>
                  </a:tcPr>
                </a:tc>
                <a:tc>
                  <a:txBody>
                    <a:bodyPr/>
                    <a:lstStyle/>
                    <a:p>
                      <a:pPr algn="ctr"/>
                      <a:r>
                        <a:rPr sz="1300" b="0">
                          <a:solidFill>
                            <a:srgbClr val="0B0B0B"/>
                          </a:solidFill>
                          <a:latin typeface="Helvetica Neue"/>
                        </a:rPr>
                        <a:t>2 · ECE, Brier</a:t>
                      </a:r>
                    </a:p>
                  </a:txBody>
                  <a:tcPr marL="73152" marR="73152" marT="27432" marB="27432" anchor="ctr">
                    <a:solidFill>
                      <a:srgbClr val="FCFCFB"/>
                    </a:solidFill>
                  </a:tcPr>
                </a:tc>
              </a:tr>
              <a:tr h="365760">
                <a:tc>
                  <a:txBody>
                    <a:bodyPr/>
                    <a:lstStyle/>
                    <a:p>
                      <a:pPr algn="l"/>
                      <a:r>
                        <a:rPr sz="1300" b="0">
                          <a:solidFill>
                            <a:srgbClr val="0B0B0B"/>
                          </a:solidFill>
                          <a:latin typeface="Helvetica Neue"/>
                        </a:rPr>
                        <a:t>a stable answer from a lucky one</a:t>
                      </a:r>
                    </a:p>
                  </a:txBody>
                  <a:tcPr marL="73152" marR="73152" marT="27432" marB="27432" anchor="ctr">
                    <a:solidFill>
                      <a:srgbClr val="FCFCFB"/>
                    </a:solidFill>
                  </a:tcPr>
                </a:tc>
                <a:tc>
                  <a:txBody>
                    <a:bodyPr/>
                    <a:lstStyle/>
                    <a:p>
                      <a:pPr algn="ctr"/>
                      <a:r>
                        <a:rPr sz="1300" b="0">
                          <a:solidFill>
                            <a:srgbClr val="0B0B0B"/>
                          </a:solidFill>
                          <a:latin typeface="Helvetica Neue"/>
                        </a:rPr>
                        <a:t>3 · answer stability</a:t>
                      </a:r>
                    </a:p>
                  </a:txBody>
                  <a:tcPr marL="73152" marR="73152" marT="27432" marB="27432" anchor="ctr">
                    <a:solidFill>
                      <a:srgbClr val="FCFCFB"/>
                    </a:solidFill>
                  </a:tcPr>
                </a:tc>
              </a:tr>
              <a:tr h="365760">
                <a:tc>
                  <a:txBody>
                    <a:bodyPr/>
                    <a:lstStyle/>
                    <a:p>
                      <a:pPr algn="l"/>
                      <a:r>
                        <a:rPr sz="1300" b="0">
                          <a:solidFill>
                            <a:srgbClr val="0B0B0B"/>
                          </a:solidFill>
                          <a:latin typeface="Helvetica Neue"/>
                        </a:rPr>
                        <a:t>comprehension from local n-gram matching</a:t>
                      </a:r>
                    </a:p>
                  </a:txBody>
                  <a:tcPr marL="73152" marR="73152" marT="27432" marB="27432" anchor="ctr">
                    <a:solidFill>
                      <a:srgbClr val="FCFCFB"/>
                    </a:solidFill>
                  </a:tcPr>
                </a:tc>
                <a:tc>
                  <a:txBody>
                    <a:bodyPr/>
                    <a:lstStyle/>
                    <a:p>
                      <a:pPr algn="ctr"/>
                      <a:r>
                        <a:rPr sz="1300" b="0">
                          <a:solidFill>
                            <a:srgbClr val="0B0B0B"/>
                          </a:solidFill>
                          <a:latin typeface="Helvetica Neue"/>
                        </a:rPr>
                        <a:t>4 · context ablation</a:t>
                      </a:r>
                    </a:p>
                  </a:txBody>
                  <a:tcPr marL="73152" marR="73152" marT="27432" marB="27432" anchor="ctr">
                    <a:solidFill>
                      <a:srgbClr val="FCFCFB"/>
                    </a:solidFill>
                  </a:tcPr>
                </a:tc>
              </a:tr>
              <a:tr h="365760">
                <a:tc>
                  <a:txBody>
                    <a:bodyPr/>
                    <a:lstStyle/>
                    <a:p>
                      <a:pPr algn="l"/>
                      <a:r>
                        <a:rPr sz="1300" b="0">
                          <a:solidFill>
                            <a:srgbClr val="0B0B0B"/>
                          </a:solidFill>
                          <a:latin typeface="Helvetica Neue"/>
                        </a:rPr>
                        <a:t>a robust score from a fragile one</a:t>
                      </a:r>
                    </a:p>
                  </a:txBody>
                  <a:tcPr marL="73152" marR="73152" marT="27432" marB="27432" anchor="ctr">
                    <a:solidFill>
                      <a:srgbClr val="FCFCFB"/>
                    </a:solidFill>
                  </a:tcPr>
                </a:tc>
                <a:tc>
                  <a:txBody>
                    <a:bodyPr/>
                    <a:lstStyle/>
                    <a:p>
                      <a:pPr algn="ctr"/>
                      <a:r>
                        <a:rPr sz="1300" b="0">
                          <a:solidFill>
                            <a:srgbClr val="0B0B0B"/>
                          </a:solidFill>
                          <a:latin typeface="Helvetica Neue"/>
                        </a:rPr>
                        <a:t>5 · perturbation deltas</a:t>
                      </a:r>
                    </a:p>
                  </a:txBody>
                  <a:tcPr marL="73152" marR="73152" marT="27432" marB="27432" anchor="ctr">
                    <a:solidFill>
                      <a:srgbClr val="FCFCFB"/>
                    </a:solidFill>
                  </a:tcPr>
                </a:tc>
              </a:tr>
              <a:tr h="365760">
                <a:tc>
                  <a:txBody>
                    <a:bodyPr/>
                    <a:lstStyle/>
                    <a:p>
                      <a:pPr algn="l"/>
                      <a:r>
                        <a:rPr sz="1300" b="0">
                          <a:solidFill>
                            <a:srgbClr val="0B0B0B"/>
                          </a:solidFill>
                          <a:latin typeface="Helvetica Neue"/>
                        </a:rPr>
                        <a:t>a fast model from a slow one</a:t>
                      </a:r>
                    </a:p>
                  </a:txBody>
                  <a:tcPr marL="73152" marR="73152" marT="27432" marB="27432" anchor="ctr">
                    <a:solidFill>
                      <a:srgbClr val="FCFCFB"/>
                    </a:solidFill>
                  </a:tcPr>
                </a:tc>
                <a:tc>
                  <a:txBody>
                    <a:bodyPr/>
                    <a:lstStyle/>
                    <a:p>
                      <a:pPr algn="ctr"/>
                      <a:r>
                        <a:rPr sz="1300" b="0">
                          <a:solidFill>
                            <a:srgbClr val="0B0B0B"/>
                          </a:solidFill>
                          <a:latin typeface="Helvetica Neue"/>
                        </a:rPr>
                        <a:t>6 · TTFT, TPOT, p95</a:t>
                      </a:r>
                    </a:p>
                  </a:txBody>
                  <a:tcPr marL="73152" marR="73152" marT="27432" marB="27432" anchor="ctr">
                    <a:solidFill>
                      <a:srgbClr val="FCFCFB"/>
                    </a:solidFill>
                  </a:tcPr>
                </a:tc>
              </a:tr>
              <a:tr h="365760">
                <a:tc>
                  <a:txBody>
                    <a:bodyPr/>
                    <a:lstStyle/>
                    <a:p>
                      <a:pPr algn="l"/>
                      <a:r>
                        <a:rPr sz="1300" b="0">
                          <a:solidFill>
                            <a:srgbClr val="0B0B0B"/>
                          </a:solidFill>
                          <a:latin typeface="Helvetica Neue"/>
                        </a:rPr>
                        <a:t>cheap tokens from cheap correct answers</a:t>
                      </a:r>
                    </a:p>
                  </a:txBody>
                  <a:tcPr marL="73152" marR="73152" marT="27432" marB="27432" anchor="ctr">
                    <a:solidFill>
                      <a:srgbClr val="FCFCFB"/>
                    </a:solidFill>
                  </a:tcPr>
                </a:tc>
                <a:tc>
                  <a:txBody>
                    <a:bodyPr/>
                    <a:lstStyle/>
                    <a:p>
                      <a:pPr algn="ctr"/>
                      <a:r>
                        <a:rPr sz="1300" b="0">
                          <a:solidFill>
                            <a:srgbClr val="0B0B0B"/>
                          </a:solidFill>
                          <a:latin typeface="Helvetica Neue"/>
                        </a:rPr>
                        <a:t>7–8 · cost per correct answer</a:t>
                      </a:r>
                    </a:p>
                  </a:txBody>
                  <a:tcPr marL="73152" marR="73152" marT="27432" marB="27432" anchor="ctr">
                    <a:solidFill>
                      <a:srgbClr val="FCFCFB"/>
                    </a:solidFill>
                  </a:tcPr>
                </a:tc>
              </a:tr>
              <a:tr h="365760">
                <a:tc>
                  <a:txBody>
                    <a:bodyPr/>
                    <a:lstStyle/>
                    <a:p>
                      <a:pPr algn="l"/>
                      <a:r>
                        <a:rPr sz="1300" b="0">
                          <a:solidFill>
                            <a:srgbClr val="0B0B0B"/>
                          </a:solidFill>
                          <a:latin typeface="Helvetica Neue"/>
                        </a:rPr>
                        <a:t>a clean run from one that silently retried</a:t>
                      </a:r>
                    </a:p>
                  </a:txBody>
                  <a:tcPr marL="73152" marR="73152" marT="27432" marB="27432" anchor="ctr">
                    <a:solidFill>
                      <a:srgbClr val="FCFCFB"/>
                    </a:solidFill>
                  </a:tcPr>
                </a:tc>
                <a:tc>
                  <a:txBody>
                    <a:bodyPr/>
                    <a:lstStyle/>
                    <a:p>
                      <a:pPr algn="ctr"/>
                      <a:r>
                        <a:rPr sz="1300" b="0">
                          <a:solidFill>
                            <a:srgbClr val="0B0B0B"/>
                          </a:solidFill>
                          <a:latin typeface="Helvetica Neue"/>
                        </a:rPr>
                        <a:t>9 · retries, failover</a:t>
                      </a:r>
                    </a:p>
                  </a:txBody>
                  <a:tcPr marL="73152" marR="73152" marT="27432" marB="27432" anchor="ctr">
                    <a:solidFill>
                      <a:srgbClr val="FCFCFB"/>
                    </a:solidFill>
                  </a:tcPr>
                </a:tc>
              </a:tr>
            </a:tbl>
          </a:graphicData>
        </a:graphic>
      </p:graphicFrame>
      <p:sp>
        <p:nvSpPr>
          <p:cNvPr id="9" name="TextBox 8"/>
          <p:cNvSpPr txBox="1"/>
          <p:nvPr/>
        </p:nvSpPr>
        <p:spPr>
          <a:xfrm>
            <a:off x="548640" y="5303520"/>
            <a:ext cx="11064240" cy="411480"/>
          </a:xfrm>
          <a:prstGeom prst="rect">
            <a:avLst/>
          </a:prstGeom>
          <a:noFill/>
        </p:spPr>
        <p:txBody>
          <a:bodyPr wrap="square">
            <a:spAutoFit/>
          </a:bodyPr>
          <a:lstStyle/>
          <a:p>
            <a:pPr algn="l">
              <a:lnSpc>
                <a:spcPct val="115000"/>
              </a:lnSpc>
            </a:pPr>
            <a:r>
              <a:rPr sz="1400" b="1" i="0">
                <a:solidFill>
                  <a:srgbClr val="2A78D6"/>
                </a:solidFill>
                <a:latin typeface="Helvetica Neue"/>
              </a:rPr>
              <a:t>Each stage exists because it separates two things that accuracy conflates.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510528"/>
            <a:ext cx="5486400" cy="274320"/>
          </a:xfrm>
          <a:prstGeom prst="rect">
            <a:avLst/>
          </a:prstGeom>
          <a:noFill/>
        </p:spPr>
        <p:txBody>
          <a:bodyPr wrap="square">
            <a:spAutoFit/>
          </a:bodyPr>
          <a:lstStyle/>
          <a:p>
            <a:pPr algn="l">
              <a:lnSpc>
                <a:spcPct val="115000"/>
              </a:lnSpc>
            </a:pPr>
            <a:r>
              <a:rPr sz="900" b="0" i="0">
                <a:solidFill>
                  <a:srgbClr val="898781"/>
                </a:solidFill>
                <a:latin typeface="Helvetica Neue"/>
              </a:rPr>
              <a:t>LAMBADA &amp; MMLU Benchmark Evaluation — Extended</a:t>
            </a:r>
          </a:p>
        </p:txBody>
      </p:sp>
      <p:sp>
        <p:nvSpPr>
          <p:cNvPr id="4" name="TextBox 3"/>
          <p:cNvSpPr txBox="1"/>
          <p:nvPr/>
        </p:nvSpPr>
        <p:spPr>
          <a:xfrm>
            <a:off x="11338560" y="6510528"/>
            <a:ext cx="457200" cy="274320"/>
          </a:xfrm>
          <a:prstGeom prst="rect">
            <a:avLst/>
          </a:prstGeom>
          <a:noFill/>
        </p:spPr>
        <p:txBody>
          <a:bodyPr wrap="square">
            <a:spAutoFit/>
          </a:bodyPr>
          <a:lstStyle/>
          <a:p>
            <a:pPr algn="r">
              <a:lnSpc>
                <a:spcPct val="115000"/>
              </a:lnSpc>
            </a:pPr>
            <a:r>
              <a:rPr sz="900" b="0" i="0">
                <a:solidFill>
                  <a:srgbClr val="898781"/>
                </a:solidFill>
                <a:latin typeface="Helvetica Neue"/>
              </a:rPr>
              <a:t>3</a:t>
            </a:r>
          </a:p>
        </p:txBody>
      </p:sp>
      <p:sp>
        <p:nvSpPr>
          <p:cNvPr id="5" name="TextBox 4"/>
          <p:cNvSpPr txBox="1"/>
          <p:nvPr/>
        </p:nvSpPr>
        <p:spPr>
          <a:xfrm>
            <a:off x="548640" y="320040"/>
            <a:ext cx="10058400" cy="320040"/>
          </a:xfrm>
          <a:prstGeom prst="rect">
            <a:avLst/>
          </a:prstGeom>
          <a:noFill/>
        </p:spPr>
        <p:txBody>
          <a:bodyPr wrap="square">
            <a:spAutoFit/>
          </a:bodyPr>
          <a:lstStyle/>
          <a:p>
            <a:pPr algn="l">
              <a:lnSpc>
                <a:spcPct val="115000"/>
              </a:lnSpc>
            </a:pPr>
            <a:r>
              <a:rPr sz="1250" b="1" i="0">
                <a:solidFill>
                  <a:srgbClr val="2A78D6"/>
                </a:solidFill>
                <a:latin typeface="Helvetica Neue"/>
              </a:rPr>
              <a:t>EXPERIMENTAL PROTOCOL</a:t>
            </a:r>
          </a:p>
        </p:txBody>
      </p:sp>
      <p:sp>
        <p:nvSpPr>
          <p:cNvPr id="6" name="TextBox 5"/>
          <p:cNvSpPr txBox="1"/>
          <p:nvPr/>
        </p:nvSpPr>
        <p:spPr>
          <a:xfrm>
            <a:off x="548640" y="914400"/>
            <a:ext cx="11064240" cy="640080"/>
          </a:xfrm>
          <a:prstGeom prst="rect">
            <a:avLst/>
          </a:prstGeom>
          <a:noFill/>
        </p:spPr>
        <p:txBody>
          <a:bodyPr wrap="square">
            <a:spAutoFit/>
          </a:bodyPr>
          <a:lstStyle/>
          <a:p>
            <a:pPr algn="l">
              <a:lnSpc>
                <a:spcPct val="115000"/>
              </a:lnSpc>
            </a:pPr>
            <a:r>
              <a:rPr sz="2600" b="1" i="0">
                <a:solidFill>
                  <a:srgbClr val="0B0B0B"/>
                </a:solidFill>
                <a:latin typeface="Helvetica Neue"/>
              </a:rPr>
              <a:t>How one run executes</a:t>
            </a:r>
          </a:p>
        </p:txBody>
      </p:sp>
      <p:cxnSp>
        <p:nvCxnSpPr>
          <p:cNvPr id="7" name="Connector 6"/>
          <p:cNvCxnSpPr/>
          <p:nvPr/>
        </p:nvCxnSpPr>
        <p:spPr>
          <a:xfrm>
            <a:off x="548640" y="1508760"/>
            <a:ext cx="11091672"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48640" y="1783080"/>
            <a:ext cx="3566160" cy="1115568"/>
          </a:xfrm>
          <a:prstGeom prst="rect">
            <a:avLst/>
          </a:prstGeom>
          <a:solidFill>
            <a:srgbClr val="F9F9F7"/>
          </a:solidFill>
          <a:ln>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874520"/>
            <a:ext cx="3236976" cy="310896"/>
          </a:xfrm>
          <a:prstGeom prst="rect">
            <a:avLst/>
          </a:prstGeom>
          <a:noFill/>
        </p:spPr>
        <p:txBody>
          <a:bodyPr wrap="square">
            <a:spAutoFit/>
          </a:bodyPr>
          <a:lstStyle/>
          <a:p>
            <a:pPr algn="l">
              <a:lnSpc>
                <a:spcPct val="115000"/>
              </a:lnSpc>
            </a:pPr>
            <a:r>
              <a:rPr sz="1400" b="1" i="0">
                <a:solidFill>
                  <a:srgbClr val="2A78D6"/>
                </a:solidFill>
                <a:latin typeface="Helvetica Neue"/>
              </a:rPr>
              <a:t>1   Configure</a:t>
            </a:r>
          </a:p>
        </p:txBody>
      </p:sp>
      <p:sp>
        <p:nvSpPr>
          <p:cNvPr id="10" name="TextBox 9"/>
          <p:cNvSpPr txBox="1"/>
          <p:nvPr/>
        </p:nvSpPr>
        <p:spPr>
          <a:xfrm>
            <a:off x="713232" y="2203704"/>
            <a:ext cx="3236976" cy="640080"/>
          </a:xfrm>
          <a:prstGeom prst="rect">
            <a:avLst/>
          </a:prstGeom>
          <a:noFill/>
        </p:spPr>
        <p:txBody>
          <a:bodyPr wrap="square">
            <a:spAutoFit/>
          </a:bodyPr>
          <a:lstStyle/>
          <a:p>
            <a:pPr algn="l">
              <a:lnSpc>
                <a:spcPct val="110000"/>
              </a:lnSpc>
            </a:pPr>
            <a:r>
              <a:rPr sz="1100" b="0" i="0">
                <a:solidFill>
                  <a:srgbClr val="52514E"/>
                </a:solidFill>
                <a:latin typeface="Helvetica Neue"/>
              </a:rPr>
              <a:t>RunConfig: models, decoding,</a:t>
            </a:r>
          </a:p>
          <a:p>
            <a:pPr algn="l">
              <a:lnSpc>
                <a:spcPct val="110000"/>
              </a:lnSpc>
            </a:pPr>
            <a:r>
              <a:rPr sz="1100" b="0" i="0">
                <a:solidFill>
                  <a:srgbClr val="52514E"/>
                </a:solidFill>
                <a:latin typeface="Helvetica Neue"/>
              </a:rPr>
              <a:t>passes, dataset, parallelism</a:t>
            </a:r>
          </a:p>
        </p:txBody>
      </p:sp>
      <p:sp>
        <p:nvSpPr>
          <p:cNvPr id="11" name="Rectangle 10"/>
          <p:cNvSpPr/>
          <p:nvPr/>
        </p:nvSpPr>
        <p:spPr>
          <a:xfrm>
            <a:off x="4261104" y="1783080"/>
            <a:ext cx="3566160" cy="1115568"/>
          </a:xfrm>
          <a:prstGeom prst="rect">
            <a:avLst/>
          </a:prstGeom>
          <a:solidFill>
            <a:srgbClr val="F9F9F7"/>
          </a:solidFill>
          <a:ln>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25696" y="1874520"/>
            <a:ext cx="3236976" cy="310896"/>
          </a:xfrm>
          <a:prstGeom prst="rect">
            <a:avLst/>
          </a:prstGeom>
          <a:noFill/>
        </p:spPr>
        <p:txBody>
          <a:bodyPr wrap="square">
            <a:spAutoFit/>
          </a:bodyPr>
          <a:lstStyle/>
          <a:p>
            <a:pPr algn="l">
              <a:lnSpc>
                <a:spcPct val="115000"/>
              </a:lnSpc>
            </a:pPr>
            <a:r>
              <a:rPr sz="1400" b="1" i="0">
                <a:solidFill>
                  <a:srgbClr val="2A78D6"/>
                </a:solidFill>
                <a:latin typeface="Helvetica Neue"/>
              </a:rPr>
              <a:t>2   Pre-flight</a:t>
            </a:r>
          </a:p>
        </p:txBody>
      </p:sp>
      <p:sp>
        <p:nvSpPr>
          <p:cNvPr id="13" name="TextBox 12"/>
          <p:cNvSpPr txBox="1"/>
          <p:nvPr/>
        </p:nvSpPr>
        <p:spPr>
          <a:xfrm>
            <a:off x="4425696" y="2203704"/>
            <a:ext cx="3236976" cy="640080"/>
          </a:xfrm>
          <a:prstGeom prst="rect">
            <a:avLst/>
          </a:prstGeom>
          <a:noFill/>
        </p:spPr>
        <p:txBody>
          <a:bodyPr wrap="square">
            <a:spAutoFit/>
          </a:bodyPr>
          <a:lstStyle/>
          <a:p>
            <a:pPr algn="l">
              <a:lnSpc>
                <a:spcPct val="110000"/>
              </a:lnSpc>
            </a:pPr>
            <a:r>
              <a:rPr sz="1100" b="0" i="0">
                <a:solidFill>
                  <a:srgbClr val="52514E"/>
                </a:solidFill>
                <a:latin typeface="Helvetica Neue"/>
              </a:rPr>
              <a:t>probe each provider;</a:t>
            </a:r>
          </a:p>
          <a:p>
            <a:pPr algn="l">
              <a:lnSpc>
                <a:spcPct val="110000"/>
              </a:lnSpc>
            </a:pPr>
            <a:r>
              <a:rPr sz="1100" b="0" i="0">
                <a:solidFill>
                  <a:srgbClr val="52514E"/>
                </a:solidFill>
                <a:latin typeface="Helvetica Neue"/>
              </a:rPr>
              <a:t>warn if rate-limited</a:t>
            </a:r>
          </a:p>
        </p:txBody>
      </p:sp>
      <p:sp>
        <p:nvSpPr>
          <p:cNvPr id="14" name="Rectangle 13"/>
          <p:cNvSpPr/>
          <p:nvPr/>
        </p:nvSpPr>
        <p:spPr>
          <a:xfrm>
            <a:off x="7973568" y="1783080"/>
            <a:ext cx="3566160" cy="1115568"/>
          </a:xfrm>
          <a:prstGeom prst="rect">
            <a:avLst/>
          </a:prstGeom>
          <a:solidFill>
            <a:srgbClr val="F9F9F7"/>
          </a:solidFill>
          <a:ln>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38160" y="1874520"/>
            <a:ext cx="3236976" cy="310896"/>
          </a:xfrm>
          <a:prstGeom prst="rect">
            <a:avLst/>
          </a:prstGeom>
          <a:noFill/>
        </p:spPr>
        <p:txBody>
          <a:bodyPr wrap="square">
            <a:spAutoFit/>
          </a:bodyPr>
          <a:lstStyle/>
          <a:p>
            <a:pPr algn="l">
              <a:lnSpc>
                <a:spcPct val="115000"/>
              </a:lnSpc>
            </a:pPr>
            <a:r>
              <a:rPr sz="1400" b="1" i="0">
                <a:solidFill>
                  <a:srgbClr val="2A78D6"/>
                </a:solidFill>
                <a:latin typeface="Helvetica Neue"/>
              </a:rPr>
              <a:t>3   Estimate</a:t>
            </a:r>
          </a:p>
        </p:txBody>
      </p:sp>
      <p:sp>
        <p:nvSpPr>
          <p:cNvPr id="16" name="TextBox 15"/>
          <p:cNvSpPr txBox="1"/>
          <p:nvPr/>
        </p:nvSpPr>
        <p:spPr>
          <a:xfrm>
            <a:off x="8138160" y="2203704"/>
            <a:ext cx="3236976" cy="640080"/>
          </a:xfrm>
          <a:prstGeom prst="rect">
            <a:avLst/>
          </a:prstGeom>
          <a:noFill/>
        </p:spPr>
        <p:txBody>
          <a:bodyPr wrap="square">
            <a:spAutoFit/>
          </a:bodyPr>
          <a:lstStyle/>
          <a:p>
            <a:pPr algn="l">
              <a:lnSpc>
                <a:spcPct val="110000"/>
              </a:lnSpc>
            </a:pPr>
            <a:r>
              <a:rPr sz="1100" b="0" i="0">
                <a:solidFill>
                  <a:srgbClr val="52514E"/>
                </a:solidFill>
                <a:latin typeface="Helvetica Neue"/>
              </a:rPr>
              <a:t>print the API-call multiplier</a:t>
            </a:r>
          </a:p>
          <a:p>
            <a:pPr algn="l">
              <a:lnSpc>
                <a:spcPct val="110000"/>
              </a:lnSpc>
            </a:pPr>
            <a:r>
              <a:rPr sz="1100" b="0" i="0">
                <a:solidFill>
                  <a:srgbClr val="52514E"/>
                </a:solidFill>
                <a:latin typeface="Helvetica Neue"/>
              </a:rPr>
              <a:t>before spending</a:t>
            </a:r>
          </a:p>
        </p:txBody>
      </p:sp>
      <p:sp>
        <p:nvSpPr>
          <p:cNvPr id="17" name="Rectangle 16"/>
          <p:cNvSpPr/>
          <p:nvPr/>
        </p:nvSpPr>
        <p:spPr>
          <a:xfrm>
            <a:off x="548640" y="3044952"/>
            <a:ext cx="3566160" cy="1115568"/>
          </a:xfrm>
          <a:prstGeom prst="rect">
            <a:avLst/>
          </a:prstGeom>
          <a:solidFill>
            <a:srgbClr val="F9F9F7"/>
          </a:solidFill>
          <a:ln>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3136392"/>
            <a:ext cx="3236976" cy="310896"/>
          </a:xfrm>
          <a:prstGeom prst="rect">
            <a:avLst/>
          </a:prstGeom>
          <a:noFill/>
        </p:spPr>
        <p:txBody>
          <a:bodyPr wrap="square">
            <a:spAutoFit/>
          </a:bodyPr>
          <a:lstStyle/>
          <a:p>
            <a:pPr algn="l">
              <a:lnSpc>
                <a:spcPct val="115000"/>
              </a:lnSpc>
            </a:pPr>
            <a:r>
              <a:rPr sz="1400" b="1" i="0">
                <a:solidFill>
                  <a:srgbClr val="2A78D6"/>
                </a:solidFill>
                <a:latin typeface="Helvetica Neue"/>
              </a:rPr>
              <a:t>4   Scored pass</a:t>
            </a:r>
          </a:p>
        </p:txBody>
      </p:sp>
      <p:sp>
        <p:nvSpPr>
          <p:cNvPr id="19" name="TextBox 18"/>
          <p:cNvSpPr txBox="1"/>
          <p:nvPr/>
        </p:nvSpPr>
        <p:spPr>
          <a:xfrm>
            <a:off x="713232" y="3465576"/>
            <a:ext cx="3236976" cy="640080"/>
          </a:xfrm>
          <a:prstGeom prst="rect">
            <a:avLst/>
          </a:prstGeom>
          <a:noFill/>
        </p:spPr>
        <p:txBody>
          <a:bodyPr wrap="square">
            <a:spAutoFit/>
          </a:bodyPr>
          <a:lstStyle/>
          <a:p>
            <a:pPr algn="l">
              <a:lnSpc>
                <a:spcPct val="110000"/>
              </a:lnSpc>
            </a:pPr>
            <a:r>
              <a:rPr sz="1100" b="0" i="0">
                <a:solidFill>
                  <a:srgbClr val="52514E"/>
                </a:solidFill>
                <a:latin typeface="Helvetica Neue"/>
              </a:rPr>
              <a:t>chain-of-thought, non-streamed</a:t>
            </a:r>
          </a:p>
          <a:p>
            <a:pPr algn="l">
              <a:lnSpc>
                <a:spcPct val="110000"/>
              </a:lnSpc>
            </a:pPr>
            <a:r>
              <a:rPr sz="1100" b="0" i="0">
                <a:solidFill>
                  <a:srgbClr val="52514E"/>
                </a:solidFill>
                <a:latin typeface="Helvetica Neue"/>
              </a:rPr>
              <a:t>→ headline accuracy</a:t>
            </a:r>
          </a:p>
        </p:txBody>
      </p:sp>
      <p:sp>
        <p:nvSpPr>
          <p:cNvPr id="20" name="Rectangle 19"/>
          <p:cNvSpPr/>
          <p:nvPr/>
        </p:nvSpPr>
        <p:spPr>
          <a:xfrm>
            <a:off x="4261104" y="3044952"/>
            <a:ext cx="3566160" cy="1115568"/>
          </a:xfrm>
          <a:prstGeom prst="rect">
            <a:avLst/>
          </a:prstGeom>
          <a:solidFill>
            <a:srgbClr val="F9F9F7"/>
          </a:solidFill>
          <a:ln>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25696" y="3136392"/>
            <a:ext cx="3236976" cy="310896"/>
          </a:xfrm>
          <a:prstGeom prst="rect">
            <a:avLst/>
          </a:prstGeom>
          <a:noFill/>
        </p:spPr>
        <p:txBody>
          <a:bodyPr wrap="square">
            <a:spAutoFit/>
          </a:bodyPr>
          <a:lstStyle/>
          <a:p>
            <a:pPr algn="l">
              <a:lnSpc>
                <a:spcPct val="115000"/>
              </a:lnSpc>
            </a:pPr>
            <a:r>
              <a:rPr sz="1400" b="1" i="0">
                <a:solidFill>
                  <a:srgbClr val="2A78D6"/>
                </a:solidFill>
                <a:latin typeface="Helvetica Neue"/>
              </a:rPr>
              <a:t>5   Extended pass</a:t>
            </a:r>
          </a:p>
        </p:txBody>
      </p:sp>
      <p:sp>
        <p:nvSpPr>
          <p:cNvPr id="22" name="TextBox 21"/>
          <p:cNvSpPr txBox="1"/>
          <p:nvPr/>
        </p:nvSpPr>
        <p:spPr>
          <a:xfrm>
            <a:off x="4425696" y="3465576"/>
            <a:ext cx="3236976" cy="640080"/>
          </a:xfrm>
          <a:prstGeom prst="rect">
            <a:avLst/>
          </a:prstGeom>
          <a:noFill/>
        </p:spPr>
        <p:txBody>
          <a:bodyPr wrap="square">
            <a:spAutoFit/>
          </a:bodyPr>
          <a:lstStyle/>
          <a:p>
            <a:pPr algn="l">
              <a:lnSpc>
                <a:spcPct val="110000"/>
              </a:lnSpc>
            </a:pPr>
            <a:r>
              <a:rPr sz="1100" b="0" i="0">
                <a:solidFill>
                  <a:srgbClr val="52514E"/>
                </a:solidFill>
                <a:latin typeface="Helvetica Neue"/>
              </a:rPr>
              <a:t>streamed → TTFT, TPOT,</a:t>
            </a:r>
          </a:p>
          <a:p>
            <a:pPr algn="l">
              <a:lnSpc>
                <a:spcPct val="110000"/>
              </a:lnSpc>
            </a:pPr>
            <a:r>
              <a:rPr sz="1100" b="0" i="0">
                <a:solidFill>
                  <a:srgbClr val="52514E"/>
                </a:solidFill>
                <a:latin typeface="Helvetica Neue"/>
              </a:rPr>
              <a:t>tokens, cost, provider</a:t>
            </a:r>
          </a:p>
        </p:txBody>
      </p:sp>
      <p:sp>
        <p:nvSpPr>
          <p:cNvPr id="23" name="Rectangle 22"/>
          <p:cNvSpPr/>
          <p:nvPr/>
        </p:nvSpPr>
        <p:spPr>
          <a:xfrm>
            <a:off x="7973568" y="3044952"/>
            <a:ext cx="3566160" cy="1115568"/>
          </a:xfrm>
          <a:prstGeom prst="rect">
            <a:avLst/>
          </a:prstGeom>
          <a:solidFill>
            <a:srgbClr val="F9F9F7"/>
          </a:solidFill>
          <a:ln>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38160" y="3136392"/>
            <a:ext cx="3236976" cy="310896"/>
          </a:xfrm>
          <a:prstGeom prst="rect">
            <a:avLst/>
          </a:prstGeom>
          <a:noFill/>
        </p:spPr>
        <p:txBody>
          <a:bodyPr wrap="square">
            <a:spAutoFit/>
          </a:bodyPr>
          <a:lstStyle/>
          <a:p>
            <a:pPr algn="l">
              <a:lnSpc>
                <a:spcPct val="115000"/>
              </a:lnSpc>
            </a:pPr>
            <a:r>
              <a:rPr sz="1400" b="1" i="0">
                <a:solidFill>
                  <a:srgbClr val="2A78D6"/>
                </a:solidFill>
                <a:latin typeface="Helvetica Neue"/>
              </a:rPr>
              <a:t>6   Optional passes</a:t>
            </a:r>
          </a:p>
        </p:txBody>
      </p:sp>
      <p:sp>
        <p:nvSpPr>
          <p:cNvPr id="25" name="TextBox 24"/>
          <p:cNvSpPr txBox="1"/>
          <p:nvPr/>
        </p:nvSpPr>
        <p:spPr>
          <a:xfrm>
            <a:off x="8138160" y="3465576"/>
            <a:ext cx="3236976" cy="640080"/>
          </a:xfrm>
          <a:prstGeom prst="rect">
            <a:avLst/>
          </a:prstGeom>
          <a:noFill/>
        </p:spPr>
        <p:txBody>
          <a:bodyPr wrap="square">
            <a:spAutoFit/>
          </a:bodyPr>
          <a:lstStyle/>
          <a:p>
            <a:pPr algn="l">
              <a:lnSpc>
                <a:spcPct val="110000"/>
              </a:lnSpc>
            </a:pPr>
            <a:r>
              <a:rPr sz="1100" b="0" i="0">
                <a:solidFill>
                  <a:srgbClr val="52514E"/>
                </a:solidFill>
                <a:latin typeface="Helvetica Neue"/>
              </a:rPr>
              <a:t>calibration · repeats</a:t>
            </a:r>
          </a:p>
          <a:p>
            <a:pPr algn="l">
              <a:lnSpc>
                <a:spcPct val="110000"/>
              </a:lnSpc>
            </a:pPr>
            <a:r>
              <a:rPr sz="1100" b="0" i="0">
                <a:solidFill>
                  <a:srgbClr val="52514E"/>
                </a:solidFill>
                <a:latin typeface="Helvetica Neue"/>
              </a:rPr>
              <a:t>robustness · ablation</a:t>
            </a:r>
          </a:p>
        </p:txBody>
      </p:sp>
      <p:sp>
        <p:nvSpPr>
          <p:cNvPr id="26" name="Rectangle 25"/>
          <p:cNvSpPr/>
          <p:nvPr/>
        </p:nvSpPr>
        <p:spPr>
          <a:xfrm>
            <a:off x="548640" y="4306824"/>
            <a:ext cx="3566160" cy="1115568"/>
          </a:xfrm>
          <a:prstGeom prst="rect">
            <a:avLst/>
          </a:prstGeom>
          <a:solidFill>
            <a:srgbClr val="F9F9F7"/>
          </a:solidFill>
          <a:ln>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3232" y="4398264"/>
            <a:ext cx="3236976" cy="310896"/>
          </a:xfrm>
          <a:prstGeom prst="rect">
            <a:avLst/>
          </a:prstGeom>
          <a:noFill/>
        </p:spPr>
        <p:txBody>
          <a:bodyPr wrap="square">
            <a:spAutoFit/>
          </a:bodyPr>
          <a:lstStyle/>
          <a:p>
            <a:pPr algn="l">
              <a:lnSpc>
                <a:spcPct val="115000"/>
              </a:lnSpc>
            </a:pPr>
            <a:r>
              <a:rPr sz="1400" b="1" i="0">
                <a:solidFill>
                  <a:srgbClr val="2A78D6"/>
                </a:solidFill>
                <a:latin typeface="Helvetica Neue"/>
              </a:rPr>
              <a:t>7   Compute</a:t>
            </a:r>
          </a:p>
        </p:txBody>
      </p:sp>
      <p:sp>
        <p:nvSpPr>
          <p:cNvPr id="28" name="TextBox 27"/>
          <p:cNvSpPr txBox="1"/>
          <p:nvPr/>
        </p:nvSpPr>
        <p:spPr>
          <a:xfrm>
            <a:off x="713232" y="4727448"/>
            <a:ext cx="3236976" cy="640080"/>
          </a:xfrm>
          <a:prstGeom prst="rect">
            <a:avLst/>
          </a:prstGeom>
          <a:noFill/>
        </p:spPr>
        <p:txBody>
          <a:bodyPr wrap="square">
            <a:spAutoFit/>
          </a:bodyPr>
          <a:lstStyle/>
          <a:p>
            <a:pPr algn="l">
              <a:lnSpc>
                <a:spcPct val="110000"/>
              </a:lnSpc>
            </a:pPr>
            <a:r>
              <a:rPr sz="1100" b="0" i="0">
                <a:solidFill>
                  <a:srgbClr val="52514E"/>
                </a:solidFill>
                <a:latin typeface="Helvetica Neue"/>
              </a:rPr>
              <a:t>nine metric blocks, each marked</a:t>
            </a:r>
          </a:p>
          <a:p>
            <a:pPr algn="l">
              <a:lnSpc>
                <a:spcPct val="110000"/>
              </a:lnSpc>
            </a:pPr>
            <a:r>
              <a:rPr sz="1100" b="0" i="0">
                <a:solidFill>
                  <a:srgbClr val="52514E"/>
                </a:solidFill>
                <a:latin typeface="Helvetica Neue"/>
              </a:rPr>
              <a:t>available or not</a:t>
            </a:r>
          </a:p>
        </p:txBody>
      </p:sp>
      <p:sp>
        <p:nvSpPr>
          <p:cNvPr id="29" name="Rectangle 28"/>
          <p:cNvSpPr/>
          <p:nvPr/>
        </p:nvSpPr>
        <p:spPr>
          <a:xfrm>
            <a:off x="4261104" y="4306824"/>
            <a:ext cx="3566160" cy="1115568"/>
          </a:xfrm>
          <a:prstGeom prst="rect">
            <a:avLst/>
          </a:prstGeom>
          <a:solidFill>
            <a:srgbClr val="F9F9F7"/>
          </a:solidFill>
          <a:ln>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25696" y="4398264"/>
            <a:ext cx="3236976" cy="310896"/>
          </a:xfrm>
          <a:prstGeom prst="rect">
            <a:avLst/>
          </a:prstGeom>
          <a:noFill/>
        </p:spPr>
        <p:txBody>
          <a:bodyPr wrap="square">
            <a:spAutoFit/>
          </a:bodyPr>
          <a:lstStyle/>
          <a:p>
            <a:pPr algn="l">
              <a:lnSpc>
                <a:spcPct val="115000"/>
              </a:lnSpc>
            </a:pPr>
            <a:r>
              <a:rPr sz="1400" b="1" i="0">
                <a:solidFill>
                  <a:srgbClr val="2A78D6"/>
                </a:solidFill>
                <a:latin typeface="Helvetica Neue"/>
              </a:rPr>
              <a:t>8   Aggregate</a:t>
            </a:r>
          </a:p>
        </p:txBody>
      </p:sp>
      <p:sp>
        <p:nvSpPr>
          <p:cNvPr id="31" name="TextBox 30"/>
          <p:cNvSpPr txBox="1"/>
          <p:nvPr/>
        </p:nvSpPr>
        <p:spPr>
          <a:xfrm>
            <a:off x="4425696" y="4727448"/>
            <a:ext cx="3236976" cy="640080"/>
          </a:xfrm>
          <a:prstGeom prst="rect">
            <a:avLst/>
          </a:prstGeom>
          <a:noFill/>
        </p:spPr>
        <p:txBody>
          <a:bodyPr wrap="square">
            <a:spAutoFit/>
          </a:bodyPr>
          <a:lstStyle/>
          <a:p>
            <a:pPr algn="l">
              <a:lnSpc>
                <a:spcPct val="110000"/>
              </a:lnSpc>
            </a:pPr>
            <a:r>
              <a:rPr sz="1100" b="0" i="0">
                <a:solidFill>
                  <a:srgbClr val="52514E"/>
                </a:solidFill>
                <a:latin typeface="Helvetica Neue"/>
              </a:rPr>
              <a:t>rank; refuse if</a:t>
            </a:r>
          </a:p>
          <a:p>
            <a:pPr algn="l">
              <a:lnSpc>
                <a:spcPct val="110000"/>
              </a:lnSpc>
            </a:pPr>
            <a:r>
              <a:rPr sz="1100" b="0" i="0">
                <a:solidFill>
                  <a:srgbClr val="52514E"/>
                </a:solidFill>
                <a:latin typeface="Helvetica Neue"/>
              </a:rPr>
              <a:t>configurations differ</a:t>
            </a:r>
          </a:p>
        </p:txBody>
      </p:sp>
      <p:sp>
        <p:nvSpPr>
          <p:cNvPr id="32" name="Rectangle 31"/>
          <p:cNvSpPr/>
          <p:nvPr/>
        </p:nvSpPr>
        <p:spPr>
          <a:xfrm>
            <a:off x="7973568" y="4306824"/>
            <a:ext cx="3566160" cy="1115568"/>
          </a:xfrm>
          <a:prstGeom prst="rect">
            <a:avLst/>
          </a:prstGeom>
          <a:solidFill>
            <a:srgbClr val="F9F9F7"/>
          </a:solidFill>
          <a:ln>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38160" y="4398264"/>
            <a:ext cx="3236976" cy="310896"/>
          </a:xfrm>
          <a:prstGeom prst="rect">
            <a:avLst/>
          </a:prstGeom>
          <a:noFill/>
        </p:spPr>
        <p:txBody>
          <a:bodyPr wrap="square">
            <a:spAutoFit/>
          </a:bodyPr>
          <a:lstStyle/>
          <a:p>
            <a:pPr algn="l">
              <a:lnSpc>
                <a:spcPct val="115000"/>
              </a:lnSpc>
            </a:pPr>
            <a:r>
              <a:rPr sz="1400" b="1" i="0">
                <a:solidFill>
                  <a:srgbClr val="2A78D6"/>
                </a:solidFill>
                <a:latin typeface="Helvetica Neue"/>
              </a:rPr>
              <a:t>9   Publish</a:t>
            </a:r>
          </a:p>
        </p:txBody>
      </p:sp>
      <p:sp>
        <p:nvSpPr>
          <p:cNvPr id="34" name="TextBox 33"/>
          <p:cNvSpPr txBox="1"/>
          <p:nvPr/>
        </p:nvSpPr>
        <p:spPr>
          <a:xfrm>
            <a:off x="8138160" y="4727448"/>
            <a:ext cx="3236976" cy="640080"/>
          </a:xfrm>
          <a:prstGeom prst="rect">
            <a:avLst/>
          </a:prstGeom>
          <a:noFill/>
        </p:spPr>
        <p:txBody>
          <a:bodyPr wrap="square">
            <a:spAutoFit/>
          </a:bodyPr>
          <a:lstStyle/>
          <a:p>
            <a:pPr algn="l">
              <a:lnSpc>
                <a:spcPct val="110000"/>
              </a:lnSpc>
            </a:pPr>
            <a:r>
              <a:rPr sz="1100" b="0" i="0">
                <a:solidFill>
                  <a:srgbClr val="52514E"/>
                </a:solidFill>
                <a:latin typeface="Helvetica Neue"/>
              </a:rPr>
              <a:t>results · history · web view</a:t>
            </a:r>
          </a:p>
          <a:p>
            <a:pPr algn="l">
              <a:lnSpc>
                <a:spcPct val="110000"/>
              </a:lnSpc>
            </a:pPr>
            <a:r>
              <a:rPr sz="1100" b="0" i="0">
                <a:solidFill>
                  <a:srgbClr val="52514E"/>
                </a:solidFill>
                <a:latin typeface="Helvetica Neue"/>
              </a:rPr>
              <a:t>report · slides</a:t>
            </a:r>
          </a:p>
        </p:txBody>
      </p:sp>
      <p:sp>
        <p:nvSpPr>
          <p:cNvPr id="35" name="TextBox 34"/>
          <p:cNvSpPr txBox="1"/>
          <p:nvPr/>
        </p:nvSpPr>
        <p:spPr>
          <a:xfrm>
            <a:off x="548640" y="5806440"/>
            <a:ext cx="11064240" cy="457200"/>
          </a:xfrm>
          <a:prstGeom prst="rect">
            <a:avLst/>
          </a:prstGeom>
          <a:noFill/>
        </p:spPr>
        <p:txBody>
          <a:bodyPr wrap="square">
            <a:spAutoFit/>
          </a:bodyPr>
          <a:lstStyle/>
          <a:p>
            <a:pPr algn="l">
              <a:lnSpc>
                <a:spcPct val="115000"/>
              </a:lnSpc>
            </a:pPr>
            <a:r>
              <a:rPr sz="1250" b="0" i="1">
                <a:solidFill>
                  <a:srgbClr val="898781"/>
                </a:solidFill>
                <a:latin typeface="Helvetica Neue"/>
              </a:rPr>
              <a:t>Stage 10 — TP/PP/DP/SP/CP/EP, VRAM, energy — is absent by design: none of it is observable through a hosted inference API.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510528"/>
            <a:ext cx="5486400" cy="274320"/>
          </a:xfrm>
          <a:prstGeom prst="rect">
            <a:avLst/>
          </a:prstGeom>
          <a:noFill/>
        </p:spPr>
        <p:txBody>
          <a:bodyPr wrap="square">
            <a:spAutoFit/>
          </a:bodyPr>
          <a:lstStyle/>
          <a:p>
            <a:pPr algn="l">
              <a:lnSpc>
                <a:spcPct val="115000"/>
              </a:lnSpc>
            </a:pPr>
            <a:r>
              <a:rPr sz="900" b="0" i="0">
                <a:solidFill>
                  <a:srgbClr val="898781"/>
                </a:solidFill>
                <a:latin typeface="Helvetica Neue"/>
              </a:rPr>
              <a:t>LAMBADA &amp; MMLU Benchmark Evaluation — Extended</a:t>
            </a:r>
          </a:p>
        </p:txBody>
      </p:sp>
      <p:sp>
        <p:nvSpPr>
          <p:cNvPr id="4" name="TextBox 3"/>
          <p:cNvSpPr txBox="1"/>
          <p:nvPr/>
        </p:nvSpPr>
        <p:spPr>
          <a:xfrm>
            <a:off x="11338560" y="6510528"/>
            <a:ext cx="457200" cy="274320"/>
          </a:xfrm>
          <a:prstGeom prst="rect">
            <a:avLst/>
          </a:prstGeom>
          <a:noFill/>
        </p:spPr>
        <p:txBody>
          <a:bodyPr wrap="square">
            <a:spAutoFit/>
          </a:bodyPr>
          <a:lstStyle/>
          <a:p>
            <a:pPr algn="r">
              <a:lnSpc>
                <a:spcPct val="115000"/>
              </a:lnSpc>
            </a:pPr>
            <a:r>
              <a:rPr sz="900" b="0" i="0">
                <a:solidFill>
                  <a:srgbClr val="898781"/>
                </a:solidFill>
                <a:latin typeface="Helvetica Neue"/>
              </a:rPr>
              <a:t>4</a:t>
            </a:r>
          </a:p>
        </p:txBody>
      </p:sp>
      <p:sp>
        <p:nvSpPr>
          <p:cNvPr id="5" name="TextBox 4"/>
          <p:cNvSpPr txBox="1"/>
          <p:nvPr/>
        </p:nvSpPr>
        <p:spPr>
          <a:xfrm>
            <a:off x="548640" y="320040"/>
            <a:ext cx="10058400" cy="320040"/>
          </a:xfrm>
          <a:prstGeom prst="rect">
            <a:avLst/>
          </a:prstGeom>
          <a:noFill/>
        </p:spPr>
        <p:txBody>
          <a:bodyPr wrap="square">
            <a:spAutoFit/>
          </a:bodyPr>
          <a:lstStyle/>
          <a:p>
            <a:pPr algn="l">
              <a:lnSpc>
                <a:spcPct val="115000"/>
              </a:lnSpc>
            </a:pPr>
            <a:r>
              <a:rPr sz="1250" b="1" i="0">
                <a:solidFill>
                  <a:srgbClr val="2A78D6"/>
                </a:solidFill>
                <a:latin typeface="Helvetica Neue"/>
              </a:rPr>
              <a:t>EXPERIMENTAL PROTOCOL</a:t>
            </a:r>
          </a:p>
        </p:txBody>
      </p:sp>
      <p:sp>
        <p:nvSpPr>
          <p:cNvPr id="6" name="TextBox 5"/>
          <p:cNvSpPr txBox="1"/>
          <p:nvPr/>
        </p:nvSpPr>
        <p:spPr>
          <a:xfrm>
            <a:off x="548640" y="914400"/>
            <a:ext cx="11064240" cy="640080"/>
          </a:xfrm>
          <a:prstGeom prst="rect">
            <a:avLst/>
          </a:prstGeom>
          <a:noFill/>
        </p:spPr>
        <p:txBody>
          <a:bodyPr wrap="square">
            <a:spAutoFit/>
          </a:bodyPr>
          <a:lstStyle/>
          <a:p>
            <a:pPr algn="l">
              <a:lnSpc>
                <a:spcPct val="115000"/>
              </a:lnSpc>
            </a:pPr>
            <a:r>
              <a:rPr sz="2600" b="1" i="0">
                <a:solidFill>
                  <a:srgbClr val="0B0B0B"/>
                </a:solidFill>
                <a:latin typeface="Helvetica Neue"/>
              </a:rPr>
              <a:t>Two measurement passes per item</a:t>
            </a:r>
          </a:p>
        </p:txBody>
      </p:sp>
      <p:cxnSp>
        <p:nvCxnSpPr>
          <p:cNvPr id="7" name="Connector 6"/>
          <p:cNvCxnSpPr/>
          <p:nvPr/>
        </p:nvCxnSpPr>
        <p:spPr>
          <a:xfrm>
            <a:off x="548640" y="1508760"/>
            <a:ext cx="11091672"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548640" y="1783080"/>
          <a:ext cx="11064239" cy="1682496"/>
        </p:xfrm>
        <a:graphic>
          <a:graphicData uri="http://schemas.openxmlformats.org/drawingml/2006/table">
            <a:tbl>
              <a:tblPr firstRow="1" bandRow="1">
                <a:tableStyleId>{5C22544A-7EE6-4342-B048-85BDC9FD1C3A}</a:tableStyleId>
              </a:tblPr>
              <a:tblGrid>
                <a:gridCol w="1548993"/>
                <a:gridCol w="3319272"/>
                <a:gridCol w="1217066"/>
                <a:gridCol w="4978908"/>
              </a:tblGrid>
              <a:tr h="420624">
                <a:tc>
                  <a:txBody>
                    <a:bodyPr/>
                    <a:lstStyle/>
                    <a:p>
                      <a:pPr algn="l"/>
                      <a:r>
                        <a:rPr sz="1250" b="1">
                          <a:solidFill>
                            <a:srgbClr val="FFFFFF"/>
                          </a:solidFill>
                          <a:latin typeface="Helvetica Neue"/>
                        </a:rPr>
                        <a:t>Pass</a:t>
                      </a:r>
                    </a:p>
                  </a:txBody>
                  <a:tcPr marL="73152" marR="73152" marT="27432" marB="27432" anchor="ctr">
                    <a:solidFill>
                      <a:srgbClr val="0B0B0B"/>
                    </a:solidFill>
                  </a:tcPr>
                </a:tc>
                <a:tc>
                  <a:txBody>
                    <a:bodyPr/>
                    <a:lstStyle/>
                    <a:p>
                      <a:pPr algn="ctr"/>
                      <a:r>
                        <a:rPr sz="1250" b="1">
                          <a:solidFill>
                            <a:srgbClr val="FFFFFF"/>
                          </a:solidFill>
                          <a:latin typeface="Helvetica Neue"/>
                        </a:rPr>
                        <a:t>Prompt</a:t>
                      </a:r>
                    </a:p>
                  </a:txBody>
                  <a:tcPr marL="73152" marR="73152" marT="27432" marB="27432" anchor="ctr">
                    <a:solidFill>
                      <a:srgbClr val="0B0B0B"/>
                    </a:solidFill>
                  </a:tcPr>
                </a:tc>
                <a:tc>
                  <a:txBody>
                    <a:bodyPr/>
                    <a:lstStyle/>
                    <a:p>
                      <a:pPr algn="ctr"/>
                      <a:r>
                        <a:rPr sz="1250" b="1">
                          <a:solidFill>
                            <a:srgbClr val="FFFFFF"/>
                          </a:solidFill>
                          <a:latin typeface="Helvetica Neue"/>
                        </a:rPr>
                        <a:t>Streamed</a:t>
                      </a:r>
                    </a:p>
                  </a:txBody>
                  <a:tcPr marL="73152" marR="73152" marT="27432" marB="27432" anchor="ctr">
                    <a:solidFill>
                      <a:srgbClr val="0B0B0B"/>
                    </a:solidFill>
                  </a:tcPr>
                </a:tc>
                <a:tc>
                  <a:txBody>
                    <a:bodyPr/>
                    <a:lstStyle/>
                    <a:p>
                      <a:pPr algn="ctr"/>
                      <a:r>
                        <a:rPr sz="1250" b="1">
                          <a:solidFill>
                            <a:srgbClr val="FFFFFF"/>
                          </a:solidFill>
                          <a:latin typeface="Helvetica Neue"/>
                        </a:rPr>
                        <a:t>Produces</a:t>
                      </a:r>
                    </a:p>
                  </a:txBody>
                  <a:tcPr marL="73152" marR="73152" marT="27432" marB="27432" anchor="ctr">
                    <a:solidFill>
                      <a:srgbClr val="0B0B0B"/>
                    </a:solidFill>
                  </a:tcPr>
                </a:tc>
              </a:tr>
              <a:tr h="420624">
                <a:tc>
                  <a:txBody>
                    <a:bodyPr/>
                    <a:lstStyle/>
                    <a:p>
                      <a:pPr algn="l"/>
                      <a:r>
                        <a:rPr sz="1250" b="0">
                          <a:solidFill>
                            <a:srgbClr val="0B0B0B"/>
                          </a:solidFill>
                          <a:latin typeface="Helvetica Neue"/>
                        </a:rPr>
                        <a:t>Scored</a:t>
                      </a:r>
                    </a:p>
                  </a:txBody>
                  <a:tcPr marL="73152" marR="73152" marT="27432" marB="27432" anchor="ctr">
                    <a:solidFill>
                      <a:srgbClr val="FCFCFB"/>
                    </a:solidFill>
                  </a:tcPr>
                </a:tc>
                <a:tc>
                  <a:txBody>
                    <a:bodyPr/>
                    <a:lstStyle/>
                    <a:p>
                      <a:pPr algn="ctr"/>
                      <a:r>
                        <a:rPr sz="1250" b="0">
                          <a:solidFill>
                            <a:srgbClr val="0B0B0B"/>
                          </a:solidFill>
                          <a:latin typeface="Helvetica Neue"/>
                        </a:rPr>
                        <a:t>chain-of-thought, then a letter/word</a:t>
                      </a:r>
                    </a:p>
                  </a:txBody>
                  <a:tcPr marL="73152" marR="73152" marT="27432" marB="27432" anchor="ctr">
                    <a:solidFill>
                      <a:srgbClr val="FCFCFB"/>
                    </a:solidFill>
                  </a:tcPr>
                </a:tc>
                <a:tc>
                  <a:txBody>
                    <a:bodyPr/>
                    <a:lstStyle/>
                    <a:p>
                      <a:pPr algn="ctr"/>
                      <a:r>
                        <a:rPr sz="1250" b="0">
                          <a:solidFill>
                            <a:srgbClr val="0B0B0B"/>
                          </a:solidFill>
                          <a:latin typeface="Helvetica Neue"/>
                        </a:rPr>
                        <a:t>no</a:t>
                      </a:r>
                    </a:p>
                  </a:txBody>
                  <a:tcPr marL="73152" marR="73152" marT="27432" marB="27432" anchor="ctr">
                    <a:solidFill>
                      <a:srgbClr val="FCFCFB"/>
                    </a:solidFill>
                  </a:tcPr>
                </a:tc>
                <a:tc>
                  <a:txBody>
                    <a:bodyPr/>
                    <a:lstStyle/>
                    <a:p>
                      <a:pPr algn="ctr"/>
                      <a:r>
                        <a:rPr sz="1250" b="0">
                          <a:solidFill>
                            <a:srgbClr val="0B0B0B"/>
                          </a:solidFill>
                          <a:latin typeface="Helvetica Neue"/>
                        </a:rPr>
                        <a:t>headline accuracy, reasoning analysis</a:t>
                      </a:r>
                    </a:p>
                  </a:txBody>
                  <a:tcPr marL="73152" marR="73152" marT="27432" marB="27432" anchor="ctr">
                    <a:solidFill>
                      <a:srgbClr val="FCFCFB"/>
                    </a:solidFill>
                  </a:tcPr>
                </a:tc>
              </a:tr>
              <a:tr h="420624">
                <a:tc>
                  <a:txBody>
                    <a:bodyPr/>
                    <a:lstStyle/>
                    <a:p>
                      <a:pPr algn="l"/>
                      <a:r>
                        <a:rPr sz="1250" b="0">
                          <a:solidFill>
                            <a:srgbClr val="0B0B0B"/>
                          </a:solidFill>
                          <a:latin typeface="Helvetica Neue"/>
                        </a:rPr>
                        <a:t>Extended</a:t>
                      </a:r>
                    </a:p>
                  </a:txBody>
                  <a:tcPr marL="73152" marR="73152" marT="27432" marB="27432" anchor="ctr">
                    <a:solidFill>
                      <a:srgbClr val="FCFCFB"/>
                    </a:solidFill>
                  </a:tcPr>
                </a:tc>
                <a:tc>
                  <a:txBody>
                    <a:bodyPr/>
                    <a:lstStyle/>
                    <a:p>
                      <a:pPr algn="ctr"/>
                      <a:r>
                        <a:rPr sz="1250" b="0">
                          <a:solidFill>
                            <a:srgbClr val="0B0B0B"/>
                          </a:solidFill>
                          <a:latin typeface="Helvetica Neue"/>
                        </a:rPr>
                        <a:t>identical prompt</a:t>
                      </a:r>
                    </a:p>
                  </a:txBody>
                  <a:tcPr marL="73152" marR="73152" marT="27432" marB="27432" anchor="ctr">
                    <a:solidFill>
                      <a:srgbClr val="FCFCFB"/>
                    </a:solidFill>
                  </a:tcPr>
                </a:tc>
                <a:tc>
                  <a:txBody>
                    <a:bodyPr/>
                    <a:lstStyle/>
                    <a:p>
                      <a:pPr algn="ctr"/>
                      <a:r>
                        <a:rPr sz="1250" b="0">
                          <a:solidFill>
                            <a:srgbClr val="0B0B0B"/>
                          </a:solidFill>
                          <a:latin typeface="Helvetica Neue"/>
                        </a:rPr>
                        <a:t>yes</a:t>
                      </a:r>
                    </a:p>
                  </a:txBody>
                  <a:tcPr marL="73152" marR="73152" marT="27432" marB="27432" anchor="ctr">
                    <a:solidFill>
                      <a:srgbClr val="FCFCFB"/>
                    </a:solidFill>
                  </a:tcPr>
                </a:tc>
                <a:tc>
                  <a:txBody>
                    <a:bodyPr/>
                    <a:lstStyle/>
                    <a:p>
                      <a:pPr algn="ctr"/>
                      <a:r>
                        <a:rPr sz="1250" b="0">
                          <a:solidFill>
                            <a:srgbClr val="0B0B0B"/>
                          </a:solidFill>
                          <a:latin typeface="Helvetica Neue"/>
                        </a:rPr>
                        <a:t>TTFT, TPOT, throughput, tokens, cost, reliability</a:t>
                      </a:r>
                    </a:p>
                  </a:txBody>
                  <a:tcPr marL="73152" marR="73152" marT="27432" marB="27432" anchor="ctr">
                    <a:solidFill>
                      <a:srgbClr val="FCFCFB"/>
                    </a:solidFill>
                  </a:tcPr>
                </a:tc>
              </a:tr>
              <a:tr h="420624">
                <a:tc>
                  <a:txBody>
                    <a:bodyPr/>
                    <a:lstStyle/>
                    <a:p>
                      <a:pPr algn="l"/>
                      <a:r>
                        <a:rPr sz="1250" b="0">
                          <a:solidFill>
                            <a:srgbClr val="0B0B0B"/>
                          </a:solidFill>
                          <a:latin typeface="Helvetica Neue"/>
                        </a:rPr>
                        <a:t>Calibration</a:t>
                      </a:r>
                    </a:p>
                  </a:txBody>
                  <a:tcPr marL="73152" marR="73152" marT="27432" marB="27432" anchor="ctr">
                    <a:solidFill>
                      <a:srgbClr val="FCFCFB"/>
                    </a:solidFill>
                  </a:tcPr>
                </a:tc>
                <a:tc>
                  <a:txBody>
                    <a:bodyPr/>
                    <a:lstStyle/>
                    <a:p>
                      <a:pPr algn="ctr"/>
                      <a:r>
                        <a:rPr sz="1250" b="0">
                          <a:solidFill>
                            <a:srgbClr val="0B0B0B"/>
                          </a:solidFill>
                          <a:latin typeface="Helvetica Neue"/>
                        </a:rPr>
                        <a:t>direct answer, max_tokens = 1</a:t>
                      </a:r>
                    </a:p>
                  </a:txBody>
                  <a:tcPr marL="73152" marR="73152" marT="27432" marB="27432" anchor="ctr">
                    <a:solidFill>
                      <a:srgbClr val="FCFCFB"/>
                    </a:solidFill>
                  </a:tcPr>
                </a:tc>
                <a:tc>
                  <a:txBody>
                    <a:bodyPr/>
                    <a:lstStyle/>
                    <a:p>
                      <a:pPr algn="ctr"/>
                      <a:r>
                        <a:rPr sz="1250" b="0">
                          <a:solidFill>
                            <a:srgbClr val="0B0B0B"/>
                          </a:solidFill>
                          <a:latin typeface="Helvetica Neue"/>
                        </a:rPr>
                        <a:t>no</a:t>
                      </a:r>
                    </a:p>
                  </a:txBody>
                  <a:tcPr marL="73152" marR="73152" marT="27432" marB="27432" anchor="ctr">
                    <a:solidFill>
                      <a:srgbClr val="FCFCFB"/>
                    </a:solidFill>
                  </a:tcPr>
                </a:tc>
                <a:tc>
                  <a:txBody>
                    <a:bodyPr/>
                    <a:lstStyle/>
                    <a:p>
                      <a:pPr algn="ctr"/>
                      <a:r>
                        <a:rPr sz="1250" b="0">
                          <a:solidFill>
                            <a:srgbClr val="0B0B0B"/>
                          </a:solidFill>
                          <a:latin typeface="Helvetica Neue"/>
                        </a:rPr>
                        <a:t>option probabilities → NLL, ECE, Brier, rank</a:t>
                      </a:r>
                    </a:p>
                  </a:txBody>
                  <a:tcPr marL="73152" marR="73152" marT="27432" marB="27432" anchor="ctr">
                    <a:solidFill>
                      <a:srgbClr val="FCFCFB"/>
                    </a:solidFill>
                  </a:tcPr>
                </a:tc>
              </a:tr>
            </a:tbl>
          </a:graphicData>
        </a:graphic>
      </p:graphicFrame>
      <p:sp>
        <p:nvSpPr>
          <p:cNvPr id="9" name="TextBox 8"/>
          <p:cNvSpPr txBox="1"/>
          <p:nvPr/>
        </p:nvSpPr>
        <p:spPr>
          <a:xfrm>
            <a:off x="548640" y="3703320"/>
            <a:ext cx="2743200" cy="274320"/>
          </a:xfrm>
          <a:prstGeom prst="rect">
            <a:avLst/>
          </a:prstGeom>
          <a:noFill/>
        </p:spPr>
        <p:txBody>
          <a:bodyPr wrap="square">
            <a:spAutoFit/>
          </a:bodyPr>
          <a:lstStyle/>
          <a:p>
            <a:pPr algn="l">
              <a:lnSpc>
                <a:spcPct val="115000"/>
              </a:lnSpc>
            </a:pPr>
            <a:r>
              <a:rPr sz="1100" b="1" i="0">
                <a:solidFill>
                  <a:srgbClr val="898781"/>
                </a:solidFill>
                <a:latin typeface="Helvetica Neue"/>
              </a:rPr>
              <a:t>WHY TWO</a:t>
            </a:r>
          </a:p>
        </p:txBody>
      </p:sp>
      <p:sp>
        <p:nvSpPr>
          <p:cNvPr id="10" name="TextBox 9"/>
          <p:cNvSpPr txBox="1"/>
          <p:nvPr/>
        </p:nvSpPr>
        <p:spPr>
          <a:xfrm>
            <a:off x="548640" y="4005072"/>
            <a:ext cx="11064240" cy="1463040"/>
          </a:xfrm>
          <a:prstGeom prst="rect">
            <a:avLst/>
          </a:prstGeom>
          <a:noFill/>
        </p:spPr>
        <p:txBody>
          <a:bodyPr wrap="square">
            <a:spAutoFit/>
          </a:bodyPr>
          <a:lstStyle/>
          <a:p>
            <a:pPr algn="l">
              <a:lnSpc>
                <a:spcPct val="135000"/>
              </a:lnSpc>
              <a:spcAft>
                <a:spcPts val="700"/>
              </a:spcAft>
            </a:pPr>
            <a:r>
              <a:rPr sz="1350" b="0" i="0">
                <a:solidFill>
                  <a:srgbClr val="52514E"/>
                </a:solidFill>
                <a:latin typeface="Helvetica Neue"/>
              </a:rPr>
              <a:t>—  TTFT — time to first token — cannot be observed from a single blocking response, so latency requires streaming.</a:t>
            </a:r>
          </a:p>
          <a:p>
            <a:pPr algn="l">
              <a:lnSpc>
                <a:spcPct val="135000"/>
              </a:lnSpc>
              <a:spcAft>
                <a:spcPts val="700"/>
              </a:spcAft>
            </a:pPr>
            <a:r>
              <a:rPr sz="1350" b="0" i="0">
                <a:solidFill>
                  <a:srgbClr val="52514E"/>
                </a:solidFill>
                <a:latin typeface="Helvetica Neue"/>
              </a:rPr>
              <a:t>—  The scored pass also parses and grades the reasoning text, which the streamed path does not.</a:t>
            </a:r>
          </a:p>
          <a:p>
            <a:pPr algn="l">
              <a:lnSpc>
                <a:spcPct val="135000"/>
              </a:lnSpc>
              <a:spcAft>
                <a:spcPts val="700"/>
              </a:spcAft>
            </a:pPr>
            <a:r>
              <a:rPr sz="1350" b="0" i="0">
                <a:solidFill>
                  <a:srgbClr val="52514E"/>
                </a:solidFill>
                <a:latin typeface="Helvetica Neue"/>
              </a:rPr>
              <a:t>—  Providers return log-probabilities for the final token only; at max_tokens = 1 that token is the answer, which is what makes calibration recoverable at all.</a:t>
            </a:r>
          </a:p>
        </p:txBody>
      </p:sp>
      <p:sp>
        <p:nvSpPr>
          <p:cNvPr id="11" name="TextBox 10"/>
          <p:cNvSpPr txBox="1"/>
          <p:nvPr/>
        </p:nvSpPr>
        <p:spPr>
          <a:xfrm>
            <a:off x="548640" y="5669280"/>
            <a:ext cx="11064240" cy="640080"/>
          </a:xfrm>
          <a:prstGeom prst="rect">
            <a:avLst/>
          </a:prstGeom>
          <a:noFill/>
        </p:spPr>
        <p:txBody>
          <a:bodyPr wrap="square">
            <a:spAutoFit/>
          </a:bodyPr>
          <a:lstStyle/>
          <a:p>
            <a:pPr algn="l">
              <a:lnSpc>
                <a:spcPct val="115000"/>
              </a:lnSpc>
            </a:pPr>
            <a:r>
              <a:rPr sz="1250" b="0" i="0">
                <a:solidFill>
                  <a:srgbClr val="2A78D6"/>
                </a:solidFill>
                <a:latin typeface="Helvetica Neue"/>
              </a:rPr>
              <a:t>Because they are separate API calls, the two accuracies differ slightly even at temperature 0. That residual is serving non-determinism — the web view states the delta rather than showing two numbers unexplained.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510528"/>
            <a:ext cx="5486400" cy="274320"/>
          </a:xfrm>
          <a:prstGeom prst="rect">
            <a:avLst/>
          </a:prstGeom>
          <a:noFill/>
        </p:spPr>
        <p:txBody>
          <a:bodyPr wrap="square">
            <a:spAutoFit/>
          </a:bodyPr>
          <a:lstStyle/>
          <a:p>
            <a:pPr algn="l">
              <a:lnSpc>
                <a:spcPct val="115000"/>
              </a:lnSpc>
            </a:pPr>
            <a:r>
              <a:rPr sz="900" b="0" i="0">
                <a:solidFill>
                  <a:srgbClr val="898781"/>
                </a:solidFill>
                <a:latin typeface="Helvetica Neue"/>
              </a:rPr>
              <a:t>LAMBADA &amp; MMLU Benchmark Evaluation — Extended</a:t>
            </a:r>
          </a:p>
        </p:txBody>
      </p:sp>
      <p:sp>
        <p:nvSpPr>
          <p:cNvPr id="4" name="TextBox 3"/>
          <p:cNvSpPr txBox="1"/>
          <p:nvPr/>
        </p:nvSpPr>
        <p:spPr>
          <a:xfrm>
            <a:off x="11338560" y="6510528"/>
            <a:ext cx="457200" cy="274320"/>
          </a:xfrm>
          <a:prstGeom prst="rect">
            <a:avLst/>
          </a:prstGeom>
          <a:noFill/>
        </p:spPr>
        <p:txBody>
          <a:bodyPr wrap="square">
            <a:spAutoFit/>
          </a:bodyPr>
          <a:lstStyle/>
          <a:p>
            <a:pPr algn="r">
              <a:lnSpc>
                <a:spcPct val="115000"/>
              </a:lnSpc>
            </a:pPr>
            <a:r>
              <a:rPr sz="900" b="0" i="0">
                <a:solidFill>
                  <a:srgbClr val="898781"/>
                </a:solidFill>
                <a:latin typeface="Helvetica Neue"/>
              </a:rPr>
              <a:t>5</a:t>
            </a:r>
          </a:p>
        </p:txBody>
      </p:sp>
      <p:sp>
        <p:nvSpPr>
          <p:cNvPr id="5" name="TextBox 4"/>
          <p:cNvSpPr txBox="1"/>
          <p:nvPr/>
        </p:nvSpPr>
        <p:spPr>
          <a:xfrm>
            <a:off x="548640" y="320040"/>
            <a:ext cx="10058400" cy="320040"/>
          </a:xfrm>
          <a:prstGeom prst="rect">
            <a:avLst/>
          </a:prstGeom>
          <a:noFill/>
        </p:spPr>
        <p:txBody>
          <a:bodyPr wrap="square">
            <a:spAutoFit/>
          </a:bodyPr>
          <a:lstStyle/>
          <a:p>
            <a:pPr algn="l">
              <a:lnSpc>
                <a:spcPct val="115000"/>
              </a:lnSpc>
            </a:pPr>
            <a:r>
              <a:rPr sz="1250" b="1" i="0">
                <a:solidFill>
                  <a:srgbClr val="2A78D6"/>
                </a:solidFill>
                <a:latin typeface="Helvetica Neue"/>
              </a:rPr>
              <a:t>BENCHMARK</a:t>
            </a:r>
          </a:p>
        </p:txBody>
      </p:sp>
      <p:sp>
        <p:nvSpPr>
          <p:cNvPr id="6" name="TextBox 5"/>
          <p:cNvSpPr txBox="1"/>
          <p:nvPr/>
        </p:nvSpPr>
        <p:spPr>
          <a:xfrm>
            <a:off x="548640" y="914400"/>
            <a:ext cx="11064240" cy="640080"/>
          </a:xfrm>
          <a:prstGeom prst="rect">
            <a:avLst/>
          </a:prstGeom>
          <a:noFill/>
        </p:spPr>
        <p:txBody>
          <a:bodyPr wrap="square">
            <a:spAutoFit/>
          </a:bodyPr>
          <a:lstStyle/>
          <a:p>
            <a:pPr algn="l">
              <a:lnSpc>
                <a:spcPct val="115000"/>
              </a:lnSpc>
            </a:pPr>
            <a:r>
              <a:rPr sz="2600" b="1" i="0">
                <a:solidFill>
                  <a:srgbClr val="0B0B0B"/>
                </a:solidFill>
                <a:latin typeface="Helvetica Neue"/>
              </a:rPr>
              <a:t>Ten stages defined, nine measurable</a:t>
            </a:r>
          </a:p>
        </p:txBody>
      </p:sp>
      <p:cxnSp>
        <p:nvCxnSpPr>
          <p:cNvPr id="7" name="Connector 6"/>
          <p:cNvCxnSpPr/>
          <p:nvPr/>
        </p:nvCxnSpPr>
        <p:spPr>
          <a:xfrm>
            <a:off x="548640" y="1508760"/>
            <a:ext cx="11091672"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548640" y="1691640"/>
          <a:ext cx="11064239" cy="3771900"/>
        </p:xfrm>
        <a:graphic>
          <a:graphicData uri="http://schemas.openxmlformats.org/drawingml/2006/table">
            <a:tbl>
              <a:tblPr firstRow="1" bandRow="1">
                <a:tableStyleId>{5C22544A-7EE6-4342-B048-85BDC9FD1C3A}</a:tableStyleId>
              </a:tblPr>
              <a:tblGrid>
                <a:gridCol w="553212"/>
                <a:gridCol w="2766060"/>
                <a:gridCol w="4315053"/>
                <a:gridCol w="1106424"/>
                <a:gridCol w="2323490"/>
              </a:tblGrid>
              <a:tr h="342900">
                <a:tc>
                  <a:txBody>
                    <a:bodyPr/>
                    <a:lstStyle/>
                    <a:p>
                      <a:pPr algn="l"/>
                      <a:r>
                        <a:rPr sz="1150" b="1">
                          <a:solidFill>
                            <a:srgbClr val="FFFFFF"/>
                          </a:solidFill>
                          <a:latin typeface="Helvetica Neue"/>
                        </a:rPr>
                        <a:t>#</a:t>
                      </a:r>
                    </a:p>
                  </a:txBody>
                  <a:tcPr marL="73152" marR="73152" marT="27432" marB="27432" anchor="ctr">
                    <a:solidFill>
                      <a:srgbClr val="0B0B0B"/>
                    </a:solidFill>
                  </a:tcPr>
                </a:tc>
                <a:tc>
                  <a:txBody>
                    <a:bodyPr/>
                    <a:lstStyle/>
                    <a:p>
                      <a:pPr algn="ctr"/>
                      <a:r>
                        <a:rPr sz="1150" b="1">
                          <a:solidFill>
                            <a:srgbClr val="FFFFFF"/>
                          </a:solidFill>
                          <a:latin typeface="Helvetica Neue"/>
                        </a:rPr>
                        <a:t>Stage</a:t>
                      </a:r>
                    </a:p>
                  </a:txBody>
                  <a:tcPr marL="73152" marR="73152" marT="27432" marB="27432" anchor="ctr">
                    <a:solidFill>
                      <a:srgbClr val="0B0B0B"/>
                    </a:solidFill>
                  </a:tcPr>
                </a:tc>
                <a:tc>
                  <a:txBody>
                    <a:bodyPr/>
                    <a:lstStyle/>
                    <a:p>
                      <a:pPr algn="ctr"/>
                      <a:r>
                        <a:rPr sz="1150" b="1">
                          <a:solidFill>
                            <a:srgbClr val="FFFFFF"/>
                          </a:solidFill>
                          <a:latin typeface="Helvetica Neue"/>
                        </a:rPr>
                        <a:t>Purpose</a:t>
                      </a:r>
                    </a:p>
                  </a:txBody>
                  <a:tcPr marL="73152" marR="73152" marT="27432" marB="27432" anchor="ctr">
                    <a:solidFill>
                      <a:srgbClr val="0B0B0B"/>
                    </a:solidFill>
                  </a:tcPr>
                </a:tc>
                <a:tc>
                  <a:txBody>
                    <a:bodyPr/>
                    <a:lstStyle/>
                    <a:p>
                      <a:pPr algn="ctr"/>
                      <a:r>
                        <a:rPr sz="1150" b="1">
                          <a:solidFill>
                            <a:srgbClr val="FFFFFF"/>
                          </a:solidFill>
                          <a:latin typeface="Helvetica Neue"/>
                        </a:rPr>
                        <a:t>Band</a:t>
                      </a:r>
                    </a:p>
                  </a:txBody>
                  <a:tcPr marL="73152" marR="73152" marT="27432" marB="27432" anchor="ctr">
                    <a:solidFill>
                      <a:srgbClr val="0B0B0B"/>
                    </a:solidFill>
                  </a:tcPr>
                </a:tc>
                <a:tc>
                  <a:txBody>
                    <a:bodyPr/>
                    <a:lstStyle/>
                    <a:p>
                      <a:pPr algn="ctr"/>
                      <a:r>
                        <a:rPr sz="1150" b="1">
                          <a:solidFill>
                            <a:srgbClr val="FFFFFF"/>
                          </a:solidFill>
                          <a:latin typeface="Helvetica Neue"/>
                        </a:rPr>
                        <a:t>Observable</a:t>
                      </a:r>
                    </a:p>
                  </a:txBody>
                  <a:tcPr marL="73152" marR="73152" marT="27432" marB="27432" anchor="ctr">
                    <a:solidFill>
                      <a:srgbClr val="0B0B0B"/>
                    </a:solidFill>
                  </a:tcPr>
                </a:tc>
              </a:tr>
              <a:tr h="342900">
                <a:tc>
                  <a:txBody>
                    <a:bodyPr/>
                    <a:lstStyle/>
                    <a:p>
                      <a:pPr algn="l"/>
                      <a:r>
                        <a:rPr sz="1150" b="0">
                          <a:solidFill>
                            <a:srgbClr val="0B0B0B"/>
                          </a:solidFill>
                          <a:latin typeface="Helvetica Neue"/>
                        </a:rPr>
                        <a:t>1</a:t>
                      </a:r>
                    </a:p>
                  </a:txBody>
                  <a:tcPr marL="73152" marR="73152" marT="27432" marB="27432" anchor="ctr">
                    <a:solidFill>
                      <a:srgbClr val="FCFCFB"/>
                    </a:solidFill>
                  </a:tcPr>
                </a:tc>
                <a:tc>
                  <a:txBody>
                    <a:bodyPr/>
                    <a:lstStyle/>
                    <a:p>
                      <a:pPr algn="ctr"/>
                      <a:r>
                        <a:rPr sz="1150" b="0">
                          <a:solidFill>
                            <a:srgbClr val="0B0B0B"/>
                          </a:solidFill>
                          <a:latin typeface="Helvetica Neue"/>
                        </a:rPr>
                        <a:t>Task Quality</a:t>
                      </a:r>
                    </a:p>
                  </a:txBody>
                  <a:tcPr marL="73152" marR="73152" marT="27432" marB="27432" anchor="ctr">
                    <a:solidFill>
                      <a:srgbClr val="FCFCFB"/>
                    </a:solidFill>
                  </a:tcPr>
                </a:tc>
                <a:tc>
                  <a:txBody>
                    <a:bodyPr/>
                    <a:lstStyle/>
                    <a:p>
                      <a:pPr algn="ctr"/>
                      <a:r>
                        <a:rPr sz="1150" b="0">
                          <a:solidFill>
                            <a:srgbClr val="0B0B0B"/>
                          </a:solidFill>
                          <a:latin typeface="Helvetica Neue"/>
                        </a:rPr>
                        <a:t>Is the answer right?</a:t>
                      </a:r>
                    </a:p>
                  </a:txBody>
                  <a:tcPr marL="73152" marR="73152" marT="27432" marB="27432" anchor="ctr">
                    <a:solidFill>
                      <a:srgbClr val="FCFCFB"/>
                    </a:solidFill>
                  </a:tcPr>
                </a:tc>
                <a:tc>
                  <a:txBody>
                    <a:bodyPr/>
                    <a:lstStyle/>
                    <a:p>
                      <a:pPr algn="ctr"/>
                      <a:r>
                        <a:rPr sz="1150" b="0">
                          <a:solidFill>
                            <a:srgbClr val="0B0B0B"/>
                          </a:solidFill>
                          <a:latin typeface="Helvetica Neue"/>
                        </a:rPr>
                        <a:t>P0</a:t>
                      </a:r>
                    </a:p>
                  </a:txBody>
                  <a:tcPr marL="73152" marR="73152" marT="27432" marB="27432" anchor="ctr">
                    <a:solidFill>
                      <a:srgbClr val="FCFCFB"/>
                    </a:solidFill>
                  </a:tcPr>
                </a:tc>
                <a:tc>
                  <a:txBody>
                    <a:bodyPr/>
                    <a:lstStyle/>
                    <a:p>
                      <a:pPr algn="ctr"/>
                      <a:r>
                        <a:rPr sz="1150" b="0">
                          <a:solidFill>
                            <a:srgbClr val="0B0B0B"/>
                          </a:solidFill>
                          <a:latin typeface="Helvetica Neue"/>
                        </a:rPr>
                        <a:t>yes</a:t>
                      </a:r>
                    </a:p>
                  </a:txBody>
                  <a:tcPr marL="73152" marR="73152" marT="27432" marB="27432" anchor="ctr">
                    <a:solidFill>
                      <a:srgbClr val="FCFCFB"/>
                    </a:solidFill>
                  </a:tcPr>
                </a:tc>
              </a:tr>
              <a:tr h="342900">
                <a:tc>
                  <a:txBody>
                    <a:bodyPr/>
                    <a:lstStyle/>
                    <a:p>
                      <a:pPr algn="l"/>
                      <a:r>
                        <a:rPr sz="1150" b="0">
                          <a:solidFill>
                            <a:srgbClr val="0B0B0B"/>
                          </a:solidFill>
                          <a:latin typeface="Helvetica Neue"/>
                        </a:rPr>
                        <a:t>2</a:t>
                      </a:r>
                    </a:p>
                  </a:txBody>
                  <a:tcPr marL="73152" marR="73152" marT="27432" marB="27432" anchor="ctr">
                    <a:solidFill>
                      <a:srgbClr val="FCFCFB"/>
                    </a:solidFill>
                  </a:tcPr>
                </a:tc>
                <a:tc>
                  <a:txBody>
                    <a:bodyPr/>
                    <a:lstStyle/>
                    <a:p>
                      <a:pPr algn="ctr"/>
                      <a:r>
                        <a:rPr sz="1150" b="0">
                          <a:solidFill>
                            <a:srgbClr val="0B0B0B"/>
                          </a:solidFill>
                          <a:latin typeface="Helvetica Neue"/>
                        </a:rPr>
                        <a:t>Probabilistic Quality</a:t>
                      </a:r>
                    </a:p>
                  </a:txBody>
                  <a:tcPr marL="73152" marR="73152" marT="27432" marB="27432" anchor="ctr">
                    <a:solidFill>
                      <a:srgbClr val="FCFCFB"/>
                    </a:solidFill>
                  </a:tcPr>
                </a:tc>
                <a:tc>
                  <a:txBody>
                    <a:bodyPr/>
                    <a:lstStyle/>
                    <a:p>
                      <a:pPr algn="ctr"/>
                      <a:r>
                        <a:rPr sz="1150" b="0">
                          <a:solidFill>
                            <a:srgbClr val="0B0B0B"/>
                          </a:solidFill>
                          <a:latin typeface="Helvetica Neue"/>
                        </a:rPr>
                        <a:t>Is its confidence earned?</a:t>
                      </a:r>
                    </a:p>
                  </a:txBody>
                  <a:tcPr marL="73152" marR="73152" marT="27432" marB="27432" anchor="ctr">
                    <a:solidFill>
                      <a:srgbClr val="FCFCFB"/>
                    </a:solidFill>
                  </a:tcPr>
                </a:tc>
                <a:tc>
                  <a:txBody>
                    <a:bodyPr/>
                    <a:lstStyle/>
                    <a:p>
                      <a:pPr algn="ctr"/>
                      <a:r>
                        <a:rPr sz="1150" b="0">
                          <a:solidFill>
                            <a:srgbClr val="0B0B0B"/>
                          </a:solidFill>
                          <a:latin typeface="Helvetica Neue"/>
                        </a:rPr>
                        <a:t>P1</a:t>
                      </a:r>
                    </a:p>
                  </a:txBody>
                  <a:tcPr marL="73152" marR="73152" marT="27432" marB="27432" anchor="ctr">
                    <a:solidFill>
                      <a:srgbClr val="FCFCFB"/>
                    </a:solidFill>
                  </a:tcPr>
                </a:tc>
                <a:tc>
                  <a:txBody>
                    <a:bodyPr/>
                    <a:lstStyle/>
                    <a:p>
                      <a:pPr algn="ctr"/>
                      <a:r>
                        <a:rPr sz="1150" b="0">
                          <a:solidFill>
                            <a:srgbClr val="0B0B0B"/>
                          </a:solidFill>
                          <a:latin typeface="Helvetica Neue"/>
                        </a:rPr>
                        <a:t>conditional</a:t>
                      </a:r>
                    </a:p>
                  </a:txBody>
                  <a:tcPr marL="73152" marR="73152" marT="27432" marB="27432" anchor="ctr">
                    <a:solidFill>
                      <a:srgbClr val="FCFCFB"/>
                    </a:solidFill>
                  </a:tcPr>
                </a:tc>
              </a:tr>
              <a:tr h="342900">
                <a:tc>
                  <a:txBody>
                    <a:bodyPr/>
                    <a:lstStyle/>
                    <a:p>
                      <a:pPr algn="l"/>
                      <a:r>
                        <a:rPr sz="1150" b="0">
                          <a:solidFill>
                            <a:srgbClr val="0B0B0B"/>
                          </a:solidFill>
                          <a:latin typeface="Helvetica Neue"/>
                        </a:rPr>
                        <a:t>3</a:t>
                      </a:r>
                    </a:p>
                  </a:txBody>
                  <a:tcPr marL="73152" marR="73152" marT="27432" marB="27432" anchor="ctr">
                    <a:solidFill>
                      <a:srgbClr val="FCFCFB"/>
                    </a:solidFill>
                  </a:tcPr>
                </a:tc>
                <a:tc>
                  <a:txBody>
                    <a:bodyPr/>
                    <a:lstStyle/>
                    <a:p>
                      <a:pPr algn="ctr"/>
                      <a:r>
                        <a:rPr sz="1150" b="0">
                          <a:solidFill>
                            <a:srgbClr val="0B0B0B"/>
                          </a:solidFill>
                          <a:latin typeface="Helvetica Neue"/>
                        </a:rPr>
                        <a:t>Reasoning &amp; Consistency</a:t>
                      </a:r>
                    </a:p>
                  </a:txBody>
                  <a:tcPr marL="73152" marR="73152" marT="27432" marB="27432" anchor="ctr">
                    <a:solidFill>
                      <a:srgbClr val="FCFCFB"/>
                    </a:solidFill>
                  </a:tcPr>
                </a:tc>
                <a:tc>
                  <a:txBody>
                    <a:bodyPr/>
                    <a:lstStyle/>
                    <a:p>
                      <a:pPr algn="ctr"/>
                      <a:r>
                        <a:rPr sz="1150" b="0">
                          <a:solidFill>
                            <a:srgbClr val="0B0B0B"/>
                          </a:solidFill>
                          <a:latin typeface="Helvetica Neue"/>
                        </a:rPr>
                        <a:t>Same answer twice?</a:t>
                      </a:r>
                    </a:p>
                  </a:txBody>
                  <a:tcPr marL="73152" marR="73152" marT="27432" marB="27432" anchor="ctr">
                    <a:solidFill>
                      <a:srgbClr val="FCFCFB"/>
                    </a:solidFill>
                  </a:tcPr>
                </a:tc>
                <a:tc>
                  <a:txBody>
                    <a:bodyPr/>
                    <a:lstStyle/>
                    <a:p>
                      <a:pPr algn="ctr"/>
                      <a:r>
                        <a:rPr sz="1150" b="0">
                          <a:solidFill>
                            <a:srgbClr val="0B0B0B"/>
                          </a:solidFill>
                          <a:latin typeface="Helvetica Neue"/>
                        </a:rPr>
                        <a:t>P1</a:t>
                      </a:r>
                    </a:p>
                  </a:txBody>
                  <a:tcPr marL="73152" marR="73152" marT="27432" marB="27432" anchor="ctr">
                    <a:solidFill>
                      <a:srgbClr val="FCFCFB"/>
                    </a:solidFill>
                  </a:tcPr>
                </a:tc>
                <a:tc>
                  <a:txBody>
                    <a:bodyPr/>
                    <a:lstStyle/>
                    <a:p>
                      <a:pPr algn="ctr"/>
                      <a:r>
                        <a:rPr sz="1150" b="0">
                          <a:solidFill>
                            <a:srgbClr val="0B0B0B"/>
                          </a:solidFill>
                          <a:latin typeface="Helvetica Neue"/>
                        </a:rPr>
                        <a:t>yes</a:t>
                      </a:r>
                    </a:p>
                  </a:txBody>
                  <a:tcPr marL="73152" marR="73152" marT="27432" marB="27432" anchor="ctr">
                    <a:solidFill>
                      <a:srgbClr val="FCFCFB"/>
                    </a:solidFill>
                  </a:tcPr>
                </a:tc>
              </a:tr>
              <a:tr h="342900">
                <a:tc>
                  <a:txBody>
                    <a:bodyPr/>
                    <a:lstStyle/>
                    <a:p>
                      <a:pPr algn="l"/>
                      <a:r>
                        <a:rPr sz="1150" b="0">
                          <a:solidFill>
                            <a:srgbClr val="0B0B0B"/>
                          </a:solidFill>
                          <a:latin typeface="Helvetica Neue"/>
                        </a:rPr>
                        <a:t>4</a:t>
                      </a:r>
                    </a:p>
                  </a:txBody>
                  <a:tcPr marL="73152" marR="73152" marT="27432" marB="27432" anchor="ctr">
                    <a:solidFill>
                      <a:srgbClr val="FCFCFB"/>
                    </a:solidFill>
                  </a:tcPr>
                </a:tc>
                <a:tc>
                  <a:txBody>
                    <a:bodyPr/>
                    <a:lstStyle/>
                    <a:p>
                      <a:pPr algn="ctr"/>
                      <a:r>
                        <a:rPr sz="1150" b="0">
                          <a:solidFill>
                            <a:srgbClr val="0B0B0B"/>
                          </a:solidFill>
                          <a:latin typeface="Helvetica Neue"/>
                        </a:rPr>
                        <a:t>Context Behavior</a:t>
                      </a:r>
                    </a:p>
                  </a:txBody>
                  <a:tcPr marL="73152" marR="73152" marT="27432" marB="27432" anchor="ctr">
                    <a:solidFill>
                      <a:srgbClr val="FCFCFB"/>
                    </a:solidFill>
                  </a:tcPr>
                </a:tc>
                <a:tc>
                  <a:txBody>
                    <a:bodyPr/>
                    <a:lstStyle/>
                    <a:p>
                      <a:pPr algn="ctr"/>
                      <a:r>
                        <a:rPr sz="1150" b="0">
                          <a:solidFill>
                            <a:srgbClr val="0B0B0B"/>
                          </a:solidFill>
                          <a:latin typeface="Helvetica Neue"/>
                        </a:rPr>
                        <a:t>Is it reading the passage?</a:t>
                      </a:r>
                    </a:p>
                  </a:txBody>
                  <a:tcPr marL="73152" marR="73152" marT="27432" marB="27432" anchor="ctr">
                    <a:solidFill>
                      <a:srgbClr val="FCFCFB"/>
                    </a:solidFill>
                  </a:tcPr>
                </a:tc>
                <a:tc>
                  <a:txBody>
                    <a:bodyPr/>
                    <a:lstStyle/>
                    <a:p>
                      <a:pPr algn="ctr"/>
                      <a:r>
                        <a:rPr sz="1150" b="0">
                          <a:solidFill>
                            <a:srgbClr val="0B0B0B"/>
                          </a:solidFill>
                          <a:latin typeface="Helvetica Neue"/>
                        </a:rPr>
                        <a:t>P1</a:t>
                      </a:r>
                    </a:p>
                  </a:txBody>
                  <a:tcPr marL="73152" marR="73152" marT="27432" marB="27432" anchor="ctr">
                    <a:solidFill>
                      <a:srgbClr val="FCFCFB"/>
                    </a:solidFill>
                  </a:tcPr>
                </a:tc>
                <a:tc>
                  <a:txBody>
                    <a:bodyPr/>
                    <a:lstStyle/>
                    <a:p>
                      <a:pPr algn="ctr"/>
                      <a:r>
                        <a:rPr sz="1150" b="0">
                          <a:solidFill>
                            <a:srgbClr val="0B0B0B"/>
                          </a:solidFill>
                          <a:latin typeface="Helvetica Neue"/>
                        </a:rPr>
                        <a:t>yes</a:t>
                      </a:r>
                    </a:p>
                  </a:txBody>
                  <a:tcPr marL="73152" marR="73152" marT="27432" marB="27432" anchor="ctr">
                    <a:solidFill>
                      <a:srgbClr val="FCFCFB"/>
                    </a:solidFill>
                  </a:tcPr>
                </a:tc>
              </a:tr>
              <a:tr h="342900">
                <a:tc>
                  <a:txBody>
                    <a:bodyPr/>
                    <a:lstStyle/>
                    <a:p>
                      <a:pPr algn="l"/>
                      <a:r>
                        <a:rPr sz="1150" b="0">
                          <a:solidFill>
                            <a:srgbClr val="0B0B0B"/>
                          </a:solidFill>
                          <a:latin typeface="Helvetica Neue"/>
                        </a:rPr>
                        <a:t>5</a:t>
                      </a:r>
                    </a:p>
                  </a:txBody>
                  <a:tcPr marL="73152" marR="73152" marT="27432" marB="27432" anchor="ctr">
                    <a:solidFill>
                      <a:srgbClr val="FCFCFB"/>
                    </a:solidFill>
                  </a:tcPr>
                </a:tc>
                <a:tc>
                  <a:txBody>
                    <a:bodyPr/>
                    <a:lstStyle/>
                    <a:p>
                      <a:pPr algn="ctr"/>
                      <a:r>
                        <a:rPr sz="1150" b="0">
                          <a:solidFill>
                            <a:srgbClr val="0B0B0B"/>
                          </a:solidFill>
                          <a:latin typeface="Helvetica Neue"/>
                        </a:rPr>
                        <a:t>Robustness</a:t>
                      </a:r>
                    </a:p>
                  </a:txBody>
                  <a:tcPr marL="73152" marR="73152" marT="27432" marB="27432" anchor="ctr">
                    <a:solidFill>
                      <a:srgbClr val="FCFCFB"/>
                    </a:solidFill>
                  </a:tcPr>
                </a:tc>
                <a:tc>
                  <a:txBody>
                    <a:bodyPr/>
                    <a:lstStyle/>
                    <a:p>
                      <a:pPr algn="ctr"/>
                      <a:r>
                        <a:rPr sz="1150" b="0">
                          <a:solidFill>
                            <a:srgbClr val="0B0B0B"/>
                          </a:solidFill>
                          <a:latin typeface="Helvetica Neue"/>
                        </a:rPr>
                        <a:t>Does the score survive input change?</a:t>
                      </a:r>
                    </a:p>
                  </a:txBody>
                  <a:tcPr marL="73152" marR="73152" marT="27432" marB="27432" anchor="ctr">
                    <a:solidFill>
                      <a:srgbClr val="FCFCFB"/>
                    </a:solidFill>
                  </a:tcPr>
                </a:tc>
                <a:tc>
                  <a:txBody>
                    <a:bodyPr/>
                    <a:lstStyle/>
                    <a:p>
                      <a:pPr algn="ctr"/>
                      <a:r>
                        <a:rPr sz="1150" b="0">
                          <a:solidFill>
                            <a:srgbClr val="0B0B0B"/>
                          </a:solidFill>
                          <a:latin typeface="Helvetica Neue"/>
                        </a:rPr>
                        <a:t>P1</a:t>
                      </a:r>
                    </a:p>
                  </a:txBody>
                  <a:tcPr marL="73152" marR="73152" marT="27432" marB="27432" anchor="ctr">
                    <a:solidFill>
                      <a:srgbClr val="FCFCFB"/>
                    </a:solidFill>
                  </a:tcPr>
                </a:tc>
                <a:tc>
                  <a:txBody>
                    <a:bodyPr/>
                    <a:lstStyle/>
                    <a:p>
                      <a:pPr algn="ctr"/>
                      <a:r>
                        <a:rPr sz="1150" b="0">
                          <a:solidFill>
                            <a:srgbClr val="0B0B0B"/>
                          </a:solidFill>
                          <a:latin typeface="Helvetica Neue"/>
                        </a:rPr>
                        <a:t>yes</a:t>
                      </a:r>
                    </a:p>
                  </a:txBody>
                  <a:tcPr marL="73152" marR="73152" marT="27432" marB="27432" anchor="ctr">
                    <a:solidFill>
                      <a:srgbClr val="FCFCFB"/>
                    </a:solidFill>
                  </a:tcPr>
                </a:tc>
              </a:tr>
              <a:tr h="342900">
                <a:tc>
                  <a:txBody>
                    <a:bodyPr/>
                    <a:lstStyle/>
                    <a:p>
                      <a:pPr algn="l"/>
                      <a:r>
                        <a:rPr sz="1150" b="0">
                          <a:solidFill>
                            <a:srgbClr val="0B0B0B"/>
                          </a:solidFill>
                          <a:latin typeface="Helvetica Neue"/>
                        </a:rPr>
                        <a:t>6</a:t>
                      </a:r>
                    </a:p>
                  </a:txBody>
                  <a:tcPr marL="73152" marR="73152" marT="27432" marB="27432" anchor="ctr">
                    <a:solidFill>
                      <a:srgbClr val="FCFCFB"/>
                    </a:solidFill>
                  </a:tcPr>
                </a:tc>
                <a:tc>
                  <a:txBody>
                    <a:bodyPr/>
                    <a:lstStyle/>
                    <a:p>
                      <a:pPr algn="ctr"/>
                      <a:r>
                        <a:rPr sz="1150" b="0">
                          <a:solidFill>
                            <a:srgbClr val="0B0B0B"/>
                          </a:solidFill>
                          <a:latin typeface="Helvetica Neue"/>
                        </a:rPr>
                        <a:t>API Performance</a:t>
                      </a:r>
                    </a:p>
                  </a:txBody>
                  <a:tcPr marL="73152" marR="73152" marT="27432" marB="27432" anchor="ctr">
                    <a:solidFill>
                      <a:srgbClr val="FCFCFB"/>
                    </a:solidFill>
                  </a:tcPr>
                </a:tc>
                <a:tc>
                  <a:txBody>
                    <a:bodyPr/>
                    <a:lstStyle/>
                    <a:p>
                      <a:pPr algn="ctr"/>
                      <a:r>
                        <a:rPr sz="1150" b="0">
                          <a:solidFill>
                            <a:srgbClr val="0B0B0B"/>
                          </a:solidFill>
                          <a:latin typeface="Helvetica Neue"/>
                        </a:rPr>
                        <a:t>How fast did it respond?</a:t>
                      </a:r>
                    </a:p>
                  </a:txBody>
                  <a:tcPr marL="73152" marR="73152" marT="27432" marB="27432" anchor="ctr">
                    <a:solidFill>
                      <a:srgbClr val="FCFCFB"/>
                    </a:solidFill>
                  </a:tcPr>
                </a:tc>
                <a:tc>
                  <a:txBody>
                    <a:bodyPr/>
                    <a:lstStyle/>
                    <a:p>
                      <a:pPr algn="ctr"/>
                      <a:r>
                        <a:rPr sz="1150" b="0">
                          <a:solidFill>
                            <a:srgbClr val="0B0B0B"/>
                          </a:solidFill>
                          <a:latin typeface="Helvetica Neue"/>
                        </a:rPr>
                        <a:t>P0</a:t>
                      </a:r>
                    </a:p>
                  </a:txBody>
                  <a:tcPr marL="73152" marR="73152" marT="27432" marB="27432" anchor="ctr">
                    <a:solidFill>
                      <a:srgbClr val="FCFCFB"/>
                    </a:solidFill>
                  </a:tcPr>
                </a:tc>
                <a:tc>
                  <a:txBody>
                    <a:bodyPr/>
                    <a:lstStyle/>
                    <a:p>
                      <a:pPr algn="ctr"/>
                      <a:r>
                        <a:rPr sz="1150" b="0">
                          <a:solidFill>
                            <a:srgbClr val="0B0B0B"/>
                          </a:solidFill>
                          <a:latin typeface="Helvetica Neue"/>
                        </a:rPr>
                        <a:t>yes</a:t>
                      </a:r>
                    </a:p>
                  </a:txBody>
                  <a:tcPr marL="73152" marR="73152" marT="27432" marB="27432" anchor="ctr">
                    <a:solidFill>
                      <a:srgbClr val="FCFCFB"/>
                    </a:solidFill>
                  </a:tcPr>
                </a:tc>
              </a:tr>
              <a:tr h="342900">
                <a:tc>
                  <a:txBody>
                    <a:bodyPr/>
                    <a:lstStyle/>
                    <a:p>
                      <a:pPr algn="l"/>
                      <a:r>
                        <a:rPr sz="1150" b="0">
                          <a:solidFill>
                            <a:srgbClr val="0B0B0B"/>
                          </a:solidFill>
                          <a:latin typeface="Helvetica Neue"/>
                        </a:rPr>
                        <a:t>7</a:t>
                      </a:r>
                    </a:p>
                  </a:txBody>
                  <a:tcPr marL="73152" marR="73152" marT="27432" marB="27432" anchor="ctr">
                    <a:solidFill>
                      <a:srgbClr val="FCFCFB"/>
                    </a:solidFill>
                  </a:tcPr>
                </a:tc>
                <a:tc>
                  <a:txBody>
                    <a:bodyPr/>
                    <a:lstStyle/>
                    <a:p>
                      <a:pPr algn="ctr"/>
                      <a:r>
                        <a:rPr sz="1150" b="0">
                          <a:solidFill>
                            <a:srgbClr val="0B0B0B"/>
                          </a:solidFill>
                          <a:latin typeface="Helvetica Neue"/>
                        </a:rPr>
                        <a:t>Token Efficiency</a:t>
                      </a:r>
                    </a:p>
                  </a:txBody>
                  <a:tcPr marL="73152" marR="73152" marT="27432" marB="27432" anchor="ctr">
                    <a:solidFill>
                      <a:srgbClr val="FCFCFB"/>
                    </a:solidFill>
                  </a:tcPr>
                </a:tc>
                <a:tc>
                  <a:txBody>
                    <a:bodyPr/>
                    <a:lstStyle/>
                    <a:p>
                      <a:pPr algn="ctr"/>
                      <a:r>
                        <a:rPr sz="1150" b="0">
                          <a:solidFill>
                            <a:srgbClr val="0B0B0B"/>
                          </a:solidFill>
                          <a:latin typeface="Helvetica Neue"/>
                        </a:rPr>
                        <a:t>How many tokens consumed?</a:t>
                      </a:r>
                    </a:p>
                  </a:txBody>
                  <a:tcPr marL="73152" marR="73152" marT="27432" marB="27432" anchor="ctr">
                    <a:solidFill>
                      <a:srgbClr val="FCFCFB"/>
                    </a:solidFill>
                  </a:tcPr>
                </a:tc>
                <a:tc>
                  <a:txBody>
                    <a:bodyPr/>
                    <a:lstStyle/>
                    <a:p>
                      <a:pPr algn="ctr"/>
                      <a:r>
                        <a:rPr sz="1150" b="0">
                          <a:solidFill>
                            <a:srgbClr val="0B0B0B"/>
                          </a:solidFill>
                          <a:latin typeface="Helvetica Neue"/>
                        </a:rPr>
                        <a:t>P0</a:t>
                      </a:r>
                    </a:p>
                  </a:txBody>
                  <a:tcPr marL="73152" marR="73152" marT="27432" marB="27432" anchor="ctr">
                    <a:solidFill>
                      <a:srgbClr val="FCFCFB"/>
                    </a:solidFill>
                  </a:tcPr>
                </a:tc>
                <a:tc>
                  <a:txBody>
                    <a:bodyPr/>
                    <a:lstStyle/>
                    <a:p>
                      <a:pPr algn="ctr"/>
                      <a:r>
                        <a:rPr sz="1150" b="0">
                          <a:solidFill>
                            <a:srgbClr val="0B0B0B"/>
                          </a:solidFill>
                          <a:latin typeface="Helvetica Neue"/>
                        </a:rPr>
                        <a:t>yes</a:t>
                      </a:r>
                    </a:p>
                  </a:txBody>
                  <a:tcPr marL="73152" marR="73152" marT="27432" marB="27432" anchor="ctr">
                    <a:solidFill>
                      <a:srgbClr val="FCFCFB"/>
                    </a:solidFill>
                  </a:tcPr>
                </a:tc>
              </a:tr>
              <a:tr h="342900">
                <a:tc>
                  <a:txBody>
                    <a:bodyPr/>
                    <a:lstStyle/>
                    <a:p>
                      <a:pPr algn="l"/>
                      <a:r>
                        <a:rPr sz="1150" b="0">
                          <a:solidFill>
                            <a:srgbClr val="0B0B0B"/>
                          </a:solidFill>
                          <a:latin typeface="Helvetica Neue"/>
                        </a:rPr>
                        <a:t>8</a:t>
                      </a:r>
                    </a:p>
                  </a:txBody>
                  <a:tcPr marL="73152" marR="73152" marT="27432" marB="27432" anchor="ctr">
                    <a:solidFill>
                      <a:srgbClr val="FCFCFB"/>
                    </a:solidFill>
                  </a:tcPr>
                </a:tc>
                <a:tc>
                  <a:txBody>
                    <a:bodyPr/>
                    <a:lstStyle/>
                    <a:p>
                      <a:pPr algn="ctr"/>
                      <a:r>
                        <a:rPr sz="1150" b="0">
                          <a:solidFill>
                            <a:srgbClr val="0B0B0B"/>
                          </a:solidFill>
                          <a:latin typeface="Helvetica Neue"/>
                        </a:rPr>
                        <a:t>Economics</a:t>
                      </a:r>
                    </a:p>
                  </a:txBody>
                  <a:tcPr marL="73152" marR="73152" marT="27432" marB="27432" anchor="ctr">
                    <a:solidFill>
                      <a:srgbClr val="FCFCFB"/>
                    </a:solidFill>
                  </a:tcPr>
                </a:tc>
                <a:tc>
                  <a:txBody>
                    <a:bodyPr/>
                    <a:lstStyle/>
                    <a:p>
                      <a:pPr algn="ctr"/>
                      <a:r>
                        <a:rPr sz="1150" b="0">
                          <a:solidFill>
                            <a:srgbClr val="0B0B0B"/>
                          </a:solidFill>
                          <a:latin typeface="Helvetica Neue"/>
                        </a:rPr>
                        <a:t>What did it cost?</a:t>
                      </a:r>
                    </a:p>
                  </a:txBody>
                  <a:tcPr marL="73152" marR="73152" marT="27432" marB="27432" anchor="ctr">
                    <a:solidFill>
                      <a:srgbClr val="FCFCFB"/>
                    </a:solidFill>
                  </a:tcPr>
                </a:tc>
                <a:tc>
                  <a:txBody>
                    <a:bodyPr/>
                    <a:lstStyle/>
                    <a:p>
                      <a:pPr algn="ctr"/>
                      <a:r>
                        <a:rPr sz="1150" b="0">
                          <a:solidFill>
                            <a:srgbClr val="0B0B0B"/>
                          </a:solidFill>
                          <a:latin typeface="Helvetica Neue"/>
                        </a:rPr>
                        <a:t>P0</a:t>
                      </a:r>
                    </a:p>
                  </a:txBody>
                  <a:tcPr marL="73152" marR="73152" marT="27432" marB="27432" anchor="ctr">
                    <a:solidFill>
                      <a:srgbClr val="FCFCFB"/>
                    </a:solidFill>
                  </a:tcPr>
                </a:tc>
                <a:tc>
                  <a:txBody>
                    <a:bodyPr/>
                    <a:lstStyle/>
                    <a:p>
                      <a:pPr algn="ctr"/>
                      <a:r>
                        <a:rPr sz="1150" b="0">
                          <a:solidFill>
                            <a:srgbClr val="0B0B0B"/>
                          </a:solidFill>
                          <a:latin typeface="Helvetica Neue"/>
                        </a:rPr>
                        <a:t>yes</a:t>
                      </a:r>
                    </a:p>
                  </a:txBody>
                  <a:tcPr marL="73152" marR="73152" marT="27432" marB="27432" anchor="ctr">
                    <a:solidFill>
                      <a:srgbClr val="FCFCFB"/>
                    </a:solidFill>
                  </a:tcPr>
                </a:tc>
              </a:tr>
              <a:tr h="342900">
                <a:tc>
                  <a:txBody>
                    <a:bodyPr/>
                    <a:lstStyle/>
                    <a:p>
                      <a:pPr algn="l"/>
                      <a:r>
                        <a:rPr sz="1150" b="0">
                          <a:solidFill>
                            <a:srgbClr val="0B0B0B"/>
                          </a:solidFill>
                          <a:latin typeface="Helvetica Neue"/>
                        </a:rPr>
                        <a:t>9</a:t>
                      </a:r>
                    </a:p>
                  </a:txBody>
                  <a:tcPr marL="73152" marR="73152" marT="27432" marB="27432" anchor="ctr">
                    <a:solidFill>
                      <a:srgbClr val="FCFCFB"/>
                    </a:solidFill>
                  </a:tcPr>
                </a:tc>
                <a:tc>
                  <a:txBody>
                    <a:bodyPr/>
                    <a:lstStyle/>
                    <a:p>
                      <a:pPr algn="ctr"/>
                      <a:r>
                        <a:rPr sz="1150" b="0">
                          <a:solidFill>
                            <a:srgbClr val="0B0B0B"/>
                          </a:solidFill>
                          <a:latin typeface="Helvetica Neue"/>
                        </a:rPr>
                        <a:t>Reliability</a:t>
                      </a:r>
                    </a:p>
                  </a:txBody>
                  <a:tcPr marL="73152" marR="73152" marT="27432" marB="27432" anchor="ctr">
                    <a:solidFill>
                      <a:srgbClr val="FCFCFB"/>
                    </a:solidFill>
                  </a:tcPr>
                </a:tc>
                <a:tc>
                  <a:txBody>
                    <a:bodyPr/>
                    <a:lstStyle/>
                    <a:p>
                      <a:pPr algn="ctr"/>
                      <a:r>
                        <a:rPr sz="1150" b="0">
                          <a:solidFill>
                            <a:srgbClr val="0B0B0B"/>
                          </a:solidFill>
                          <a:latin typeface="Helvetica Neue"/>
                        </a:rPr>
                        <a:t>Did the calls succeed?</a:t>
                      </a:r>
                    </a:p>
                  </a:txBody>
                  <a:tcPr marL="73152" marR="73152" marT="27432" marB="27432" anchor="ctr">
                    <a:solidFill>
                      <a:srgbClr val="FCFCFB"/>
                    </a:solidFill>
                  </a:tcPr>
                </a:tc>
                <a:tc>
                  <a:txBody>
                    <a:bodyPr/>
                    <a:lstStyle/>
                    <a:p>
                      <a:pPr algn="ctr"/>
                      <a:r>
                        <a:rPr sz="1150" b="0">
                          <a:solidFill>
                            <a:srgbClr val="0B0B0B"/>
                          </a:solidFill>
                          <a:latin typeface="Helvetica Neue"/>
                        </a:rPr>
                        <a:t>P0</a:t>
                      </a:r>
                    </a:p>
                  </a:txBody>
                  <a:tcPr marL="73152" marR="73152" marT="27432" marB="27432" anchor="ctr">
                    <a:solidFill>
                      <a:srgbClr val="FCFCFB"/>
                    </a:solidFill>
                  </a:tcPr>
                </a:tc>
                <a:tc>
                  <a:txBody>
                    <a:bodyPr/>
                    <a:lstStyle/>
                    <a:p>
                      <a:pPr algn="ctr"/>
                      <a:r>
                        <a:rPr sz="1150" b="0">
                          <a:solidFill>
                            <a:srgbClr val="0B0B0B"/>
                          </a:solidFill>
                          <a:latin typeface="Helvetica Neue"/>
                        </a:rPr>
                        <a:t>yes</a:t>
                      </a:r>
                    </a:p>
                  </a:txBody>
                  <a:tcPr marL="73152" marR="73152" marT="27432" marB="27432" anchor="ctr">
                    <a:solidFill>
                      <a:srgbClr val="FCFCFB"/>
                    </a:solidFill>
                  </a:tcPr>
                </a:tc>
              </a:tr>
              <a:tr h="342900">
                <a:tc>
                  <a:txBody>
                    <a:bodyPr/>
                    <a:lstStyle/>
                    <a:p>
                      <a:pPr algn="l"/>
                      <a:r>
                        <a:rPr sz="1150" b="0">
                          <a:solidFill>
                            <a:srgbClr val="0B0B0B"/>
                          </a:solidFill>
                          <a:latin typeface="Helvetica Neue"/>
                        </a:rPr>
                        <a:t>10</a:t>
                      </a:r>
                    </a:p>
                  </a:txBody>
                  <a:tcPr marL="73152" marR="73152" marT="27432" marB="27432" anchor="ctr">
                    <a:solidFill>
                      <a:srgbClr val="FCFCFB"/>
                    </a:solidFill>
                  </a:tcPr>
                </a:tc>
                <a:tc>
                  <a:txBody>
                    <a:bodyPr/>
                    <a:lstStyle/>
                    <a:p>
                      <a:pPr algn="ctr"/>
                      <a:r>
                        <a:rPr sz="1150" b="0">
                          <a:solidFill>
                            <a:srgbClr val="0B0B0B"/>
                          </a:solidFill>
                          <a:latin typeface="Helvetica Neue"/>
                        </a:rPr>
                        <a:t>Hardware &amp; Distributed</a:t>
                      </a:r>
                    </a:p>
                  </a:txBody>
                  <a:tcPr marL="73152" marR="73152" marT="27432" marB="27432" anchor="ctr">
                    <a:solidFill>
                      <a:srgbClr val="FCFCFB"/>
                    </a:solidFill>
                  </a:tcPr>
                </a:tc>
                <a:tc>
                  <a:txBody>
                    <a:bodyPr/>
                    <a:lstStyle/>
                    <a:p>
                      <a:pPr algn="ctr"/>
                      <a:r>
                        <a:rPr sz="1150" b="0">
                          <a:solidFill>
                            <a:srgbClr val="0B0B0B"/>
                          </a:solidFill>
                          <a:latin typeface="Helvetica Neue"/>
                        </a:rPr>
                        <a:t>TP/PP/DP · VRAM · energy</a:t>
                      </a:r>
                    </a:p>
                  </a:txBody>
                  <a:tcPr marL="73152" marR="73152" marT="27432" marB="27432" anchor="ctr">
                    <a:solidFill>
                      <a:srgbClr val="FCFCFB"/>
                    </a:solidFill>
                  </a:tcPr>
                </a:tc>
                <a:tc>
                  <a:txBody>
                    <a:bodyPr/>
                    <a:lstStyle/>
                    <a:p>
                      <a:pPr algn="ctr"/>
                      <a:r>
                        <a:rPr sz="1150" b="0">
                          <a:solidFill>
                            <a:srgbClr val="0B0B0B"/>
                          </a:solidFill>
                          <a:latin typeface="Helvetica Neue"/>
                        </a:rPr>
                        <a:t>—</a:t>
                      </a:r>
                    </a:p>
                  </a:txBody>
                  <a:tcPr marL="73152" marR="73152" marT="27432" marB="27432" anchor="ctr">
                    <a:solidFill>
                      <a:srgbClr val="FCFCFB"/>
                    </a:solidFill>
                  </a:tcPr>
                </a:tc>
                <a:tc>
                  <a:txBody>
                    <a:bodyPr/>
                    <a:lstStyle/>
                    <a:p>
                      <a:pPr algn="ctr"/>
                      <a:r>
                        <a:rPr sz="1150" b="0">
                          <a:solidFill>
                            <a:srgbClr val="0B0B0B"/>
                          </a:solidFill>
                          <a:latin typeface="Helvetica Neue"/>
                        </a:rPr>
                        <a:t>no — excluded</a:t>
                      </a:r>
                    </a:p>
                  </a:txBody>
                  <a:tcPr marL="73152" marR="73152" marT="27432" marB="27432" anchor="ctr">
                    <a:solidFill>
                      <a:srgbClr val="FCFCFB"/>
                    </a:solidFill>
                  </a:tcPr>
                </a:tc>
              </a:tr>
            </a:tbl>
          </a:graphicData>
        </a:graphic>
      </p:graphicFrame>
      <p:sp>
        <p:nvSpPr>
          <p:cNvPr id="9" name="TextBox 8"/>
          <p:cNvSpPr txBox="1"/>
          <p:nvPr/>
        </p:nvSpPr>
        <p:spPr>
          <a:xfrm>
            <a:off x="548640" y="5669280"/>
            <a:ext cx="11064240" cy="548640"/>
          </a:xfrm>
          <a:prstGeom prst="rect">
            <a:avLst/>
          </a:prstGeom>
          <a:noFill/>
        </p:spPr>
        <p:txBody>
          <a:bodyPr wrap="square">
            <a:spAutoFit/>
          </a:bodyPr>
          <a:lstStyle/>
          <a:p>
            <a:pPr algn="l">
              <a:lnSpc>
                <a:spcPct val="115000"/>
              </a:lnSpc>
            </a:pPr>
            <a:r>
              <a:rPr sz="1250" b="0" i="0">
                <a:solidFill>
                  <a:srgbClr val="898781"/>
                </a:solidFill>
                <a:latin typeface="Helvetica Neue"/>
              </a:rPr>
              <a:t>P0 stages come out of every run. P1 stages each cost one extra pass over the dataset, so they are opt-in and the runner prints the multiplier before spending.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510528"/>
            <a:ext cx="5486400" cy="274320"/>
          </a:xfrm>
          <a:prstGeom prst="rect">
            <a:avLst/>
          </a:prstGeom>
          <a:noFill/>
        </p:spPr>
        <p:txBody>
          <a:bodyPr wrap="square">
            <a:spAutoFit/>
          </a:bodyPr>
          <a:lstStyle/>
          <a:p>
            <a:pPr algn="l">
              <a:lnSpc>
                <a:spcPct val="115000"/>
              </a:lnSpc>
            </a:pPr>
            <a:r>
              <a:rPr sz="900" b="0" i="0">
                <a:solidFill>
                  <a:srgbClr val="898781"/>
                </a:solidFill>
                <a:latin typeface="Helvetica Neue"/>
              </a:rPr>
              <a:t>LAMBADA &amp; MMLU Benchmark Evaluation — Extended</a:t>
            </a:r>
          </a:p>
        </p:txBody>
      </p:sp>
      <p:sp>
        <p:nvSpPr>
          <p:cNvPr id="4" name="TextBox 3"/>
          <p:cNvSpPr txBox="1"/>
          <p:nvPr/>
        </p:nvSpPr>
        <p:spPr>
          <a:xfrm>
            <a:off x="11338560" y="6510528"/>
            <a:ext cx="457200" cy="274320"/>
          </a:xfrm>
          <a:prstGeom prst="rect">
            <a:avLst/>
          </a:prstGeom>
          <a:noFill/>
        </p:spPr>
        <p:txBody>
          <a:bodyPr wrap="square">
            <a:spAutoFit/>
          </a:bodyPr>
          <a:lstStyle/>
          <a:p>
            <a:pPr algn="r">
              <a:lnSpc>
                <a:spcPct val="115000"/>
              </a:lnSpc>
            </a:pPr>
            <a:r>
              <a:rPr sz="900" b="0" i="0">
                <a:solidFill>
                  <a:srgbClr val="898781"/>
                </a:solidFill>
                <a:latin typeface="Helvetica Neue"/>
              </a:rPr>
              <a:t>6</a:t>
            </a:r>
          </a:p>
        </p:txBody>
      </p:sp>
      <p:sp>
        <p:nvSpPr>
          <p:cNvPr id="5" name="TextBox 4"/>
          <p:cNvSpPr txBox="1"/>
          <p:nvPr/>
        </p:nvSpPr>
        <p:spPr>
          <a:xfrm>
            <a:off x="548640" y="320040"/>
            <a:ext cx="10058400" cy="320040"/>
          </a:xfrm>
          <a:prstGeom prst="rect">
            <a:avLst/>
          </a:prstGeom>
          <a:noFill/>
        </p:spPr>
        <p:txBody>
          <a:bodyPr wrap="square">
            <a:spAutoFit/>
          </a:bodyPr>
          <a:lstStyle/>
          <a:p>
            <a:pPr algn="l">
              <a:lnSpc>
                <a:spcPct val="115000"/>
              </a:lnSpc>
            </a:pPr>
            <a:r>
              <a:rPr sz="1250" b="1" i="0">
                <a:solidFill>
                  <a:srgbClr val="2A78D6"/>
                </a:solidFill>
                <a:latin typeface="Helvetica Neue"/>
              </a:rPr>
              <a:t>BENCHMARK</a:t>
            </a:r>
          </a:p>
        </p:txBody>
      </p:sp>
      <p:sp>
        <p:nvSpPr>
          <p:cNvPr id="6" name="TextBox 5"/>
          <p:cNvSpPr txBox="1"/>
          <p:nvPr/>
        </p:nvSpPr>
        <p:spPr>
          <a:xfrm>
            <a:off x="548640" y="914400"/>
            <a:ext cx="11064240" cy="640080"/>
          </a:xfrm>
          <a:prstGeom prst="rect">
            <a:avLst/>
          </a:prstGeom>
          <a:noFill/>
        </p:spPr>
        <p:txBody>
          <a:bodyPr wrap="square">
            <a:spAutoFit/>
          </a:bodyPr>
          <a:lstStyle/>
          <a:p>
            <a:pPr algn="l">
              <a:lnSpc>
                <a:spcPct val="115000"/>
              </a:lnSpc>
            </a:pPr>
            <a:r>
              <a:rPr sz="2600" b="1" i="0">
                <a:solidFill>
                  <a:srgbClr val="0B0B0B"/>
                </a:solidFill>
                <a:latin typeface="Helvetica Neue"/>
              </a:rPr>
              <a:t>Configuration is not a metric</a:t>
            </a:r>
          </a:p>
        </p:txBody>
      </p:sp>
      <p:cxnSp>
        <p:nvCxnSpPr>
          <p:cNvPr id="7" name="Connector 6"/>
          <p:cNvCxnSpPr/>
          <p:nvPr/>
        </p:nvCxnSpPr>
        <p:spPr>
          <a:xfrm>
            <a:off x="548640" y="1508760"/>
            <a:ext cx="11091672"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548640" y="1737360"/>
          <a:ext cx="11064239" cy="2011680"/>
        </p:xfrm>
        <a:graphic>
          <a:graphicData uri="http://schemas.openxmlformats.org/drawingml/2006/table">
            <a:tbl>
              <a:tblPr firstRow="1" bandRow="1">
                <a:tableStyleId>{5C22544A-7EE6-4342-B048-85BDC9FD1C3A}</a:tableStyleId>
              </a:tblPr>
              <a:tblGrid>
                <a:gridCol w="1438351"/>
                <a:gridCol w="4978908"/>
                <a:gridCol w="4646980"/>
              </a:tblGrid>
              <a:tr h="402336">
                <a:tc>
                  <a:txBody>
                    <a:bodyPr/>
                    <a:lstStyle/>
                    <a:p>
                      <a:pPr algn="l"/>
                    </a:p>
                  </a:txBody>
                  <a:tcPr marL="73152" marR="73152" marT="27432" marB="27432" anchor="ctr">
                    <a:solidFill>
                      <a:srgbClr val="0B0B0B"/>
                    </a:solidFill>
                  </a:tcPr>
                </a:tc>
                <a:tc>
                  <a:txBody>
                    <a:bodyPr/>
                    <a:lstStyle/>
                    <a:p>
                      <a:pPr algn="ctr"/>
                      <a:r>
                        <a:rPr sz="1250" b="1">
                          <a:solidFill>
                            <a:srgbClr val="FFFFFF"/>
                          </a:solidFill>
                          <a:latin typeface="Helvetica Neue"/>
                        </a:rPr>
                        <a:t>Configuration variable</a:t>
                      </a:r>
                    </a:p>
                  </a:txBody>
                  <a:tcPr marL="73152" marR="73152" marT="27432" marB="27432" anchor="ctr">
                    <a:solidFill>
                      <a:srgbClr val="0B0B0B"/>
                    </a:solidFill>
                  </a:tcPr>
                </a:tc>
                <a:tc>
                  <a:txBody>
                    <a:bodyPr/>
                    <a:lstStyle/>
                    <a:p>
                      <a:pPr algn="ctr"/>
                      <a:r>
                        <a:rPr sz="1250" b="1">
                          <a:solidFill>
                            <a:srgbClr val="FFFFFF"/>
                          </a:solidFill>
                          <a:latin typeface="Helvetica Neue"/>
                        </a:rPr>
                        <a:t>Metric</a:t>
                      </a:r>
                    </a:p>
                  </a:txBody>
                  <a:tcPr marL="73152" marR="73152" marT="27432" marB="27432" anchor="ctr">
                    <a:solidFill>
                      <a:srgbClr val="0B0B0B"/>
                    </a:solidFill>
                  </a:tcPr>
                </a:tc>
              </a:tr>
              <a:tr h="402336">
                <a:tc>
                  <a:txBody>
                    <a:bodyPr/>
                    <a:lstStyle/>
                    <a:p>
                      <a:pPr algn="l"/>
                      <a:r>
                        <a:rPr sz="1250" b="0">
                          <a:solidFill>
                            <a:srgbClr val="0B0B0B"/>
                          </a:solidFill>
                          <a:latin typeface="Helvetica Neue"/>
                        </a:rPr>
                        <a:t>Nature</a:t>
                      </a:r>
                    </a:p>
                  </a:txBody>
                  <a:tcPr marL="73152" marR="73152" marT="27432" marB="27432" anchor="ctr">
                    <a:solidFill>
                      <a:srgbClr val="FCFCFB"/>
                    </a:solidFill>
                  </a:tcPr>
                </a:tc>
                <a:tc>
                  <a:txBody>
                    <a:bodyPr/>
                    <a:lstStyle/>
                    <a:p>
                      <a:pPr algn="ctr"/>
                      <a:r>
                        <a:rPr sz="1250" b="0">
                          <a:solidFill>
                            <a:srgbClr val="0B0B0B"/>
                          </a:solidFill>
                          <a:latin typeface="Helvetica Neue"/>
                        </a:rPr>
                        <a:t>an input you choose</a:t>
                      </a:r>
                    </a:p>
                  </a:txBody>
                  <a:tcPr marL="73152" marR="73152" marT="27432" marB="27432" anchor="ctr">
                    <a:solidFill>
                      <a:srgbClr val="FCFCFB"/>
                    </a:solidFill>
                  </a:tcPr>
                </a:tc>
                <a:tc>
                  <a:txBody>
                    <a:bodyPr/>
                    <a:lstStyle/>
                    <a:p>
                      <a:pPr algn="ctr"/>
                      <a:r>
                        <a:rPr sz="1250" b="0">
                          <a:solidFill>
                            <a:srgbClr val="0B0B0B"/>
                          </a:solidFill>
                          <a:latin typeface="Helvetica Neue"/>
                        </a:rPr>
                        <a:t>an output you observe</a:t>
                      </a:r>
                    </a:p>
                  </a:txBody>
                  <a:tcPr marL="73152" marR="73152" marT="27432" marB="27432" anchor="ctr">
                    <a:solidFill>
                      <a:srgbClr val="FCFCFB"/>
                    </a:solidFill>
                  </a:tcPr>
                </a:tc>
              </a:tr>
              <a:tr h="402336">
                <a:tc>
                  <a:txBody>
                    <a:bodyPr/>
                    <a:lstStyle/>
                    <a:p>
                      <a:pPr algn="l"/>
                      <a:r>
                        <a:rPr sz="1250" b="0">
                          <a:solidFill>
                            <a:srgbClr val="0B0B0B"/>
                          </a:solidFill>
                          <a:latin typeface="Helvetica Neue"/>
                        </a:rPr>
                        <a:t>Examples</a:t>
                      </a:r>
                    </a:p>
                  </a:txBody>
                  <a:tcPr marL="73152" marR="73152" marT="27432" marB="27432" anchor="ctr">
                    <a:solidFill>
                      <a:srgbClr val="FCFCFB"/>
                    </a:solidFill>
                  </a:tcPr>
                </a:tc>
                <a:tc>
                  <a:txBody>
                    <a:bodyPr/>
                    <a:lstStyle/>
                    <a:p>
                      <a:pPr algn="ctr"/>
                      <a:r>
                        <a:rPr sz="1250" b="0">
                          <a:solidFill>
                            <a:srgbClr val="0B0B0B"/>
                          </a:solidFill>
                          <a:latin typeface="Helvetica Neue"/>
                        </a:rPr>
                        <a:t>TP, PP, DP, SP, CP, EP · dtype · batch size · temperature</a:t>
                      </a:r>
                    </a:p>
                  </a:txBody>
                  <a:tcPr marL="73152" marR="73152" marT="27432" marB="27432" anchor="ctr">
                    <a:solidFill>
                      <a:srgbClr val="FCFCFB"/>
                    </a:solidFill>
                  </a:tcPr>
                </a:tc>
                <a:tc>
                  <a:txBody>
                    <a:bodyPr/>
                    <a:lstStyle/>
                    <a:p>
                      <a:pPr algn="ctr"/>
                      <a:r>
                        <a:rPr sz="1250" b="0">
                          <a:solidFill>
                            <a:srgbClr val="0B0B0B"/>
                          </a:solidFill>
                          <a:latin typeface="Helvetica Neue"/>
                        </a:rPr>
                        <a:t>accuracy · ECE · TTFT · cost · success rate</a:t>
                      </a:r>
                    </a:p>
                  </a:txBody>
                  <a:tcPr marL="73152" marR="73152" marT="27432" marB="27432" anchor="ctr">
                    <a:solidFill>
                      <a:srgbClr val="FCFCFB"/>
                    </a:solidFill>
                  </a:tcPr>
                </a:tc>
              </a:tr>
              <a:tr h="402336">
                <a:tc>
                  <a:txBody>
                    <a:bodyPr/>
                    <a:lstStyle/>
                    <a:p>
                      <a:pPr algn="l"/>
                      <a:r>
                        <a:rPr sz="1250" b="0">
                          <a:solidFill>
                            <a:srgbClr val="0B0B0B"/>
                          </a:solidFill>
                          <a:latin typeface="Helvetica Neue"/>
                        </a:rPr>
                        <a:t>Lives in</a:t>
                      </a:r>
                    </a:p>
                  </a:txBody>
                  <a:tcPr marL="73152" marR="73152" marT="27432" marB="27432" anchor="ctr">
                    <a:solidFill>
                      <a:srgbClr val="FCFCFB"/>
                    </a:solidFill>
                  </a:tcPr>
                </a:tc>
                <a:tc>
                  <a:txBody>
                    <a:bodyPr/>
                    <a:lstStyle/>
                    <a:p>
                      <a:pPr algn="ctr"/>
                      <a:r>
                        <a:rPr sz="1250" b="0">
                          <a:solidFill>
                            <a:srgbClr val="0B0B0B"/>
                          </a:solidFill>
                          <a:latin typeface="Helvetica Neue"/>
                        </a:rPr>
                        <a:t>benchmark_config.py → RunConfig</a:t>
                      </a:r>
                    </a:p>
                  </a:txBody>
                  <a:tcPr marL="73152" marR="73152" marT="27432" marB="27432" anchor="ctr">
                    <a:solidFill>
                      <a:srgbClr val="FCFCFB"/>
                    </a:solidFill>
                  </a:tcPr>
                </a:tc>
                <a:tc>
                  <a:txBody>
                    <a:bodyPr/>
                    <a:lstStyle/>
                    <a:p>
                      <a:pPr algn="ctr"/>
                      <a:r>
                        <a:rPr sz="1250" b="0">
                          <a:solidFill>
                            <a:srgbClr val="0B0B0B"/>
                          </a:solidFill>
                          <a:latin typeface="Helvetica Neue"/>
                        </a:rPr>
                        <a:t>metrics/ → result blocks</a:t>
                      </a:r>
                    </a:p>
                  </a:txBody>
                  <a:tcPr marL="73152" marR="73152" marT="27432" marB="27432" anchor="ctr">
                    <a:solidFill>
                      <a:srgbClr val="FCFCFB"/>
                    </a:solidFill>
                  </a:tcPr>
                </a:tc>
              </a:tr>
              <a:tr h="402336">
                <a:tc>
                  <a:txBody>
                    <a:bodyPr/>
                    <a:lstStyle/>
                    <a:p>
                      <a:pPr algn="l"/>
                      <a:r>
                        <a:rPr sz="1250" b="0">
                          <a:solidFill>
                            <a:srgbClr val="0B0B0B"/>
                          </a:solidFill>
                          <a:latin typeface="Helvetica Neue"/>
                        </a:rPr>
                        <a:t>Role</a:t>
                      </a:r>
                    </a:p>
                  </a:txBody>
                  <a:tcPr marL="73152" marR="73152" marT="27432" marB="27432" anchor="ctr">
                    <a:solidFill>
                      <a:srgbClr val="FCFCFB"/>
                    </a:solidFill>
                  </a:tcPr>
                </a:tc>
                <a:tc>
                  <a:txBody>
                    <a:bodyPr/>
                    <a:lstStyle/>
                    <a:p>
                      <a:pPr algn="ctr"/>
                      <a:r>
                        <a:rPr sz="1250" b="0">
                          <a:solidFill>
                            <a:srgbClr val="0B0B0B"/>
                          </a:solidFill>
                          <a:latin typeface="Helvetica Neue"/>
                        </a:rPr>
                        <a:t>independent variable</a:t>
                      </a:r>
                    </a:p>
                  </a:txBody>
                  <a:tcPr marL="73152" marR="73152" marT="27432" marB="27432" anchor="ctr">
                    <a:solidFill>
                      <a:srgbClr val="FCFCFB"/>
                    </a:solidFill>
                  </a:tcPr>
                </a:tc>
                <a:tc>
                  <a:txBody>
                    <a:bodyPr/>
                    <a:lstStyle/>
                    <a:p>
                      <a:pPr algn="ctr"/>
                      <a:r>
                        <a:rPr sz="1250" b="0">
                          <a:solidFill>
                            <a:srgbClr val="0B0B0B"/>
                          </a:solidFill>
                          <a:latin typeface="Helvetica Neue"/>
                        </a:rPr>
                        <a:t>dependent variable</a:t>
                      </a:r>
                    </a:p>
                  </a:txBody>
                  <a:tcPr marL="73152" marR="73152" marT="27432" marB="27432" anchor="ctr">
                    <a:solidFill>
                      <a:srgbClr val="FCFCFB"/>
                    </a:solidFill>
                  </a:tcPr>
                </a:tc>
              </a:tr>
            </a:tbl>
          </a:graphicData>
        </a:graphic>
      </p:graphicFrame>
      <p:sp>
        <p:nvSpPr>
          <p:cNvPr id="9" name="TextBox 8"/>
          <p:cNvSpPr txBox="1"/>
          <p:nvPr/>
        </p:nvSpPr>
        <p:spPr>
          <a:xfrm>
            <a:off x="548640" y="3840480"/>
            <a:ext cx="11064240" cy="731520"/>
          </a:xfrm>
          <a:prstGeom prst="rect">
            <a:avLst/>
          </a:prstGeom>
          <a:noFill/>
        </p:spPr>
        <p:txBody>
          <a:bodyPr wrap="square">
            <a:spAutoFit/>
          </a:bodyPr>
          <a:lstStyle/>
          <a:p>
            <a:pPr algn="l">
              <a:lnSpc>
                <a:spcPct val="130000"/>
              </a:lnSpc>
            </a:pPr>
            <a:r>
              <a:rPr sz="1400" b="0" i="0">
                <a:solidFill>
                  <a:srgbClr val="52514E"/>
                </a:solidFill>
                <a:latin typeface="Helvetica Neue"/>
              </a:rPr>
              <a:t>Folding a parallelism degree into the same dictionary as an accuracy score invites a category error — ranking models on a composite that blends a hardware layout with a quality measurement.</a:t>
            </a:r>
          </a:p>
        </p:txBody>
      </p:sp>
      <p:sp>
        <p:nvSpPr>
          <p:cNvPr id="10" name="TextBox 9"/>
          <p:cNvSpPr txBox="1"/>
          <p:nvPr/>
        </p:nvSpPr>
        <p:spPr>
          <a:xfrm>
            <a:off x="548640" y="4617720"/>
            <a:ext cx="11064240" cy="411480"/>
          </a:xfrm>
          <a:prstGeom prst="rect">
            <a:avLst/>
          </a:prstGeom>
          <a:noFill/>
        </p:spPr>
        <p:txBody>
          <a:bodyPr wrap="square">
            <a:spAutoFit/>
          </a:bodyPr>
          <a:lstStyle/>
          <a:p>
            <a:pPr algn="l">
              <a:lnSpc>
                <a:spcPct val="115000"/>
              </a:lnSpc>
            </a:pPr>
            <a:r>
              <a:rPr sz="1800" b="1" i="0">
                <a:solidFill>
                  <a:srgbClr val="2A78D6"/>
                </a:solidFill>
                <a:latin typeface="Helvetica Neue"/>
              </a:rPr>
              <a:t>A parallelism degree is not a virtue.</a:t>
            </a:r>
          </a:p>
        </p:txBody>
      </p:sp>
      <p:sp>
        <p:nvSpPr>
          <p:cNvPr id="11" name="TextBox 10"/>
          <p:cNvSpPr txBox="1"/>
          <p:nvPr/>
        </p:nvSpPr>
        <p:spPr>
          <a:xfrm>
            <a:off x="548640" y="5120640"/>
            <a:ext cx="11064240" cy="777240"/>
          </a:xfrm>
          <a:prstGeom prst="rect">
            <a:avLst/>
          </a:prstGeom>
          <a:noFill/>
        </p:spPr>
        <p:txBody>
          <a:bodyPr wrap="square">
            <a:spAutoFit/>
          </a:bodyPr>
          <a:lstStyle/>
          <a:p>
            <a:pPr algn="l">
              <a:lnSpc>
                <a:spcPct val="130000"/>
              </a:lnSpc>
            </a:pPr>
            <a:r>
              <a:rPr sz="1300" b="0" i="0">
                <a:solidFill>
                  <a:srgbClr val="52514E"/>
                </a:solidFill>
                <a:latin typeface="Helvetica Neue"/>
              </a:rPr>
              <a:t>Consequence: every result file carries the RunConfig that produced it, and the comparison layer reports comparable: false rather than publishing a confounded ranking when two runs differ.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510528"/>
            <a:ext cx="5486400" cy="274320"/>
          </a:xfrm>
          <a:prstGeom prst="rect">
            <a:avLst/>
          </a:prstGeom>
          <a:noFill/>
        </p:spPr>
        <p:txBody>
          <a:bodyPr wrap="square">
            <a:spAutoFit/>
          </a:bodyPr>
          <a:lstStyle/>
          <a:p>
            <a:pPr algn="l">
              <a:lnSpc>
                <a:spcPct val="115000"/>
              </a:lnSpc>
            </a:pPr>
            <a:r>
              <a:rPr sz="900" b="0" i="0">
                <a:solidFill>
                  <a:srgbClr val="898781"/>
                </a:solidFill>
                <a:latin typeface="Helvetica Neue"/>
              </a:rPr>
              <a:t>LAMBADA &amp; MMLU Benchmark Evaluation — Extended</a:t>
            </a:r>
          </a:p>
        </p:txBody>
      </p:sp>
      <p:sp>
        <p:nvSpPr>
          <p:cNvPr id="4" name="TextBox 3"/>
          <p:cNvSpPr txBox="1"/>
          <p:nvPr/>
        </p:nvSpPr>
        <p:spPr>
          <a:xfrm>
            <a:off x="11338560" y="6510528"/>
            <a:ext cx="457200" cy="274320"/>
          </a:xfrm>
          <a:prstGeom prst="rect">
            <a:avLst/>
          </a:prstGeom>
          <a:noFill/>
        </p:spPr>
        <p:txBody>
          <a:bodyPr wrap="square">
            <a:spAutoFit/>
          </a:bodyPr>
          <a:lstStyle/>
          <a:p>
            <a:pPr algn="r">
              <a:lnSpc>
                <a:spcPct val="115000"/>
              </a:lnSpc>
            </a:pPr>
            <a:r>
              <a:rPr sz="900" b="0" i="0">
                <a:solidFill>
                  <a:srgbClr val="898781"/>
                </a:solidFill>
                <a:latin typeface="Helvetica Neue"/>
              </a:rPr>
              <a:t>7</a:t>
            </a:r>
          </a:p>
        </p:txBody>
      </p:sp>
      <p:sp>
        <p:nvSpPr>
          <p:cNvPr id="5" name="TextBox 4"/>
          <p:cNvSpPr txBox="1"/>
          <p:nvPr/>
        </p:nvSpPr>
        <p:spPr>
          <a:xfrm>
            <a:off x="548640" y="320040"/>
            <a:ext cx="10058400" cy="320040"/>
          </a:xfrm>
          <a:prstGeom prst="rect">
            <a:avLst/>
          </a:prstGeom>
          <a:noFill/>
        </p:spPr>
        <p:txBody>
          <a:bodyPr wrap="square">
            <a:spAutoFit/>
          </a:bodyPr>
          <a:lstStyle/>
          <a:p>
            <a:pPr algn="l">
              <a:lnSpc>
                <a:spcPct val="115000"/>
              </a:lnSpc>
            </a:pPr>
            <a:r>
              <a:rPr sz="1250" b="1" i="0">
                <a:solidFill>
                  <a:srgbClr val="2A78D6"/>
                </a:solidFill>
                <a:latin typeface="Helvetica Neue"/>
              </a:rPr>
              <a:t>BENCHMARK</a:t>
            </a:r>
          </a:p>
        </p:txBody>
      </p:sp>
      <p:sp>
        <p:nvSpPr>
          <p:cNvPr id="6" name="TextBox 5"/>
          <p:cNvSpPr txBox="1"/>
          <p:nvPr/>
        </p:nvSpPr>
        <p:spPr>
          <a:xfrm>
            <a:off x="548640" y="914400"/>
            <a:ext cx="11064240" cy="640080"/>
          </a:xfrm>
          <a:prstGeom prst="rect">
            <a:avLst/>
          </a:prstGeom>
          <a:noFill/>
        </p:spPr>
        <p:txBody>
          <a:bodyPr wrap="square">
            <a:spAutoFit/>
          </a:bodyPr>
          <a:lstStyle/>
          <a:p>
            <a:pPr algn="l">
              <a:lnSpc>
                <a:spcPct val="115000"/>
              </a:lnSpc>
            </a:pPr>
            <a:r>
              <a:rPr sz="2600" b="1" i="0">
                <a:solidFill>
                  <a:srgbClr val="0B0B0B"/>
                </a:solidFill>
                <a:latin typeface="Helvetica Neue"/>
              </a:rPr>
              <a:t>Datasets and scale</a:t>
            </a:r>
          </a:p>
        </p:txBody>
      </p:sp>
      <p:cxnSp>
        <p:nvCxnSpPr>
          <p:cNvPr id="7" name="Connector 6"/>
          <p:cNvCxnSpPr/>
          <p:nvPr/>
        </p:nvCxnSpPr>
        <p:spPr>
          <a:xfrm>
            <a:off x="548640" y="1508760"/>
            <a:ext cx="11091672"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548640" y="1737360"/>
          <a:ext cx="11064240" cy="2816352"/>
        </p:xfrm>
        <a:graphic>
          <a:graphicData uri="http://schemas.openxmlformats.org/drawingml/2006/table">
            <a:tbl>
              <a:tblPr firstRow="1" bandRow="1">
                <a:tableStyleId>{5C22544A-7EE6-4342-B048-85BDC9FD1C3A}</a:tableStyleId>
              </a:tblPr>
              <a:tblGrid>
                <a:gridCol w="2212848"/>
                <a:gridCol w="4425696"/>
                <a:gridCol w="4425696"/>
              </a:tblGrid>
              <a:tr h="402336">
                <a:tc>
                  <a:txBody>
                    <a:bodyPr/>
                    <a:lstStyle/>
                    <a:p>
                      <a:pPr algn="l"/>
                    </a:p>
                  </a:txBody>
                  <a:tcPr marL="73152" marR="73152" marT="27432" marB="27432" anchor="ctr">
                    <a:solidFill>
                      <a:srgbClr val="0B0B0B"/>
                    </a:solidFill>
                  </a:tcPr>
                </a:tc>
                <a:tc>
                  <a:txBody>
                    <a:bodyPr/>
                    <a:lstStyle/>
                    <a:p>
                      <a:pPr algn="ctr"/>
                      <a:r>
                        <a:rPr sz="1250" b="1">
                          <a:solidFill>
                            <a:srgbClr val="FFFFFF"/>
                          </a:solidFill>
                          <a:latin typeface="Helvetica Neue"/>
                        </a:rPr>
                        <a:t>MMLU</a:t>
                      </a:r>
                    </a:p>
                  </a:txBody>
                  <a:tcPr marL="73152" marR="73152" marT="27432" marB="27432" anchor="ctr">
                    <a:solidFill>
                      <a:srgbClr val="0B0B0B"/>
                    </a:solidFill>
                  </a:tcPr>
                </a:tc>
                <a:tc>
                  <a:txBody>
                    <a:bodyPr/>
                    <a:lstStyle/>
                    <a:p>
                      <a:pPr algn="ctr"/>
                      <a:r>
                        <a:rPr sz="1250" b="1">
                          <a:solidFill>
                            <a:srgbClr val="FFFFFF"/>
                          </a:solidFill>
                          <a:latin typeface="Helvetica Neue"/>
                        </a:rPr>
                        <a:t>LAMBADA</a:t>
                      </a:r>
                    </a:p>
                  </a:txBody>
                  <a:tcPr marL="73152" marR="73152" marT="27432" marB="27432" anchor="ctr">
                    <a:solidFill>
                      <a:srgbClr val="0B0B0B"/>
                    </a:solidFill>
                  </a:tcPr>
                </a:tc>
              </a:tr>
              <a:tr h="402336">
                <a:tc>
                  <a:txBody>
                    <a:bodyPr/>
                    <a:lstStyle/>
                    <a:p>
                      <a:pPr algn="l"/>
                      <a:r>
                        <a:rPr sz="1250" b="0">
                          <a:solidFill>
                            <a:srgbClr val="0B0B0B"/>
                          </a:solidFill>
                          <a:latin typeface="Helvetica Neue"/>
                        </a:rPr>
                        <a:t>Task</a:t>
                      </a:r>
                    </a:p>
                  </a:txBody>
                  <a:tcPr marL="73152" marR="73152" marT="27432" marB="27432" anchor="ctr">
                    <a:solidFill>
                      <a:srgbClr val="FCFCFB"/>
                    </a:solidFill>
                  </a:tcPr>
                </a:tc>
                <a:tc>
                  <a:txBody>
                    <a:bodyPr/>
                    <a:lstStyle/>
                    <a:p>
                      <a:pPr algn="ctr"/>
                      <a:r>
                        <a:rPr sz="1250" b="0">
                          <a:solidFill>
                            <a:srgbClr val="0B0B0B"/>
                          </a:solidFill>
                          <a:latin typeface="Helvetica Neue"/>
                        </a:rPr>
                        <a:t>4-option multiple choice</a:t>
                      </a:r>
                    </a:p>
                  </a:txBody>
                  <a:tcPr marL="73152" marR="73152" marT="27432" marB="27432" anchor="ctr">
                    <a:solidFill>
                      <a:srgbClr val="FCFCFB"/>
                    </a:solidFill>
                  </a:tcPr>
                </a:tc>
                <a:tc>
                  <a:txBody>
                    <a:bodyPr/>
                    <a:lstStyle/>
                    <a:p>
                      <a:pPr algn="ctr"/>
                      <a:r>
                        <a:rPr sz="1250" b="0">
                          <a:solidFill>
                            <a:srgbClr val="0B0B0B"/>
                          </a:solidFill>
                          <a:latin typeface="Helvetica Neue"/>
                        </a:rPr>
                        <a:t>predict the final word</a:t>
                      </a:r>
                    </a:p>
                  </a:txBody>
                  <a:tcPr marL="73152" marR="73152" marT="27432" marB="27432" anchor="ctr">
                    <a:solidFill>
                      <a:srgbClr val="FCFCFB"/>
                    </a:solidFill>
                  </a:tcPr>
                </a:tc>
              </a:tr>
              <a:tr h="402336">
                <a:tc>
                  <a:txBody>
                    <a:bodyPr/>
                    <a:lstStyle/>
                    <a:p>
                      <a:pPr algn="l"/>
                      <a:r>
                        <a:rPr sz="1250" b="0">
                          <a:solidFill>
                            <a:srgbClr val="0B0B0B"/>
                          </a:solidFill>
                          <a:latin typeface="Helvetica Neue"/>
                        </a:rPr>
                        <a:t>Tests</a:t>
                      </a:r>
                    </a:p>
                  </a:txBody>
                  <a:tcPr marL="73152" marR="73152" marT="27432" marB="27432" anchor="ctr">
                    <a:solidFill>
                      <a:srgbClr val="FCFCFB"/>
                    </a:solidFill>
                  </a:tcPr>
                </a:tc>
                <a:tc>
                  <a:txBody>
                    <a:bodyPr/>
                    <a:lstStyle/>
                    <a:p>
                      <a:pPr algn="ctr"/>
                      <a:r>
                        <a:rPr sz="1250" b="0">
                          <a:solidFill>
                            <a:srgbClr val="0B0B0B"/>
                          </a:solidFill>
                          <a:latin typeface="Helvetica Neue"/>
                        </a:rPr>
                        <a:t>knowledge and reasoning, 57 subjects</a:t>
                      </a:r>
                    </a:p>
                  </a:txBody>
                  <a:tcPr marL="73152" marR="73152" marT="27432" marB="27432" anchor="ctr">
                    <a:solidFill>
                      <a:srgbClr val="FCFCFB"/>
                    </a:solidFill>
                  </a:tcPr>
                </a:tc>
                <a:tc>
                  <a:txBody>
                    <a:bodyPr/>
                    <a:lstStyle/>
                    <a:p>
                      <a:pPr algn="ctr"/>
                      <a:r>
                        <a:rPr sz="1250" b="0">
                          <a:solidFill>
                            <a:srgbClr val="0B0B0B"/>
                          </a:solidFill>
                          <a:latin typeface="Helvetica Neue"/>
                        </a:rPr>
                        <a:t>long-range reading comprehension</a:t>
                      </a:r>
                    </a:p>
                  </a:txBody>
                  <a:tcPr marL="73152" marR="73152" marT="27432" marB="27432" anchor="ctr">
                    <a:solidFill>
                      <a:srgbClr val="FCFCFB"/>
                    </a:solidFill>
                  </a:tcPr>
                </a:tc>
              </a:tr>
              <a:tr h="402336">
                <a:tc>
                  <a:txBody>
                    <a:bodyPr/>
                    <a:lstStyle/>
                    <a:p>
                      <a:pPr algn="l"/>
                      <a:r>
                        <a:rPr sz="1250" b="0">
                          <a:solidFill>
                            <a:srgbClr val="0B0B0B"/>
                          </a:solidFill>
                          <a:latin typeface="Helvetica Neue"/>
                        </a:rPr>
                        <a:t>Items per model</a:t>
                      </a:r>
                    </a:p>
                  </a:txBody>
                  <a:tcPr marL="73152" marR="73152" marT="27432" marB="27432" anchor="ctr">
                    <a:solidFill>
                      <a:srgbClr val="FCFCFB"/>
                    </a:solidFill>
                  </a:tcPr>
                </a:tc>
                <a:tc>
                  <a:txBody>
                    <a:bodyPr/>
                    <a:lstStyle/>
                    <a:p>
                      <a:pPr algn="ctr"/>
                      <a:r>
                        <a:rPr sz="1250" b="0">
                          <a:solidFill>
                            <a:srgbClr val="0B0B0B"/>
                          </a:solidFill>
                          <a:latin typeface="Helvetica Neue"/>
                        </a:rPr>
                        <a:t>2,850  (57 subjects × 50)</a:t>
                      </a:r>
                    </a:p>
                  </a:txBody>
                  <a:tcPr marL="73152" marR="73152" marT="27432" marB="27432" anchor="ctr">
                    <a:solidFill>
                      <a:srgbClr val="FCFCFB"/>
                    </a:solidFill>
                  </a:tcPr>
                </a:tc>
                <a:tc>
                  <a:txBody>
                    <a:bodyPr/>
                    <a:lstStyle/>
                    <a:p>
                      <a:pPr algn="ctr"/>
                      <a:r>
                        <a:rPr sz="1250" b="0">
                          <a:solidFill>
                            <a:srgbClr val="0B0B0B"/>
                          </a:solidFill>
                          <a:latin typeface="Helvetica Neue"/>
                        </a:rPr>
                        <a:t>1,000 passages</a:t>
                      </a:r>
                    </a:p>
                  </a:txBody>
                  <a:tcPr marL="73152" marR="73152" marT="27432" marB="27432" anchor="ctr">
                    <a:solidFill>
                      <a:srgbClr val="FCFCFB"/>
                    </a:solidFill>
                  </a:tcPr>
                </a:tc>
              </a:tr>
              <a:tr h="402336">
                <a:tc>
                  <a:txBody>
                    <a:bodyPr/>
                    <a:lstStyle/>
                    <a:p>
                      <a:pPr algn="l"/>
                      <a:r>
                        <a:rPr sz="1250" b="0">
                          <a:solidFill>
                            <a:srgbClr val="0B0B0B"/>
                          </a:solidFill>
                          <a:latin typeface="Helvetica Neue"/>
                        </a:rPr>
                        <a:t>Chance baseline</a:t>
                      </a:r>
                    </a:p>
                  </a:txBody>
                  <a:tcPr marL="73152" marR="73152" marT="27432" marB="27432" anchor="ctr">
                    <a:solidFill>
                      <a:srgbClr val="FCFCFB"/>
                    </a:solidFill>
                  </a:tcPr>
                </a:tc>
                <a:tc>
                  <a:txBody>
                    <a:bodyPr/>
                    <a:lstStyle/>
                    <a:p>
                      <a:pPr algn="ctr"/>
                      <a:r>
                        <a:rPr sz="1250" b="0">
                          <a:solidFill>
                            <a:srgbClr val="0B0B0B"/>
                          </a:solidFill>
                          <a:latin typeface="Helvetica Neue"/>
                        </a:rPr>
                        <a:t>25%</a:t>
                      </a:r>
                    </a:p>
                  </a:txBody>
                  <a:tcPr marL="73152" marR="73152" marT="27432" marB="27432" anchor="ctr">
                    <a:solidFill>
                      <a:srgbClr val="FCFCFB"/>
                    </a:solidFill>
                  </a:tcPr>
                </a:tc>
                <a:tc>
                  <a:txBody>
                    <a:bodyPr/>
                    <a:lstStyle/>
                    <a:p>
                      <a:pPr algn="ctr"/>
                      <a:r>
                        <a:rPr sz="1250" b="0">
                          <a:solidFill>
                            <a:srgbClr val="0B0B0B"/>
                          </a:solidFill>
                          <a:latin typeface="Helvetica Neue"/>
                        </a:rPr>
                        <a:t>≈ 0% (open vocabulary)</a:t>
                      </a:r>
                    </a:p>
                  </a:txBody>
                  <a:tcPr marL="73152" marR="73152" marT="27432" marB="27432" anchor="ctr">
                    <a:solidFill>
                      <a:srgbClr val="FCFCFB"/>
                    </a:solidFill>
                  </a:tcPr>
                </a:tc>
              </a:tr>
              <a:tr h="402336">
                <a:tc>
                  <a:txBody>
                    <a:bodyPr/>
                    <a:lstStyle/>
                    <a:p>
                      <a:pPr algn="l"/>
                      <a:r>
                        <a:rPr sz="1250" b="0">
                          <a:solidFill>
                            <a:srgbClr val="0B0B0B"/>
                          </a:solidFill>
                          <a:latin typeface="Helvetica Neue"/>
                        </a:rPr>
                        <a:t>Scored by</a:t>
                      </a:r>
                    </a:p>
                  </a:txBody>
                  <a:tcPr marL="73152" marR="73152" marT="27432" marB="27432" anchor="ctr">
                    <a:solidFill>
                      <a:srgbClr val="FCFCFB"/>
                    </a:solidFill>
                  </a:tcPr>
                </a:tc>
                <a:tc>
                  <a:txBody>
                    <a:bodyPr/>
                    <a:lstStyle/>
                    <a:p>
                      <a:pPr algn="ctr"/>
                      <a:r>
                        <a:rPr sz="1250" b="0">
                          <a:solidFill>
                            <a:srgbClr val="0B0B0B"/>
                          </a:solidFill>
                          <a:latin typeface="Helvetica Neue"/>
                        </a:rPr>
                        <a:t>letter match</a:t>
                      </a:r>
                    </a:p>
                  </a:txBody>
                  <a:tcPr marL="73152" marR="73152" marT="27432" marB="27432" anchor="ctr">
                    <a:solidFill>
                      <a:srgbClr val="FCFCFB"/>
                    </a:solidFill>
                  </a:tcPr>
                </a:tc>
                <a:tc>
                  <a:txBody>
                    <a:bodyPr/>
                    <a:lstStyle/>
                    <a:p>
                      <a:pPr algn="ctr"/>
                      <a:r>
                        <a:rPr sz="1250" b="0">
                          <a:solidFill>
                            <a:srgbClr val="0B0B0B"/>
                          </a:solidFill>
                          <a:latin typeface="Helvetica Neue"/>
                        </a:rPr>
                        <a:t>normalised word match</a:t>
                      </a:r>
                    </a:p>
                  </a:txBody>
                  <a:tcPr marL="73152" marR="73152" marT="27432" marB="27432" anchor="ctr">
                    <a:solidFill>
                      <a:srgbClr val="FCFCFB"/>
                    </a:solidFill>
                  </a:tcPr>
                </a:tc>
              </a:tr>
              <a:tr h="402336">
                <a:tc>
                  <a:txBody>
                    <a:bodyPr/>
                    <a:lstStyle/>
                    <a:p>
                      <a:pPr algn="l"/>
                      <a:r>
                        <a:rPr sz="1250" b="0">
                          <a:solidFill>
                            <a:srgbClr val="0B0B0B"/>
                          </a:solidFill>
                          <a:latin typeface="Helvetica Neue"/>
                        </a:rPr>
                        <a:t>Source</a:t>
                      </a:r>
                    </a:p>
                  </a:txBody>
                  <a:tcPr marL="73152" marR="73152" marT="27432" marB="27432" anchor="ctr">
                    <a:solidFill>
                      <a:srgbClr val="FCFCFB"/>
                    </a:solidFill>
                  </a:tcPr>
                </a:tc>
                <a:tc>
                  <a:txBody>
                    <a:bodyPr/>
                    <a:lstStyle/>
                    <a:p>
                      <a:pPr algn="ctr"/>
                      <a:r>
                        <a:rPr sz="1250" b="0">
                          <a:solidFill>
                            <a:srgbClr val="0B0B0B"/>
                          </a:solidFill>
                          <a:latin typeface="Helvetica Neue"/>
                        </a:rPr>
                        <a:t>HF datasets-server, cached</a:t>
                      </a:r>
                    </a:p>
                  </a:txBody>
                  <a:tcPr marL="73152" marR="73152" marT="27432" marB="27432" anchor="ctr">
                    <a:solidFill>
                      <a:srgbClr val="FCFCFB"/>
                    </a:solidFill>
                  </a:tcPr>
                </a:tc>
                <a:tc>
                  <a:txBody>
                    <a:bodyPr/>
                    <a:lstStyle/>
                    <a:p>
                      <a:pPr algn="ctr"/>
                      <a:r>
                        <a:rPr sz="1250" b="0">
                          <a:solidFill>
                            <a:srgbClr val="0B0B0B"/>
                          </a:solidFill>
                          <a:latin typeface="Helvetica Neue"/>
                        </a:rPr>
                        <a:t>BookCorpus test split, local</a:t>
                      </a:r>
                    </a:p>
                  </a:txBody>
                  <a:tcPr marL="73152" marR="73152" marT="27432" marB="27432" anchor="ctr">
                    <a:solidFill>
                      <a:srgbClr val="FCFCFB"/>
                    </a:solidFill>
                  </a:tcPr>
                </a:tc>
              </a:tr>
            </a:tbl>
          </a:graphicData>
        </a:graphic>
      </p:graphicFrame>
      <p:sp>
        <p:nvSpPr>
          <p:cNvPr id="9" name="TextBox 8"/>
          <p:cNvSpPr txBox="1"/>
          <p:nvPr/>
        </p:nvSpPr>
        <p:spPr>
          <a:xfrm>
            <a:off x="548640" y="4754880"/>
            <a:ext cx="11064240" cy="457200"/>
          </a:xfrm>
          <a:prstGeom prst="rect">
            <a:avLst/>
          </a:prstGeom>
          <a:noFill/>
        </p:spPr>
        <p:txBody>
          <a:bodyPr wrap="square">
            <a:spAutoFit/>
          </a:bodyPr>
          <a:lstStyle/>
          <a:p>
            <a:pPr algn="l">
              <a:lnSpc>
                <a:spcPct val="115000"/>
              </a:lnSpc>
            </a:pPr>
            <a:r>
              <a:rPr sz="1300" b="0" i="0">
                <a:solidFill>
                  <a:srgbClr val="898781"/>
                </a:solidFill>
                <a:latin typeface="Helvetica Neue"/>
              </a:rPr>
              <a:t>Ground truth comes from the source datasets — the official answer key and the gold target word — never inferred.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510528"/>
            <a:ext cx="5486400" cy="274320"/>
          </a:xfrm>
          <a:prstGeom prst="rect">
            <a:avLst/>
          </a:prstGeom>
          <a:noFill/>
        </p:spPr>
        <p:txBody>
          <a:bodyPr wrap="square">
            <a:spAutoFit/>
          </a:bodyPr>
          <a:lstStyle/>
          <a:p>
            <a:pPr algn="l">
              <a:lnSpc>
                <a:spcPct val="115000"/>
              </a:lnSpc>
            </a:pPr>
            <a:r>
              <a:rPr sz="900" b="0" i="0">
                <a:solidFill>
                  <a:srgbClr val="898781"/>
                </a:solidFill>
                <a:latin typeface="Helvetica Neue"/>
              </a:rPr>
              <a:t>LAMBADA &amp; MMLU Benchmark Evaluation — Extended</a:t>
            </a:r>
          </a:p>
        </p:txBody>
      </p:sp>
      <p:sp>
        <p:nvSpPr>
          <p:cNvPr id="4" name="TextBox 3"/>
          <p:cNvSpPr txBox="1"/>
          <p:nvPr/>
        </p:nvSpPr>
        <p:spPr>
          <a:xfrm>
            <a:off x="11338560" y="6510528"/>
            <a:ext cx="457200" cy="274320"/>
          </a:xfrm>
          <a:prstGeom prst="rect">
            <a:avLst/>
          </a:prstGeom>
          <a:noFill/>
        </p:spPr>
        <p:txBody>
          <a:bodyPr wrap="square">
            <a:spAutoFit/>
          </a:bodyPr>
          <a:lstStyle/>
          <a:p>
            <a:pPr algn="r">
              <a:lnSpc>
                <a:spcPct val="115000"/>
              </a:lnSpc>
            </a:pPr>
            <a:r>
              <a:rPr sz="900" b="0" i="0">
                <a:solidFill>
                  <a:srgbClr val="898781"/>
                </a:solidFill>
                <a:latin typeface="Helvetica Neue"/>
              </a:rPr>
              <a:t>8</a:t>
            </a:r>
          </a:p>
        </p:txBody>
      </p:sp>
      <p:sp>
        <p:nvSpPr>
          <p:cNvPr id="5" name="TextBox 4"/>
          <p:cNvSpPr txBox="1"/>
          <p:nvPr/>
        </p:nvSpPr>
        <p:spPr>
          <a:xfrm>
            <a:off x="548640" y="320040"/>
            <a:ext cx="10058400" cy="320040"/>
          </a:xfrm>
          <a:prstGeom prst="rect">
            <a:avLst/>
          </a:prstGeom>
          <a:noFill/>
        </p:spPr>
        <p:txBody>
          <a:bodyPr wrap="square">
            <a:spAutoFit/>
          </a:bodyPr>
          <a:lstStyle/>
          <a:p>
            <a:pPr algn="l">
              <a:lnSpc>
                <a:spcPct val="115000"/>
              </a:lnSpc>
            </a:pPr>
            <a:r>
              <a:rPr sz="1250" b="1" i="0">
                <a:solidFill>
                  <a:srgbClr val="2A78D6"/>
                </a:solidFill>
                <a:latin typeface="Helvetica Neue"/>
              </a:rPr>
              <a:t>INVOLVED APPROACHES</a:t>
            </a:r>
          </a:p>
        </p:txBody>
      </p:sp>
      <p:sp>
        <p:nvSpPr>
          <p:cNvPr id="6" name="TextBox 5"/>
          <p:cNvSpPr txBox="1"/>
          <p:nvPr/>
        </p:nvSpPr>
        <p:spPr>
          <a:xfrm>
            <a:off x="548640" y="914400"/>
            <a:ext cx="11064240" cy="640080"/>
          </a:xfrm>
          <a:prstGeom prst="rect">
            <a:avLst/>
          </a:prstGeom>
          <a:noFill/>
        </p:spPr>
        <p:txBody>
          <a:bodyPr wrap="square">
            <a:spAutoFit/>
          </a:bodyPr>
          <a:lstStyle/>
          <a:p>
            <a:pPr algn="l">
              <a:lnSpc>
                <a:spcPct val="115000"/>
              </a:lnSpc>
            </a:pPr>
            <a:r>
              <a:rPr sz="2600" b="1" i="0">
                <a:solidFill>
                  <a:srgbClr val="0B0B0B"/>
                </a:solidFill>
                <a:latin typeface="Helvetica Neue"/>
              </a:rPr>
              <a:t>Three compression strategies compared</a:t>
            </a:r>
          </a:p>
        </p:txBody>
      </p:sp>
      <p:cxnSp>
        <p:nvCxnSpPr>
          <p:cNvPr id="7" name="Connector 6"/>
          <p:cNvCxnSpPr/>
          <p:nvPr/>
        </p:nvCxnSpPr>
        <p:spPr>
          <a:xfrm>
            <a:off x="548640" y="1508760"/>
            <a:ext cx="11091672"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548640" y="1737360"/>
          <a:ext cx="11064239" cy="1901952"/>
        </p:xfrm>
        <a:graphic>
          <a:graphicData uri="http://schemas.openxmlformats.org/drawingml/2006/table">
            <a:tbl>
              <a:tblPr firstRow="1" bandRow="1">
                <a:tableStyleId>{5C22544A-7EE6-4342-B048-85BDC9FD1C3A}</a:tableStyleId>
              </a:tblPr>
              <a:tblGrid>
                <a:gridCol w="1991563"/>
                <a:gridCol w="995781"/>
                <a:gridCol w="4757623"/>
                <a:gridCol w="3319272"/>
              </a:tblGrid>
              <a:tr h="475488">
                <a:tc>
                  <a:txBody>
                    <a:bodyPr/>
                    <a:lstStyle/>
                    <a:p>
                      <a:pPr algn="l"/>
                      <a:r>
                        <a:rPr sz="1200" b="1">
                          <a:solidFill>
                            <a:srgbClr val="FFFFFF"/>
                          </a:solidFill>
                          <a:latin typeface="Helvetica Neue"/>
                        </a:rPr>
                        <a:t>Model</a:t>
                      </a:r>
                    </a:p>
                  </a:txBody>
                  <a:tcPr marL="73152" marR="73152" marT="27432" marB="27432" anchor="ctr">
                    <a:solidFill>
                      <a:srgbClr val="0B0B0B"/>
                    </a:solidFill>
                  </a:tcPr>
                </a:tc>
                <a:tc>
                  <a:txBody>
                    <a:bodyPr/>
                    <a:lstStyle/>
                    <a:p>
                      <a:pPr algn="ctr"/>
                      <a:r>
                        <a:rPr sz="1200" b="1">
                          <a:solidFill>
                            <a:srgbClr val="FFFFFF"/>
                          </a:solidFill>
                          <a:latin typeface="Helvetica Neue"/>
                        </a:rPr>
                        <a:t>Params</a:t>
                      </a:r>
                    </a:p>
                  </a:txBody>
                  <a:tcPr marL="73152" marR="73152" marT="27432" marB="27432" anchor="ctr">
                    <a:solidFill>
                      <a:srgbClr val="0B0B0B"/>
                    </a:solidFill>
                  </a:tcPr>
                </a:tc>
                <a:tc>
                  <a:txBody>
                    <a:bodyPr/>
                    <a:lstStyle/>
                    <a:p>
                      <a:pPr algn="ctr"/>
                      <a:r>
                        <a:rPr sz="1200" b="1">
                          <a:solidFill>
                            <a:srgbClr val="FFFFFF"/>
                          </a:solidFill>
                          <a:latin typeface="Helvetica Neue"/>
                        </a:rPr>
                        <a:t>Architecture</a:t>
                      </a:r>
                    </a:p>
                  </a:txBody>
                  <a:tcPr marL="73152" marR="73152" marT="27432" marB="27432" anchor="ctr">
                    <a:solidFill>
                      <a:srgbClr val="0B0B0B"/>
                    </a:solidFill>
                  </a:tcPr>
                </a:tc>
                <a:tc>
                  <a:txBody>
                    <a:bodyPr/>
                    <a:lstStyle/>
                    <a:p>
                      <a:pPr algn="ctr"/>
                      <a:r>
                        <a:rPr sz="1200" b="1">
                          <a:solidFill>
                            <a:srgbClr val="FFFFFF"/>
                          </a:solidFill>
                          <a:latin typeface="Helvetica Neue"/>
                        </a:rPr>
                        <a:t>Key technique</a:t>
                      </a:r>
                    </a:p>
                  </a:txBody>
                  <a:tcPr marL="73152" marR="73152" marT="27432" marB="27432" anchor="ctr">
                    <a:solidFill>
                      <a:srgbClr val="0B0B0B"/>
                    </a:solidFill>
                  </a:tcPr>
                </a:tc>
              </a:tr>
              <a:tr h="475488">
                <a:tc>
                  <a:txBody>
                    <a:bodyPr/>
                    <a:lstStyle/>
                    <a:p>
                      <a:pPr algn="l"/>
                      <a:r>
                        <a:rPr sz="1200" b="0">
                          <a:solidFill>
                            <a:srgbClr val="0B0B0B"/>
                          </a:solidFill>
                          <a:latin typeface="Helvetica Neue"/>
                        </a:rPr>
                        <a:t>Gemma-3-4B</a:t>
                      </a:r>
                    </a:p>
                  </a:txBody>
                  <a:tcPr marL="73152" marR="73152" marT="27432" marB="27432" anchor="ctr">
                    <a:solidFill>
                      <a:srgbClr val="FCFCFB"/>
                    </a:solidFill>
                  </a:tcPr>
                </a:tc>
                <a:tc>
                  <a:txBody>
                    <a:bodyPr/>
                    <a:lstStyle/>
                    <a:p>
                      <a:pPr algn="ctr"/>
                      <a:r>
                        <a:rPr sz="1200" b="0">
                          <a:solidFill>
                            <a:srgbClr val="0B0B0B"/>
                          </a:solidFill>
                          <a:latin typeface="Helvetica Neue"/>
                        </a:rPr>
                        <a:t>4B</a:t>
                      </a:r>
                    </a:p>
                  </a:txBody>
                  <a:tcPr marL="73152" marR="73152" marT="27432" marB="27432" anchor="ctr">
                    <a:solidFill>
                      <a:srgbClr val="FCFCFB"/>
                    </a:solidFill>
                  </a:tcPr>
                </a:tc>
                <a:tc>
                  <a:txBody>
                    <a:bodyPr/>
                    <a:lstStyle/>
                    <a:p>
                      <a:pPr algn="ctr"/>
                      <a:r>
                        <a:rPr sz="1200" b="0">
                          <a:solidFill>
                            <a:srgbClr val="0B0B0B"/>
                          </a:solidFill>
                          <a:latin typeface="Helvetica Neue"/>
                        </a:rPr>
                        <a:t>Dense decoder-only, interleaved local/global attention</a:t>
                      </a:r>
                    </a:p>
                  </a:txBody>
                  <a:tcPr marL="73152" marR="73152" marT="27432" marB="27432" anchor="ctr">
                    <a:solidFill>
                      <a:srgbClr val="FCFCFB"/>
                    </a:solidFill>
                  </a:tcPr>
                </a:tc>
                <a:tc>
                  <a:txBody>
                    <a:bodyPr/>
                    <a:lstStyle/>
                    <a:p>
                      <a:pPr algn="ctr"/>
                      <a:r>
                        <a:rPr sz="1200" b="0">
                          <a:solidFill>
                            <a:srgbClr val="0B0B0B"/>
                          </a:solidFill>
                          <a:latin typeface="Helvetica Neue"/>
                        </a:rPr>
                        <a:t>Knowledge distillation</a:t>
                      </a:r>
                    </a:p>
                  </a:txBody>
                  <a:tcPr marL="73152" marR="73152" marT="27432" marB="27432" anchor="ctr">
                    <a:solidFill>
                      <a:srgbClr val="FCFCFB"/>
                    </a:solidFill>
                  </a:tcPr>
                </a:tc>
              </a:tr>
              <a:tr h="475488">
                <a:tc>
                  <a:txBody>
                    <a:bodyPr/>
                    <a:lstStyle/>
                    <a:p>
                      <a:pPr algn="l"/>
                      <a:r>
                        <a:rPr sz="1200" b="0">
                          <a:solidFill>
                            <a:srgbClr val="0B0B0B"/>
                          </a:solidFill>
                          <a:latin typeface="Helvetica Neue"/>
                        </a:rPr>
                        <a:t>Llama-3.2-3B</a:t>
                      </a:r>
                    </a:p>
                  </a:txBody>
                  <a:tcPr marL="73152" marR="73152" marT="27432" marB="27432" anchor="ctr">
                    <a:solidFill>
                      <a:srgbClr val="FCFCFB"/>
                    </a:solidFill>
                  </a:tcPr>
                </a:tc>
                <a:tc>
                  <a:txBody>
                    <a:bodyPr/>
                    <a:lstStyle/>
                    <a:p>
                      <a:pPr algn="ctr"/>
                      <a:r>
                        <a:rPr sz="1200" b="0">
                          <a:solidFill>
                            <a:srgbClr val="0B0B0B"/>
                          </a:solidFill>
                          <a:latin typeface="Helvetica Neue"/>
                        </a:rPr>
                        <a:t>3B</a:t>
                      </a:r>
                    </a:p>
                  </a:txBody>
                  <a:tcPr marL="73152" marR="73152" marT="27432" marB="27432" anchor="ctr">
                    <a:solidFill>
                      <a:srgbClr val="FCFCFB"/>
                    </a:solidFill>
                  </a:tcPr>
                </a:tc>
                <a:tc>
                  <a:txBody>
                    <a:bodyPr/>
                    <a:lstStyle/>
                    <a:p>
                      <a:pPr algn="ctr"/>
                      <a:r>
                        <a:rPr sz="1200" b="0">
                          <a:solidFill>
                            <a:srgbClr val="0B0B0B"/>
                          </a:solidFill>
                          <a:latin typeface="Helvetica Neue"/>
                        </a:rPr>
                        <a:t>Dense decoder-only with Grouped Query Attention</a:t>
                      </a:r>
                    </a:p>
                  </a:txBody>
                  <a:tcPr marL="73152" marR="73152" marT="27432" marB="27432" anchor="ctr">
                    <a:solidFill>
                      <a:srgbClr val="FCFCFB"/>
                    </a:solidFill>
                  </a:tcPr>
                </a:tc>
                <a:tc>
                  <a:txBody>
                    <a:bodyPr/>
                    <a:lstStyle/>
                    <a:p>
                      <a:pPr algn="ctr"/>
                      <a:r>
                        <a:rPr sz="1200" b="0">
                          <a:solidFill>
                            <a:srgbClr val="0B0B0B"/>
                          </a:solidFill>
                          <a:latin typeface="Helvetica Neue"/>
                        </a:rPr>
                        <a:t>Pruning + distillation</a:t>
                      </a:r>
                    </a:p>
                  </a:txBody>
                  <a:tcPr marL="73152" marR="73152" marT="27432" marB="27432" anchor="ctr">
                    <a:solidFill>
                      <a:srgbClr val="FCFCFB"/>
                    </a:solidFill>
                  </a:tcPr>
                </a:tc>
              </a:tr>
              <a:tr h="475488">
                <a:tc>
                  <a:txBody>
                    <a:bodyPr/>
                    <a:lstStyle/>
                    <a:p>
                      <a:pPr algn="l"/>
                      <a:r>
                        <a:rPr sz="1200" b="0">
                          <a:solidFill>
                            <a:srgbClr val="0B0B0B"/>
                          </a:solidFill>
                          <a:latin typeface="Helvetica Neue"/>
                        </a:rPr>
                        <a:t>Ministral-8B</a:t>
                      </a:r>
                    </a:p>
                  </a:txBody>
                  <a:tcPr marL="73152" marR="73152" marT="27432" marB="27432" anchor="ctr">
                    <a:solidFill>
                      <a:srgbClr val="FCFCFB"/>
                    </a:solidFill>
                  </a:tcPr>
                </a:tc>
                <a:tc>
                  <a:txBody>
                    <a:bodyPr/>
                    <a:lstStyle/>
                    <a:p>
                      <a:pPr algn="ctr"/>
                      <a:r>
                        <a:rPr sz="1200" b="0">
                          <a:solidFill>
                            <a:srgbClr val="0B0B0B"/>
                          </a:solidFill>
                          <a:latin typeface="Helvetica Neue"/>
                        </a:rPr>
                        <a:t>8B</a:t>
                      </a:r>
                    </a:p>
                  </a:txBody>
                  <a:tcPr marL="73152" marR="73152" marT="27432" marB="27432" anchor="ctr">
                    <a:solidFill>
                      <a:srgbClr val="FCFCFB"/>
                    </a:solidFill>
                  </a:tcPr>
                </a:tc>
                <a:tc>
                  <a:txBody>
                    <a:bodyPr/>
                    <a:lstStyle/>
                    <a:p>
                      <a:pPr algn="ctr"/>
                      <a:r>
                        <a:rPr sz="1200" b="0">
                          <a:solidFill>
                            <a:srgbClr val="0B0B0B"/>
                          </a:solidFill>
                          <a:latin typeface="Helvetica Neue"/>
                        </a:rPr>
                        <a:t>Decoder-only with Sliding Window Attention</a:t>
                      </a:r>
                    </a:p>
                  </a:txBody>
                  <a:tcPr marL="73152" marR="73152" marT="27432" marB="27432" anchor="ctr">
                    <a:solidFill>
                      <a:srgbClr val="FCFCFB"/>
                    </a:solidFill>
                  </a:tcPr>
                </a:tc>
                <a:tc>
                  <a:txBody>
                    <a:bodyPr/>
                    <a:lstStyle/>
                    <a:p>
                      <a:pPr algn="ctr"/>
                      <a:r>
                        <a:rPr sz="1200" b="0">
                          <a:solidFill>
                            <a:srgbClr val="0B0B0B"/>
                          </a:solidFill>
                          <a:latin typeface="Helvetica Neue"/>
                        </a:rPr>
                        <a:t>Native 8B, not distilled down</a:t>
                      </a:r>
                    </a:p>
                  </a:txBody>
                  <a:tcPr marL="73152" marR="73152" marT="27432" marB="27432" anchor="ctr">
                    <a:solidFill>
                      <a:srgbClr val="FCFCFB"/>
                    </a:solidFill>
                  </a:tcPr>
                </a:tc>
              </a:tr>
            </a:tbl>
          </a:graphicData>
        </a:graphic>
      </p:graphicFrame>
      <p:sp>
        <p:nvSpPr>
          <p:cNvPr id="9" name="TextBox 8"/>
          <p:cNvSpPr txBox="1"/>
          <p:nvPr/>
        </p:nvSpPr>
        <p:spPr>
          <a:xfrm>
            <a:off x="548640" y="3794760"/>
            <a:ext cx="2743200" cy="274320"/>
          </a:xfrm>
          <a:prstGeom prst="rect">
            <a:avLst/>
          </a:prstGeom>
          <a:noFill/>
        </p:spPr>
        <p:txBody>
          <a:bodyPr wrap="square">
            <a:spAutoFit/>
          </a:bodyPr>
          <a:lstStyle/>
          <a:p>
            <a:pPr algn="l">
              <a:lnSpc>
                <a:spcPct val="115000"/>
              </a:lnSpc>
            </a:pPr>
            <a:r>
              <a:rPr sz="1100" b="1" i="0">
                <a:solidFill>
                  <a:srgbClr val="898781"/>
                </a:solidFill>
                <a:latin typeface="Helvetica Neue"/>
              </a:rPr>
              <a:t>THE COMPARISON THIS SETS UP</a:t>
            </a:r>
          </a:p>
        </p:txBody>
      </p:sp>
      <p:sp>
        <p:nvSpPr>
          <p:cNvPr id="10" name="TextBox 9"/>
          <p:cNvSpPr txBox="1"/>
          <p:nvPr/>
        </p:nvSpPr>
        <p:spPr>
          <a:xfrm>
            <a:off x="548640" y="4114800"/>
            <a:ext cx="11064240" cy="1463040"/>
          </a:xfrm>
          <a:prstGeom prst="rect">
            <a:avLst/>
          </a:prstGeom>
          <a:noFill/>
        </p:spPr>
        <p:txBody>
          <a:bodyPr wrap="square">
            <a:spAutoFit/>
          </a:bodyPr>
          <a:lstStyle/>
          <a:p>
            <a:pPr algn="l">
              <a:lnSpc>
                <a:spcPct val="135000"/>
              </a:lnSpc>
              <a:spcAft>
                <a:spcPts val="700"/>
              </a:spcAft>
            </a:pPr>
            <a:r>
              <a:rPr sz="1350" b="0" i="0">
                <a:solidFill>
                  <a:srgbClr val="52514E"/>
                </a:solidFill>
                <a:latin typeface="Helvetica Neue"/>
              </a:rPr>
              <a:t>—  Two compressed models (Gemma, Llama) against one trained at its native size (Ministral).</a:t>
            </a:r>
          </a:p>
          <a:p>
            <a:pPr algn="l">
              <a:lnSpc>
                <a:spcPct val="135000"/>
              </a:lnSpc>
              <a:spcAft>
                <a:spcPts val="700"/>
              </a:spcAft>
            </a:pPr>
            <a:r>
              <a:rPr sz="1350" b="0" i="0">
                <a:solidFill>
                  <a:srgbClr val="52514E"/>
                </a:solidFill>
                <a:latin typeface="Helvetica Neue"/>
              </a:rPr>
              <a:t>—  All three queried through the same API, with one shared configuration, so differences are attributable to the models.</a:t>
            </a:r>
          </a:p>
          <a:p>
            <a:pPr algn="l">
              <a:lnSpc>
                <a:spcPct val="135000"/>
              </a:lnSpc>
              <a:spcAft>
                <a:spcPts val="700"/>
              </a:spcAft>
            </a:pPr>
            <a:r>
              <a:rPr sz="1350" b="0" i="0">
                <a:solidFill>
                  <a:srgbClr val="52514E"/>
                </a:solidFill>
                <a:latin typeface="Helvetica Neue"/>
              </a:rPr>
              <a:t>—  No weights are changed — only decoding parameters vary, and identically across models.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510528"/>
            <a:ext cx="5486400" cy="274320"/>
          </a:xfrm>
          <a:prstGeom prst="rect">
            <a:avLst/>
          </a:prstGeom>
          <a:noFill/>
        </p:spPr>
        <p:txBody>
          <a:bodyPr wrap="square">
            <a:spAutoFit/>
          </a:bodyPr>
          <a:lstStyle/>
          <a:p>
            <a:pPr algn="l">
              <a:lnSpc>
                <a:spcPct val="115000"/>
              </a:lnSpc>
            </a:pPr>
            <a:r>
              <a:rPr sz="900" b="0" i="0">
                <a:solidFill>
                  <a:srgbClr val="898781"/>
                </a:solidFill>
                <a:latin typeface="Helvetica Neue"/>
              </a:rPr>
              <a:t>LAMBADA &amp; MMLU Benchmark Evaluation — Extended</a:t>
            </a:r>
          </a:p>
        </p:txBody>
      </p:sp>
      <p:sp>
        <p:nvSpPr>
          <p:cNvPr id="4" name="TextBox 3"/>
          <p:cNvSpPr txBox="1"/>
          <p:nvPr/>
        </p:nvSpPr>
        <p:spPr>
          <a:xfrm>
            <a:off x="11338560" y="6510528"/>
            <a:ext cx="457200" cy="274320"/>
          </a:xfrm>
          <a:prstGeom prst="rect">
            <a:avLst/>
          </a:prstGeom>
          <a:noFill/>
        </p:spPr>
        <p:txBody>
          <a:bodyPr wrap="square">
            <a:spAutoFit/>
          </a:bodyPr>
          <a:lstStyle/>
          <a:p>
            <a:pPr algn="r">
              <a:lnSpc>
                <a:spcPct val="115000"/>
              </a:lnSpc>
            </a:pPr>
            <a:r>
              <a:rPr sz="900" b="0" i="0">
                <a:solidFill>
                  <a:srgbClr val="898781"/>
                </a:solidFill>
                <a:latin typeface="Helvetica Neue"/>
              </a:rPr>
              <a:t>9</a:t>
            </a:r>
          </a:p>
        </p:txBody>
      </p:sp>
      <p:sp>
        <p:nvSpPr>
          <p:cNvPr id="5" name="TextBox 4"/>
          <p:cNvSpPr txBox="1"/>
          <p:nvPr/>
        </p:nvSpPr>
        <p:spPr>
          <a:xfrm>
            <a:off x="548640" y="320040"/>
            <a:ext cx="10058400" cy="320040"/>
          </a:xfrm>
          <a:prstGeom prst="rect">
            <a:avLst/>
          </a:prstGeom>
          <a:noFill/>
        </p:spPr>
        <p:txBody>
          <a:bodyPr wrap="square">
            <a:spAutoFit/>
          </a:bodyPr>
          <a:lstStyle/>
          <a:p>
            <a:pPr algn="l">
              <a:lnSpc>
                <a:spcPct val="115000"/>
              </a:lnSpc>
            </a:pPr>
            <a:r>
              <a:rPr sz="1250" b="1" i="0">
                <a:solidFill>
                  <a:srgbClr val="2A78D6"/>
                </a:solidFill>
                <a:latin typeface="Helvetica Neue"/>
              </a:rPr>
              <a:t>CONSIDERED MODEL(S)</a:t>
            </a:r>
          </a:p>
        </p:txBody>
      </p:sp>
      <p:sp>
        <p:nvSpPr>
          <p:cNvPr id="6" name="TextBox 5"/>
          <p:cNvSpPr txBox="1"/>
          <p:nvPr/>
        </p:nvSpPr>
        <p:spPr>
          <a:xfrm>
            <a:off x="548640" y="914400"/>
            <a:ext cx="11064240" cy="640080"/>
          </a:xfrm>
          <a:prstGeom prst="rect">
            <a:avLst/>
          </a:prstGeom>
          <a:noFill/>
        </p:spPr>
        <p:txBody>
          <a:bodyPr wrap="square">
            <a:spAutoFit/>
          </a:bodyPr>
          <a:lstStyle/>
          <a:p>
            <a:pPr algn="l">
              <a:lnSpc>
                <a:spcPct val="115000"/>
              </a:lnSpc>
            </a:pPr>
            <a:r>
              <a:rPr sz="2800" b="1" i="0">
                <a:solidFill>
                  <a:srgbClr val="0B0B0B"/>
                </a:solidFill>
                <a:latin typeface="Helvetica Neue"/>
              </a:rPr>
              <a:t>Gemma-3-4B</a:t>
            </a:r>
          </a:p>
        </p:txBody>
      </p:sp>
      <p:cxnSp>
        <p:nvCxnSpPr>
          <p:cNvPr id="7" name="Connector 6"/>
          <p:cNvCxnSpPr/>
          <p:nvPr/>
        </p:nvCxnSpPr>
        <p:spPr>
          <a:xfrm>
            <a:off x="548640" y="1508760"/>
            <a:ext cx="11091672"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1572768"/>
            <a:ext cx="11064240" cy="292608"/>
          </a:xfrm>
          <a:prstGeom prst="rect">
            <a:avLst/>
          </a:prstGeom>
          <a:noFill/>
        </p:spPr>
        <p:txBody>
          <a:bodyPr wrap="square">
            <a:spAutoFit/>
          </a:bodyPr>
          <a:lstStyle/>
          <a:p>
            <a:pPr algn="l">
              <a:lnSpc>
                <a:spcPct val="115000"/>
              </a:lnSpc>
            </a:pPr>
            <a:r>
              <a:rPr sz="1300" b="1" i="0">
                <a:solidFill>
                  <a:srgbClr val="2A78D6"/>
                </a:solidFill>
                <a:latin typeface="Helvetica Neue"/>
              </a:rPr>
              <a:t>Google · 4B</a:t>
            </a:r>
          </a:p>
        </p:txBody>
      </p:sp>
      <p:sp>
        <p:nvSpPr>
          <p:cNvPr id="9" name="TextBox 8"/>
          <p:cNvSpPr txBox="1"/>
          <p:nvPr/>
        </p:nvSpPr>
        <p:spPr>
          <a:xfrm>
            <a:off x="548640" y="2011680"/>
            <a:ext cx="2743200" cy="274320"/>
          </a:xfrm>
          <a:prstGeom prst="rect">
            <a:avLst/>
          </a:prstGeom>
          <a:noFill/>
        </p:spPr>
        <p:txBody>
          <a:bodyPr wrap="square">
            <a:spAutoFit/>
          </a:bodyPr>
          <a:lstStyle/>
          <a:p>
            <a:pPr algn="l">
              <a:lnSpc>
                <a:spcPct val="115000"/>
              </a:lnSpc>
            </a:pPr>
            <a:r>
              <a:rPr sz="1100" b="1" i="0">
                <a:solidFill>
                  <a:srgbClr val="898781"/>
                </a:solidFill>
                <a:latin typeface="Helvetica Neue"/>
              </a:rPr>
              <a:t>HOW IT WORKS</a:t>
            </a:r>
          </a:p>
        </p:txBody>
      </p:sp>
      <p:sp>
        <p:nvSpPr>
          <p:cNvPr id="10" name="TextBox 9"/>
          <p:cNvSpPr txBox="1"/>
          <p:nvPr/>
        </p:nvSpPr>
        <p:spPr>
          <a:xfrm>
            <a:off x="548640" y="2304288"/>
            <a:ext cx="5349240" cy="1554480"/>
          </a:xfrm>
          <a:prstGeom prst="rect">
            <a:avLst/>
          </a:prstGeom>
          <a:noFill/>
        </p:spPr>
        <p:txBody>
          <a:bodyPr wrap="square">
            <a:spAutoFit/>
          </a:bodyPr>
          <a:lstStyle/>
          <a:p>
            <a:pPr algn="l">
              <a:lnSpc>
                <a:spcPct val="130000"/>
              </a:lnSpc>
            </a:pPr>
            <a:r>
              <a:rPr sz="1350" b="0" i="0">
                <a:solidFill>
                  <a:srgbClr val="52514E"/>
                </a:solidFill>
                <a:latin typeface="Helvetica Neue"/>
              </a:rPr>
              <a:t>Dense decoder-only transformer that interleaves five local sliding-window attention layers with one global layer, so most layers stay cheap while information still crosses the whole context.</a:t>
            </a:r>
          </a:p>
        </p:txBody>
      </p:sp>
      <p:sp>
        <p:nvSpPr>
          <p:cNvPr id="11" name="TextBox 10"/>
          <p:cNvSpPr txBox="1"/>
          <p:nvPr/>
        </p:nvSpPr>
        <p:spPr>
          <a:xfrm>
            <a:off x="6263640" y="2011680"/>
            <a:ext cx="2743200" cy="274320"/>
          </a:xfrm>
          <a:prstGeom prst="rect">
            <a:avLst/>
          </a:prstGeom>
          <a:noFill/>
        </p:spPr>
        <p:txBody>
          <a:bodyPr wrap="square">
            <a:spAutoFit/>
          </a:bodyPr>
          <a:lstStyle/>
          <a:p>
            <a:pPr algn="l">
              <a:lnSpc>
                <a:spcPct val="115000"/>
              </a:lnSpc>
            </a:pPr>
            <a:r>
              <a:rPr sz="1100" b="1" i="0">
                <a:solidFill>
                  <a:srgbClr val="898781"/>
                </a:solidFill>
                <a:latin typeface="Helvetica Neue"/>
              </a:rPr>
              <a:t>KEY PROPERTIES</a:t>
            </a:r>
          </a:p>
        </p:txBody>
      </p:sp>
      <p:sp>
        <p:nvSpPr>
          <p:cNvPr id="12" name="TextBox 11"/>
          <p:cNvSpPr txBox="1"/>
          <p:nvPr/>
        </p:nvSpPr>
        <p:spPr>
          <a:xfrm>
            <a:off x="6263640" y="2304288"/>
            <a:ext cx="5349240" cy="1828800"/>
          </a:xfrm>
          <a:prstGeom prst="rect">
            <a:avLst/>
          </a:prstGeom>
          <a:noFill/>
        </p:spPr>
        <p:txBody>
          <a:bodyPr wrap="square">
            <a:spAutoFit/>
          </a:bodyPr>
          <a:lstStyle/>
          <a:p>
            <a:pPr algn="l">
              <a:lnSpc>
                <a:spcPct val="135000"/>
              </a:lnSpc>
              <a:spcAft>
                <a:spcPts val="700"/>
              </a:spcAft>
            </a:pPr>
            <a:r>
              <a:rPr sz="1300" b="0" i="0">
                <a:solidFill>
                  <a:srgbClr val="52514E"/>
                </a:solidFill>
                <a:latin typeface="Helvetica Neue"/>
              </a:rPr>
              <a:t>—  5:1 local / global attention interleaving</a:t>
            </a:r>
          </a:p>
          <a:p>
            <a:pPr algn="l">
              <a:lnSpc>
                <a:spcPct val="135000"/>
              </a:lnSpc>
              <a:spcAft>
                <a:spcPts val="700"/>
              </a:spcAft>
            </a:pPr>
            <a:r>
              <a:rPr sz="1300" b="0" i="0">
                <a:solidFill>
                  <a:srgbClr val="52514E"/>
                </a:solidFill>
                <a:latin typeface="Helvetica Neue"/>
              </a:rPr>
              <a:t>—  Grouped Query Attention with QK-norm</a:t>
            </a:r>
          </a:p>
          <a:p>
            <a:pPr algn="l">
              <a:lnSpc>
                <a:spcPct val="135000"/>
              </a:lnSpc>
              <a:spcAft>
                <a:spcPts val="700"/>
              </a:spcAft>
            </a:pPr>
            <a:r>
              <a:rPr sz="1300" b="0" i="0">
                <a:solidFill>
                  <a:srgbClr val="52514E"/>
                </a:solidFill>
                <a:latin typeface="Helvetica Neue"/>
              </a:rPr>
              <a:t>—  128k-token context window</a:t>
            </a:r>
          </a:p>
          <a:p>
            <a:pPr algn="l">
              <a:lnSpc>
                <a:spcPct val="135000"/>
              </a:lnSpc>
              <a:spcAft>
                <a:spcPts val="700"/>
              </a:spcAft>
            </a:pPr>
            <a:r>
              <a:rPr sz="1300" b="0" i="0">
                <a:solidFill>
                  <a:srgbClr val="52514E"/>
                </a:solidFill>
                <a:latin typeface="Helvetica Neue"/>
              </a:rPr>
              <a:t>—  Distilled from a larger teacher model</a:t>
            </a:r>
          </a:p>
        </p:txBody>
      </p:sp>
      <p:cxnSp>
        <p:nvCxnSpPr>
          <p:cNvPr id="13" name="Connector 12"/>
          <p:cNvCxnSpPr/>
          <p:nvPr/>
        </p:nvCxnSpPr>
        <p:spPr>
          <a:xfrm>
            <a:off x="548640" y="4617720"/>
            <a:ext cx="11091672"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48640" y="4800600"/>
            <a:ext cx="2743200" cy="274320"/>
          </a:xfrm>
          <a:prstGeom prst="rect">
            <a:avLst/>
          </a:prstGeom>
          <a:noFill/>
        </p:spPr>
        <p:txBody>
          <a:bodyPr wrap="square">
            <a:spAutoFit/>
          </a:bodyPr>
          <a:lstStyle/>
          <a:p>
            <a:pPr algn="l">
              <a:lnSpc>
                <a:spcPct val="115000"/>
              </a:lnSpc>
            </a:pPr>
            <a:r>
              <a:rPr sz="1100" b="1" i="0">
                <a:solidFill>
                  <a:srgbClr val="898781"/>
                </a:solidFill>
                <a:latin typeface="Helvetica Neue"/>
              </a:rPr>
              <a:t>TRADE-OFF</a:t>
            </a:r>
          </a:p>
        </p:txBody>
      </p:sp>
      <p:sp>
        <p:nvSpPr>
          <p:cNvPr id="15" name="TextBox 14"/>
          <p:cNvSpPr txBox="1"/>
          <p:nvPr/>
        </p:nvSpPr>
        <p:spPr>
          <a:xfrm>
            <a:off x="548640" y="5102352"/>
            <a:ext cx="11064240" cy="548640"/>
          </a:xfrm>
          <a:prstGeom prst="rect">
            <a:avLst/>
          </a:prstGeom>
          <a:noFill/>
        </p:spPr>
        <p:txBody>
          <a:bodyPr wrap="square">
            <a:spAutoFit/>
          </a:bodyPr>
          <a:lstStyle/>
          <a:p>
            <a:pPr algn="l">
              <a:lnSpc>
                <a:spcPct val="115000"/>
              </a:lnSpc>
            </a:pPr>
            <a:r>
              <a:rPr sz="1400" b="0" i="0">
                <a:solidFill>
                  <a:srgbClr val="0B0B0B"/>
                </a:solidFill>
                <a:latin typeface="Helvetica Neue"/>
              </a:rPr>
              <a:t>Strong quality per parameter; global reasoning can lag full attention.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510528"/>
            <a:ext cx="5486400" cy="274320"/>
          </a:xfrm>
          <a:prstGeom prst="rect">
            <a:avLst/>
          </a:prstGeom>
          <a:noFill/>
        </p:spPr>
        <p:txBody>
          <a:bodyPr wrap="square">
            <a:spAutoFit/>
          </a:bodyPr>
          <a:lstStyle/>
          <a:p>
            <a:pPr algn="l">
              <a:lnSpc>
                <a:spcPct val="115000"/>
              </a:lnSpc>
            </a:pPr>
            <a:r>
              <a:rPr sz="900" b="0" i="0">
                <a:solidFill>
                  <a:srgbClr val="898781"/>
                </a:solidFill>
                <a:latin typeface="Helvetica Neue"/>
              </a:rPr>
              <a:t>LAMBADA &amp; MMLU Benchmark Evaluation — Extended</a:t>
            </a:r>
          </a:p>
        </p:txBody>
      </p:sp>
      <p:sp>
        <p:nvSpPr>
          <p:cNvPr id="4" name="TextBox 3"/>
          <p:cNvSpPr txBox="1"/>
          <p:nvPr/>
        </p:nvSpPr>
        <p:spPr>
          <a:xfrm>
            <a:off x="11338560" y="6510528"/>
            <a:ext cx="457200" cy="274320"/>
          </a:xfrm>
          <a:prstGeom prst="rect">
            <a:avLst/>
          </a:prstGeom>
          <a:noFill/>
        </p:spPr>
        <p:txBody>
          <a:bodyPr wrap="square">
            <a:spAutoFit/>
          </a:bodyPr>
          <a:lstStyle/>
          <a:p>
            <a:pPr algn="r">
              <a:lnSpc>
                <a:spcPct val="115000"/>
              </a:lnSpc>
            </a:pPr>
            <a:r>
              <a:rPr sz="900" b="0" i="0">
                <a:solidFill>
                  <a:srgbClr val="898781"/>
                </a:solidFill>
                <a:latin typeface="Helvetica Neue"/>
              </a:rPr>
              <a:t>10</a:t>
            </a:r>
          </a:p>
        </p:txBody>
      </p:sp>
      <p:sp>
        <p:nvSpPr>
          <p:cNvPr id="5" name="TextBox 4"/>
          <p:cNvSpPr txBox="1"/>
          <p:nvPr/>
        </p:nvSpPr>
        <p:spPr>
          <a:xfrm>
            <a:off x="548640" y="320040"/>
            <a:ext cx="10058400" cy="320040"/>
          </a:xfrm>
          <a:prstGeom prst="rect">
            <a:avLst/>
          </a:prstGeom>
          <a:noFill/>
        </p:spPr>
        <p:txBody>
          <a:bodyPr wrap="square">
            <a:spAutoFit/>
          </a:bodyPr>
          <a:lstStyle/>
          <a:p>
            <a:pPr algn="l">
              <a:lnSpc>
                <a:spcPct val="115000"/>
              </a:lnSpc>
            </a:pPr>
            <a:r>
              <a:rPr sz="1250" b="1" i="0">
                <a:solidFill>
                  <a:srgbClr val="2A78D6"/>
                </a:solidFill>
                <a:latin typeface="Helvetica Neue"/>
              </a:rPr>
              <a:t>CONSIDERED MODEL(S)</a:t>
            </a:r>
          </a:p>
        </p:txBody>
      </p:sp>
      <p:sp>
        <p:nvSpPr>
          <p:cNvPr id="6" name="TextBox 5"/>
          <p:cNvSpPr txBox="1"/>
          <p:nvPr/>
        </p:nvSpPr>
        <p:spPr>
          <a:xfrm>
            <a:off x="548640" y="914400"/>
            <a:ext cx="11064240" cy="640080"/>
          </a:xfrm>
          <a:prstGeom prst="rect">
            <a:avLst/>
          </a:prstGeom>
          <a:noFill/>
        </p:spPr>
        <p:txBody>
          <a:bodyPr wrap="square">
            <a:spAutoFit/>
          </a:bodyPr>
          <a:lstStyle/>
          <a:p>
            <a:pPr algn="l">
              <a:lnSpc>
                <a:spcPct val="115000"/>
              </a:lnSpc>
            </a:pPr>
            <a:r>
              <a:rPr sz="2800" b="1" i="0">
                <a:solidFill>
                  <a:srgbClr val="0B0B0B"/>
                </a:solidFill>
                <a:latin typeface="Helvetica Neue"/>
              </a:rPr>
              <a:t>Llama-3.2-3B</a:t>
            </a:r>
          </a:p>
        </p:txBody>
      </p:sp>
      <p:cxnSp>
        <p:nvCxnSpPr>
          <p:cNvPr id="7" name="Connector 6"/>
          <p:cNvCxnSpPr/>
          <p:nvPr/>
        </p:nvCxnSpPr>
        <p:spPr>
          <a:xfrm>
            <a:off x="548640" y="1508760"/>
            <a:ext cx="11091672"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1572768"/>
            <a:ext cx="11064240" cy="292608"/>
          </a:xfrm>
          <a:prstGeom prst="rect">
            <a:avLst/>
          </a:prstGeom>
          <a:noFill/>
        </p:spPr>
        <p:txBody>
          <a:bodyPr wrap="square">
            <a:spAutoFit/>
          </a:bodyPr>
          <a:lstStyle/>
          <a:p>
            <a:pPr algn="l">
              <a:lnSpc>
                <a:spcPct val="115000"/>
              </a:lnSpc>
            </a:pPr>
            <a:r>
              <a:rPr sz="1300" b="1" i="0">
                <a:solidFill>
                  <a:srgbClr val="2A78D6"/>
                </a:solidFill>
                <a:latin typeface="Helvetica Neue"/>
              </a:rPr>
              <a:t>Meta · 3B</a:t>
            </a:r>
          </a:p>
        </p:txBody>
      </p:sp>
      <p:sp>
        <p:nvSpPr>
          <p:cNvPr id="9" name="TextBox 8"/>
          <p:cNvSpPr txBox="1"/>
          <p:nvPr/>
        </p:nvSpPr>
        <p:spPr>
          <a:xfrm>
            <a:off x="548640" y="2011680"/>
            <a:ext cx="2743200" cy="274320"/>
          </a:xfrm>
          <a:prstGeom prst="rect">
            <a:avLst/>
          </a:prstGeom>
          <a:noFill/>
        </p:spPr>
        <p:txBody>
          <a:bodyPr wrap="square">
            <a:spAutoFit/>
          </a:bodyPr>
          <a:lstStyle/>
          <a:p>
            <a:pPr algn="l">
              <a:lnSpc>
                <a:spcPct val="115000"/>
              </a:lnSpc>
            </a:pPr>
            <a:r>
              <a:rPr sz="1100" b="1" i="0">
                <a:solidFill>
                  <a:srgbClr val="898781"/>
                </a:solidFill>
                <a:latin typeface="Helvetica Neue"/>
              </a:rPr>
              <a:t>HOW IT WORKS</a:t>
            </a:r>
          </a:p>
        </p:txBody>
      </p:sp>
      <p:sp>
        <p:nvSpPr>
          <p:cNvPr id="10" name="TextBox 9"/>
          <p:cNvSpPr txBox="1"/>
          <p:nvPr/>
        </p:nvSpPr>
        <p:spPr>
          <a:xfrm>
            <a:off x="548640" y="2304288"/>
            <a:ext cx="5349240" cy="1554480"/>
          </a:xfrm>
          <a:prstGeom prst="rect">
            <a:avLst/>
          </a:prstGeom>
          <a:noFill/>
        </p:spPr>
        <p:txBody>
          <a:bodyPr wrap="square">
            <a:spAutoFit/>
          </a:bodyPr>
          <a:lstStyle/>
          <a:p>
            <a:pPr algn="l">
              <a:lnSpc>
                <a:spcPct val="130000"/>
              </a:lnSpc>
            </a:pPr>
            <a:r>
              <a:rPr sz="1350" b="0" i="0">
                <a:solidFill>
                  <a:srgbClr val="52514E"/>
                </a:solidFill>
                <a:latin typeface="Helvetica Neue"/>
              </a:rPr>
              <a:t>The standard Llama recipe scaled down: rotary position embeddings, grouped query attention and SwiGLU feed-forward layers, pruned and distilled from larger Llama 3.1 checkpoints.</a:t>
            </a:r>
          </a:p>
        </p:txBody>
      </p:sp>
      <p:sp>
        <p:nvSpPr>
          <p:cNvPr id="11" name="TextBox 10"/>
          <p:cNvSpPr txBox="1"/>
          <p:nvPr/>
        </p:nvSpPr>
        <p:spPr>
          <a:xfrm>
            <a:off x="6263640" y="2011680"/>
            <a:ext cx="2743200" cy="274320"/>
          </a:xfrm>
          <a:prstGeom prst="rect">
            <a:avLst/>
          </a:prstGeom>
          <a:noFill/>
        </p:spPr>
        <p:txBody>
          <a:bodyPr wrap="square">
            <a:spAutoFit/>
          </a:bodyPr>
          <a:lstStyle/>
          <a:p>
            <a:pPr algn="l">
              <a:lnSpc>
                <a:spcPct val="115000"/>
              </a:lnSpc>
            </a:pPr>
            <a:r>
              <a:rPr sz="1100" b="1" i="0">
                <a:solidFill>
                  <a:srgbClr val="898781"/>
                </a:solidFill>
                <a:latin typeface="Helvetica Neue"/>
              </a:rPr>
              <a:t>KEY PROPERTIES</a:t>
            </a:r>
          </a:p>
        </p:txBody>
      </p:sp>
      <p:sp>
        <p:nvSpPr>
          <p:cNvPr id="12" name="TextBox 11"/>
          <p:cNvSpPr txBox="1"/>
          <p:nvPr/>
        </p:nvSpPr>
        <p:spPr>
          <a:xfrm>
            <a:off x="6263640" y="2304288"/>
            <a:ext cx="5349240" cy="1828800"/>
          </a:xfrm>
          <a:prstGeom prst="rect">
            <a:avLst/>
          </a:prstGeom>
          <a:noFill/>
        </p:spPr>
        <p:txBody>
          <a:bodyPr wrap="square">
            <a:spAutoFit/>
          </a:bodyPr>
          <a:lstStyle/>
          <a:p>
            <a:pPr algn="l">
              <a:lnSpc>
                <a:spcPct val="135000"/>
              </a:lnSpc>
              <a:spcAft>
                <a:spcPts val="700"/>
              </a:spcAft>
            </a:pPr>
            <a:r>
              <a:rPr sz="1300" b="0" i="0">
                <a:solidFill>
                  <a:srgbClr val="52514E"/>
                </a:solidFill>
                <a:latin typeface="Helvetica Neue"/>
              </a:rPr>
              <a:t>—  Dense decoder-only, no architectural novelty</a:t>
            </a:r>
          </a:p>
          <a:p>
            <a:pPr algn="l">
              <a:lnSpc>
                <a:spcPct val="135000"/>
              </a:lnSpc>
              <a:spcAft>
                <a:spcPts val="700"/>
              </a:spcAft>
            </a:pPr>
            <a:r>
              <a:rPr sz="1300" b="0" i="0">
                <a:solidFill>
                  <a:srgbClr val="52514E"/>
                </a:solidFill>
                <a:latin typeface="Helvetica Neue"/>
              </a:rPr>
              <a:t>—  RoPE for length generalisation</a:t>
            </a:r>
          </a:p>
          <a:p>
            <a:pPr algn="l">
              <a:lnSpc>
                <a:spcPct val="135000"/>
              </a:lnSpc>
              <a:spcAft>
                <a:spcPts val="700"/>
              </a:spcAft>
            </a:pPr>
            <a:r>
              <a:rPr sz="1300" b="0" i="0">
                <a:solidFill>
                  <a:srgbClr val="52514E"/>
                </a:solidFill>
                <a:latin typeface="Helvetica Neue"/>
              </a:rPr>
              <a:t>—  Grouped Query Attention, SwiGLU</a:t>
            </a:r>
          </a:p>
          <a:p>
            <a:pPr algn="l">
              <a:lnSpc>
                <a:spcPct val="135000"/>
              </a:lnSpc>
              <a:spcAft>
                <a:spcPts val="700"/>
              </a:spcAft>
            </a:pPr>
            <a:r>
              <a:rPr sz="1300" b="0" i="0">
                <a:solidFill>
                  <a:srgbClr val="52514E"/>
                </a:solidFill>
                <a:latin typeface="Helvetica Neue"/>
              </a:rPr>
              <a:t>—  Smallest and fastest of the three</a:t>
            </a:r>
          </a:p>
        </p:txBody>
      </p:sp>
      <p:cxnSp>
        <p:nvCxnSpPr>
          <p:cNvPr id="13" name="Connector 12"/>
          <p:cNvCxnSpPr/>
          <p:nvPr/>
        </p:nvCxnSpPr>
        <p:spPr>
          <a:xfrm>
            <a:off x="548640" y="4617720"/>
            <a:ext cx="11091672"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48640" y="4800600"/>
            <a:ext cx="2743200" cy="274320"/>
          </a:xfrm>
          <a:prstGeom prst="rect">
            <a:avLst/>
          </a:prstGeom>
          <a:noFill/>
        </p:spPr>
        <p:txBody>
          <a:bodyPr wrap="square">
            <a:spAutoFit/>
          </a:bodyPr>
          <a:lstStyle/>
          <a:p>
            <a:pPr algn="l">
              <a:lnSpc>
                <a:spcPct val="115000"/>
              </a:lnSpc>
            </a:pPr>
            <a:r>
              <a:rPr sz="1100" b="1" i="0">
                <a:solidFill>
                  <a:srgbClr val="898781"/>
                </a:solidFill>
                <a:latin typeface="Helvetica Neue"/>
              </a:rPr>
              <a:t>TRADE-OFF</a:t>
            </a:r>
          </a:p>
        </p:txBody>
      </p:sp>
      <p:sp>
        <p:nvSpPr>
          <p:cNvPr id="15" name="TextBox 14"/>
          <p:cNvSpPr txBox="1"/>
          <p:nvPr/>
        </p:nvSpPr>
        <p:spPr>
          <a:xfrm>
            <a:off x="548640" y="5102352"/>
            <a:ext cx="11064240" cy="548640"/>
          </a:xfrm>
          <a:prstGeom prst="rect">
            <a:avLst/>
          </a:prstGeom>
          <a:noFill/>
        </p:spPr>
        <p:txBody>
          <a:bodyPr wrap="square">
            <a:spAutoFit/>
          </a:bodyPr>
          <a:lstStyle/>
          <a:p>
            <a:pPr algn="l">
              <a:lnSpc>
                <a:spcPct val="115000"/>
              </a:lnSpc>
            </a:pPr>
            <a:r>
              <a:rPr sz="1400" b="0" i="0">
                <a:solidFill>
                  <a:srgbClr val="0B0B0B"/>
                </a:solidFill>
                <a:latin typeface="Helvetica Neue"/>
              </a:rPr>
              <a:t>Very small and quick to serve; lower ceiling on complex reasoning.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510528"/>
            <a:ext cx="5486400" cy="274320"/>
          </a:xfrm>
          <a:prstGeom prst="rect">
            <a:avLst/>
          </a:prstGeom>
          <a:noFill/>
        </p:spPr>
        <p:txBody>
          <a:bodyPr wrap="square">
            <a:spAutoFit/>
          </a:bodyPr>
          <a:lstStyle/>
          <a:p>
            <a:pPr algn="l">
              <a:lnSpc>
                <a:spcPct val="115000"/>
              </a:lnSpc>
            </a:pPr>
            <a:r>
              <a:rPr sz="900" b="0" i="0">
                <a:solidFill>
                  <a:srgbClr val="898781"/>
                </a:solidFill>
                <a:latin typeface="Helvetica Neue"/>
              </a:rPr>
              <a:t>LAMBADA &amp; MMLU Benchmark Evaluation — Extended</a:t>
            </a:r>
          </a:p>
        </p:txBody>
      </p:sp>
      <p:sp>
        <p:nvSpPr>
          <p:cNvPr id="4" name="TextBox 3"/>
          <p:cNvSpPr txBox="1"/>
          <p:nvPr/>
        </p:nvSpPr>
        <p:spPr>
          <a:xfrm>
            <a:off x="11338560" y="6510528"/>
            <a:ext cx="457200" cy="274320"/>
          </a:xfrm>
          <a:prstGeom prst="rect">
            <a:avLst/>
          </a:prstGeom>
          <a:noFill/>
        </p:spPr>
        <p:txBody>
          <a:bodyPr wrap="square">
            <a:spAutoFit/>
          </a:bodyPr>
          <a:lstStyle/>
          <a:p>
            <a:pPr algn="r">
              <a:lnSpc>
                <a:spcPct val="115000"/>
              </a:lnSpc>
            </a:pPr>
            <a:r>
              <a:rPr sz="900" b="0" i="0">
                <a:solidFill>
                  <a:srgbClr val="898781"/>
                </a:solidFill>
                <a:latin typeface="Helvetica Neue"/>
              </a:rPr>
              <a:t>11</a:t>
            </a:r>
          </a:p>
        </p:txBody>
      </p:sp>
      <p:sp>
        <p:nvSpPr>
          <p:cNvPr id="5" name="TextBox 4"/>
          <p:cNvSpPr txBox="1"/>
          <p:nvPr/>
        </p:nvSpPr>
        <p:spPr>
          <a:xfrm>
            <a:off x="548640" y="320040"/>
            <a:ext cx="10058400" cy="320040"/>
          </a:xfrm>
          <a:prstGeom prst="rect">
            <a:avLst/>
          </a:prstGeom>
          <a:noFill/>
        </p:spPr>
        <p:txBody>
          <a:bodyPr wrap="square">
            <a:spAutoFit/>
          </a:bodyPr>
          <a:lstStyle/>
          <a:p>
            <a:pPr algn="l">
              <a:lnSpc>
                <a:spcPct val="115000"/>
              </a:lnSpc>
            </a:pPr>
            <a:r>
              <a:rPr sz="1250" b="1" i="0">
                <a:solidFill>
                  <a:srgbClr val="2A78D6"/>
                </a:solidFill>
                <a:latin typeface="Helvetica Neue"/>
              </a:rPr>
              <a:t>CONSIDERED MODEL(S)</a:t>
            </a:r>
          </a:p>
        </p:txBody>
      </p:sp>
      <p:sp>
        <p:nvSpPr>
          <p:cNvPr id="6" name="TextBox 5"/>
          <p:cNvSpPr txBox="1"/>
          <p:nvPr/>
        </p:nvSpPr>
        <p:spPr>
          <a:xfrm>
            <a:off x="548640" y="914400"/>
            <a:ext cx="11064240" cy="640080"/>
          </a:xfrm>
          <a:prstGeom prst="rect">
            <a:avLst/>
          </a:prstGeom>
          <a:noFill/>
        </p:spPr>
        <p:txBody>
          <a:bodyPr wrap="square">
            <a:spAutoFit/>
          </a:bodyPr>
          <a:lstStyle/>
          <a:p>
            <a:pPr algn="l">
              <a:lnSpc>
                <a:spcPct val="115000"/>
              </a:lnSpc>
            </a:pPr>
            <a:r>
              <a:rPr sz="2800" b="1" i="0">
                <a:solidFill>
                  <a:srgbClr val="0B0B0B"/>
                </a:solidFill>
                <a:latin typeface="Helvetica Neue"/>
              </a:rPr>
              <a:t>Ministral-8B</a:t>
            </a:r>
          </a:p>
        </p:txBody>
      </p:sp>
      <p:cxnSp>
        <p:nvCxnSpPr>
          <p:cNvPr id="7" name="Connector 6"/>
          <p:cNvCxnSpPr/>
          <p:nvPr/>
        </p:nvCxnSpPr>
        <p:spPr>
          <a:xfrm>
            <a:off x="548640" y="1508760"/>
            <a:ext cx="11091672"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1572768"/>
            <a:ext cx="11064240" cy="292608"/>
          </a:xfrm>
          <a:prstGeom prst="rect">
            <a:avLst/>
          </a:prstGeom>
          <a:noFill/>
        </p:spPr>
        <p:txBody>
          <a:bodyPr wrap="square">
            <a:spAutoFit/>
          </a:bodyPr>
          <a:lstStyle/>
          <a:p>
            <a:pPr algn="l">
              <a:lnSpc>
                <a:spcPct val="115000"/>
              </a:lnSpc>
            </a:pPr>
            <a:r>
              <a:rPr sz="1300" b="1" i="0">
                <a:solidFill>
                  <a:srgbClr val="2A78D6"/>
                </a:solidFill>
                <a:latin typeface="Helvetica Neue"/>
              </a:rPr>
              <a:t>Mistral AI · 8B</a:t>
            </a:r>
          </a:p>
        </p:txBody>
      </p:sp>
      <p:sp>
        <p:nvSpPr>
          <p:cNvPr id="9" name="TextBox 8"/>
          <p:cNvSpPr txBox="1"/>
          <p:nvPr/>
        </p:nvSpPr>
        <p:spPr>
          <a:xfrm>
            <a:off x="548640" y="2011680"/>
            <a:ext cx="2743200" cy="274320"/>
          </a:xfrm>
          <a:prstGeom prst="rect">
            <a:avLst/>
          </a:prstGeom>
          <a:noFill/>
        </p:spPr>
        <p:txBody>
          <a:bodyPr wrap="square">
            <a:spAutoFit/>
          </a:bodyPr>
          <a:lstStyle/>
          <a:p>
            <a:pPr algn="l">
              <a:lnSpc>
                <a:spcPct val="115000"/>
              </a:lnSpc>
            </a:pPr>
            <a:r>
              <a:rPr sz="1100" b="1" i="0">
                <a:solidFill>
                  <a:srgbClr val="898781"/>
                </a:solidFill>
                <a:latin typeface="Helvetica Neue"/>
              </a:rPr>
              <a:t>HOW IT WORKS</a:t>
            </a:r>
          </a:p>
        </p:txBody>
      </p:sp>
      <p:sp>
        <p:nvSpPr>
          <p:cNvPr id="10" name="TextBox 9"/>
          <p:cNvSpPr txBox="1"/>
          <p:nvPr/>
        </p:nvSpPr>
        <p:spPr>
          <a:xfrm>
            <a:off x="548640" y="2304288"/>
            <a:ext cx="5349240" cy="1554480"/>
          </a:xfrm>
          <a:prstGeom prst="rect">
            <a:avLst/>
          </a:prstGeom>
          <a:noFill/>
        </p:spPr>
        <p:txBody>
          <a:bodyPr wrap="square">
            <a:spAutoFit/>
          </a:bodyPr>
          <a:lstStyle/>
          <a:p>
            <a:pPr algn="l">
              <a:lnSpc>
                <a:spcPct val="130000"/>
              </a:lnSpc>
            </a:pPr>
            <a:r>
              <a:rPr sz="1350" b="0" i="0">
                <a:solidFill>
                  <a:srgbClr val="52514E"/>
                </a:solidFill>
                <a:latin typeface="Helvetica Neue"/>
              </a:rPr>
              <a:t>Interleaved sliding-window attention keeps memory low on long inputs; grouped query attention shrinks the KV cache further. Trained at 8B rather than compressed down from a larger model.</a:t>
            </a:r>
          </a:p>
        </p:txBody>
      </p:sp>
      <p:sp>
        <p:nvSpPr>
          <p:cNvPr id="11" name="TextBox 10"/>
          <p:cNvSpPr txBox="1"/>
          <p:nvPr/>
        </p:nvSpPr>
        <p:spPr>
          <a:xfrm>
            <a:off x="6263640" y="2011680"/>
            <a:ext cx="2743200" cy="274320"/>
          </a:xfrm>
          <a:prstGeom prst="rect">
            <a:avLst/>
          </a:prstGeom>
          <a:noFill/>
        </p:spPr>
        <p:txBody>
          <a:bodyPr wrap="square">
            <a:spAutoFit/>
          </a:bodyPr>
          <a:lstStyle/>
          <a:p>
            <a:pPr algn="l">
              <a:lnSpc>
                <a:spcPct val="115000"/>
              </a:lnSpc>
            </a:pPr>
            <a:r>
              <a:rPr sz="1100" b="1" i="0">
                <a:solidFill>
                  <a:srgbClr val="898781"/>
                </a:solidFill>
                <a:latin typeface="Helvetica Neue"/>
              </a:rPr>
              <a:t>KEY PROPERTIES</a:t>
            </a:r>
          </a:p>
        </p:txBody>
      </p:sp>
      <p:sp>
        <p:nvSpPr>
          <p:cNvPr id="12" name="TextBox 11"/>
          <p:cNvSpPr txBox="1"/>
          <p:nvPr/>
        </p:nvSpPr>
        <p:spPr>
          <a:xfrm>
            <a:off x="6263640" y="2304288"/>
            <a:ext cx="5349240" cy="1828800"/>
          </a:xfrm>
          <a:prstGeom prst="rect">
            <a:avLst/>
          </a:prstGeom>
          <a:noFill/>
        </p:spPr>
        <p:txBody>
          <a:bodyPr wrap="square">
            <a:spAutoFit/>
          </a:bodyPr>
          <a:lstStyle/>
          <a:p>
            <a:pPr algn="l">
              <a:lnSpc>
                <a:spcPct val="135000"/>
              </a:lnSpc>
              <a:spcAft>
                <a:spcPts val="700"/>
              </a:spcAft>
            </a:pPr>
            <a:r>
              <a:rPr sz="1300" b="0" i="0">
                <a:solidFill>
                  <a:srgbClr val="52514E"/>
                </a:solidFill>
                <a:latin typeface="Helvetica Neue"/>
              </a:rPr>
              <a:t>—  Interleaved sliding window attention</a:t>
            </a:r>
          </a:p>
          <a:p>
            <a:pPr algn="l">
              <a:lnSpc>
                <a:spcPct val="135000"/>
              </a:lnSpc>
              <a:spcAft>
                <a:spcPts val="700"/>
              </a:spcAft>
            </a:pPr>
            <a:r>
              <a:rPr sz="1300" b="0" i="0">
                <a:solidFill>
                  <a:srgbClr val="52514E"/>
                </a:solidFill>
                <a:latin typeface="Helvetica Neue"/>
              </a:rPr>
              <a:t>—  Grouped Query Attention for a smaller KV cache</a:t>
            </a:r>
          </a:p>
          <a:p>
            <a:pPr algn="l">
              <a:lnSpc>
                <a:spcPct val="135000"/>
              </a:lnSpc>
              <a:spcAft>
                <a:spcPts val="700"/>
              </a:spcAft>
            </a:pPr>
            <a:r>
              <a:rPr sz="1300" b="0" i="0">
                <a:solidFill>
                  <a:srgbClr val="52514E"/>
                </a:solidFill>
                <a:latin typeface="Helvetica Neue"/>
              </a:rPr>
              <a:t>—  Depth propagates context beyond one window</a:t>
            </a:r>
          </a:p>
          <a:p>
            <a:pPr algn="l">
              <a:lnSpc>
                <a:spcPct val="135000"/>
              </a:lnSpc>
              <a:spcAft>
                <a:spcPts val="700"/>
              </a:spcAft>
            </a:pPr>
            <a:r>
              <a:rPr sz="1300" b="0" i="0">
                <a:solidFill>
                  <a:srgbClr val="52514E"/>
                </a:solidFill>
                <a:latin typeface="Helvetica Neue"/>
              </a:rPr>
              <a:t>—  Tuned for long-context edge inference</a:t>
            </a:r>
          </a:p>
        </p:txBody>
      </p:sp>
      <p:cxnSp>
        <p:nvCxnSpPr>
          <p:cNvPr id="13" name="Connector 12"/>
          <p:cNvCxnSpPr/>
          <p:nvPr/>
        </p:nvCxnSpPr>
        <p:spPr>
          <a:xfrm>
            <a:off x="548640" y="4617720"/>
            <a:ext cx="11091672"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48640" y="4800600"/>
            <a:ext cx="2743200" cy="274320"/>
          </a:xfrm>
          <a:prstGeom prst="rect">
            <a:avLst/>
          </a:prstGeom>
          <a:noFill/>
        </p:spPr>
        <p:txBody>
          <a:bodyPr wrap="square">
            <a:spAutoFit/>
          </a:bodyPr>
          <a:lstStyle/>
          <a:p>
            <a:pPr algn="l">
              <a:lnSpc>
                <a:spcPct val="115000"/>
              </a:lnSpc>
            </a:pPr>
            <a:r>
              <a:rPr sz="1100" b="1" i="0">
                <a:solidFill>
                  <a:srgbClr val="898781"/>
                </a:solidFill>
                <a:latin typeface="Helvetica Neue"/>
              </a:rPr>
              <a:t>TRADE-OFF</a:t>
            </a:r>
          </a:p>
        </p:txBody>
      </p:sp>
      <p:sp>
        <p:nvSpPr>
          <p:cNvPr id="15" name="TextBox 14"/>
          <p:cNvSpPr txBox="1"/>
          <p:nvPr/>
        </p:nvSpPr>
        <p:spPr>
          <a:xfrm>
            <a:off x="548640" y="5102352"/>
            <a:ext cx="11064240" cy="548640"/>
          </a:xfrm>
          <a:prstGeom prst="rect">
            <a:avLst/>
          </a:prstGeom>
          <a:noFill/>
        </p:spPr>
        <p:txBody>
          <a:bodyPr wrap="square">
            <a:spAutoFit/>
          </a:bodyPr>
          <a:lstStyle/>
          <a:p>
            <a:pPr algn="l">
              <a:lnSpc>
                <a:spcPct val="115000"/>
              </a:lnSpc>
            </a:pPr>
            <a:r>
              <a:rPr sz="1400" b="0" i="0">
                <a:solidFill>
                  <a:srgbClr val="0B0B0B"/>
                </a:solidFill>
                <a:latin typeface="Helvetica Neue"/>
              </a:rPr>
              <a:t>Best quality here; distant context can fade across windows.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510528"/>
            <a:ext cx="5486400" cy="274320"/>
          </a:xfrm>
          <a:prstGeom prst="rect">
            <a:avLst/>
          </a:prstGeom>
          <a:noFill/>
        </p:spPr>
        <p:txBody>
          <a:bodyPr wrap="square">
            <a:spAutoFit/>
          </a:bodyPr>
          <a:lstStyle/>
          <a:p>
            <a:pPr algn="l">
              <a:lnSpc>
                <a:spcPct val="115000"/>
              </a:lnSpc>
            </a:pPr>
            <a:r>
              <a:rPr sz="900" b="0" i="0">
                <a:solidFill>
                  <a:srgbClr val="898781"/>
                </a:solidFill>
                <a:latin typeface="Helvetica Neue"/>
              </a:rPr>
              <a:t>LAMBADA &amp; MMLU Benchmark Evaluation — Extended</a:t>
            </a:r>
          </a:p>
        </p:txBody>
      </p:sp>
      <p:sp>
        <p:nvSpPr>
          <p:cNvPr id="4" name="TextBox 3"/>
          <p:cNvSpPr txBox="1"/>
          <p:nvPr/>
        </p:nvSpPr>
        <p:spPr>
          <a:xfrm>
            <a:off x="11338560" y="6510528"/>
            <a:ext cx="457200" cy="274320"/>
          </a:xfrm>
          <a:prstGeom prst="rect">
            <a:avLst/>
          </a:prstGeom>
          <a:noFill/>
        </p:spPr>
        <p:txBody>
          <a:bodyPr wrap="square">
            <a:spAutoFit/>
          </a:bodyPr>
          <a:lstStyle/>
          <a:p>
            <a:pPr algn="r">
              <a:lnSpc>
                <a:spcPct val="115000"/>
              </a:lnSpc>
            </a:pPr>
            <a:r>
              <a:rPr sz="900" b="0" i="0">
                <a:solidFill>
                  <a:srgbClr val="898781"/>
                </a:solidFill>
                <a:latin typeface="Helvetica Neue"/>
              </a:rPr>
              <a:t>12</a:t>
            </a:r>
          </a:p>
        </p:txBody>
      </p:sp>
      <p:sp>
        <p:nvSpPr>
          <p:cNvPr id="5" name="TextBox 4"/>
          <p:cNvSpPr txBox="1"/>
          <p:nvPr/>
        </p:nvSpPr>
        <p:spPr>
          <a:xfrm>
            <a:off x="548640" y="320040"/>
            <a:ext cx="10058400" cy="320040"/>
          </a:xfrm>
          <a:prstGeom prst="rect">
            <a:avLst/>
          </a:prstGeom>
          <a:noFill/>
        </p:spPr>
        <p:txBody>
          <a:bodyPr wrap="square">
            <a:spAutoFit/>
          </a:bodyPr>
          <a:lstStyle/>
          <a:p>
            <a:pPr algn="l">
              <a:lnSpc>
                <a:spcPct val="115000"/>
              </a:lnSpc>
            </a:pPr>
            <a:r>
              <a:rPr sz="1250" b="1" i="0">
                <a:solidFill>
                  <a:srgbClr val="2A78D6"/>
                </a:solidFill>
                <a:latin typeface="Helvetica Neue"/>
              </a:rPr>
              <a:t>COMMENTS AND DISCUSSION BEFORE RESULTS</a:t>
            </a:r>
          </a:p>
        </p:txBody>
      </p:sp>
      <p:sp>
        <p:nvSpPr>
          <p:cNvPr id="6" name="TextBox 5"/>
          <p:cNvSpPr txBox="1"/>
          <p:nvPr/>
        </p:nvSpPr>
        <p:spPr>
          <a:xfrm>
            <a:off x="548640" y="914400"/>
            <a:ext cx="11064240" cy="640080"/>
          </a:xfrm>
          <a:prstGeom prst="rect">
            <a:avLst/>
          </a:prstGeom>
          <a:noFill/>
        </p:spPr>
        <p:txBody>
          <a:bodyPr wrap="square">
            <a:spAutoFit/>
          </a:bodyPr>
          <a:lstStyle/>
          <a:p>
            <a:pPr algn="l">
              <a:lnSpc>
                <a:spcPct val="115000"/>
              </a:lnSpc>
            </a:pPr>
            <a:r>
              <a:rPr sz="2600" b="1" i="0">
                <a:solidFill>
                  <a:srgbClr val="0B0B0B"/>
                </a:solidFill>
                <a:latin typeface="Helvetica Neue"/>
              </a:rPr>
              <a:t>Stages 1–2 · Quality and calibration</a:t>
            </a:r>
          </a:p>
        </p:txBody>
      </p:sp>
      <p:cxnSp>
        <p:nvCxnSpPr>
          <p:cNvPr id="7" name="Connector 6"/>
          <p:cNvCxnSpPr/>
          <p:nvPr/>
        </p:nvCxnSpPr>
        <p:spPr>
          <a:xfrm>
            <a:off x="548640" y="1508760"/>
            <a:ext cx="11091672"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548640" y="1737360"/>
          <a:ext cx="11064238" cy="3291840"/>
        </p:xfrm>
        <a:graphic>
          <a:graphicData uri="http://schemas.openxmlformats.org/drawingml/2006/table">
            <a:tbl>
              <a:tblPr firstRow="1" bandRow="1">
                <a:tableStyleId>{5C22544A-7EE6-4342-B048-85BDC9FD1C3A}</a:tableStyleId>
              </a:tblPr>
              <a:tblGrid>
                <a:gridCol w="2434132"/>
                <a:gridCol w="6859828"/>
                <a:gridCol w="1770278"/>
              </a:tblGrid>
              <a:tr h="365760">
                <a:tc>
                  <a:txBody>
                    <a:bodyPr/>
                    <a:lstStyle/>
                    <a:p>
                      <a:pPr algn="l"/>
                      <a:r>
                        <a:rPr sz="1150" b="1">
                          <a:solidFill>
                            <a:srgbClr val="FFFFFF"/>
                          </a:solidFill>
                          <a:latin typeface="Helvetica Neue"/>
                        </a:rPr>
                        <a:t>Metric</a:t>
                      </a:r>
                    </a:p>
                  </a:txBody>
                  <a:tcPr marL="73152" marR="73152" marT="27432" marB="27432" anchor="ctr">
                    <a:solidFill>
                      <a:srgbClr val="0B0B0B"/>
                    </a:solidFill>
                  </a:tcPr>
                </a:tc>
                <a:tc>
                  <a:txBody>
                    <a:bodyPr/>
                    <a:lstStyle/>
                    <a:p>
                      <a:pPr algn="ctr"/>
                      <a:r>
                        <a:rPr sz="1150" b="1">
                          <a:solidFill>
                            <a:srgbClr val="FFFFFF"/>
                          </a:solidFill>
                          <a:latin typeface="Helvetica Neue"/>
                        </a:rPr>
                        <a:t>What it means</a:t>
                      </a:r>
                    </a:p>
                  </a:txBody>
                  <a:tcPr marL="73152" marR="73152" marT="27432" marB="27432" anchor="ctr">
                    <a:solidFill>
                      <a:srgbClr val="0B0B0B"/>
                    </a:solidFill>
                  </a:tcPr>
                </a:tc>
                <a:tc>
                  <a:txBody>
                    <a:bodyPr/>
                    <a:lstStyle/>
                    <a:p>
                      <a:pPr algn="ctr"/>
                      <a:r>
                        <a:rPr sz="1150" b="1">
                          <a:solidFill>
                            <a:srgbClr val="FFFFFF"/>
                          </a:solidFill>
                          <a:latin typeface="Helvetica Neue"/>
                        </a:rPr>
                        <a:t>Good</a:t>
                      </a:r>
                    </a:p>
                  </a:txBody>
                  <a:tcPr marL="73152" marR="73152" marT="27432" marB="27432" anchor="ctr">
                    <a:solidFill>
                      <a:srgbClr val="0B0B0B"/>
                    </a:solidFill>
                  </a:tcPr>
                </a:tc>
              </a:tr>
              <a:tr h="365760">
                <a:tc>
                  <a:txBody>
                    <a:bodyPr/>
                    <a:lstStyle/>
                    <a:p>
                      <a:pPr algn="l"/>
                      <a:r>
                        <a:rPr sz="1150" b="0">
                          <a:solidFill>
                            <a:srgbClr val="0B0B0B"/>
                          </a:solidFill>
                          <a:latin typeface="Helvetica Neue"/>
                        </a:rPr>
                        <a:t>Overall accuracy</a:t>
                      </a:r>
                    </a:p>
                  </a:txBody>
                  <a:tcPr marL="73152" marR="73152" marT="27432" marB="27432" anchor="ctr">
                    <a:solidFill>
                      <a:srgbClr val="FCFCFB"/>
                    </a:solidFill>
                  </a:tcPr>
                </a:tc>
                <a:tc>
                  <a:txBody>
                    <a:bodyPr/>
                    <a:lstStyle/>
                    <a:p>
                      <a:pPr algn="ctr"/>
                      <a:r>
                        <a:rPr sz="1150" b="0">
                          <a:solidFill>
                            <a:srgbClr val="0B0B0B"/>
                          </a:solidFill>
                          <a:latin typeface="Helvetica Neue"/>
                        </a:rPr>
                        <a:t>correct ÷ questions actually answered</a:t>
                      </a:r>
                    </a:p>
                  </a:txBody>
                  <a:tcPr marL="73152" marR="73152" marT="27432" marB="27432" anchor="ctr">
                    <a:solidFill>
                      <a:srgbClr val="FCFCFB"/>
                    </a:solidFill>
                  </a:tcPr>
                </a:tc>
                <a:tc>
                  <a:txBody>
                    <a:bodyPr/>
                    <a:lstStyle/>
                    <a:p>
                      <a:pPr algn="ctr"/>
                      <a:r>
                        <a:rPr sz="1150" b="0">
                          <a:solidFill>
                            <a:srgbClr val="0B0B0B"/>
                          </a:solidFill>
                          <a:latin typeface="Helvetica Neue"/>
                        </a:rPr>
                        <a:t>higher</a:t>
                      </a:r>
                    </a:p>
                  </a:txBody>
                  <a:tcPr marL="73152" marR="73152" marT="27432" marB="27432" anchor="ctr">
                    <a:solidFill>
                      <a:srgbClr val="FCFCFB"/>
                    </a:solidFill>
                  </a:tcPr>
                </a:tc>
              </a:tr>
              <a:tr h="365760">
                <a:tc>
                  <a:txBody>
                    <a:bodyPr/>
                    <a:lstStyle/>
                    <a:p>
                      <a:pPr algn="l"/>
                      <a:r>
                        <a:rPr sz="1150" b="0">
                          <a:solidFill>
                            <a:srgbClr val="0B0B0B"/>
                          </a:solidFill>
                          <a:latin typeface="Helvetica Neue"/>
                        </a:rPr>
                        <a:t>Macro accuracy</a:t>
                      </a:r>
                    </a:p>
                  </a:txBody>
                  <a:tcPr marL="73152" marR="73152" marT="27432" marB="27432" anchor="ctr">
                    <a:solidFill>
                      <a:srgbClr val="FCFCFB"/>
                    </a:solidFill>
                  </a:tcPr>
                </a:tc>
                <a:tc>
                  <a:txBody>
                    <a:bodyPr/>
                    <a:lstStyle/>
                    <a:p>
                      <a:pPr algn="ctr"/>
                      <a:r>
                        <a:rPr sz="1150" b="0">
                          <a:solidFill>
                            <a:srgbClr val="0B0B0B"/>
                          </a:solidFill>
                          <a:latin typeface="Helvetica Neue"/>
                        </a:rPr>
                        <a:t>mean of per-subject accuracies, so a big subject cannot dominate</a:t>
                      </a:r>
                    </a:p>
                  </a:txBody>
                  <a:tcPr marL="73152" marR="73152" marT="27432" marB="27432" anchor="ctr">
                    <a:solidFill>
                      <a:srgbClr val="FCFCFB"/>
                    </a:solidFill>
                  </a:tcPr>
                </a:tc>
                <a:tc>
                  <a:txBody>
                    <a:bodyPr/>
                    <a:lstStyle/>
                    <a:p>
                      <a:pPr algn="ctr"/>
                      <a:r>
                        <a:rPr sz="1150" b="0">
                          <a:solidFill>
                            <a:srgbClr val="0B0B0B"/>
                          </a:solidFill>
                          <a:latin typeface="Helvetica Neue"/>
                        </a:rPr>
                        <a:t>higher</a:t>
                      </a:r>
                    </a:p>
                  </a:txBody>
                  <a:tcPr marL="73152" marR="73152" marT="27432" marB="27432" anchor="ctr">
                    <a:solidFill>
                      <a:srgbClr val="FCFCFB"/>
                    </a:solidFill>
                  </a:tcPr>
                </a:tc>
              </a:tr>
              <a:tr h="365760">
                <a:tc>
                  <a:txBody>
                    <a:bodyPr/>
                    <a:lstStyle/>
                    <a:p>
                      <a:pPr algn="l"/>
                      <a:r>
                        <a:rPr sz="1150" b="0">
                          <a:solidFill>
                            <a:srgbClr val="0B0B0B"/>
                          </a:solidFill>
                          <a:latin typeface="Helvetica Neue"/>
                        </a:rPr>
                        <a:t>Normalised accuracy</a:t>
                      </a:r>
                    </a:p>
                  </a:txBody>
                  <a:tcPr marL="73152" marR="73152" marT="27432" marB="27432" anchor="ctr">
                    <a:solidFill>
                      <a:srgbClr val="FCFCFB"/>
                    </a:solidFill>
                  </a:tcPr>
                </a:tc>
                <a:tc>
                  <a:txBody>
                    <a:bodyPr/>
                    <a:lstStyle/>
                    <a:p>
                      <a:pPr algn="ctr"/>
                      <a:r>
                        <a:rPr sz="1150" b="0">
                          <a:solidFill>
                            <a:srgbClr val="0B0B0B"/>
                          </a:solidFill>
                          <a:latin typeface="Helvetica Neue"/>
                        </a:rPr>
                        <a:t>(acc − 25%) ÷ 75% — distance above coin-flipping</a:t>
                      </a:r>
                    </a:p>
                  </a:txBody>
                  <a:tcPr marL="73152" marR="73152" marT="27432" marB="27432" anchor="ctr">
                    <a:solidFill>
                      <a:srgbClr val="FCFCFB"/>
                    </a:solidFill>
                  </a:tcPr>
                </a:tc>
                <a:tc>
                  <a:txBody>
                    <a:bodyPr/>
                    <a:lstStyle/>
                    <a:p>
                      <a:pPr algn="ctr"/>
                      <a:r>
                        <a:rPr sz="1150" b="0">
                          <a:solidFill>
                            <a:srgbClr val="0B0B0B"/>
                          </a:solidFill>
                          <a:latin typeface="Helvetica Neue"/>
                        </a:rPr>
                        <a:t>higher</a:t>
                      </a:r>
                    </a:p>
                  </a:txBody>
                  <a:tcPr marL="73152" marR="73152" marT="27432" marB="27432" anchor="ctr">
                    <a:solidFill>
                      <a:srgbClr val="FCFCFB"/>
                    </a:solidFill>
                  </a:tcPr>
                </a:tc>
              </a:tr>
              <a:tr h="365760">
                <a:tc>
                  <a:txBody>
                    <a:bodyPr/>
                    <a:lstStyle/>
                    <a:p>
                      <a:pPr algn="l"/>
                      <a:r>
                        <a:rPr sz="1150" b="0">
                          <a:solidFill>
                            <a:srgbClr val="0B0B0B"/>
                          </a:solidFill>
                          <a:latin typeface="Helvetica Neue"/>
                        </a:rPr>
                        <a:t>Wilson 95% CI</a:t>
                      </a:r>
                    </a:p>
                  </a:txBody>
                  <a:tcPr marL="73152" marR="73152" marT="27432" marB="27432" anchor="ctr">
                    <a:solidFill>
                      <a:srgbClr val="FCFCFB"/>
                    </a:solidFill>
                  </a:tcPr>
                </a:tc>
                <a:tc>
                  <a:txBody>
                    <a:bodyPr/>
                    <a:lstStyle/>
                    <a:p>
                      <a:pPr algn="ctr"/>
                      <a:r>
                        <a:rPr sz="1150" b="0">
                          <a:solidFill>
                            <a:srgbClr val="0B0B0B"/>
                          </a:solidFill>
                          <a:latin typeface="Helvetica Neue"/>
                        </a:rPr>
                        <a:t>binomial interval that stays inside [0,1] at small n</a:t>
                      </a:r>
                    </a:p>
                  </a:txBody>
                  <a:tcPr marL="73152" marR="73152" marT="27432" marB="27432" anchor="ctr">
                    <a:solidFill>
                      <a:srgbClr val="FCFCFB"/>
                    </a:solidFill>
                  </a:tcPr>
                </a:tc>
                <a:tc>
                  <a:txBody>
                    <a:bodyPr/>
                    <a:lstStyle/>
                    <a:p>
                      <a:pPr algn="ctr"/>
                      <a:r>
                        <a:rPr sz="1150" b="0">
                          <a:solidFill>
                            <a:srgbClr val="0B0B0B"/>
                          </a:solidFill>
                          <a:latin typeface="Helvetica Neue"/>
                        </a:rPr>
                        <a:t>narrower</a:t>
                      </a:r>
                    </a:p>
                  </a:txBody>
                  <a:tcPr marL="73152" marR="73152" marT="27432" marB="27432" anchor="ctr">
                    <a:solidFill>
                      <a:srgbClr val="FCFCFB"/>
                    </a:solidFill>
                  </a:tcPr>
                </a:tc>
              </a:tr>
              <a:tr h="365760">
                <a:tc>
                  <a:txBody>
                    <a:bodyPr/>
                    <a:lstStyle/>
                    <a:p>
                      <a:pPr algn="l"/>
                      <a:r>
                        <a:rPr sz="1150" b="0">
                          <a:solidFill>
                            <a:srgbClr val="0B0B0B"/>
                          </a:solidFill>
                          <a:latin typeface="Helvetica Neue"/>
                        </a:rPr>
                        <a:t>Parse-failure rate</a:t>
                      </a:r>
                    </a:p>
                  </a:txBody>
                  <a:tcPr marL="73152" marR="73152" marT="27432" marB="27432" anchor="ctr">
                    <a:solidFill>
                      <a:srgbClr val="FCFCFB"/>
                    </a:solidFill>
                  </a:tcPr>
                </a:tc>
                <a:tc>
                  <a:txBody>
                    <a:bodyPr/>
                    <a:lstStyle/>
                    <a:p>
                      <a:pPr algn="ctr"/>
                      <a:r>
                        <a:rPr sz="1150" b="0">
                          <a:solidFill>
                            <a:srgbClr val="0B0B0B"/>
                          </a:solidFill>
                          <a:latin typeface="Helvetica Neue"/>
                        </a:rPr>
                        <a:t>no extractable answer — disobedience, not ignorance</a:t>
                      </a:r>
                    </a:p>
                  </a:txBody>
                  <a:tcPr marL="73152" marR="73152" marT="27432" marB="27432" anchor="ctr">
                    <a:solidFill>
                      <a:srgbClr val="FCFCFB"/>
                    </a:solidFill>
                  </a:tcPr>
                </a:tc>
                <a:tc>
                  <a:txBody>
                    <a:bodyPr/>
                    <a:lstStyle/>
                    <a:p>
                      <a:pPr algn="ctr"/>
                      <a:r>
                        <a:rPr sz="1150" b="0">
                          <a:solidFill>
                            <a:srgbClr val="0B0B0B"/>
                          </a:solidFill>
                          <a:latin typeface="Helvetica Neue"/>
                        </a:rPr>
                        <a:t>lower</a:t>
                      </a:r>
                    </a:p>
                  </a:txBody>
                  <a:tcPr marL="73152" marR="73152" marT="27432" marB="27432" anchor="ctr">
                    <a:solidFill>
                      <a:srgbClr val="FCFCFB"/>
                    </a:solidFill>
                  </a:tcPr>
                </a:tc>
              </a:tr>
              <a:tr h="365760">
                <a:tc>
                  <a:txBody>
                    <a:bodyPr/>
                    <a:lstStyle/>
                    <a:p>
                      <a:pPr algn="l"/>
                      <a:r>
                        <a:rPr sz="1150" b="0">
                          <a:solidFill>
                            <a:srgbClr val="0B0B0B"/>
                          </a:solidFill>
                          <a:latin typeface="Helvetica Neue"/>
                        </a:rPr>
                        <a:t>ECE / MCE</a:t>
                      </a:r>
                    </a:p>
                  </a:txBody>
                  <a:tcPr marL="73152" marR="73152" marT="27432" marB="27432" anchor="ctr">
                    <a:solidFill>
                      <a:srgbClr val="FCFCFB"/>
                    </a:solidFill>
                  </a:tcPr>
                </a:tc>
                <a:tc>
                  <a:txBody>
                    <a:bodyPr/>
                    <a:lstStyle/>
                    <a:p>
                      <a:pPr algn="ctr"/>
                      <a:r>
                        <a:rPr sz="1150" b="0">
                          <a:solidFill>
                            <a:srgbClr val="0B0B0B"/>
                          </a:solidFill>
                          <a:latin typeface="Helvetica Neue"/>
                        </a:rPr>
                        <a:t>does stated confidence match observed accuracy; and the worst bin</a:t>
                      </a:r>
                    </a:p>
                  </a:txBody>
                  <a:tcPr marL="73152" marR="73152" marT="27432" marB="27432" anchor="ctr">
                    <a:solidFill>
                      <a:srgbClr val="FCFCFB"/>
                    </a:solidFill>
                  </a:tcPr>
                </a:tc>
                <a:tc>
                  <a:txBody>
                    <a:bodyPr/>
                    <a:lstStyle/>
                    <a:p>
                      <a:pPr algn="ctr"/>
                      <a:r>
                        <a:rPr sz="1150" b="0">
                          <a:solidFill>
                            <a:srgbClr val="0B0B0B"/>
                          </a:solidFill>
                          <a:latin typeface="Helvetica Neue"/>
                        </a:rPr>
                        <a:t>lower</a:t>
                      </a:r>
                    </a:p>
                  </a:txBody>
                  <a:tcPr marL="73152" marR="73152" marT="27432" marB="27432" anchor="ctr">
                    <a:solidFill>
                      <a:srgbClr val="FCFCFB"/>
                    </a:solidFill>
                  </a:tcPr>
                </a:tc>
              </a:tr>
              <a:tr h="365760">
                <a:tc>
                  <a:txBody>
                    <a:bodyPr/>
                    <a:lstStyle/>
                    <a:p>
                      <a:pPr algn="l"/>
                      <a:r>
                        <a:rPr sz="1150" b="0">
                          <a:solidFill>
                            <a:srgbClr val="0B0B0B"/>
                          </a:solidFill>
                          <a:latin typeface="Helvetica Neue"/>
                        </a:rPr>
                        <a:t>Brier score</a:t>
                      </a:r>
                    </a:p>
                  </a:txBody>
                  <a:tcPr marL="73152" marR="73152" marT="27432" marB="27432" anchor="ctr">
                    <a:solidFill>
                      <a:srgbClr val="FCFCFB"/>
                    </a:solidFill>
                  </a:tcPr>
                </a:tc>
                <a:tc>
                  <a:txBody>
                    <a:bodyPr/>
                    <a:lstStyle/>
                    <a:p>
                      <a:pPr algn="ctr"/>
                      <a:r>
                        <a:rPr sz="1150" b="0">
                          <a:solidFill>
                            <a:srgbClr val="0B0B0B"/>
                          </a:solidFill>
                          <a:latin typeface="Helvetica Neue"/>
                        </a:rPr>
                        <a:t>proper scoring rule — cannot be gamed by hedging at 50%</a:t>
                      </a:r>
                    </a:p>
                  </a:txBody>
                  <a:tcPr marL="73152" marR="73152" marT="27432" marB="27432" anchor="ctr">
                    <a:solidFill>
                      <a:srgbClr val="FCFCFB"/>
                    </a:solidFill>
                  </a:tcPr>
                </a:tc>
                <a:tc>
                  <a:txBody>
                    <a:bodyPr/>
                    <a:lstStyle/>
                    <a:p>
                      <a:pPr algn="ctr"/>
                      <a:r>
                        <a:rPr sz="1150" b="0">
                          <a:solidFill>
                            <a:srgbClr val="0B0B0B"/>
                          </a:solidFill>
                          <a:latin typeface="Helvetica Neue"/>
                        </a:rPr>
                        <a:t>lower</a:t>
                      </a:r>
                    </a:p>
                  </a:txBody>
                  <a:tcPr marL="73152" marR="73152" marT="27432" marB="27432" anchor="ctr">
                    <a:solidFill>
                      <a:srgbClr val="FCFCFB"/>
                    </a:solidFill>
                  </a:tcPr>
                </a:tc>
              </a:tr>
              <a:tr h="365760">
                <a:tc>
                  <a:txBody>
                    <a:bodyPr/>
                    <a:lstStyle/>
                    <a:p>
                      <a:pPr algn="l"/>
                      <a:r>
                        <a:rPr sz="1150" b="0">
                          <a:solidFill>
                            <a:srgbClr val="0B0B0B"/>
                          </a:solidFill>
                          <a:latin typeface="Helvetica Neue"/>
                        </a:rPr>
                        <a:t>NLL / perplexity</a:t>
                      </a:r>
                    </a:p>
                  </a:txBody>
                  <a:tcPr marL="73152" marR="73152" marT="27432" marB="27432" anchor="ctr">
                    <a:solidFill>
                      <a:srgbClr val="FCFCFB"/>
                    </a:solidFill>
                  </a:tcPr>
                </a:tc>
                <a:tc>
                  <a:txBody>
                    <a:bodyPr/>
                    <a:lstStyle/>
                    <a:p>
                      <a:pPr algn="ctr"/>
                      <a:r>
                        <a:rPr sz="1150" b="0">
                          <a:solidFill>
                            <a:srgbClr val="0B0B0B"/>
                          </a:solidFill>
                          <a:latin typeface="Helvetica Neue"/>
                        </a:rPr>
                        <a:t>how surprised the model was by the truth</a:t>
                      </a:r>
                    </a:p>
                  </a:txBody>
                  <a:tcPr marL="73152" marR="73152" marT="27432" marB="27432" anchor="ctr">
                    <a:solidFill>
                      <a:srgbClr val="FCFCFB"/>
                    </a:solidFill>
                  </a:tcPr>
                </a:tc>
                <a:tc>
                  <a:txBody>
                    <a:bodyPr/>
                    <a:lstStyle/>
                    <a:p>
                      <a:pPr algn="ctr"/>
                      <a:r>
                        <a:rPr sz="1150" b="0">
                          <a:solidFill>
                            <a:srgbClr val="0B0B0B"/>
                          </a:solidFill>
                          <a:latin typeface="Helvetica Neue"/>
                        </a:rPr>
                        <a:t>lower</a:t>
                      </a:r>
                    </a:p>
                  </a:txBody>
                  <a:tcPr marL="73152" marR="73152" marT="27432" marB="27432" anchor="ctr">
                    <a:solidFill>
                      <a:srgbClr val="FCFCFB"/>
                    </a:solidFill>
                  </a:tcPr>
                </a:tc>
              </a:tr>
            </a:tbl>
          </a:graphicData>
        </a:graphic>
      </p:graphicFrame>
      <p:sp>
        <p:nvSpPr>
          <p:cNvPr id="9" name="TextBox 8"/>
          <p:cNvSpPr txBox="1"/>
          <p:nvPr/>
        </p:nvSpPr>
        <p:spPr>
          <a:xfrm>
            <a:off x="548640" y="5166360"/>
            <a:ext cx="11064240" cy="548640"/>
          </a:xfrm>
          <a:prstGeom prst="rect">
            <a:avLst/>
          </a:prstGeom>
          <a:noFill/>
        </p:spPr>
        <p:txBody>
          <a:bodyPr wrap="square">
            <a:spAutoFit/>
          </a:bodyPr>
          <a:lstStyle/>
          <a:p>
            <a:pPr algn="l">
              <a:lnSpc>
                <a:spcPct val="115000"/>
              </a:lnSpc>
            </a:pPr>
            <a:r>
              <a:rPr sz="1250" b="0" i="0">
                <a:solidFill>
                  <a:srgbClr val="2A78D6"/>
                </a:solidFill>
                <a:latin typeface="Helvetica Neue"/>
              </a:rPr>
              <a:t>Accuracy is scored over questions the API answered. A request refused with a 429 says nothing about what the model knows; counting it wrong measures provider load.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510528"/>
            <a:ext cx="5486400" cy="274320"/>
          </a:xfrm>
          <a:prstGeom prst="rect">
            <a:avLst/>
          </a:prstGeom>
          <a:noFill/>
        </p:spPr>
        <p:txBody>
          <a:bodyPr wrap="square">
            <a:spAutoFit/>
          </a:bodyPr>
          <a:lstStyle/>
          <a:p>
            <a:pPr algn="l">
              <a:lnSpc>
                <a:spcPct val="115000"/>
              </a:lnSpc>
            </a:pPr>
            <a:r>
              <a:rPr sz="900" b="0" i="0">
                <a:solidFill>
                  <a:srgbClr val="898781"/>
                </a:solidFill>
                <a:latin typeface="Helvetica Neue"/>
              </a:rPr>
              <a:t>LAMBADA &amp; MMLU Benchmark Evaluation — Extended</a:t>
            </a:r>
          </a:p>
        </p:txBody>
      </p:sp>
      <p:sp>
        <p:nvSpPr>
          <p:cNvPr id="4" name="TextBox 3"/>
          <p:cNvSpPr txBox="1"/>
          <p:nvPr/>
        </p:nvSpPr>
        <p:spPr>
          <a:xfrm>
            <a:off x="11338560" y="6510528"/>
            <a:ext cx="457200" cy="274320"/>
          </a:xfrm>
          <a:prstGeom prst="rect">
            <a:avLst/>
          </a:prstGeom>
          <a:noFill/>
        </p:spPr>
        <p:txBody>
          <a:bodyPr wrap="square">
            <a:spAutoFit/>
          </a:bodyPr>
          <a:lstStyle/>
          <a:p>
            <a:pPr algn="r">
              <a:lnSpc>
                <a:spcPct val="115000"/>
              </a:lnSpc>
            </a:pPr>
            <a:r>
              <a:rPr sz="900" b="0" i="0">
                <a:solidFill>
                  <a:srgbClr val="898781"/>
                </a:solidFill>
                <a:latin typeface="Helvetica Neue"/>
              </a:rPr>
              <a:t>13</a:t>
            </a:r>
          </a:p>
        </p:txBody>
      </p:sp>
      <p:sp>
        <p:nvSpPr>
          <p:cNvPr id="5" name="TextBox 4"/>
          <p:cNvSpPr txBox="1"/>
          <p:nvPr/>
        </p:nvSpPr>
        <p:spPr>
          <a:xfrm>
            <a:off x="548640" y="320040"/>
            <a:ext cx="10058400" cy="320040"/>
          </a:xfrm>
          <a:prstGeom prst="rect">
            <a:avLst/>
          </a:prstGeom>
          <a:noFill/>
        </p:spPr>
        <p:txBody>
          <a:bodyPr wrap="square">
            <a:spAutoFit/>
          </a:bodyPr>
          <a:lstStyle/>
          <a:p>
            <a:pPr algn="l">
              <a:lnSpc>
                <a:spcPct val="115000"/>
              </a:lnSpc>
            </a:pPr>
            <a:r>
              <a:rPr sz="1250" b="1" i="0">
                <a:solidFill>
                  <a:srgbClr val="2A78D6"/>
                </a:solidFill>
                <a:latin typeface="Helvetica Neue"/>
              </a:rPr>
              <a:t>COMMENTS AND DISCUSSION BEFORE RESULTS</a:t>
            </a:r>
          </a:p>
        </p:txBody>
      </p:sp>
      <p:sp>
        <p:nvSpPr>
          <p:cNvPr id="6" name="TextBox 5"/>
          <p:cNvSpPr txBox="1"/>
          <p:nvPr/>
        </p:nvSpPr>
        <p:spPr>
          <a:xfrm>
            <a:off x="548640" y="914400"/>
            <a:ext cx="11064240" cy="640080"/>
          </a:xfrm>
          <a:prstGeom prst="rect">
            <a:avLst/>
          </a:prstGeom>
          <a:noFill/>
        </p:spPr>
        <p:txBody>
          <a:bodyPr wrap="square">
            <a:spAutoFit/>
          </a:bodyPr>
          <a:lstStyle/>
          <a:p>
            <a:pPr algn="l">
              <a:lnSpc>
                <a:spcPct val="115000"/>
              </a:lnSpc>
            </a:pPr>
            <a:r>
              <a:rPr sz="2600" b="1" i="0">
                <a:solidFill>
                  <a:srgbClr val="0B0B0B"/>
                </a:solidFill>
                <a:latin typeface="Helvetica Neue"/>
              </a:rPr>
              <a:t>Stages 3–5 · Consistency, context, robustness</a:t>
            </a:r>
          </a:p>
        </p:txBody>
      </p:sp>
      <p:cxnSp>
        <p:nvCxnSpPr>
          <p:cNvPr id="7" name="Connector 6"/>
          <p:cNvCxnSpPr/>
          <p:nvPr/>
        </p:nvCxnSpPr>
        <p:spPr>
          <a:xfrm>
            <a:off x="548640" y="1508760"/>
            <a:ext cx="11091672"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548640" y="1737360"/>
          <a:ext cx="11064238" cy="3072384"/>
        </p:xfrm>
        <a:graphic>
          <a:graphicData uri="http://schemas.openxmlformats.org/drawingml/2006/table">
            <a:tbl>
              <a:tblPr firstRow="1" bandRow="1">
                <a:tableStyleId>{5C22544A-7EE6-4342-B048-85BDC9FD1C3A}</a:tableStyleId>
              </a:tblPr>
              <a:tblGrid>
                <a:gridCol w="2434132"/>
                <a:gridCol w="6859828"/>
                <a:gridCol w="1770278"/>
              </a:tblGrid>
              <a:tr h="384048">
                <a:tc>
                  <a:txBody>
                    <a:bodyPr/>
                    <a:lstStyle/>
                    <a:p>
                      <a:pPr algn="l"/>
                      <a:r>
                        <a:rPr sz="1150" b="1">
                          <a:solidFill>
                            <a:srgbClr val="FFFFFF"/>
                          </a:solidFill>
                          <a:latin typeface="Helvetica Neue"/>
                        </a:rPr>
                        <a:t>Metric</a:t>
                      </a:r>
                    </a:p>
                  </a:txBody>
                  <a:tcPr marL="73152" marR="73152" marT="27432" marB="27432" anchor="ctr">
                    <a:solidFill>
                      <a:srgbClr val="0B0B0B"/>
                    </a:solidFill>
                  </a:tcPr>
                </a:tc>
                <a:tc>
                  <a:txBody>
                    <a:bodyPr/>
                    <a:lstStyle/>
                    <a:p>
                      <a:pPr algn="ctr"/>
                      <a:r>
                        <a:rPr sz="1150" b="1">
                          <a:solidFill>
                            <a:srgbClr val="FFFFFF"/>
                          </a:solidFill>
                          <a:latin typeface="Helvetica Neue"/>
                        </a:rPr>
                        <a:t>What it means</a:t>
                      </a:r>
                    </a:p>
                  </a:txBody>
                  <a:tcPr marL="73152" marR="73152" marT="27432" marB="27432" anchor="ctr">
                    <a:solidFill>
                      <a:srgbClr val="0B0B0B"/>
                    </a:solidFill>
                  </a:tcPr>
                </a:tc>
                <a:tc>
                  <a:txBody>
                    <a:bodyPr/>
                    <a:lstStyle/>
                    <a:p>
                      <a:pPr algn="ctr"/>
                      <a:r>
                        <a:rPr sz="1150" b="1">
                          <a:solidFill>
                            <a:srgbClr val="FFFFFF"/>
                          </a:solidFill>
                          <a:latin typeface="Helvetica Neue"/>
                        </a:rPr>
                        <a:t>Good</a:t>
                      </a:r>
                    </a:p>
                  </a:txBody>
                  <a:tcPr marL="73152" marR="73152" marT="27432" marB="27432" anchor="ctr">
                    <a:solidFill>
                      <a:srgbClr val="0B0B0B"/>
                    </a:solidFill>
                  </a:tcPr>
                </a:tc>
              </a:tr>
              <a:tr h="384048">
                <a:tc>
                  <a:txBody>
                    <a:bodyPr/>
                    <a:lstStyle/>
                    <a:p>
                      <a:pPr algn="l"/>
                      <a:r>
                        <a:rPr sz="1150" b="0">
                          <a:solidFill>
                            <a:srgbClr val="0B0B0B"/>
                          </a:solidFill>
                          <a:latin typeface="Helvetica Neue"/>
                        </a:rPr>
                        <a:t>Answer stability</a:t>
                      </a:r>
                    </a:p>
                  </a:txBody>
                  <a:tcPr marL="73152" marR="73152" marT="27432" marB="27432" anchor="ctr">
                    <a:solidFill>
                      <a:srgbClr val="FCFCFB"/>
                    </a:solidFill>
                  </a:tcPr>
                </a:tc>
                <a:tc>
                  <a:txBody>
                    <a:bodyPr/>
                    <a:lstStyle/>
                    <a:p>
                      <a:pPr algn="ctr"/>
                      <a:r>
                        <a:rPr sz="1150" b="0">
                          <a:solidFill>
                            <a:srgbClr val="0B0B0B"/>
                          </a:solidFill>
                          <a:latin typeface="Helvetica Neue"/>
                        </a:rPr>
                        <a:t>share of items where every repeat gave the same answer</a:t>
                      </a:r>
                    </a:p>
                  </a:txBody>
                  <a:tcPr marL="73152" marR="73152" marT="27432" marB="27432" anchor="ctr">
                    <a:solidFill>
                      <a:srgbClr val="FCFCFB"/>
                    </a:solidFill>
                  </a:tcPr>
                </a:tc>
                <a:tc>
                  <a:txBody>
                    <a:bodyPr/>
                    <a:lstStyle/>
                    <a:p>
                      <a:pPr algn="ctr"/>
                      <a:r>
                        <a:rPr sz="1150" b="0">
                          <a:solidFill>
                            <a:srgbClr val="0B0B0B"/>
                          </a:solidFill>
                          <a:latin typeface="Helvetica Neue"/>
                        </a:rPr>
                        <a:t>higher</a:t>
                      </a:r>
                    </a:p>
                  </a:txBody>
                  <a:tcPr marL="73152" marR="73152" marT="27432" marB="27432" anchor="ctr">
                    <a:solidFill>
                      <a:srgbClr val="FCFCFB"/>
                    </a:solidFill>
                  </a:tcPr>
                </a:tc>
              </a:tr>
              <a:tr h="384048">
                <a:tc>
                  <a:txBody>
                    <a:bodyPr/>
                    <a:lstStyle/>
                    <a:p>
                      <a:pPr algn="l"/>
                      <a:r>
                        <a:rPr sz="1150" b="0">
                          <a:solidFill>
                            <a:srgbClr val="0B0B0B"/>
                          </a:solidFill>
                          <a:latin typeface="Helvetica Neue"/>
                        </a:rPr>
                        <a:t>Self-consistency gain</a:t>
                      </a:r>
                    </a:p>
                  </a:txBody>
                  <a:tcPr marL="73152" marR="73152" marT="27432" marB="27432" anchor="ctr">
                    <a:solidFill>
                      <a:srgbClr val="FCFCFB"/>
                    </a:solidFill>
                  </a:tcPr>
                </a:tc>
                <a:tc>
                  <a:txBody>
                    <a:bodyPr/>
                    <a:lstStyle/>
                    <a:p>
                      <a:pPr algn="ctr"/>
                      <a:r>
                        <a:rPr sz="1150" b="0">
                          <a:solidFill>
                            <a:srgbClr val="0B0B0B"/>
                          </a:solidFill>
                          <a:latin typeface="Helvetica Neue"/>
                        </a:rPr>
                        <a:t>majority-vote accuracy minus single-sample accuracy</a:t>
                      </a:r>
                    </a:p>
                  </a:txBody>
                  <a:tcPr marL="73152" marR="73152" marT="27432" marB="27432" anchor="ctr">
                    <a:solidFill>
                      <a:srgbClr val="FCFCFB"/>
                    </a:solidFill>
                  </a:tcPr>
                </a:tc>
                <a:tc>
                  <a:txBody>
                    <a:bodyPr/>
                    <a:lstStyle/>
                    <a:p>
                      <a:pPr algn="ctr"/>
                      <a:r>
                        <a:rPr sz="1150" b="0">
                          <a:solidFill>
                            <a:srgbClr val="0B0B0B"/>
                          </a:solidFill>
                          <a:latin typeface="Helvetica Neue"/>
                        </a:rPr>
                        <a:t>higher</a:t>
                      </a:r>
                    </a:p>
                  </a:txBody>
                  <a:tcPr marL="73152" marR="73152" marT="27432" marB="27432" anchor="ctr">
                    <a:solidFill>
                      <a:srgbClr val="FCFCFB"/>
                    </a:solidFill>
                  </a:tcPr>
                </a:tc>
              </a:tr>
              <a:tr h="384048">
                <a:tc>
                  <a:txBody>
                    <a:bodyPr/>
                    <a:lstStyle/>
                    <a:p>
                      <a:pPr algn="l"/>
                      <a:r>
                        <a:rPr sz="1150" b="0">
                          <a:solidFill>
                            <a:srgbClr val="0B0B0B"/>
                          </a:solidFill>
                          <a:latin typeface="Helvetica Neue"/>
                        </a:rPr>
                        <a:t>Context utilisation</a:t>
                      </a:r>
                    </a:p>
                  </a:txBody>
                  <a:tcPr marL="73152" marR="73152" marT="27432" marB="27432" anchor="ctr">
                    <a:solidFill>
                      <a:srgbClr val="FCFCFB"/>
                    </a:solidFill>
                  </a:tcPr>
                </a:tc>
                <a:tc>
                  <a:txBody>
                    <a:bodyPr/>
                    <a:lstStyle/>
                    <a:p>
                      <a:pPr algn="ctr"/>
                      <a:r>
                        <a:rPr sz="1150" b="0">
                          <a:solidFill>
                            <a:srgbClr val="0B0B0B"/>
                          </a:solidFill>
                          <a:latin typeface="Helvetica Neue"/>
                        </a:rPr>
                        <a:t>acc(full passage) − acc(last sentence only)</a:t>
                      </a:r>
                    </a:p>
                  </a:txBody>
                  <a:tcPr marL="73152" marR="73152" marT="27432" marB="27432" anchor="ctr">
                    <a:solidFill>
                      <a:srgbClr val="FCFCFB"/>
                    </a:solidFill>
                  </a:tcPr>
                </a:tc>
                <a:tc>
                  <a:txBody>
                    <a:bodyPr/>
                    <a:lstStyle/>
                    <a:p>
                      <a:pPr algn="ctr"/>
                      <a:r>
                        <a:rPr sz="1150" b="0">
                          <a:solidFill>
                            <a:srgbClr val="0B0B0B"/>
                          </a:solidFill>
                          <a:latin typeface="Helvetica Neue"/>
                        </a:rPr>
                        <a:t>higher</a:t>
                      </a:r>
                    </a:p>
                  </a:txBody>
                  <a:tcPr marL="73152" marR="73152" marT="27432" marB="27432" anchor="ctr">
                    <a:solidFill>
                      <a:srgbClr val="FCFCFB"/>
                    </a:solidFill>
                  </a:tcPr>
                </a:tc>
              </a:tr>
              <a:tr h="384048">
                <a:tc>
                  <a:txBody>
                    <a:bodyPr/>
                    <a:lstStyle/>
                    <a:p>
                      <a:pPr algn="l"/>
                      <a:r>
                        <a:rPr sz="1150" b="0">
                          <a:solidFill>
                            <a:srgbClr val="0B0B0B"/>
                          </a:solidFill>
                          <a:latin typeface="Helvetica Neue"/>
                        </a:rPr>
                        <a:t>Utilisation ratio</a:t>
                      </a:r>
                    </a:p>
                  </a:txBody>
                  <a:tcPr marL="73152" marR="73152" marT="27432" marB="27432" anchor="ctr">
                    <a:solidFill>
                      <a:srgbClr val="FCFCFB"/>
                    </a:solidFill>
                  </a:tcPr>
                </a:tc>
                <a:tc>
                  <a:txBody>
                    <a:bodyPr/>
                    <a:lstStyle/>
                    <a:p>
                      <a:pPr algn="ctr"/>
                      <a:r>
                        <a:rPr sz="1150" b="0">
                          <a:solidFill>
                            <a:srgbClr val="0B0B0B"/>
                          </a:solidFill>
                          <a:latin typeface="Helvetica Neue"/>
                        </a:rPr>
                        <a:t>share of skill that depends on the wider passage</a:t>
                      </a:r>
                    </a:p>
                  </a:txBody>
                  <a:tcPr marL="73152" marR="73152" marT="27432" marB="27432" anchor="ctr">
                    <a:solidFill>
                      <a:srgbClr val="FCFCFB"/>
                    </a:solidFill>
                  </a:tcPr>
                </a:tc>
                <a:tc>
                  <a:txBody>
                    <a:bodyPr/>
                    <a:lstStyle/>
                    <a:p>
                      <a:pPr algn="ctr"/>
                      <a:r>
                        <a:rPr sz="1150" b="0">
                          <a:solidFill>
                            <a:srgbClr val="0B0B0B"/>
                          </a:solidFill>
                          <a:latin typeface="Helvetica Neue"/>
                        </a:rPr>
                        <a:t>higher</a:t>
                      </a:r>
                    </a:p>
                  </a:txBody>
                  <a:tcPr marL="73152" marR="73152" marT="27432" marB="27432" anchor="ctr">
                    <a:solidFill>
                      <a:srgbClr val="FCFCFB"/>
                    </a:solidFill>
                  </a:tcPr>
                </a:tc>
              </a:tr>
              <a:tr h="384048">
                <a:tc>
                  <a:txBody>
                    <a:bodyPr/>
                    <a:lstStyle/>
                    <a:p>
                      <a:pPr algn="l"/>
                      <a:r>
                        <a:rPr sz="1150" b="0">
                          <a:solidFill>
                            <a:srgbClr val="0B0B0B"/>
                          </a:solidFill>
                          <a:latin typeface="Helvetica Neue"/>
                        </a:rPr>
                        <a:t>Accuracy drop</a:t>
                      </a:r>
                    </a:p>
                  </a:txBody>
                  <a:tcPr marL="73152" marR="73152" marT="27432" marB="27432" anchor="ctr">
                    <a:solidFill>
                      <a:srgbClr val="FCFCFB"/>
                    </a:solidFill>
                  </a:tcPr>
                </a:tc>
                <a:tc>
                  <a:txBody>
                    <a:bodyPr/>
                    <a:lstStyle/>
                    <a:p>
                      <a:pPr algn="ctr"/>
                      <a:r>
                        <a:rPr sz="1150" b="0">
                          <a:solidFill>
                            <a:srgbClr val="0B0B0B"/>
                          </a:solidFill>
                          <a:latin typeface="Helvetica Neue"/>
                        </a:rPr>
                        <a:t>baseline minus perturbed accuracy</a:t>
                      </a:r>
                    </a:p>
                  </a:txBody>
                  <a:tcPr marL="73152" marR="73152" marT="27432" marB="27432" anchor="ctr">
                    <a:solidFill>
                      <a:srgbClr val="FCFCFB"/>
                    </a:solidFill>
                  </a:tcPr>
                </a:tc>
                <a:tc>
                  <a:txBody>
                    <a:bodyPr/>
                    <a:lstStyle/>
                    <a:p>
                      <a:pPr algn="ctr"/>
                      <a:r>
                        <a:rPr sz="1150" b="0">
                          <a:solidFill>
                            <a:srgbClr val="0B0B0B"/>
                          </a:solidFill>
                          <a:latin typeface="Helvetica Neue"/>
                        </a:rPr>
                        <a:t>→ 0</a:t>
                      </a:r>
                    </a:p>
                  </a:txBody>
                  <a:tcPr marL="73152" marR="73152" marT="27432" marB="27432" anchor="ctr">
                    <a:solidFill>
                      <a:srgbClr val="FCFCFB"/>
                    </a:solidFill>
                  </a:tcPr>
                </a:tc>
              </a:tr>
              <a:tr h="384048">
                <a:tc>
                  <a:txBody>
                    <a:bodyPr/>
                    <a:lstStyle/>
                    <a:p>
                      <a:pPr algn="l"/>
                      <a:r>
                        <a:rPr sz="1150" b="0">
                          <a:solidFill>
                            <a:srgbClr val="0B0B0B"/>
                          </a:solidFill>
                          <a:latin typeface="Helvetica Neue"/>
                        </a:rPr>
                        <a:t>Flip rate</a:t>
                      </a:r>
                    </a:p>
                  </a:txBody>
                  <a:tcPr marL="73152" marR="73152" marT="27432" marB="27432" anchor="ctr">
                    <a:solidFill>
                      <a:srgbClr val="FCFCFB"/>
                    </a:solidFill>
                  </a:tcPr>
                </a:tc>
                <a:tc>
                  <a:txBody>
                    <a:bodyPr/>
                    <a:lstStyle/>
                    <a:p>
                      <a:pPr algn="ctr"/>
                      <a:r>
                        <a:rPr sz="1150" b="0">
                          <a:solidFill>
                            <a:srgbClr val="0B0B0B"/>
                          </a:solidFill>
                          <a:latin typeface="Helvetica Neue"/>
                        </a:rPr>
                        <a:t>answers that changed at all — catches offsetting errors</a:t>
                      </a:r>
                    </a:p>
                  </a:txBody>
                  <a:tcPr marL="73152" marR="73152" marT="27432" marB="27432" anchor="ctr">
                    <a:solidFill>
                      <a:srgbClr val="FCFCFB"/>
                    </a:solidFill>
                  </a:tcPr>
                </a:tc>
                <a:tc>
                  <a:txBody>
                    <a:bodyPr/>
                    <a:lstStyle/>
                    <a:p>
                      <a:pPr algn="ctr"/>
                      <a:r>
                        <a:rPr sz="1150" b="0">
                          <a:solidFill>
                            <a:srgbClr val="0B0B0B"/>
                          </a:solidFill>
                          <a:latin typeface="Helvetica Neue"/>
                        </a:rPr>
                        <a:t>lower</a:t>
                      </a:r>
                    </a:p>
                  </a:txBody>
                  <a:tcPr marL="73152" marR="73152" marT="27432" marB="27432" anchor="ctr">
                    <a:solidFill>
                      <a:srgbClr val="FCFCFB"/>
                    </a:solidFill>
                  </a:tcPr>
                </a:tc>
              </a:tr>
              <a:tr h="384048">
                <a:tc>
                  <a:txBody>
                    <a:bodyPr/>
                    <a:lstStyle/>
                    <a:p>
                      <a:pPr algn="l"/>
                      <a:r>
                        <a:rPr sz="1150" b="0">
                          <a:solidFill>
                            <a:srgbClr val="0B0B0B"/>
                          </a:solidFill>
                          <a:latin typeface="Helvetica Neue"/>
                        </a:rPr>
                        <a:t>Broke / fixed</a:t>
                      </a:r>
                    </a:p>
                  </a:txBody>
                  <a:tcPr marL="73152" marR="73152" marT="27432" marB="27432" anchor="ctr">
                    <a:solidFill>
                      <a:srgbClr val="FCFCFB"/>
                    </a:solidFill>
                  </a:tcPr>
                </a:tc>
                <a:tc>
                  <a:txBody>
                    <a:bodyPr/>
                    <a:lstStyle/>
                    <a:p>
                      <a:pPr algn="ctr"/>
                      <a:r>
                        <a:rPr sz="1150" b="0">
                          <a:solidFill>
                            <a:srgbClr val="0B0B0B"/>
                          </a:solidFill>
                          <a:latin typeface="Helvetica Neue"/>
                        </a:rPr>
                        <a:t>right→wrong and wrong→right, counted separately</a:t>
                      </a:r>
                    </a:p>
                  </a:txBody>
                  <a:tcPr marL="73152" marR="73152" marT="27432" marB="27432" anchor="ctr">
                    <a:solidFill>
                      <a:srgbClr val="FCFCFB"/>
                    </a:solidFill>
                  </a:tcPr>
                </a:tc>
                <a:tc>
                  <a:txBody>
                    <a:bodyPr/>
                    <a:lstStyle/>
                    <a:p>
                      <a:pPr algn="ctr"/>
                      <a:r>
                        <a:rPr sz="1150" b="0">
                          <a:solidFill>
                            <a:srgbClr val="0B0B0B"/>
                          </a:solidFill>
                          <a:latin typeface="Helvetica Neue"/>
                        </a:rPr>
                        <a:t>lower</a:t>
                      </a:r>
                    </a:p>
                  </a:txBody>
                  <a:tcPr marL="73152" marR="73152" marT="27432" marB="27432" anchor="ctr">
                    <a:solidFill>
                      <a:srgbClr val="FCFCFB"/>
                    </a:solidFill>
                  </a:tcPr>
                </a:tc>
              </a:tr>
            </a:tbl>
          </a:graphicData>
        </a:graphic>
      </p:graphicFrame>
      <p:sp>
        <p:nvSpPr>
          <p:cNvPr id="9" name="TextBox 8"/>
          <p:cNvSpPr txBox="1"/>
          <p:nvPr/>
        </p:nvSpPr>
        <p:spPr>
          <a:xfrm>
            <a:off x="548640" y="4709160"/>
            <a:ext cx="2743200" cy="274320"/>
          </a:xfrm>
          <a:prstGeom prst="rect">
            <a:avLst/>
          </a:prstGeom>
          <a:noFill/>
        </p:spPr>
        <p:txBody>
          <a:bodyPr wrap="square">
            <a:spAutoFit/>
          </a:bodyPr>
          <a:lstStyle/>
          <a:p>
            <a:pPr algn="l">
              <a:lnSpc>
                <a:spcPct val="115000"/>
              </a:lnSpc>
            </a:pPr>
            <a:r>
              <a:rPr sz="1100" b="1" i="0">
                <a:solidFill>
                  <a:srgbClr val="898781"/>
                </a:solidFill>
                <a:latin typeface="Helvetica Neue"/>
              </a:rPr>
              <a:t>TWO THINGS WORTH STATING ALOUD</a:t>
            </a:r>
          </a:p>
        </p:txBody>
      </p:sp>
      <p:sp>
        <p:nvSpPr>
          <p:cNvPr id="10" name="TextBox 9"/>
          <p:cNvSpPr txBox="1"/>
          <p:nvPr/>
        </p:nvSpPr>
        <p:spPr>
          <a:xfrm>
            <a:off x="548640" y="5010912"/>
            <a:ext cx="11064240" cy="1097280"/>
          </a:xfrm>
          <a:prstGeom prst="rect">
            <a:avLst/>
          </a:prstGeom>
          <a:noFill/>
        </p:spPr>
        <p:txBody>
          <a:bodyPr wrap="square">
            <a:spAutoFit/>
          </a:bodyPr>
          <a:lstStyle/>
          <a:p>
            <a:pPr algn="l">
              <a:lnSpc>
                <a:spcPct val="135000"/>
              </a:lnSpc>
              <a:spcAft>
                <a:spcPts val="700"/>
              </a:spcAft>
            </a:pPr>
            <a:r>
              <a:rPr sz="1300" b="0" i="0">
                <a:solidFill>
                  <a:srgbClr val="52514E"/>
                </a:solidFill>
                <a:latin typeface="Helvetica Neue"/>
              </a:rPr>
              <a:t>—  At temperature 0 any instability comes from the serving stack, not sampling — if seed spread rivals the gap between two models, that gap is noise.</a:t>
            </a:r>
          </a:p>
          <a:p>
            <a:pPr algn="l">
              <a:lnSpc>
                <a:spcPct val="135000"/>
              </a:lnSpc>
              <a:spcAft>
                <a:spcPts val="700"/>
              </a:spcAft>
            </a:pPr>
            <a:r>
              <a:rPr sz="1300" b="0" i="0">
                <a:solidFill>
                  <a:srgbClr val="52514E"/>
                </a:solidFill>
                <a:latin typeface="Helvetica Neue"/>
              </a:rPr>
              <a:t>—  Flat accuracy under perturbation is not robustness if equal numbers of answers broke and were accidentally fixed.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510528"/>
            <a:ext cx="5486400" cy="274320"/>
          </a:xfrm>
          <a:prstGeom prst="rect">
            <a:avLst/>
          </a:prstGeom>
          <a:noFill/>
        </p:spPr>
        <p:txBody>
          <a:bodyPr wrap="square">
            <a:spAutoFit/>
          </a:bodyPr>
          <a:lstStyle/>
          <a:p>
            <a:pPr algn="l">
              <a:lnSpc>
                <a:spcPct val="115000"/>
              </a:lnSpc>
            </a:pPr>
            <a:r>
              <a:rPr sz="900" b="0" i="0">
                <a:solidFill>
                  <a:srgbClr val="898781"/>
                </a:solidFill>
                <a:latin typeface="Helvetica Neue"/>
              </a:rPr>
              <a:t>LAMBADA &amp; MMLU Benchmark Evaluation — Extended</a:t>
            </a:r>
          </a:p>
        </p:txBody>
      </p:sp>
      <p:sp>
        <p:nvSpPr>
          <p:cNvPr id="4" name="TextBox 3"/>
          <p:cNvSpPr txBox="1"/>
          <p:nvPr/>
        </p:nvSpPr>
        <p:spPr>
          <a:xfrm>
            <a:off x="11338560" y="6510528"/>
            <a:ext cx="457200" cy="274320"/>
          </a:xfrm>
          <a:prstGeom prst="rect">
            <a:avLst/>
          </a:prstGeom>
          <a:noFill/>
        </p:spPr>
        <p:txBody>
          <a:bodyPr wrap="square">
            <a:spAutoFit/>
          </a:bodyPr>
          <a:lstStyle/>
          <a:p>
            <a:pPr algn="r">
              <a:lnSpc>
                <a:spcPct val="115000"/>
              </a:lnSpc>
            </a:pPr>
            <a:r>
              <a:rPr sz="900" b="0" i="0">
                <a:solidFill>
                  <a:srgbClr val="898781"/>
                </a:solidFill>
                <a:latin typeface="Helvetica Neue"/>
              </a:rPr>
              <a:t>14</a:t>
            </a:r>
          </a:p>
        </p:txBody>
      </p:sp>
      <p:sp>
        <p:nvSpPr>
          <p:cNvPr id="5" name="TextBox 4"/>
          <p:cNvSpPr txBox="1"/>
          <p:nvPr/>
        </p:nvSpPr>
        <p:spPr>
          <a:xfrm>
            <a:off x="548640" y="320040"/>
            <a:ext cx="10058400" cy="320040"/>
          </a:xfrm>
          <a:prstGeom prst="rect">
            <a:avLst/>
          </a:prstGeom>
          <a:noFill/>
        </p:spPr>
        <p:txBody>
          <a:bodyPr wrap="square">
            <a:spAutoFit/>
          </a:bodyPr>
          <a:lstStyle/>
          <a:p>
            <a:pPr algn="l">
              <a:lnSpc>
                <a:spcPct val="115000"/>
              </a:lnSpc>
            </a:pPr>
            <a:r>
              <a:rPr sz="1250" b="1" i="0">
                <a:solidFill>
                  <a:srgbClr val="2A78D6"/>
                </a:solidFill>
                <a:latin typeface="Helvetica Neue"/>
              </a:rPr>
              <a:t>COMMENTS AND DISCUSSION BEFORE RESULTS</a:t>
            </a:r>
          </a:p>
        </p:txBody>
      </p:sp>
      <p:sp>
        <p:nvSpPr>
          <p:cNvPr id="6" name="TextBox 5"/>
          <p:cNvSpPr txBox="1"/>
          <p:nvPr/>
        </p:nvSpPr>
        <p:spPr>
          <a:xfrm>
            <a:off x="548640" y="914400"/>
            <a:ext cx="11064240" cy="640080"/>
          </a:xfrm>
          <a:prstGeom prst="rect">
            <a:avLst/>
          </a:prstGeom>
          <a:noFill/>
        </p:spPr>
        <p:txBody>
          <a:bodyPr wrap="square">
            <a:spAutoFit/>
          </a:bodyPr>
          <a:lstStyle/>
          <a:p>
            <a:pPr algn="l">
              <a:lnSpc>
                <a:spcPct val="115000"/>
              </a:lnSpc>
            </a:pPr>
            <a:r>
              <a:rPr sz="2600" b="1" i="0">
                <a:solidFill>
                  <a:srgbClr val="0B0B0B"/>
                </a:solidFill>
                <a:latin typeface="Helvetica Neue"/>
              </a:rPr>
              <a:t>Stages 6–9 · Serving, cost and reliability</a:t>
            </a:r>
          </a:p>
        </p:txBody>
      </p:sp>
      <p:cxnSp>
        <p:nvCxnSpPr>
          <p:cNvPr id="7" name="Connector 6"/>
          <p:cNvCxnSpPr/>
          <p:nvPr/>
        </p:nvCxnSpPr>
        <p:spPr>
          <a:xfrm>
            <a:off x="548640" y="1508760"/>
            <a:ext cx="11091672"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548640" y="1737360"/>
          <a:ext cx="11064238" cy="3291840"/>
        </p:xfrm>
        <a:graphic>
          <a:graphicData uri="http://schemas.openxmlformats.org/drawingml/2006/table">
            <a:tbl>
              <a:tblPr firstRow="1" bandRow="1">
                <a:tableStyleId>{5C22544A-7EE6-4342-B048-85BDC9FD1C3A}</a:tableStyleId>
              </a:tblPr>
              <a:tblGrid>
                <a:gridCol w="2434132"/>
                <a:gridCol w="6859828"/>
                <a:gridCol w="1770278"/>
              </a:tblGrid>
              <a:tr h="365760">
                <a:tc>
                  <a:txBody>
                    <a:bodyPr/>
                    <a:lstStyle/>
                    <a:p>
                      <a:pPr algn="l"/>
                      <a:r>
                        <a:rPr sz="1150" b="1">
                          <a:solidFill>
                            <a:srgbClr val="FFFFFF"/>
                          </a:solidFill>
                          <a:latin typeface="Helvetica Neue"/>
                        </a:rPr>
                        <a:t>Metric</a:t>
                      </a:r>
                    </a:p>
                  </a:txBody>
                  <a:tcPr marL="73152" marR="73152" marT="27432" marB="27432" anchor="ctr">
                    <a:solidFill>
                      <a:srgbClr val="0B0B0B"/>
                    </a:solidFill>
                  </a:tcPr>
                </a:tc>
                <a:tc>
                  <a:txBody>
                    <a:bodyPr/>
                    <a:lstStyle/>
                    <a:p>
                      <a:pPr algn="ctr"/>
                      <a:r>
                        <a:rPr sz="1150" b="1">
                          <a:solidFill>
                            <a:srgbClr val="FFFFFF"/>
                          </a:solidFill>
                          <a:latin typeface="Helvetica Neue"/>
                        </a:rPr>
                        <a:t>What it means</a:t>
                      </a:r>
                    </a:p>
                  </a:txBody>
                  <a:tcPr marL="73152" marR="73152" marT="27432" marB="27432" anchor="ctr">
                    <a:solidFill>
                      <a:srgbClr val="0B0B0B"/>
                    </a:solidFill>
                  </a:tcPr>
                </a:tc>
                <a:tc>
                  <a:txBody>
                    <a:bodyPr/>
                    <a:lstStyle/>
                    <a:p>
                      <a:pPr algn="ctr"/>
                      <a:r>
                        <a:rPr sz="1150" b="1">
                          <a:solidFill>
                            <a:srgbClr val="FFFFFF"/>
                          </a:solidFill>
                          <a:latin typeface="Helvetica Neue"/>
                        </a:rPr>
                        <a:t>Good</a:t>
                      </a:r>
                    </a:p>
                  </a:txBody>
                  <a:tcPr marL="73152" marR="73152" marT="27432" marB="27432" anchor="ctr">
                    <a:solidFill>
                      <a:srgbClr val="0B0B0B"/>
                    </a:solidFill>
                  </a:tcPr>
                </a:tc>
              </a:tr>
              <a:tr h="365760">
                <a:tc>
                  <a:txBody>
                    <a:bodyPr/>
                    <a:lstStyle/>
                    <a:p>
                      <a:pPr algn="l"/>
                      <a:r>
                        <a:rPr sz="1150" b="0">
                          <a:solidFill>
                            <a:srgbClr val="0B0B0B"/>
                          </a:solidFill>
                          <a:latin typeface="Helvetica Neue"/>
                        </a:rPr>
                        <a:t>TTFT</a:t>
                      </a:r>
                    </a:p>
                  </a:txBody>
                  <a:tcPr marL="73152" marR="73152" marT="27432" marB="27432" anchor="ctr">
                    <a:solidFill>
                      <a:srgbClr val="FCFCFB"/>
                    </a:solidFill>
                  </a:tcPr>
                </a:tc>
                <a:tc>
                  <a:txBody>
                    <a:bodyPr/>
                    <a:lstStyle/>
                    <a:p>
                      <a:pPr algn="ctr"/>
                      <a:r>
                        <a:rPr sz="1150" b="0">
                          <a:solidFill>
                            <a:srgbClr val="0B0B0B"/>
                          </a:solidFill>
                          <a:latin typeface="Helvetica Neue"/>
                        </a:rPr>
                        <a:t>time to the first content token — what makes a chat feel responsive</a:t>
                      </a:r>
                    </a:p>
                  </a:txBody>
                  <a:tcPr marL="73152" marR="73152" marT="27432" marB="27432" anchor="ctr">
                    <a:solidFill>
                      <a:srgbClr val="FCFCFB"/>
                    </a:solidFill>
                  </a:tcPr>
                </a:tc>
                <a:tc>
                  <a:txBody>
                    <a:bodyPr/>
                    <a:lstStyle/>
                    <a:p>
                      <a:pPr algn="ctr"/>
                      <a:r>
                        <a:rPr sz="1150" b="0">
                          <a:solidFill>
                            <a:srgbClr val="0B0B0B"/>
                          </a:solidFill>
                          <a:latin typeface="Helvetica Neue"/>
                        </a:rPr>
                        <a:t>lower</a:t>
                      </a:r>
                    </a:p>
                  </a:txBody>
                  <a:tcPr marL="73152" marR="73152" marT="27432" marB="27432" anchor="ctr">
                    <a:solidFill>
                      <a:srgbClr val="FCFCFB"/>
                    </a:solidFill>
                  </a:tcPr>
                </a:tc>
              </a:tr>
              <a:tr h="365760">
                <a:tc>
                  <a:txBody>
                    <a:bodyPr/>
                    <a:lstStyle/>
                    <a:p>
                      <a:pPr algn="l"/>
                      <a:r>
                        <a:rPr sz="1150" b="0">
                          <a:solidFill>
                            <a:srgbClr val="0B0B0B"/>
                          </a:solidFill>
                          <a:latin typeface="Helvetica Neue"/>
                        </a:rPr>
                        <a:t>TPOT</a:t>
                      </a:r>
                    </a:p>
                  </a:txBody>
                  <a:tcPr marL="73152" marR="73152" marT="27432" marB="27432" anchor="ctr">
                    <a:solidFill>
                      <a:srgbClr val="FCFCFB"/>
                    </a:solidFill>
                  </a:tcPr>
                </a:tc>
                <a:tc>
                  <a:txBody>
                    <a:bodyPr/>
                    <a:lstStyle/>
                    <a:p>
                      <a:pPr algn="ctr"/>
                      <a:r>
                        <a:rPr sz="1150" b="0">
                          <a:solidFill>
                            <a:srgbClr val="0B0B0B"/>
                          </a:solidFill>
                          <a:latin typeface="Helvetica Neue"/>
                        </a:rPr>
                        <a:t>(E2E − TTFT) ÷ (tokens − 1) — steady-state generation rate</a:t>
                      </a:r>
                    </a:p>
                  </a:txBody>
                  <a:tcPr marL="73152" marR="73152" marT="27432" marB="27432" anchor="ctr">
                    <a:solidFill>
                      <a:srgbClr val="FCFCFB"/>
                    </a:solidFill>
                  </a:tcPr>
                </a:tc>
                <a:tc>
                  <a:txBody>
                    <a:bodyPr/>
                    <a:lstStyle/>
                    <a:p>
                      <a:pPr algn="ctr"/>
                      <a:r>
                        <a:rPr sz="1150" b="0">
                          <a:solidFill>
                            <a:srgbClr val="0B0B0B"/>
                          </a:solidFill>
                          <a:latin typeface="Helvetica Neue"/>
                        </a:rPr>
                        <a:t>lower</a:t>
                      </a:r>
                    </a:p>
                  </a:txBody>
                  <a:tcPr marL="73152" marR="73152" marT="27432" marB="27432" anchor="ctr">
                    <a:solidFill>
                      <a:srgbClr val="FCFCFB"/>
                    </a:solidFill>
                  </a:tcPr>
                </a:tc>
              </a:tr>
              <a:tr h="365760">
                <a:tc>
                  <a:txBody>
                    <a:bodyPr/>
                    <a:lstStyle/>
                    <a:p>
                      <a:pPr algn="l"/>
                      <a:r>
                        <a:rPr sz="1150" b="0">
                          <a:solidFill>
                            <a:srgbClr val="0B0B0B"/>
                          </a:solidFill>
                          <a:latin typeface="Helvetica Neue"/>
                        </a:rPr>
                        <a:t>p95 / p99</a:t>
                      </a:r>
                    </a:p>
                  </a:txBody>
                  <a:tcPr marL="73152" marR="73152" marT="27432" marB="27432" anchor="ctr">
                    <a:solidFill>
                      <a:srgbClr val="FCFCFB"/>
                    </a:solidFill>
                  </a:tcPr>
                </a:tc>
                <a:tc>
                  <a:txBody>
                    <a:bodyPr/>
                    <a:lstStyle/>
                    <a:p>
                      <a:pPr algn="ctr"/>
                      <a:r>
                        <a:rPr sz="1150" b="0">
                          <a:solidFill>
                            <a:srgbClr val="0B0B0B"/>
                          </a:solidFill>
                          <a:latin typeface="Helvetica Neue"/>
                        </a:rPr>
                        <a:t>tail latency; for serving the tail is the user experience</a:t>
                      </a:r>
                    </a:p>
                  </a:txBody>
                  <a:tcPr marL="73152" marR="73152" marT="27432" marB="27432" anchor="ctr">
                    <a:solidFill>
                      <a:srgbClr val="FCFCFB"/>
                    </a:solidFill>
                  </a:tcPr>
                </a:tc>
                <a:tc>
                  <a:txBody>
                    <a:bodyPr/>
                    <a:lstStyle/>
                    <a:p>
                      <a:pPr algn="ctr"/>
                      <a:r>
                        <a:rPr sz="1150" b="0">
                          <a:solidFill>
                            <a:srgbClr val="0B0B0B"/>
                          </a:solidFill>
                          <a:latin typeface="Helvetica Neue"/>
                        </a:rPr>
                        <a:t>lower</a:t>
                      </a:r>
                    </a:p>
                  </a:txBody>
                  <a:tcPr marL="73152" marR="73152" marT="27432" marB="27432" anchor="ctr">
                    <a:solidFill>
                      <a:srgbClr val="FCFCFB"/>
                    </a:solidFill>
                  </a:tcPr>
                </a:tc>
              </a:tr>
              <a:tr h="365760">
                <a:tc>
                  <a:txBody>
                    <a:bodyPr/>
                    <a:lstStyle/>
                    <a:p>
                      <a:pPr algn="l"/>
                      <a:r>
                        <a:rPr sz="1150" b="0">
                          <a:solidFill>
                            <a:srgbClr val="0B0B0B"/>
                          </a:solidFill>
                          <a:latin typeface="Helvetica Neue"/>
                        </a:rPr>
                        <a:t>Reasoning tokens</a:t>
                      </a:r>
                    </a:p>
                  </a:txBody>
                  <a:tcPr marL="73152" marR="73152" marT="27432" marB="27432" anchor="ctr">
                    <a:solidFill>
                      <a:srgbClr val="FCFCFB"/>
                    </a:solidFill>
                  </a:tcPr>
                </a:tc>
                <a:tc>
                  <a:txBody>
                    <a:bodyPr/>
                    <a:lstStyle/>
                    <a:p>
                      <a:pPr algn="ctr"/>
                      <a:r>
                        <a:rPr sz="1150" b="0">
                          <a:solidFill>
                            <a:srgbClr val="0B0B0B"/>
                          </a:solidFill>
                          <a:latin typeface="Helvetica Neue"/>
                        </a:rPr>
                        <a:t>tokens spent thinking — 0 is a real answer, not a gap</a:t>
                      </a:r>
                    </a:p>
                  </a:txBody>
                  <a:tcPr marL="73152" marR="73152" marT="27432" marB="27432" anchor="ctr">
                    <a:solidFill>
                      <a:srgbClr val="FCFCFB"/>
                    </a:solidFill>
                  </a:tcPr>
                </a:tc>
                <a:tc>
                  <a:txBody>
                    <a:bodyPr/>
                    <a:lstStyle/>
                    <a:p>
                      <a:pPr algn="ctr"/>
                      <a:r>
                        <a:rPr sz="1150" b="0">
                          <a:solidFill>
                            <a:srgbClr val="0B0B0B"/>
                          </a:solidFill>
                          <a:latin typeface="Helvetica Neue"/>
                        </a:rPr>
                        <a:t>lower</a:t>
                      </a:r>
                    </a:p>
                  </a:txBody>
                  <a:tcPr marL="73152" marR="73152" marT="27432" marB="27432" anchor="ctr">
                    <a:solidFill>
                      <a:srgbClr val="FCFCFB"/>
                    </a:solidFill>
                  </a:tcPr>
                </a:tc>
              </a:tr>
              <a:tr h="365760">
                <a:tc>
                  <a:txBody>
                    <a:bodyPr/>
                    <a:lstStyle/>
                    <a:p>
                      <a:pPr algn="l"/>
                      <a:r>
                        <a:rPr sz="1150" b="0">
                          <a:solidFill>
                            <a:srgbClr val="0B0B0B"/>
                          </a:solidFill>
                          <a:latin typeface="Helvetica Neue"/>
                        </a:rPr>
                        <a:t>Cost per 1M tokens</a:t>
                      </a:r>
                    </a:p>
                  </a:txBody>
                  <a:tcPr marL="73152" marR="73152" marT="27432" marB="27432" anchor="ctr">
                    <a:solidFill>
                      <a:srgbClr val="FCFCFB"/>
                    </a:solidFill>
                  </a:tcPr>
                </a:tc>
                <a:tc>
                  <a:txBody>
                    <a:bodyPr/>
                    <a:lstStyle/>
                    <a:p>
                      <a:pPr algn="ctr"/>
                      <a:r>
                        <a:rPr sz="1150" b="0">
                          <a:solidFill>
                            <a:srgbClr val="0B0B0B"/>
                          </a:solidFill>
                          <a:latin typeface="Helvetica Neue"/>
                        </a:rPr>
                        <a:t>blended price actually paid</a:t>
                      </a:r>
                    </a:p>
                  </a:txBody>
                  <a:tcPr marL="73152" marR="73152" marT="27432" marB="27432" anchor="ctr">
                    <a:solidFill>
                      <a:srgbClr val="FCFCFB"/>
                    </a:solidFill>
                  </a:tcPr>
                </a:tc>
                <a:tc>
                  <a:txBody>
                    <a:bodyPr/>
                    <a:lstStyle/>
                    <a:p>
                      <a:pPr algn="ctr"/>
                      <a:r>
                        <a:rPr sz="1150" b="0">
                          <a:solidFill>
                            <a:srgbClr val="0B0B0B"/>
                          </a:solidFill>
                          <a:latin typeface="Helvetica Neue"/>
                        </a:rPr>
                        <a:t>lower</a:t>
                      </a:r>
                    </a:p>
                  </a:txBody>
                  <a:tcPr marL="73152" marR="73152" marT="27432" marB="27432" anchor="ctr">
                    <a:solidFill>
                      <a:srgbClr val="FCFCFB"/>
                    </a:solidFill>
                  </a:tcPr>
                </a:tc>
              </a:tr>
              <a:tr h="365760">
                <a:tc>
                  <a:txBody>
                    <a:bodyPr/>
                    <a:lstStyle/>
                    <a:p>
                      <a:pPr algn="l"/>
                      <a:r>
                        <a:rPr sz="1150" b="0">
                          <a:solidFill>
                            <a:srgbClr val="0B0B0B"/>
                          </a:solidFill>
                          <a:latin typeface="Helvetica Neue"/>
                        </a:rPr>
                        <a:t>Cost per correct answer</a:t>
                      </a:r>
                    </a:p>
                  </a:txBody>
                  <a:tcPr marL="73152" marR="73152" marT="27432" marB="27432" anchor="ctr">
                    <a:solidFill>
                      <a:srgbClr val="FCFCFB"/>
                    </a:solidFill>
                  </a:tcPr>
                </a:tc>
                <a:tc>
                  <a:txBody>
                    <a:bodyPr/>
                    <a:lstStyle/>
                    <a:p>
                      <a:pPr algn="ctr"/>
                      <a:r>
                        <a:rPr sz="1150" b="0">
                          <a:solidFill>
                            <a:srgbClr val="0B0B0B"/>
                          </a:solidFill>
                          <a:latin typeface="Helvetica Neue"/>
                        </a:rPr>
                        <a:t>money per useful answer — the selection criterion</a:t>
                      </a:r>
                    </a:p>
                  </a:txBody>
                  <a:tcPr marL="73152" marR="73152" marT="27432" marB="27432" anchor="ctr">
                    <a:solidFill>
                      <a:srgbClr val="FCFCFB"/>
                    </a:solidFill>
                  </a:tcPr>
                </a:tc>
                <a:tc>
                  <a:txBody>
                    <a:bodyPr/>
                    <a:lstStyle/>
                    <a:p>
                      <a:pPr algn="ctr"/>
                      <a:r>
                        <a:rPr sz="1150" b="0">
                          <a:solidFill>
                            <a:srgbClr val="0B0B0B"/>
                          </a:solidFill>
                          <a:latin typeface="Helvetica Neue"/>
                        </a:rPr>
                        <a:t>lower</a:t>
                      </a:r>
                    </a:p>
                  </a:txBody>
                  <a:tcPr marL="73152" marR="73152" marT="27432" marB="27432" anchor="ctr">
                    <a:solidFill>
                      <a:srgbClr val="FCFCFB"/>
                    </a:solidFill>
                  </a:tcPr>
                </a:tc>
              </a:tr>
              <a:tr h="365760">
                <a:tc>
                  <a:txBody>
                    <a:bodyPr/>
                    <a:lstStyle/>
                    <a:p>
                      <a:pPr algn="l"/>
                      <a:r>
                        <a:rPr sz="1150" b="0">
                          <a:solidFill>
                            <a:srgbClr val="0B0B0B"/>
                          </a:solidFill>
                          <a:latin typeface="Helvetica Neue"/>
                        </a:rPr>
                        <a:t>Invalid output rate</a:t>
                      </a:r>
                    </a:p>
                  </a:txBody>
                  <a:tcPr marL="73152" marR="73152" marT="27432" marB="27432" anchor="ctr">
                    <a:solidFill>
                      <a:srgbClr val="FCFCFB"/>
                    </a:solidFill>
                  </a:tcPr>
                </a:tc>
                <a:tc>
                  <a:txBody>
                    <a:bodyPr/>
                    <a:lstStyle/>
                    <a:p>
                      <a:pPr algn="ctr"/>
                      <a:r>
                        <a:rPr sz="1150" b="0">
                          <a:solidFill>
                            <a:srgbClr val="0B0B0B"/>
                          </a:solidFill>
                          <a:latin typeface="Helvetica Neue"/>
                        </a:rPr>
                        <a:t>a 200 response carrying nothing usable</a:t>
                      </a:r>
                    </a:p>
                  </a:txBody>
                  <a:tcPr marL="73152" marR="73152" marT="27432" marB="27432" anchor="ctr">
                    <a:solidFill>
                      <a:srgbClr val="FCFCFB"/>
                    </a:solidFill>
                  </a:tcPr>
                </a:tc>
                <a:tc>
                  <a:txBody>
                    <a:bodyPr/>
                    <a:lstStyle/>
                    <a:p>
                      <a:pPr algn="ctr"/>
                      <a:r>
                        <a:rPr sz="1150" b="0">
                          <a:solidFill>
                            <a:srgbClr val="0B0B0B"/>
                          </a:solidFill>
                          <a:latin typeface="Helvetica Neue"/>
                        </a:rPr>
                        <a:t>lower</a:t>
                      </a:r>
                    </a:p>
                  </a:txBody>
                  <a:tcPr marL="73152" marR="73152" marT="27432" marB="27432" anchor="ctr">
                    <a:solidFill>
                      <a:srgbClr val="FCFCFB"/>
                    </a:solidFill>
                  </a:tcPr>
                </a:tc>
              </a:tr>
              <a:tr h="365760">
                <a:tc>
                  <a:txBody>
                    <a:bodyPr/>
                    <a:lstStyle/>
                    <a:p>
                      <a:pPr algn="l"/>
                      <a:r>
                        <a:rPr sz="1150" b="0">
                          <a:solidFill>
                            <a:srgbClr val="0B0B0B"/>
                          </a:solidFill>
                          <a:latin typeface="Helvetica Neue"/>
                        </a:rPr>
                        <a:t>Retries / failover</a:t>
                      </a:r>
                    </a:p>
                  </a:txBody>
                  <a:tcPr marL="73152" marR="73152" marT="27432" marB="27432" anchor="ctr">
                    <a:solidFill>
                      <a:srgbClr val="FCFCFB"/>
                    </a:solidFill>
                  </a:tcPr>
                </a:tc>
                <a:tc>
                  <a:txBody>
                    <a:bodyPr/>
                    <a:lstStyle/>
                    <a:p>
                      <a:pPr algn="ctr"/>
                      <a:r>
                        <a:rPr sz="1150" b="0">
                          <a:solidFill>
                            <a:srgbClr val="0B0B0B"/>
                          </a:solidFill>
                          <a:latin typeface="Helvetica Neue"/>
                        </a:rPr>
                        <a:t>how hard the client tried; whether the backend changed</a:t>
                      </a:r>
                    </a:p>
                  </a:txBody>
                  <a:tcPr marL="73152" marR="73152" marT="27432" marB="27432" anchor="ctr">
                    <a:solidFill>
                      <a:srgbClr val="FCFCFB"/>
                    </a:solidFill>
                  </a:tcPr>
                </a:tc>
                <a:tc>
                  <a:txBody>
                    <a:bodyPr/>
                    <a:lstStyle/>
                    <a:p>
                      <a:pPr algn="ctr"/>
                      <a:r>
                        <a:rPr sz="1150" b="0">
                          <a:solidFill>
                            <a:srgbClr val="0B0B0B"/>
                          </a:solidFill>
                          <a:latin typeface="Helvetica Neue"/>
                        </a:rPr>
                        <a:t>lower</a:t>
                      </a:r>
                    </a:p>
                  </a:txBody>
                  <a:tcPr marL="73152" marR="73152" marT="27432" marB="27432" anchor="ctr">
                    <a:solidFill>
                      <a:srgbClr val="FCFCFB"/>
                    </a:solidFill>
                  </a:tcPr>
                </a:tc>
              </a:tr>
            </a:tbl>
          </a:graphicData>
        </a:graphic>
      </p:graphicFrame>
      <p:sp>
        <p:nvSpPr>
          <p:cNvPr id="9" name="TextBox 8"/>
          <p:cNvSpPr txBox="1"/>
          <p:nvPr/>
        </p:nvSpPr>
        <p:spPr>
          <a:xfrm>
            <a:off x="548640" y="5166360"/>
            <a:ext cx="11064240" cy="548640"/>
          </a:xfrm>
          <a:prstGeom prst="rect">
            <a:avLst/>
          </a:prstGeom>
          <a:noFill/>
        </p:spPr>
        <p:txBody>
          <a:bodyPr wrap="square">
            <a:spAutoFit/>
          </a:bodyPr>
          <a:lstStyle/>
          <a:p>
            <a:pPr algn="l">
              <a:lnSpc>
                <a:spcPct val="115000"/>
              </a:lnSpc>
            </a:pPr>
            <a:r>
              <a:rPr sz="1250" b="0" i="0">
                <a:solidFill>
                  <a:srgbClr val="2A78D6"/>
                </a:solidFill>
                <a:latin typeface="Helvetica Neue"/>
              </a:rPr>
              <a:t>A run that silently retried a third of its requests produces the same accuracy table as a clean one. Stage 9 is the only place that difference survives.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510528"/>
            <a:ext cx="5486400" cy="274320"/>
          </a:xfrm>
          <a:prstGeom prst="rect">
            <a:avLst/>
          </a:prstGeom>
          <a:noFill/>
        </p:spPr>
        <p:txBody>
          <a:bodyPr wrap="square">
            <a:spAutoFit/>
          </a:bodyPr>
          <a:lstStyle/>
          <a:p>
            <a:pPr algn="l">
              <a:lnSpc>
                <a:spcPct val="115000"/>
              </a:lnSpc>
            </a:pPr>
            <a:r>
              <a:rPr sz="900" b="0" i="0">
                <a:solidFill>
                  <a:srgbClr val="898781"/>
                </a:solidFill>
                <a:latin typeface="Helvetica Neue"/>
              </a:rPr>
              <a:t>LAMBADA &amp; MMLU Benchmark Evaluation — Extended</a:t>
            </a:r>
          </a:p>
        </p:txBody>
      </p:sp>
      <p:sp>
        <p:nvSpPr>
          <p:cNvPr id="4" name="TextBox 3"/>
          <p:cNvSpPr txBox="1"/>
          <p:nvPr/>
        </p:nvSpPr>
        <p:spPr>
          <a:xfrm>
            <a:off x="11338560" y="6510528"/>
            <a:ext cx="457200" cy="274320"/>
          </a:xfrm>
          <a:prstGeom prst="rect">
            <a:avLst/>
          </a:prstGeom>
          <a:noFill/>
        </p:spPr>
        <p:txBody>
          <a:bodyPr wrap="square">
            <a:spAutoFit/>
          </a:bodyPr>
          <a:lstStyle/>
          <a:p>
            <a:pPr algn="r">
              <a:lnSpc>
                <a:spcPct val="115000"/>
              </a:lnSpc>
            </a:pPr>
            <a:r>
              <a:rPr sz="900" b="0" i="0">
                <a:solidFill>
                  <a:srgbClr val="898781"/>
                </a:solidFill>
                <a:latin typeface="Helvetica Neue"/>
              </a:rPr>
              <a:t>15</a:t>
            </a:r>
          </a:p>
        </p:txBody>
      </p:sp>
      <p:sp>
        <p:nvSpPr>
          <p:cNvPr id="5" name="TextBox 4"/>
          <p:cNvSpPr txBox="1"/>
          <p:nvPr/>
        </p:nvSpPr>
        <p:spPr>
          <a:xfrm>
            <a:off x="548640" y="320040"/>
            <a:ext cx="10058400" cy="320040"/>
          </a:xfrm>
          <a:prstGeom prst="rect">
            <a:avLst/>
          </a:prstGeom>
          <a:noFill/>
        </p:spPr>
        <p:txBody>
          <a:bodyPr wrap="square">
            <a:spAutoFit/>
          </a:bodyPr>
          <a:lstStyle/>
          <a:p>
            <a:pPr algn="l">
              <a:lnSpc>
                <a:spcPct val="115000"/>
              </a:lnSpc>
            </a:pPr>
            <a:r>
              <a:rPr sz="1250" b="1" i="0">
                <a:solidFill>
                  <a:srgbClr val="2A78D6"/>
                </a:solidFill>
                <a:latin typeface="Helvetica Neue"/>
              </a:rPr>
              <a:t>COMMENTS AND DISCUSSION BEFORE RESULTS</a:t>
            </a:r>
          </a:p>
        </p:txBody>
      </p:sp>
      <p:sp>
        <p:nvSpPr>
          <p:cNvPr id="6" name="TextBox 5"/>
          <p:cNvSpPr txBox="1"/>
          <p:nvPr/>
        </p:nvSpPr>
        <p:spPr>
          <a:xfrm>
            <a:off x="548640" y="914400"/>
            <a:ext cx="11064240" cy="640080"/>
          </a:xfrm>
          <a:prstGeom prst="rect">
            <a:avLst/>
          </a:prstGeom>
          <a:noFill/>
        </p:spPr>
        <p:txBody>
          <a:bodyPr wrap="square">
            <a:spAutoFit/>
          </a:bodyPr>
          <a:lstStyle/>
          <a:p>
            <a:pPr algn="l">
              <a:lnSpc>
                <a:spcPct val="115000"/>
              </a:lnSpc>
            </a:pPr>
            <a:r>
              <a:rPr sz="2600" b="1" i="0">
                <a:solidFill>
                  <a:srgbClr val="0B0B0B"/>
                </a:solidFill>
                <a:latin typeface="Helvetica Neue"/>
              </a:rPr>
              <a:t>What this setup cannot measure</a:t>
            </a:r>
          </a:p>
        </p:txBody>
      </p:sp>
      <p:cxnSp>
        <p:nvCxnSpPr>
          <p:cNvPr id="7" name="Connector 6"/>
          <p:cNvCxnSpPr/>
          <p:nvPr/>
        </p:nvCxnSpPr>
        <p:spPr>
          <a:xfrm>
            <a:off x="548640" y="1508760"/>
            <a:ext cx="11091672"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548640" y="1737360"/>
          <a:ext cx="11064239" cy="3072384"/>
        </p:xfrm>
        <a:graphic>
          <a:graphicData uri="http://schemas.openxmlformats.org/drawingml/2006/table">
            <a:tbl>
              <a:tblPr firstRow="1" bandRow="1">
                <a:tableStyleId>{5C22544A-7EE6-4342-B048-85BDC9FD1C3A}</a:tableStyleId>
              </a:tblPr>
              <a:tblGrid>
                <a:gridCol w="3983126"/>
                <a:gridCol w="2212848"/>
                <a:gridCol w="4868265"/>
              </a:tblGrid>
              <a:tr h="384048">
                <a:tc>
                  <a:txBody>
                    <a:bodyPr/>
                    <a:lstStyle/>
                    <a:p>
                      <a:pPr algn="l"/>
                      <a:r>
                        <a:rPr sz="1150" b="1">
                          <a:solidFill>
                            <a:srgbClr val="FFFFFF"/>
                          </a:solidFill>
                          <a:latin typeface="Helvetica Neue"/>
                        </a:rPr>
                        <a:t>Field</a:t>
                      </a:r>
                    </a:p>
                  </a:txBody>
                  <a:tcPr marL="73152" marR="73152" marT="27432" marB="27432" anchor="ctr">
                    <a:solidFill>
                      <a:srgbClr val="0B0B0B"/>
                    </a:solidFill>
                  </a:tcPr>
                </a:tc>
                <a:tc>
                  <a:txBody>
                    <a:bodyPr/>
                    <a:lstStyle/>
                    <a:p>
                      <a:pPr algn="ctr"/>
                      <a:r>
                        <a:rPr sz="1150" b="1">
                          <a:solidFill>
                            <a:srgbClr val="FFFFFF"/>
                          </a:solidFill>
                          <a:latin typeface="Helvetica Neue"/>
                        </a:rPr>
                        <a:t>Status</a:t>
                      </a:r>
                    </a:p>
                  </a:txBody>
                  <a:tcPr marL="73152" marR="73152" marT="27432" marB="27432" anchor="ctr">
                    <a:solidFill>
                      <a:srgbClr val="0B0B0B"/>
                    </a:solidFill>
                  </a:tcPr>
                </a:tc>
                <a:tc>
                  <a:txBody>
                    <a:bodyPr/>
                    <a:lstStyle/>
                    <a:p>
                      <a:pPr algn="ctr"/>
                      <a:r>
                        <a:rPr sz="1150" b="1">
                          <a:solidFill>
                            <a:srgbClr val="FFFFFF"/>
                          </a:solidFill>
                          <a:latin typeface="Helvetica Neue"/>
                        </a:rPr>
                        <a:t>Why</a:t>
                      </a:r>
                    </a:p>
                  </a:txBody>
                  <a:tcPr marL="73152" marR="73152" marT="27432" marB="27432" anchor="ctr">
                    <a:solidFill>
                      <a:srgbClr val="0B0B0B"/>
                    </a:solidFill>
                  </a:tcPr>
                </a:tc>
              </a:tr>
              <a:tr h="384048">
                <a:tc>
                  <a:txBody>
                    <a:bodyPr/>
                    <a:lstStyle/>
                    <a:p>
                      <a:pPr algn="l"/>
                      <a:r>
                        <a:rPr sz="1150" b="0">
                          <a:solidFill>
                            <a:srgbClr val="0B0B0B"/>
                          </a:solidFill>
                          <a:latin typeface="Helvetica Neue"/>
                        </a:rPr>
                        <a:t>Accuracy, consistency, context, robustness</a:t>
                      </a:r>
                    </a:p>
                  </a:txBody>
                  <a:tcPr marL="73152" marR="73152" marT="27432" marB="27432" anchor="ctr">
                    <a:solidFill>
                      <a:srgbClr val="FCFCFB"/>
                    </a:solidFill>
                  </a:tcPr>
                </a:tc>
                <a:tc>
                  <a:txBody>
                    <a:bodyPr/>
                    <a:lstStyle/>
                    <a:p>
                      <a:pPr algn="ctr"/>
                      <a:r>
                        <a:rPr sz="1150" b="0">
                          <a:solidFill>
                            <a:srgbClr val="0B0B0B"/>
                          </a:solidFill>
                          <a:latin typeface="Helvetica Neue"/>
                        </a:rPr>
                        <a:t>measured</a:t>
                      </a:r>
                    </a:p>
                  </a:txBody>
                  <a:tcPr marL="73152" marR="73152" marT="27432" marB="27432" anchor="ctr">
                    <a:solidFill>
                      <a:srgbClr val="FCFCFB"/>
                    </a:solidFill>
                  </a:tcPr>
                </a:tc>
                <a:tc>
                  <a:txBody>
                    <a:bodyPr/>
                    <a:lstStyle/>
                    <a:p>
                      <a:pPr algn="ctr"/>
                      <a:r>
                        <a:rPr sz="1150" b="0">
                          <a:solidFill>
                            <a:srgbClr val="0B0B0B"/>
                          </a:solidFill>
                          <a:latin typeface="Helvetica Neue"/>
                        </a:rPr>
                        <a:t>prompt manipulation and repeat calls</a:t>
                      </a:r>
                    </a:p>
                  </a:txBody>
                  <a:tcPr marL="73152" marR="73152" marT="27432" marB="27432" anchor="ctr">
                    <a:solidFill>
                      <a:srgbClr val="FCFCFB"/>
                    </a:solidFill>
                  </a:tcPr>
                </a:tc>
              </a:tr>
              <a:tr h="384048">
                <a:tc>
                  <a:txBody>
                    <a:bodyPr/>
                    <a:lstStyle/>
                    <a:p>
                      <a:pPr algn="l"/>
                      <a:r>
                        <a:rPr sz="1150" b="0">
                          <a:solidFill>
                            <a:srgbClr val="0B0B0B"/>
                          </a:solidFill>
                          <a:latin typeface="Helvetica Neue"/>
                        </a:rPr>
                        <a:t>TTFT / TPOT / E2E, throughput</a:t>
                      </a:r>
                    </a:p>
                  </a:txBody>
                  <a:tcPr marL="73152" marR="73152" marT="27432" marB="27432" anchor="ctr">
                    <a:solidFill>
                      <a:srgbClr val="FCFCFB"/>
                    </a:solidFill>
                  </a:tcPr>
                </a:tc>
                <a:tc>
                  <a:txBody>
                    <a:bodyPr/>
                    <a:lstStyle/>
                    <a:p>
                      <a:pPr algn="ctr"/>
                      <a:r>
                        <a:rPr sz="1150" b="0">
                          <a:solidFill>
                            <a:srgbClr val="0B0B0B"/>
                          </a:solidFill>
                          <a:latin typeface="Helvetica Neue"/>
                        </a:rPr>
                        <a:t>measured</a:t>
                      </a:r>
                    </a:p>
                  </a:txBody>
                  <a:tcPr marL="73152" marR="73152" marT="27432" marB="27432" anchor="ctr">
                    <a:solidFill>
                      <a:srgbClr val="FCFCFB"/>
                    </a:solidFill>
                  </a:tcPr>
                </a:tc>
                <a:tc>
                  <a:txBody>
                    <a:bodyPr/>
                    <a:lstStyle/>
                    <a:p>
                      <a:pPr algn="ctr"/>
                      <a:r>
                        <a:rPr sz="1150" b="0">
                          <a:solidFill>
                            <a:srgbClr val="0B0B0B"/>
                          </a:solidFill>
                          <a:latin typeface="Helvetica Neue"/>
                        </a:rPr>
                        <a:t>client-side, from the streamed response</a:t>
                      </a:r>
                    </a:p>
                  </a:txBody>
                  <a:tcPr marL="73152" marR="73152" marT="27432" marB="27432" anchor="ctr">
                    <a:solidFill>
                      <a:srgbClr val="FCFCFB"/>
                    </a:solidFill>
                  </a:tcPr>
                </a:tc>
              </a:tr>
              <a:tr h="384048">
                <a:tc>
                  <a:txBody>
                    <a:bodyPr/>
                    <a:lstStyle/>
                    <a:p>
                      <a:pPr algn="l"/>
                      <a:r>
                        <a:rPr sz="1150" b="0">
                          <a:solidFill>
                            <a:srgbClr val="0B0B0B"/>
                          </a:solidFill>
                          <a:latin typeface="Helvetica Neue"/>
                        </a:rPr>
                        <a:t>Tokens, reasoning tokens, cost</a:t>
                      </a:r>
                    </a:p>
                  </a:txBody>
                  <a:tcPr marL="73152" marR="73152" marT="27432" marB="27432" anchor="ctr">
                    <a:solidFill>
                      <a:srgbClr val="FCFCFB"/>
                    </a:solidFill>
                  </a:tcPr>
                </a:tc>
                <a:tc>
                  <a:txBody>
                    <a:bodyPr/>
                    <a:lstStyle/>
                    <a:p>
                      <a:pPr algn="ctr"/>
                      <a:r>
                        <a:rPr sz="1150" b="0">
                          <a:solidFill>
                            <a:srgbClr val="0B0B0B"/>
                          </a:solidFill>
                          <a:latin typeface="Helvetica Neue"/>
                        </a:rPr>
                        <a:t>provider-reported</a:t>
                      </a:r>
                    </a:p>
                  </a:txBody>
                  <a:tcPr marL="73152" marR="73152" marT="27432" marB="27432" anchor="ctr">
                    <a:solidFill>
                      <a:srgbClr val="FCFCFB"/>
                    </a:solidFill>
                  </a:tcPr>
                </a:tc>
                <a:tc>
                  <a:txBody>
                    <a:bodyPr/>
                    <a:lstStyle/>
                    <a:p>
                      <a:pPr algn="ctr"/>
                      <a:r>
                        <a:rPr sz="1150" b="0">
                          <a:solidFill>
                            <a:srgbClr val="0B0B0B"/>
                          </a:solidFill>
                          <a:latin typeface="Helvetica Neue"/>
                        </a:rPr>
                        <a:t>returned in the API usage payload</a:t>
                      </a:r>
                    </a:p>
                  </a:txBody>
                  <a:tcPr marL="73152" marR="73152" marT="27432" marB="27432" anchor="ctr">
                    <a:solidFill>
                      <a:srgbClr val="FCFCFB"/>
                    </a:solidFill>
                  </a:tcPr>
                </a:tc>
              </a:tr>
              <a:tr h="384048">
                <a:tc>
                  <a:txBody>
                    <a:bodyPr/>
                    <a:lstStyle/>
                    <a:p>
                      <a:pPr algn="l"/>
                      <a:r>
                        <a:rPr sz="1150" b="0">
                          <a:solidFill>
                            <a:srgbClr val="0B0B0B"/>
                          </a:solidFill>
                          <a:latin typeface="Helvetica Neue"/>
                        </a:rPr>
                        <a:t>Calibration (ECE, Brier, NLL)</a:t>
                      </a:r>
                    </a:p>
                  </a:txBody>
                  <a:tcPr marL="73152" marR="73152" marT="27432" marB="27432" anchor="ctr">
                    <a:solidFill>
                      <a:srgbClr val="FCFCFB"/>
                    </a:solidFill>
                  </a:tcPr>
                </a:tc>
                <a:tc>
                  <a:txBody>
                    <a:bodyPr/>
                    <a:lstStyle/>
                    <a:p>
                      <a:pPr algn="ctr"/>
                      <a:r>
                        <a:rPr sz="1150" b="0">
                          <a:solidFill>
                            <a:srgbClr val="0B0B0B"/>
                          </a:solidFill>
                          <a:latin typeface="Helvetica Neue"/>
                        </a:rPr>
                        <a:t>provider-dependent</a:t>
                      </a:r>
                    </a:p>
                  </a:txBody>
                  <a:tcPr marL="73152" marR="73152" marT="27432" marB="27432" anchor="ctr">
                    <a:solidFill>
                      <a:srgbClr val="FCFCFB"/>
                    </a:solidFill>
                  </a:tcPr>
                </a:tc>
                <a:tc>
                  <a:txBody>
                    <a:bodyPr/>
                    <a:lstStyle/>
                    <a:p>
                      <a:pPr algn="ctr"/>
                      <a:r>
                        <a:rPr sz="1150" b="0">
                          <a:solidFill>
                            <a:srgbClr val="0B0B0B"/>
                          </a:solidFill>
                          <a:latin typeface="Helvetica Neue"/>
                        </a:rPr>
                        <a:t>only some providers return log-probabilities</a:t>
                      </a:r>
                    </a:p>
                  </a:txBody>
                  <a:tcPr marL="73152" marR="73152" marT="27432" marB="27432" anchor="ctr">
                    <a:solidFill>
                      <a:srgbClr val="FCFCFB"/>
                    </a:solidFill>
                  </a:tcPr>
                </a:tc>
              </a:tr>
              <a:tr h="384048">
                <a:tc>
                  <a:txBody>
                    <a:bodyPr/>
                    <a:lstStyle/>
                    <a:p>
                      <a:pPr algn="l"/>
                      <a:r>
                        <a:rPr sz="1150" b="0">
                          <a:solidFill>
                            <a:srgbClr val="0B0B0B"/>
                          </a:solidFill>
                          <a:latin typeface="Helvetica Neue"/>
                        </a:rPr>
                        <a:t>VRAM, KV cache</a:t>
                      </a:r>
                    </a:p>
                  </a:txBody>
                  <a:tcPr marL="73152" marR="73152" marT="27432" marB="27432" anchor="ctr">
                    <a:solidFill>
                      <a:srgbClr val="FCFCFB"/>
                    </a:solidFill>
                  </a:tcPr>
                </a:tc>
                <a:tc>
                  <a:txBody>
                    <a:bodyPr/>
                    <a:lstStyle/>
                    <a:p>
                      <a:pPr algn="ctr"/>
                      <a:r>
                        <a:rPr sz="1150" b="0">
                          <a:solidFill>
                            <a:srgbClr val="0B0B0B"/>
                          </a:solidFill>
                          <a:latin typeface="Helvetica Neue"/>
                        </a:rPr>
                        <a:t>analytic only</a:t>
                      </a:r>
                    </a:p>
                  </a:txBody>
                  <a:tcPr marL="73152" marR="73152" marT="27432" marB="27432" anchor="ctr">
                    <a:solidFill>
                      <a:srgbClr val="FCFCFB"/>
                    </a:solidFill>
                  </a:tcPr>
                </a:tc>
                <a:tc>
                  <a:txBody>
                    <a:bodyPr/>
                    <a:lstStyle/>
                    <a:p>
                      <a:pPr algn="ctr"/>
                      <a:r>
                        <a:rPr sz="1150" b="0">
                          <a:solidFill>
                            <a:srgbClr val="0B0B0B"/>
                          </a:solidFill>
                          <a:latin typeface="Helvetica Neue"/>
                        </a:rPr>
                        <a:t>computed from published architecture</a:t>
                      </a:r>
                    </a:p>
                  </a:txBody>
                  <a:tcPr marL="73152" marR="73152" marT="27432" marB="27432" anchor="ctr">
                    <a:solidFill>
                      <a:srgbClr val="FCFCFB"/>
                    </a:solidFill>
                  </a:tcPr>
                </a:tc>
              </a:tr>
              <a:tr h="384048">
                <a:tc>
                  <a:txBody>
                    <a:bodyPr/>
                    <a:lstStyle/>
                    <a:p>
                      <a:pPr algn="l"/>
                      <a:r>
                        <a:rPr sz="1150" b="0">
                          <a:solidFill>
                            <a:srgbClr val="0B0B0B"/>
                          </a:solidFill>
                          <a:latin typeface="Helvetica Neue"/>
                        </a:rPr>
                        <a:t>Energy, communication overhead</a:t>
                      </a:r>
                    </a:p>
                  </a:txBody>
                  <a:tcPr marL="73152" marR="73152" marT="27432" marB="27432" anchor="ctr">
                    <a:solidFill>
                      <a:srgbClr val="FCFCFB"/>
                    </a:solidFill>
                  </a:tcPr>
                </a:tc>
                <a:tc>
                  <a:txBody>
                    <a:bodyPr/>
                    <a:lstStyle/>
                    <a:p>
                      <a:pPr algn="ctr"/>
                      <a:r>
                        <a:rPr sz="1150" b="0">
                          <a:solidFill>
                            <a:srgbClr val="0B0B0B"/>
                          </a:solidFill>
                          <a:latin typeface="Helvetica Neue"/>
                        </a:rPr>
                        <a:t>unavailable</a:t>
                      </a:r>
                    </a:p>
                  </a:txBody>
                  <a:tcPr marL="73152" marR="73152" marT="27432" marB="27432" anchor="ctr">
                    <a:solidFill>
                      <a:srgbClr val="FCFCFB"/>
                    </a:solidFill>
                  </a:tcPr>
                </a:tc>
                <a:tc>
                  <a:txBody>
                    <a:bodyPr/>
                    <a:lstStyle/>
                    <a:p>
                      <a:pPr algn="ctr"/>
                      <a:r>
                        <a:rPr sz="1150" b="0">
                          <a:solidFill>
                            <a:srgbClr val="0B0B0B"/>
                          </a:solidFill>
                          <a:latin typeface="Helvetica Neue"/>
                        </a:rPr>
                        <a:t>needs on-host telemetry we do not have</a:t>
                      </a:r>
                    </a:p>
                  </a:txBody>
                  <a:tcPr marL="73152" marR="73152" marT="27432" marB="27432" anchor="ctr">
                    <a:solidFill>
                      <a:srgbClr val="FCFCFB"/>
                    </a:solidFill>
                  </a:tcPr>
                </a:tc>
              </a:tr>
              <a:tr h="384048">
                <a:tc>
                  <a:txBody>
                    <a:bodyPr/>
                    <a:lstStyle/>
                    <a:p>
                      <a:pPr algn="l"/>
                      <a:r>
                        <a:rPr sz="1150" b="0">
                          <a:solidFill>
                            <a:srgbClr val="0B0B0B"/>
                          </a:solidFill>
                          <a:latin typeface="Helvetica Neue"/>
                        </a:rPr>
                        <a:t>TP / PP / DP / SP / CP / EP effects</a:t>
                      </a:r>
                    </a:p>
                  </a:txBody>
                  <a:tcPr marL="73152" marR="73152" marT="27432" marB="27432" anchor="ctr">
                    <a:solidFill>
                      <a:srgbClr val="FCFCFB"/>
                    </a:solidFill>
                  </a:tcPr>
                </a:tc>
                <a:tc>
                  <a:txBody>
                    <a:bodyPr/>
                    <a:lstStyle/>
                    <a:p>
                      <a:pPr algn="ctr"/>
                      <a:r>
                        <a:rPr sz="1150" b="0">
                          <a:solidFill>
                            <a:srgbClr val="0B0B0B"/>
                          </a:solidFill>
                          <a:latin typeface="Helvetica Neue"/>
                        </a:rPr>
                        <a:t>unavailable</a:t>
                      </a:r>
                    </a:p>
                  </a:txBody>
                  <a:tcPr marL="73152" marR="73152" marT="27432" marB="27432" anchor="ctr">
                    <a:solidFill>
                      <a:srgbClr val="FCFCFB"/>
                    </a:solidFill>
                  </a:tcPr>
                </a:tc>
                <a:tc>
                  <a:txBody>
                    <a:bodyPr/>
                    <a:lstStyle/>
                    <a:p>
                      <a:pPr algn="ctr"/>
                      <a:r>
                        <a:rPr sz="1150" b="0">
                          <a:solidFill>
                            <a:srgbClr val="0B0B0B"/>
                          </a:solidFill>
                          <a:latin typeface="Helvetica Neue"/>
                        </a:rPr>
                        <a:t>the provider chooses the layout</a:t>
                      </a:r>
                    </a:p>
                  </a:txBody>
                  <a:tcPr marL="73152" marR="73152" marT="27432" marB="27432" anchor="ctr">
                    <a:solidFill>
                      <a:srgbClr val="FCFCFB"/>
                    </a:solidFill>
                  </a:tcPr>
                </a:tc>
              </a:tr>
            </a:tbl>
          </a:graphicData>
        </a:graphic>
      </p:graphicFrame>
      <p:sp>
        <p:nvSpPr>
          <p:cNvPr id="9" name="TextBox 8"/>
          <p:cNvSpPr txBox="1"/>
          <p:nvPr/>
        </p:nvSpPr>
        <p:spPr>
          <a:xfrm>
            <a:off x="548640" y="4846320"/>
            <a:ext cx="11064240" cy="685800"/>
          </a:xfrm>
          <a:prstGeom prst="rect">
            <a:avLst/>
          </a:prstGeom>
          <a:noFill/>
        </p:spPr>
        <p:txBody>
          <a:bodyPr wrap="square">
            <a:spAutoFit/>
          </a:bodyPr>
          <a:lstStyle/>
          <a:p>
            <a:pPr algn="l">
              <a:lnSpc>
                <a:spcPct val="130000"/>
              </a:lnSpc>
            </a:pPr>
            <a:r>
              <a:rPr sz="1300" b="0" i="0">
                <a:solidFill>
                  <a:srgbClr val="52514E"/>
                </a:solidFill>
                <a:latin typeface="Helvetica Neue"/>
              </a:rPr>
              <a:t>Every numeric field carries a source tag — measured, provider_reported, analytic_model, or unavailable with a reason. Unmeasurable blocks are emitted as available: false, never as zeros.</a:t>
            </a:r>
          </a:p>
        </p:txBody>
      </p:sp>
      <p:sp>
        <p:nvSpPr>
          <p:cNvPr id="10" name="TextBox 9"/>
          <p:cNvSpPr txBox="1"/>
          <p:nvPr/>
        </p:nvSpPr>
        <p:spPr>
          <a:xfrm>
            <a:off x="548640" y="5577840"/>
            <a:ext cx="11064240" cy="411480"/>
          </a:xfrm>
          <a:prstGeom prst="rect">
            <a:avLst/>
          </a:prstGeom>
          <a:noFill/>
        </p:spPr>
        <p:txBody>
          <a:bodyPr wrap="square">
            <a:spAutoFit/>
          </a:bodyPr>
          <a:lstStyle/>
          <a:p>
            <a:pPr algn="l">
              <a:lnSpc>
                <a:spcPct val="115000"/>
              </a:lnSpc>
            </a:pPr>
            <a:r>
              <a:rPr sz="1700" b="1" i="0">
                <a:solidFill>
                  <a:srgbClr val="2A78D6"/>
                </a:solidFill>
                <a:latin typeface="Helvetica Neue"/>
              </a:rPr>
              <a:t>A fabricated calibration figure would be worse than a missing one.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510528"/>
            <a:ext cx="5486400" cy="274320"/>
          </a:xfrm>
          <a:prstGeom prst="rect">
            <a:avLst/>
          </a:prstGeom>
          <a:noFill/>
        </p:spPr>
        <p:txBody>
          <a:bodyPr wrap="square">
            <a:spAutoFit/>
          </a:bodyPr>
          <a:lstStyle/>
          <a:p>
            <a:pPr algn="l">
              <a:lnSpc>
                <a:spcPct val="115000"/>
              </a:lnSpc>
            </a:pPr>
            <a:r>
              <a:rPr sz="900" b="0" i="0">
                <a:solidFill>
                  <a:srgbClr val="898781"/>
                </a:solidFill>
                <a:latin typeface="Helvetica Neue"/>
              </a:rPr>
              <a:t>LAMBADA &amp; MMLU Benchmark Evaluation — Extended</a:t>
            </a:r>
          </a:p>
        </p:txBody>
      </p:sp>
      <p:sp>
        <p:nvSpPr>
          <p:cNvPr id="4" name="TextBox 3"/>
          <p:cNvSpPr txBox="1"/>
          <p:nvPr/>
        </p:nvSpPr>
        <p:spPr>
          <a:xfrm>
            <a:off x="11338560" y="6510528"/>
            <a:ext cx="457200" cy="274320"/>
          </a:xfrm>
          <a:prstGeom prst="rect">
            <a:avLst/>
          </a:prstGeom>
          <a:noFill/>
        </p:spPr>
        <p:txBody>
          <a:bodyPr wrap="square">
            <a:spAutoFit/>
          </a:bodyPr>
          <a:lstStyle/>
          <a:p>
            <a:pPr algn="r">
              <a:lnSpc>
                <a:spcPct val="115000"/>
              </a:lnSpc>
            </a:pPr>
            <a:r>
              <a:rPr sz="900" b="0" i="0">
                <a:solidFill>
                  <a:srgbClr val="898781"/>
                </a:solidFill>
                <a:latin typeface="Helvetica Neue"/>
              </a:rPr>
              <a:t>16</a:t>
            </a:r>
          </a:p>
        </p:txBody>
      </p:sp>
      <p:sp>
        <p:nvSpPr>
          <p:cNvPr id="5" name="TextBox 4"/>
          <p:cNvSpPr txBox="1"/>
          <p:nvPr/>
        </p:nvSpPr>
        <p:spPr>
          <a:xfrm>
            <a:off x="548640" y="320040"/>
            <a:ext cx="10058400" cy="320040"/>
          </a:xfrm>
          <a:prstGeom prst="rect">
            <a:avLst/>
          </a:prstGeom>
          <a:noFill/>
        </p:spPr>
        <p:txBody>
          <a:bodyPr wrap="square">
            <a:spAutoFit/>
          </a:bodyPr>
          <a:lstStyle/>
          <a:p>
            <a:pPr algn="l">
              <a:lnSpc>
                <a:spcPct val="115000"/>
              </a:lnSpc>
            </a:pPr>
            <a:r>
              <a:rPr sz="1250" b="1" i="0">
                <a:solidFill>
                  <a:srgbClr val="2A78D6"/>
                </a:solidFill>
                <a:latin typeface="Helvetica Neue"/>
              </a:rPr>
              <a:t>RESULTS</a:t>
            </a:r>
          </a:p>
        </p:txBody>
      </p:sp>
      <p:sp>
        <p:nvSpPr>
          <p:cNvPr id="6" name="TextBox 5"/>
          <p:cNvSpPr txBox="1"/>
          <p:nvPr/>
        </p:nvSpPr>
        <p:spPr>
          <a:xfrm>
            <a:off x="548640" y="914400"/>
            <a:ext cx="11064240" cy="640080"/>
          </a:xfrm>
          <a:prstGeom prst="rect">
            <a:avLst/>
          </a:prstGeom>
          <a:noFill/>
        </p:spPr>
        <p:txBody>
          <a:bodyPr wrap="square">
            <a:spAutoFit/>
          </a:bodyPr>
          <a:lstStyle/>
          <a:p>
            <a:pPr algn="l">
              <a:lnSpc>
                <a:spcPct val="115000"/>
              </a:lnSpc>
            </a:pPr>
            <a:r>
              <a:rPr sz="2600" b="1" i="0">
                <a:solidFill>
                  <a:srgbClr val="0B0B0B"/>
                </a:solidFill>
                <a:latin typeface="Helvetica Neue"/>
              </a:rPr>
              <a:t>MMLU — task quality</a:t>
            </a:r>
          </a:p>
        </p:txBody>
      </p:sp>
      <p:cxnSp>
        <p:nvCxnSpPr>
          <p:cNvPr id="7" name="Connector 6"/>
          <p:cNvCxnSpPr/>
          <p:nvPr/>
        </p:nvCxnSpPr>
        <p:spPr>
          <a:xfrm>
            <a:off x="548640" y="1508760"/>
            <a:ext cx="11091672"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1572768"/>
            <a:ext cx="11064240" cy="292608"/>
          </a:xfrm>
          <a:prstGeom prst="rect">
            <a:avLst/>
          </a:prstGeom>
          <a:noFill/>
        </p:spPr>
        <p:txBody>
          <a:bodyPr wrap="square">
            <a:spAutoFit/>
          </a:bodyPr>
          <a:lstStyle/>
          <a:p>
            <a:pPr algn="l">
              <a:lnSpc>
                <a:spcPct val="115000"/>
              </a:lnSpc>
            </a:pPr>
            <a:r>
              <a:rPr sz="1300" b="1" i="0">
                <a:solidFill>
                  <a:srgbClr val="2A78D6"/>
                </a:solidFill>
                <a:latin typeface="Helvetica Neue"/>
              </a:rPr>
              <a:t>2,850 items per model  ·  Wilson 95% confidence intervals</a:t>
            </a:r>
          </a:p>
        </p:txBody>
      </p:sp>
      <p:graphicFrame>
        <p:nvGraphicFramePr>
          <p:cNvPr id="9" name="Table 8"/>
          <p:cNvGraphicFramePr>
            <a:graphicFrameLocks noGrp="1"/>
          </p:cNvGraphicFramePr>
          <p:nvPr/>
        </p:nvGraphicFramePr>
        <p:xfrm>
          <a:off x="548640" y="2011680"/>
          <a:ext cx="11064239" cy="1609344"/>
        </p:xfrm>
        <a:graphic>
          <a:graphicData uri="http://schemas.openxmlformats.org/drawingml/2006/table">
            <a:tbl>
              <a:tblPr firstRow="1" bandRow="1">
                <a:tableStyleId>{5C22544A-7EE6-4342-B048-85BDC9FD1C3A}</a:tableStyleId>
              </a:tblPr>
              <a:tblGrid>
                <a:gridCol w="3319272"/>
                <a:gridCol w="1991563"/>
                <a:gridCol w="2434132"/>
                <a:gridCol w="1659636"/>
                <a:gridCol w="1659636"/>
              </a:tblGrid>
              <a:tr h="402336">
                <a:tc>
                  <a:txBody>
                    <a:bodyPr/>
                    <a:lstStyle/>
                    <a:p>
                      <a:pPr algn="l"/>
                      <a:r>
                        <a:rPr sz="1350" b="1">
                          <a:solidFill>
                            <a:srgbClr val="FFFFFF"/>
                          </a:solidFill>
                          <a:latin typeface="Helvetica Neue"/>
                        </a:rPr>
                        <a:t>Model</a:t>
                      </a:r>
                    </a:p>
                  </a:txBody>
                  <a:tcPr marL="73152" marR="73152" marT="27432" marB="27432" anchor="ctr">
                    <a:solidFill>
                      <a:srgbClr val="0B0B0B"/>
                    </a:solidFill>
                  </a:tcPr>
                </a:tc>
                <a:tc>
                  <a:txBody>
                    <a:bodyPr/>
                    <a:lstStyle/>
                    <a:p>
                      <a:pPr algn="ctr"/>
                      <a:r>
                        <a:rPr sz="1350" b="1">
                          <a:solidFill>
                            <a:srgbClr val="FFFFFF"/>
                          </a:solidFill>
                          <a:latin typeface="Helvetica Neue"/>
                        </a:rPr>
                        <a:t>Accuracy</a:t>
                      </a:r>
                    </a:p>
                  </a:txBody>
                  <a:tcPr marL="73152" marR="73152" marT="27432" marB="27432" anchor="ctr">
                    <a:solidFill>
                      <a:srgbClr val="0B0B0B"/>
                    </a:solidFill>
                  </a:tcPr>
                </a:tc>
                <a:tc>
                  <a:txBody>
                    <a:bodyPr/>
                    <a:lstStyle/>
                    <a:p>
                      <a:pPr algn="ctr"/>
                      <a:r>
                        <a:rPr sz="1350" b="1">
                          <a:solidFill>
                            <a:srgbClr val="FFFFFF"/>
                          </a:solidFill>
                          <a:latin typeface="Helvetica Neue"/>
                        </a:rPr>
                        <a:t>95% CI</a:t>
                      </a:r>
                    </a:p>
                  </a:txBody>
                  <a:tcPr marL="73152" marR="73152" marT="27432" marB="27432" anchor="ctr">
                    <a:solidFill>
                      <a:srgbClr val="0B0B0B"/>
                    </a:solidFill>
                  </a:tcPr>
                </a:tc>
                <a:tc>
                  <a:txBody>
                    <a:bodyPr/>
                    <a:lstStyle/>
                    <a:p>
                      <a:pPr algn="ctr"/>
                      <a:r>
                        <a:rPr sz="1350" b="1">
                          <a:solidFill>
                            <a:srgbClr val="FFFFFF"/>
                          </a:solidFill>
                          <a:latin typeface="Helvetica Neue"/>
                        </a:rPr>
                        <a:t>Error rate</a:t>
                      </a:r>
                    </a:p>
                  </a:txBody>
                  <a:tcPr marL="73152" marR="73152" marT="27432" marB="27432" anchor="ctr">
                    <a:solidFill>
                      <a:srgbClr val="0B0B0B"/>
                    </a:solidFill>
                  </a:tcPr>
                </a:tc>
                <a:tc>
                  <a:txBody>
                    <a:bodyPr/>
                    <a:lstStyle/>
                    <a:p>
                      <a:pPr algn="ctr"/>
                      <a:r>
                        <a:rPr sz="1350" b="1">
                          <a:solidFill>
                            <a:srgbClr val="FFFFFF"/>
                          </a:solidFill>
                          <a:latin typeface="Helvetica Neue"/>
                        </a:rPr>
                        <a:t>Parse fail</a:t>
                      </a:r>
                    </a:p>
                  </a:txBody>
                  <a:tcPr marL="73152" marR="73152" marT="27432" marB="27432" anchor="ctr">
                    <a:solidFill>
                      <a:srgbClr val="0B0B0B"/>
                    </a:solidFill>
                  </a:tcPr>
                </a:tc>
              </a:tr>
              <a:tr h="402336">
                <a:tc>
                  <a:txBody>
                    <a:bodyPr/>
                    <a:lstStyle/>
                    <a:p>
                      <a:pPr algn="l"/>
                      <a:r>
                        <a:rPr sz="1350" b="0">
                          <a:solidFill>
                            <a:srgbClr val="0B0B0B"/>
                          </a:solidFill>
                          <a:latin typeface="Helvetica Neue"/>
                        </a:rPr>
                        <a:t>Gemma-3-4B</a:t>
                      </a:r>
                    </a:p>
                  </a:txBody>
                  <a:tcPr marL="73152" marR="73152" marT="27432" marB="27432" anchor="ctr">
                    <a:solidFill>
                      <a:srgbClr val="FCFCFB"/>
                    </a:solidFill>
                  </a:tcPr>
                </a:tc>
                <a:tc>
                  <a:txBody>
                    <a:bodyPr/>
                    <a:lstStyle/>
                    <a:p>
                      <a:pPr algn="ctr"/>
                      <a:r>
                        <a:rPr sz="1350" b="1">
                          <a:solidFill>
                            <a:srgbClr val="0B0B0B"/>
                          </a:solidFill>
                          <a:latin typeface="Helvetica Neue"/>
                        </a:rPr>
                        <a:t>60.4%</a:t>
                      </a:r>
                    </a:p>
                  </a:txBody>
                  <a:tcPr marL="73152" marR="73152" marT="27432" marB="27432" anchor="ctr">
                    <a:solidFill>
                      <a:srgbClr val="FCFCFB"/>
                    </a:solidFill>
                  </a:tcPr>
                </a:tc>
                <a:tc>
                  <a:txBody>
                    <a:bodyPr/>
                    <a:lstStyle/>
                    <a:p>
                      <a:pPr algn="ctr"/>
                      <a:r>
                        <a:rPr sz="1350" b="0">
                          <a:solidFill>
                            <a:srgbClr val="0B0B0B"/>
                          </a:solidFill>
                          <a:latin typeface="Helvetica Neue"/>
                        </a:rPr>
                        <a:t>58.5 – 62.1%</a:t>
                      </a:r>
                    </a:p>
                  </a:txBody>
                  <a:tcPr marL="73152" marR="73152" marT="27432" marB="27432" anchor="ctr">
                    <a:solidFill>
                      <a:srgbClr val="FCFCFB"/>
                    </a:solidFill>
                  </a:tcPr>
                </a:tc>
                <a:tc>
                  <a:txBody>
                    <a:bodyPr/>
                    <a:lstStyle/>
                    <a:p>
                      <a:pPr algn="ctr"/>
                      <a:r>
                        <a:rPr sz="1350" b="0">
                          <a:solidFill>
                            <a:srgbClr val="0B0B0B"/>
                          </a:solidFill>
                          <a:latin typeface="Helvetica Neue"/>
                        </a:rPr>
                        <a:t>39.6%</a:t>
                      </a:r>
                    </a:p>
                  </a:txBody>
                  <a:tcPr marL="73152" marR="73152" marT="27432" marB="27432" anchor="ctr">
                    <a:solidFill>
                      <a:srgbClr val="FCFCFB"/>
                    </a:solidFill>
                  </a:tcPr>
                </a:tc>
                <a:tc>
                  <a:txBody>
                    <a:bodyPr/>
                    <a:lstStyle/>
                    <a:p>
                      <a:pPr algn="ctr"/>
                      <a:r>
                        <a:rPr sz="1350" b="0">
                          <a:solidFill>
                            <a:srgbClr val="0B0B0B"/>
                          </a:solidFill>
                          <a:latin typeface="Helvetica Neue"/>
                        </a:rPr>
                        <a:t>0.4%</a:t>
                      </a:r>
                    </a:p>
                  </a:txBody>
                  <a:tcPr marL="73152" marR="73152" marT="27432" marB="27432" anchor="ctr">
                    <a:solidFill>
                      <a:srgbClr val="FCFCFB"/>
                    </a:solidFill>
                  </a:tcPr>
                </a:tc>
              </a:tr>
              <a:tr h="402336">
                <a:tc>
                  <a:txBody>
                    <a:bodyPr/>
                    <a:lstStyle/>
                    <a:p>
                      <a:pPr algn="l"/>
                      <a:r>
                        <a:rPr sz="1350" b="0">
                          <a:solidFill>
                            <a:srgbClr val="0B0B0B"/>
                          </a:solidFill>
                          <a:latin typeface="Helvetica Neue"/>
                        </a:rPr>
                        <a:t>Llama-3.2-3B</a:t>
                      </a:r>
                    </a:p>
                  </a:txBody>
                  <a:tcPr marL="73152" marR="73152" marT="27432" marB="27432" anchor="ctr">
                    <a:solidFill>
                      <a:srgbClr val="FCFCFB"/>
                    </a:solidFill>
                  </a:tcPr>
                </a:tc>
                <a:tc>
                  <a:txBody>
                    <a:bodyPr/>
                    <a:lstStyle/>
                    <a:p>
                      <a:pPr algn="ctr"/>
                      <a:r>
                        <a:rPr sz="1350" b="1">
                          <a:solidFill>
                            <a:srgbClr val="0B0B0B"/>
                          </a:solidFill>
                          <a:latin typeface="Helvetica Neue"/>
                        </a:rPr>
                        <a:t>54.7%</a:t>
                      </a:r>
                    </a:p>
                  </a:txBody>
                  <a:tcPr marL="73152" marR="73152" marT="27432" marB="27432" anchor="ctr">
                    <a:solidFill>
                      <a:srgbClr val="FCFCFB"/>
                    </a:solidFill>
                  </a:tcPr>
                </a:tc>
                <a:tc>
                  <a:txBody>
                    <a:bodyPr/>
                    <a:lstStyle/>
                    <a:p>
                      <a:pPr algn="ctr"/>
                      <a:r>
                        <a:rPr sz="1350" b="0">
                          <a:solidFill>
                            <a:srgbClr val="0B0B0B"/>
                          </a:solidFill>
                          <a:latin typeface="Helvetica Neue"/>
                        </a:rPr>
                        <a:t>52.8 – 56.5%</a:t>
                      </a:r>
                    </a:p>
                  </a:txBody>
                  <a:tcPr marL="73152" marR="73152" marT="27432" marB="27432" anchor="ctr">
                    <a:solidFill>
                      <a:srgbClr val="FCFCFB"/>
                    </a:solidFill>
                  </a:tcPr>
                </a:tc>
                <a:tc>
                  <a:txBody>
                    <a:bodyPr/>
                    <a:lstStyle/>
                    <a:p>
                      <a:pPr algn="ctr"/>
                      <a:r>
                        <a:rPr sz="1350" b="0">
                          <a:solidFill>
                            <a:srgbClr val="0B0B0B"/>
                          </a:solidFill>
                          <a:latin typeface="Helvetica Neue"/>
                        </a:rPr>
                        <a:t>45.3%</a:t>
                      </a:r>
                    </a:p>
                  </a:txBody>
                  <a:tcPr marL="73152" marR="73152" marT="27432" marB="27432" anchor="ctr">
                    <a:solidFill>
                      <a:srgbClr val="FCFCFB"/>
                    </a:solidFill>
                  </a:tcPr>
                </a:tc>
                <a:tc>
                  <a:txBody>
                    <a:bodyPr/>
                    <a:lstStyle/>
                    <a:p>
                      <a:pPr algn="ctr"/>
                      <a:r>
                        <a:rPr sz="1350" b="0">
                          <a:solidFill>
                            <a:srgbClr val="0B0B0B"/>
                          </a:solidFill>
                          <a:latin typeface="Helvetica Neue"/>
                        </a:rPr>
                        <a:t>11.7%</a:t>
                      </a:r>
                    </a:p>
                  </a:txBody>
                  <a:tcPr marL="73152" marR="73152" marT="27432" marB="27432" anchor="ctr">
                    <a:solidFill>
                      <a:srgbClr val="FCFCFB"/>
                    </a:solidFill>
                  </a:tcPr>
                </a:tc>
              </a:tr>
              <a:tr h="402336">
                <a:tc>
                  <a:txBody>
                    <a:bodyPr/>
                    <a:lstStyle/>
                    <a:p>
                      <a:pPr algn="l"/>
                      <a:r>
                        <a:rPr sz="1350" b="0">
                          <a:solidFill>
                            <a:srgbClr val="0B0B0B"/>
                          </a:solidFill>
                          <a:latin typeface="Helvetica Neue"/>
                        </a:rPr>
                        <a:t>Ministral-8B</a:t>
                      </a:r>
                    </a:p>
                  </a:txBody>
                  <a:tcPr marL="73152" marR="73152" marT="27432" marB="27432" anchor="ctr">
                    <a:solidFill>
                      <a:srgbClr val="FCFCFB"/>
                    </a:solidFill>
                  </a:tcPr>
                </a:tc>
                <a:tc>
                  <a:txBody>
                    <a:bodyPr/>
                    <a:lstStyle/>
                    <a:p>
                      <a:pPr algn="ctr"/>
                      <a:r>
                        <a:rPr sz="1350" b="1">
                          <a:solidFill>
                            <a:srgbClr val="0B0B0B"/>
                          </a:solidFill>
                          <a:latin typeface="Helvetica Neue"/>
                        </a:rPr>
                        <a:t>79.3%</a:t>
                      </a:r>
                    </a:p>
                  </a:txBody>
                  <a:tcPr marL="73152" marR="73152" marT="27432" marB="27432" anchor="ctr">
                    <a:solidFill>
                      <a:srgbClr val="FCFCFB"/>
                    </a:solidFill>
                  </a:tcPr>
                </a:tc>
                <a:tc>
                  <a:txBody>
                    <a:bodyPr/>
                    <a:lstStyle/>
                    <a:p>
                      <a:pPr algn="ctr"/>
                      <a:r>
                        <a:rPr sz="1350" b="0">
                          <a:solidFill>
                            <a:srgbClr val="0B0B0B"/>
                          </a:solidFill>
                          <a:latin typeface="Helvetica Neue"/>
                        </a:rPr>
                        <a:t>77.8 – 80.8%</a:t>
                      </a:r>
                    </a:p>
                  </a:txBody>
                  <a:tcPr marL="73152" marR="73152" marT="27432" marB="27432" anchor="ctr">
                    <a:solidFill>
                      <a:srgbClr val="FCFCFB"/>
                    </a:solidFill>
                  </a:tcPr>
                </a:tc>
                <a:tc>
                  <a:txBody>
                    <a:bodyPr/>
                    <a:lstStyle/>
                    <a:p>
                      <a:pPr algn="ctr"/>
                      <a:r>
                        <a:rPr sz="1350" b="0">
                          <a:solidFill>
                            <a:srgbClr val="0B0B0B"/>
                          </a:solidFill>
                          <a:latin typeface="Helvetica Neue"/>
                        </a:rPr>
                        <a:t>20.7%</a:t>
                      </a:r>
                    </a:p>
                  </a:txBody>
                  <a:tcPr marL="73152" marR="73152" marT="27432" marB="27432" anchor="ctr">
                    <a:solidFill>
                      <a:srgbClr val="FCFCFB"/>
                    </a:solidFill>
                  </a:tcPr>
                </a:tc>
                <a:tc>
                  <a:txBody>
                    <a:bodyPr/>
                    <a:lstStyle/>
                    <a:p>
                      <a:pPr algn="ctr"/>
                      <a:r>
                        <a:rPr sz="1350" b="0">
                          <a:solidFill>
                            <a:srgbClr val="0B0B0B"/>
                          </a:solidFill>
                          <a:latin typeface="Helvetica Neue"/>
                        </a:rPr>
                        <a:t>0.6%</a:t>
                      </a:r>
                    </a:p>
                  </a:txBody>
                  <a:tcPr marL="73152" marR="73152" marT="27432" marB="27432" anchor="ctr">
                    <a:solidFill>
                      <a:srgbClr val="FCFCFB"/>
                    </a:solidFill>
                  </a:tcPr>
                </a:tc>
              </a:tr>
            </a:tbl>
          </a:graphicData>
        </a:graphic>
      </p:graphicFrame>
      <p:sp>
        <p:nvSpPr>
          <p:cNvPr id="10" name="TextBox 9"/>
          <p:cNvSpPr txBox="1"/>
          <p:nvPr/>
        </p:nvSpPr>
        <p:spPr>
          <a:xfrm>
            <a:off x="548640" y="3931920"/>
            <a:ext cx="2743200" cy="274320"/>
          </a:xfrm>
          <a:prstGeom prst="rect">
            <a:avLst/>
          </a:prstGeom>
          <a:noFill/>
        </p:spPr>
        <p:txBody>
          <a:bodyPr wrap="square">
            <a:spAutoFit/>
          </a:bodyPr>
          <a:lstStyle/>
          <a:p>
            <a:pPr algn="l">
              <a:lnSpc>
                <a:spcPct val="115000"/>
              </a:lnSpc>
            </a:pPr>
            <a:r>
              <a:rPr sz="1100" b="1" i="0">
                <a:solidFill>
                  <a:srgbClr val="898781"/>
                </a:solidFill>
                <a:latin typeface="Helvetica Neue"/>
              </a:rPr>
              <a:t>READING IT</a:t>
            </a:r>
          </a:p>
        </p:txBody>
      </p:sp>
      <p:sp>
        <p:nvSpPr>
          <p:cNvPr id="11" name="TextBox 10"/>
          <p:cNvSpPr txBox="1"/>
          <p:nvPr/>
        </p:nvSpPr>
        <p:spPr>
          <a:xfrm>
            <a:off x="548640" y="4224528"/>
            <a:ext cx="11064240" cy="1554480"/>
          </a:xfrm>
          <a:prstGeom prst="rect">
            <a:avLst/>
          </a:prstGeom>
          <a:noFill/>
        </p:spPr>
        <p:txBody>
          <a:bodyPr wrap="square">
            <a:spAutoFit/>
          </a:bodyPr>
          <a:lstStyle/>
          <a:p>
            <a:pPr algn="l">
              <a:lnSpc>
                <a:spcPct val="135000"/>
              </a:lnSpc>
              <a:spcAft>
                <a:spcPts val="700"/>
              </a:spcAft>
            </a:pPr>
            <a:r>
              <a:rPr sz="1350" b="0" i="0">
                <a:solidFill>
                  <a:srgbClr val="52514E"/>
                </a:solidFill>
                <a:latin typeface="Helvetica Neue"/>
              </a:rPr>
              <a:t>—  Ministral-8B leads at 79.3%.</a:t>
            </a:r>
          </a:p>
          <a:p>
            <a:pPr algn="l">
              <a:lnSpc>
                <a:spcPct val="135000"/>
              </a:lnSpc>
              <a:spcAft>
                <a:spcPts val="700"/>
              </a:spcAft>
            </a:pPr>
            <a:r>
              <a:rPr sz="1350" b="0" i="0">
                <a:solidFill>
                  <a:srgbClr val="52514E"/>
                </a:solidFill>
                <a:latin typeface="Helvetica Neue"/>
              </a:rPr>
              <a:t>—  Llama-3.2-3B returns no parseable answer on 11.7% of items — an instruction-following failure, reported apart from being wrong because the fixes differ.</a:t>
            </a:r>
          </a:p>
          <a:p>
            <a:pPr algn="l">
              <a:lnSpc>
                <a:spcPct val="135000"/>
              </a:lnSpc>
              <a:spcAft>
                <a:spcPts val="700"/>
              </a:spcAft>
            </a:pPr>
            <a:r>
              <a:rPr sz="1350" b="0" i="0">
                <a:solidFill>
                  <a:srgbClr val="52514E"/>
                </a:solidFill>
                <a:latin typeface="Helvetica Neue"/>
              </a:rPr>
              <a:t>—  Intervals are shown so differences inside them are not claimed as findings.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510528"/>
            <a:ext cx="5486400" cy="274320"/>
          </a:xfrm>
          <a:prstGeom prst="rect">
            <a:avLst/>
          </a:prstGeom>
          <a:noFill/>
        </p:spPr>
        <p:txBody>
          <a:bodyPr wrap="square">
            <a:spAutoFit/>
          </a:bodyPr>
          <a:lstStyle/>
          <a:p>
            <a:pPr algn="l">
              <a:lnSpc>
                <a:spcPct val="115000"/>
              </a:lnSpc>
            </a:pPr>
            <a:r>
              <a:rPr sz="900" b="0" i="0">
                <a:solidFill>
                  <a:srgbClr val="898781"/>
                </a:solidFill>
                <a:latin typeface="Helvetica Neue"/>
              </a:rPr>
              <a:t>LAMBADA &amp; MMLU Benchmark Evaluation — Extended</a:t>
            </a:r>
          </a:p>
        </p:txBody>
      </p:sp>
      <p:sp>
        <p:nvSpPr>
          <p:cNvPr id="4" name="TextBox 3"/>
          <p:cNvSpPr txBox="1"/>
          <p:nvPr/>
        </p:nvSpPr>
        <p:spPr>
          <a:xfrm>
            <a:off x="11338560" y="6510528"/>
            <a:ext cx="457200" cy="274320"/>
          </a:xfrm>
          <a:prstGeom prst="rect">
            <a:avLst/>
          </a:prstGeom>
          <a:noFill/>
        </p:spPr>
        <p:txBody>
          <a:bodyPr wrap="square">
            <a:spAutoFit/>
          </a:bodyPr>
          <a:lstStyle/>
          <a:p>
            <a:pPr algn="r">
              <a:lnSpc>
                <a:spcPct val="115000"/>
              </a:lnSpc>
            </a:pPr>
            <a:r>
              <a:rPr sz="900" b="0" i="0">
                <a:solidFill>
                  <a:srgbClr val="898781"/>
                </a:solidFill>
                <a:latin typeface="Helvetica Neue"/>
              </a:rPr>
              <a:t>17</a:t>
            </a:r>
          </a:p>
        </p:txBody>
      </p:sp>
      <p:sp>
        <p:nvSpPr>
          <p:cNvPr id="5" name="TextBox 4"/>
          <p:cNvSpPr txBox="1"/>
          <p:nvPr/>
        </p:nvSpPr>
        <p:spPr>
          <a:xfrm>
            <a:off x="548640" y="320040"/>
            <a:ext cx="10058400" cy="320040"/>
          </a:xfrm>
          <a:prstGeom prst="rect">
            <a:avLst/>
          </a:prstGeom>
          <a:noFill/>
        </p:spPr>
        <p:txBody>
          <a:bodyPr wrap="square">
            <a:spAutoFit/>
          </a:bodyPr>
          <a:lstStyle/>
          <a:p>
            <a:pPr algn="l">
              <a:lnSpc>
                <a:spcPct val="115000"/>
              </a:lnSpc>
            </a:pPr>
            <a:r>
              <a:rPr sz="1250" b="1" i="0">
                <a:solidFill>
                  <a:srgbClr val="2A78D6"/>
                </a:solidFill>
                <a:latin typeface="Helvetica Neue"/>
              </a:rPr>
              <a:t>RESULTS</a:t>
            </a:r>
          </a:p>
        </p:txBody>
      </p:sp>
      <p:sp>
        <p:nvSpPr>
          <p:cNvPr id="6" name="TextBox 5"/>
          <p:cNvSpPr txBox="1"/>
          <p:nvPr/>
        </p:nvSpPr>
        <p:spPr>
          <a:xfrm>
            <a:off x="548640" y="914400"/>
            <a:ext cx="11064240" cy="640080"/>
          </a:xfrm>
          <a:prstGeom prst="rect">
            <a:avLst/>
          </a:prstGeom>
          <a:noFill/>
        </p:spPr>
        <p:txBody>
          <a:bodyPr wrap="square">
            <a:spAutoFit/>
          </a:bodyPr>
          <a:lstStyle/>
          <a:p>
            <a:pPr algn="l">
              <a:lnSpc>
                <a:spcPct val="115000"/>
              </a:lnSpc>
            </a:pPr>
            <a:r>
              <a:rPr sz="2600" b="1" i="0">
                <a:solidFill>
                  <a:srgbClr val="0B0B0B"/>
                </a:solidFill>
                <a:latin typeface="Helvetica Neue"/>
              </a:rPr>
              <a:t>MMLU — serving, cost and reliability</a:t>
            </a:r>
          </a:p>
        </p:txBody>
      </p:sp>
      <p:cxnSp>
        <p:nvCxnSpPr>
          <p:cNvPr id="7" name="Connector 6"/>
          <p:cNvCxnSpPr/>
          <p:nvPr/>
        </p:nvCxnSpPr>
        <p:spPr>
          <a:xfrm>
            <a:off x="548640" y="1508760"/>
            <a:ext cx="11091672"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548640" y="1783080"/>
          <a:ext cx="11064238" cy="1609344"/>
        </p:xfrm>
        <a:graphic>
          <a:graphicData uri="http://schemas.openxmlformats.org/drawingml/2006/table">
            <a:tbl>
              <a:tblPr firstRow="1" bandRow="1">
                <a:tableStyleId>{5C22544A-7EE6-4342-B048-85BDC9FD1C3A}</a:tableStyleId>
              </a:tblPr>
              <a:tblGrid>
                <a:gridCol w="2544775"/>
                <a:gridCol w="1438351"/>
                <a:gridCol w="1438351"/>
                <a:gridCol w="1548993"/>
                <a:gridCol w="1438351"/>
                <a:gridCol w="1548993"/>
                <a:gridCol w="1106424"/>
              </a:tblGrid>
              <a:tr h="402336">
                <a:tc>
                  <a:txBody>
                    <a:bodyPr/>
                    <a:lstStyle/>
                    <a:p>
                      <a:pPr algn="l"/>
                      <a:r>
                        <a:rPr sz="1250" b="1">
                          <a:solidFill>
                            <a:srgbClr val="FFFFFF"/>
                          </a:solidFill>
                          <a:latin typeface="Helvetica Neue"/>
                        </a:rPr>
                        <a:t>Model</a:t>
                      </a:r>
                    </a:p>
                  </a:txBody>
                  <a:tcPr marL="73152" marR="73152" marT="27432" marB="27432" anchor="ctr">
                    <a:solidFill>
                      <a:srgbClr val="0B0B0B"/>
                    </a:solidFill>
                  </a:tcPr>
                </a:tc>
                <a:tc>
                  <a:txBody>
                    <a:bodyPr/>
                    <a:lstStyle/>
                    <a:p>
                      <a:pPr algn="ctr"/>
                      <a:r>
                        <a:rPr sz="1250" b="1">
                          <a:solidFill>
                            <a:srgbClr val="FFFFFF"/>
                          </a:solidFill>
                          <a:latin typeface="Helvetica Neue"/>
                        </a:rPr>
                        <a:t>TTFT</a:t>
                      </a:r>
                    </a:p>
                  </a:txBody>
                  <a:tcPr marL="73152" marR="73152" marT="27432" marB="27432" anchor="ctr">
                    <a:solidFill>
                      <a:srgbClr val="0B0B0B"/>
                    </a:solidFill>
                  </a:tcPr>
                </a:tc>
                <a:tc>
                  <a:txBody>
                    <a:bodyPr/>
                    <a:lstStyle/>
                    <a:p>
                      <a:pPr algn="ctr"/>
                      <a:r>
                        <a:rPr sz="1250" b="1">
                          <a:solidFill>
                            <a:srgbClr val="FFFFFF"/>
                          </a:solidFill>
                          <a:latin typeface="Helvetica Neue"/>
                        </a:rPr>
                        <a:t>E2E p95</a:t>
                      </a:r>
                    </a:p>
                  </a:txBody>
                  <a:tcPr marL="73152" marR="73152" marT="27432" marB="27432" anchor="ctr">
                    <a:solidFill>
                      <a:srgbClr val="0B0B0B"/>
                    </a:solidFill>
                  </a:tcPr>
                </a:tc>
                <a:tc>
                  <a:txBody>
                    <a:bodyPr/>
                    <a:lstStyle/>
                    <a:p>
                      <a:pPr algn="ctr"/>
                      <a:r>
                        <a:rPr sz="1250" b="1">
                          <a:solidFill>
                            <a:srgbClr val="FFFFFF"/>
                          </a:solidFill>
                          <a:latin typeface="Helvetica Neue"/>
                        </a:rPr>
                        <a:t>Tok / correct</a:t>
                      </a:r>
                    </a:p>
                  </a:txBody>
                  <a:tcPr marL="73152" marR="73152" marT="27432" marB="27432" anchor="ctr">
                    <a:solidFill>
                      <a:srgbClr val="0B0B0B"/>
                    </a:solidFill>
                  </a:tcPr>
                </a:tc>
                <a:tc>
                  <a:txBody>
                    <a:bodyPr/>
                    <a:lstStyle/>
                    <a:p>
                      <a:pPr algn="ctr"/>
                      <a:r>
                        <a:rPr sz="1250" b="1">
                          <a:solidFill>
                            <a:srgbClr val="FFFFFF"/>
                          </a:solidFill>
                          <a:latin typeface="Helvetica Neue"/>
                        </a:rPr>
                        <a:t>$ / 1M tok</a:t>
                      </a:r>
                    </a:p>
                  </a:txBody>
                  <a:tcPr marL="73152" marR="73152" marT="27432" marB="27432" anchor="ctr">
                    <a:solidFill>
                      <a:srgbClr val="0B0B0B"/>
                    </a:solidFill>
                  </a:tcPr>
                </a:tc>
                <a:tc>
                  <a:txBody>
                    <a:bodyPr/>
                    <a:lstStyle/>
                    <a:p>
                      <a:pPr algn="ctr"/>
                      <a:r>
                        <a:rPr sz="1250" b="1">
                          <a:solidFill>
                            <a:srgbClr val="FFFFFF"/>
                          </a:solidFill>
                          <a:latin typeface="Helvetica Neue"/>
                        </a:rPr>
                        <a:t>$ / correct</a:t>
                      </a:r>
                    </a:p>
                  </a:txBody>
                  <a:tcPr marL="73152" marR="73152" marT="27432" marB="27432" anchor="ctr">
                    <a:solidFill>
                      <a:srgbClr val="0B0B0B"/>
                    </a:solidFill>
                  </a:tcPr>
                </a:tc>
                <a:tc>
                  <a:txBody>
                    <a:bodyPr/>
                    <a:lstStyle/>
                    <a:p>
                      <a:pPr algn="ctr"/>
                      <a:r>
                        <a:rPr sz="1250" b="1">
                          <a:solidFill>
                            <a:srgbClr val="FFFFFF"/>
                          </a:solidFill>
                          <a:latin typeface="Helvetica Neue"/>
                        </a:rPr>
                        <a:t>Success</a:t>
                      </a:r>
                    </a:p>
                  </a:txBody>
                  <a:tcPr marL="73152" marR="73152" marT="27432" marB="27432" anchor="ctr">
                    <a:solidFill>
                      <a:srgbClr val="0B0B0B"/>
                    </a:solidFill>
                  </a:tcPr>
                </a:tc>
              </a:tr>
              <a:tr h="402336">
                <a:tc>
                  <a:txBody>
                    <a:bodyPr/>
                    <a:lstStyle/>
                    <a:p>
                      <a:pPr algn="l"/>
                      <a:r>
                        <a:rPr sz="1250" b="0">
                          <a:solidFill>
                            <a:srgbClr val="0B0B0B"/>
                          </a:solidFill>
                          <a:latin typeface="Helvetica Neue"/>
                        </a:rPr>
                        <a:t>Gemma-3-4B</a:t>
                      </a:r>
                    </a:p>
                  </a:txBody>
                  <a:tcPr marL="73152" marR="73152" marT="27432" marB="27432" anchor="ctr">
                    <a:solidFill>
                      <a:srgbClr val="FCFCFB"/>
                    </a:solidFill>
                  </a:tcPr>
                </a:tc>
                <a:tc>
                  <a:txBody>
                    <a:bodyPr/>
                    <a:lstStyle/>
                    <a:p>
                      <a:pPr algn="ctr"/>
                      <a:r>
                        <a:rPr sz="1250" b="0">
                          <a:solidFill>
                            <a:srgbClr val="0B0B0B"/>
                          </a:solidFill>
                          <a:latin typeface="Helvetica Neue"/>
                        </a:rPr>
                        <a:t>0.582 s</a:t>
                      </a:r>
                    </a:p>
                  </a:txBody>
                  <a:tcPr marL="73152" marR="73152" marT="27432" marB="27432" anchor="ctr">
                    <a:solidFill>
                      <a:srgbClr val="FCFCFB"/>
                    </a:solidFill>
                  </a:tcPr>
                </a:tc>
                <a:tc>
                  <a:txBody>
                    <a:bodyPr/>
                    <a:lstStyle/>
                    <a:p>
                      <a:pPr algn="ctr"/>
                      <a:r>
                        <a:rPr sz="1250" b="0">
                          <a:solidFill>
                            <a:srgbClr val="0B0B0B"/>
                          </a:solidFill>
                          <a:latin typeface="Helvetica Neue"/>
                        </a:rPr>
                        <a:t>3.117 s</a:t>
                      </a:r>
                    </a:p>
                  </a:txBody>
                  <a:tcPr marL="73152" marR="73152" marT="27432" marB="27432" anchor="ctr">
                    <a:solidFill>
                      <a:srgbClr val="FCFCFB"/>
                    </a:solidFill>
                  </a:tcPr>
                </a:tc>
                <a:tc>
                  <a:txBody>
                    <a:bodyPr/>
                    <a:lstStyle/>
                    <a:p>
                      <a:pPr algn="ctr"/>
                      <a:r>
                        <a:rPr sz="1250" b="0">
                          <a:solidFill>
                            <a:srgbClr val="0B0B0B"/>
                          </a:solidFill>
                          <a:latin typeface="Helvetica Neue"/>
                        </a:rPr>
                        <a:t>564</a:t>
                      </a:r>
                    </a:p>
                  </a:txBody>
                  <a:tcPr marL="73152" marR="73152" marT="27432" marB="27432" anchor="ctr">
                    <a:solidFill>
                      <a:srgbClr val="FCFCFB"/>
                    </a:solidFill>
                  </a:tcPr>
                </a:tc>
                <a:tc>
                  <a:txBody>
                    <a:bodyPr/>
                    <a:lstStyle/>
                    <a:p>
                      <a:pPr algn="ctr"/>
                      <a:r>
                        <a:rPr sz="1250" b="0">
                          <a:solidFill>
                            <a:srgbClr val="0B0B0B"/>
                          </a:solidFill>
                          <a:latin typeface="Helvetica Neue"/>
                        </a:rPr>
                        <a:t>$0.0821</a:t>
                      </a:r>
                    </a:p>
                  </a:txBody>
                  <a:tcPr marL="73152" marR="73152" marT="27432" marB="27432" anchor="ctr">
                    <a:solidFill>
                      <a:srgbClr val="FCFCFB"/>
                    </a:solidFill>
                  </a:tcPr>
                </a:tc>
                <a:tc>
                  <a:txBody>
                    <a:bodyPr/>
                    <a:lstStyle/>
                    <a:p>
                      <a:pPr algn="ctr"/>
                      <a:r>
                        <a:rPr sz="1250" b="0">
                          <a:solidFill>
                            <a:srgbClr val="0B0B0B"/>
                          </a:solidFill>
                          <a:latin typeface="Helvetica Neue"/>
                        </a:rPr>
                        <a:t>$0.000046</a:t>
                      </a:r>
                    </a:p>
                  </a:txBody>
                  <a:tcPr marL="73152" marR="73152" marT="27432" marB="27432" anchor="ctr">
                    <a:solidFill>
                      <a:srgbClr val="FCFCFB"/>
                    </a:solidFill>
                  </a:tcPr>
                </a:tc>
                <a:tc>
                  <a:txBody>
                    <a:bodyPr/>
                    <a:lstStyle/>
                    <a:p>
                      <a:pPr algn="ctr"/>
                      <a:r>
                        <a:rPr sz="1250" b="0">
                          <a:solidFill>
                            <a:srgbClr val="0B0B0B"/>
                          </a:solidFill>
                          <a:latin typeface="Helvetica Neue"/>
                        </a:rPr>
                        <a:t>99.9%</a:t>
                      </a:r>
                    </a:p>
                  </a:txBody>
                  <a:tcPr marL="73152" marR="73152" marT="27432" marB="27432" anchor="ctr">
                    <a:solidFill>
                      <a:srgbClr val="FCFCFB"/>
                    </a:solidFill>
                  </a:tcPr>
                </a:tc>
              </a:tr>
              <a:tr h="402336">
                <a:tc>
                  <a:txBody>
                    <a:bodyPr/>
                    <a:lstStyle/>
                    <a:p>
                      <a:pPr algn="l"/>
                      <a:r>
                        <a:rPr sz="1250" b="0">
                          <a:solidFill>
                            <a:srgbClr val="0B0B0B"/>
                          </a:solidFill>
                          <a:latin typeface="Helvetica Neue"/>
                        </a:rPr>
                        <a:t>Llama-3.2-3B</a:t>
                      </a:r>
                    </a:p>
                  </a:txBody>
                  <a:tcPr marL="73152" marR="73152" marT="27432" marB="27432" anchor="ctr">
                    <a:solidFill>
                      <a:srgbClr val="FCFCFB"/>
                    </a:solidFill>
                  </a:tcPr>
                </a:tc>
                <a:tc>
                  <a:txBody>
                    <a:bodyPr/>
                    <a:lstStyle/>
                    <a:p>
                      <a:pPr algn="ctr"/>
                      <a:r>
                        <a:rPr sz="1250" b="0">
                          <a:solidFill>
                            <a:srgbClr val="0B0B0B"/>
                          </a:solidFill>
                          <a:latin typeface="Helvetica Neue"/>
                        </a:rPr>
                        <a:t>0.330 s</a:t>
                      </a:r>
                    </a:p>
                  </a:txBody>
                  <a:tcPr marL="73152" marR="73152" marT="27432" marB="27432" anchor="ctr">
                    <a:solidFill>
                      <a:srgbClr val="FCFCFB"/>
                    </a:solidFill>
                  </a:tcPr>
                </a:tc>
                <a:tc>
                  <a:txBody>
                    <a:bodyPr/>
                    <a:lstStyle/>
                    <a:p>
                      <a:pPr algn="ctr"/>
                      <a:r>
                        <a:rPr sz="1250" b="0">
                          <a:solidFill>
                            <a:srgbClr val="0B0B0B"/>
                          </a:solidFill>
                          <a:latin typeface="Helvetica Neue"/>
                        </a:rPr>
                        <a:t>1.171 s</a:t>
                      </a:r>
                    </a:p>
                  </a:txBody>
                  <a:tcPr marL="73152" marR="73152" marT="27432" marB="27432" anchor="ctr">
                    <a:solidFill>
                      <a:srgbClr val="FCFCFB"/>
                    </a:solidFill>
                  </a:tcPr>
                </a:tc>
                <a:tc>
                  <a:txBody>
                    <a:bodyPr/>
                    <a:lstStyle/>
                    <a:p>
                      <a:pPr algn="ctr"/>
                      <a:r>
                        <a:rPr sz="1250" b="0">
                          <a:solidFill>
                            <a:srgbClr val="0B0B0B"/>
                          </a:solidFill>
                          <a:latin typeface="Helvetica Neue"/>
                        </a:rPr>
                        <a:t>572</a:t>
                      </a:r>
                    </a:p>
                  </a:txBody>
                  <a:tcPr marL="73152" marR="73152" marT="27432" marB="27432" anchor="ctr">
                    <a:solidFill>
                      <a:srgbClr val="FCFCFB"/>
                    </a:solidFill>
                  </a:tcPr>
                </a:tc>
                <a:tc>
                  <a:txBody>
                    <a:bodyPr/>
                    <a:lstStyle/>
                    <a:p>
                      <a:pPr algn="ctr"/>
                      <a:r>
                        <a:rPr sz="1250" b="0">
                          <a:solidFill>
                            <a:srgbClr val="0B0B0B"/>
                          </a:solidFill>
                          <a:latin typeface="Helvetica Neue"/>
                        </a:rPr>
                        <a:t>$0.1453</a:t>
                      </a:r>
                    </a:p>
                  </a:txBody>
                  <a:tcPr marL="73152" marR="73152" marT="27432" marB="27432" anchor="ctr">
                    <a:solidFill>
                      <a:srgbClr val="FCFCFB"/>
                    </a:solidFill>
                  </a:tcPr>
                </a:tc>
                <a:tc>
                  <a:txBody>
                    <a:bodyPr/>
                    <a:lstStyle/>
                    <a:p>
                      <a:pPr algn="ctr"/>
                      <a:r>
                        <a:rPr sz="1250" b="0">
                          <a:solidFill>
                            <a:srgbClr val="0B0B0B"/>
                          </a:solidFill>
                          <a:latin typeface="Helvetica Neue"/>
                        </a:rPr>
                        <a:t>$0.000083</a:t>
                      </a:r>
                    </a:p>
                  </a:txBody>
                  <a:tcPr marL="73152" marR="73152" marT="27432" marB="27432" anchor="ctr">
                    <a:solidFill>
                      <a:srgbClr val="FCFCFB"/>
                    </a:solidFill>
                  </a:tcPr>
                </a:tc>
                <a:tc>
                  <a:txBody>
                    <a:bodyPr/>
                    <a:lstStyle/>
                    <a:p>
                      <a:pPr algn="ctr"/>
                      <a:r>
                        <a:rPr sz="1250" b="0">
                          <a:solidFill>
                            <a:srgbClr val="0B0B0B"/>
                          </a:solidFill>
                          <a:latin typeface="Helvetica Neue"/>
                        </a:rPr>
                        <a:t>100.0%</a:t>
                      </a:r>
                    </a:p>
                  </a:txBody>
                  <a:tcPr marL="73152" marR="73152" marT="27432" marB="27432" anchor="ctr">
                    <a:solidFill>
                      <a:srgbClr val="FCFCFB"/>
                    </a:solidFill>
                  </a:tcPr>
                </a:tc>
              </a:tr>
              <a:tr h="402336">
                <a:tc>
                  <a:txBody>
                    <a:bodyPr/>
                    <a:lstStyle/>
                    <a:p>
                      <a:pPr algn="l"/>
                      <a:r>
                        <a:rPr sz="1250" b="0">
                          <a:solidFill>
                            <a:srgbClr val="0B0B0B"/>
                          </a:solidFill>
                          <a:latin typeface="Helvetica Neue"/>
                        </a:rPr>
                        <a:t>Ministral-8B</a:t>
                      </a:r>
                    </a:p>
                  </a:txBody>
                  <a:tcPr marL="73152" marR="73152" marT="27432" marB="27432" anchor="ctr">
                    <a:solidFill>
                      <a:srgbClr val="FCFCFB"/>
                    </a:solidFill>
                  </a:tcPr>
                </a:tc>
                <a:tc>
                  <a:txBody>
                    <a:bodyPr/>
                    <a:lstStyle/>
                    <a:p>
                      <a:pPr algn="ctr"/>
                      <a:r>
                        <a:rPr sz="1250" b="0">
                          <a:solidFill>
                            <a:srgbClr val="0B0B0B"/>
                          </a:solidFill>
                          <a:latin typeface="Helvetica Neue"/>
                        </a:rPr>
                        <a:t>0.413 s</a:t>
                      </a:r>
                    </a:p>
                  </a:txBody>
                  <a:tcPr marL="73152" marR="73152" marT="27432" marB="27432" anchor="ctr">
                    <a:solidFill>
                      <a:srgbClr val="FCFCFB"/>
                    </a:solidFill>
                  </a:tcPr>
                </a:tc>
                <a:tc>
                  <a:txBody>
                    <a:bodyPr/>
                    <a:lstStyle/>
                    <a:p>
                      <a:pPr algn="ctr"/>
                      <a:r>
                        <a:rPr sz="1250" b="0">
                          <a:solidFill>
                            <a:srgbClr val="0B0B0B"/>
                          </a:solidFill>
                          <a:latin typeface="Helvetica Neue"/>
                        </a:rPr>
                        <a:t>2.738 s</a:t>
                      </a:r>
                    </a:p>
                  </a:txBody>
                  <a:tcPr marL="73152" marR="73152" marT="27432" marB="27432" anchor="ctr">
                    <a:solidFill>
                      <a:srgbClr val="FCFCFB"/>
                    </a:solidFill>
                  </a:tcPr>
                </a:tc>
                <a:tc>
                  <a:txBody>
                    <a:bodyPr/>
                    <a:lstStyle/>
                    <a:p>
                      <a:pPr algn="ctr"/>
                      <a:r>
                        <a:rPr sz="1250" b="0">
                          <a:solidFill>
                            <a:srgbClr val="0B0B0B"/>
                          </a:solidFill>
                          <a:latin typeface="Helvetica Neue"/>
                        </a:rPr>
                        <a:t>419</a:t>
                      </a:r>
                    </a:p>
                  </a:txBody>
                  <a:tcPr marL="73152" marR="73152" marT="27432" marB="27432" anchor="ctr">
                    <a:solidFill>
                      <a:srgbClr val="FCFCFB"/>
                    </a:solidFill>
                  </a:tcPr>
                </a:tc>
                <a:tc>
                  <a:txBody>
                    <a:bodyPr/>
                    <a:lstStyle/>
                    <a:p>
                      <a:pPr algn="ctr"/>
                      <a:r>
                        <a:rPr sz="1250" b="0">
                          <a:solidFill>
                            <a:srgbClr val="0B0B0B"/>
                          </a:solidFill>
                          <a:latin typeface="Helvetica Neue"/>
                        </a:rPr>
                        <a:t>$0.1226</a:t>
                      </a:r>
                    </a:p>
                  </a:txBody>
                  <a:tcPr marL="73152" marR="73152" marT="27432" marB="27432" anchor="ctr">
                    <a:solidFill>
                      <a:srgbClr val="FCFCFB"/>
                    </a:solidFill>
                  </a:tcPr>
                </a:tc>
                <a:tc>
                  <a:txBody>
                    <a:bodyPr/>
                    <a:lstStyle/>
                    <a:p>
                      <a:pPr algn="ctr"/>
                      <a:r>
                        <a:rPr sz="1250" b="0">
                          <a:solidFill>
                            <a:srgbClr val="0B0B0B"/>
                          </a:solidFill>
                          <a:latin typeface="Helvetica Neue"/>
                        </a:rPr>
                        <a:t>$0.000051</a:t>
                      </a:r>
                    </a:p>
                  </a:txBody>
                  <a:tcPr marL="73152" marR="73152" marT="27432" marB="27432" anchor="ctr">
                    <a:solidFill>
                      <a:srgbClr val="FCFCFB"/>
                    </a:solidFill>
                  </a:tcPr>
                </a:tc>
                <a:tc>
                  <a:txBody>
                    <a:bodyPr/>
                    <a:lstStyle/>
                    <a:p>
                      <a:pPr algn="ctr"/>
                      <a:r>
                        <a:rPr sz="1250" b="0">
                          <a:solidFill>
                            <a:srgbClr val="0B0B0B"/>
                          </a:solidFill>
                          <a:latin typeface="Helvetica Neue"/>
                        </a:rPr>
                        <a:t>100.0%</a:t>
                      </a:r>
                    </a:p>
                  </a:txBody>
                  <a:tcPr marL="73152" marR="73152" marT="27432" marB="27432" anchor="ctr">
                    <a:solidFill>
                      <a:srgbClr val="FCFCFB"/>
                    </a:solidFill>
                  </a:tcPr>
                </a:tc>
              </a:tr>
            </a:tbl>
          </a:graphicData>
        </a:graphic>
      </p:graphicFrame>
      <p:sp>
        <p:nvSpPr>
          <p:cNvPr id="9" name="TextBox 8"/>
          <p:cNvSpPr txBox="1"/>
          <p:nvPr/>
        </p:nvSpPr>
        <p:spPr>
          <a:xfrm>
            <a:off x="548640" y="3749039"/>
            <a:ext cx="2743200" cy="274320"/>
          </a:xfrm>
          <a:prstGeom prst="rect">
            <a:avLst/>
          </a:prstGeom>
          <a:noFill/>
        </p:spPr>
        <p:txBody>
          <a:bodyPr wrap="square">
            <a:spAutoFit/>
          </a:bodyPr>
          <a:lstStyle/>
          <a:p>
            <a:pPr algn="l">
              <a:lnSpc>
                <a:spcPct val="115000"/>
              </a:lnSpc>
            </a:pPr>
            <a:r>
              <a:rPr sz="1100" b="1" i="0">
                <a:solidFill>
                  <a:srgbClr val="898781"/>
                </a:solidFill>
                <a:latin typeface="Helvetica Neue"/>
              </a:rPr>
              <a:t>READING IT</a:t>
            </a:r>
          </a:p>
        </p:txBody>
      </p:sp>
      <p:sp>
        <p:nvSpPr>
          <p:cNvPr id="10" name="TextBox 9"/>
          <p:cNvSpPr txBox="1"/>
          <p:nvPr/>
        </p:nvSpPr>
        <p:spPr>
          <a:xfrm>
            <a:off x="548640" y="4041648"/>
            <a:ext cx="11064240" cy="1645920"/>
          </a:xfrm>
          <a:prstGeom prst="rect">
            <a:avLst/>
          </a:prstGeom>
          <a:noFill/>
        </p:spPr>
        <p:txBody>
          <a:bodyPr wrap="square">
            <a:spAutoFit/>
          </a:bodyPr>
          <a:lstStyle/>
          <a:p>
            <a:pPr algn="l">
              <a:lnSpc>
                <a:spcPct val="135000"/>
              </a:lnSpc>
              <a:spcAft>
                <a:spcPts val="700"/>
              </a:spcAft>
            </a:pPr>
            <a:r>
              <a:rPr sz="1350" b="0" i="0">
                <a:solidFill>
                  <a:srgbClr val="52514E"/>
                </a:solidFill>
                <a:latin typeface="Helvetica Neue"/>
              </a:rPr>
              <a:t>—  Gemma-3-4B costs $0.000046 per correct answer against $0.000083 for Llama-3.2-3B — 1.8× more.</a:t>
            </a:r>
          </a:p>
          <a:p>
            <a:pPr algn="l">
              <a:lnSpc>
                <a:spcPct val="135000"/>
              </a:lnSpc>
              <a:spcAft>
                <a:spcPts val="700"/>
              </a:spcAft>
            </a:pPr>
            <a:r>
              <a:rPr sz="1350" b="0" i="0">
                <a:solidFill>
                  <a:srgbClr val="52514E"/>
                </a:solidFill>
                <a:latin typeface="Helvetica Neue"/>
              </a:rPr>
              <a:t>—  Latency is client-measured; tokens and cost are provider-reported. Nothing here is estimated.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510528"/>
            <a:ext cx="5486400" cy="274320"/>
          </a:xfrm>
          <a:prstGeom prst="rect">
            <a:avLst/>
          </a:prstGeom>
          <a:noFill/>
        </p:spPr>
        <p:txBody>
          <a:bodyPr wrap="square">
            <a:spAutoFit/>
          </a:bodyPr>
          <a:lstStyle/>
          <a:p>
            <a:pPr algn="l">
              <a:lnSpc>
                <a:spcPct val="115000"/>
              </a:lnSpc>
            </a:pPr>
            <a:r>
              <a:rPr sz="900" b="0" i="0">
                <a:solidFill>
                  <a:srgbClr val="898781"/>
                </a:solidFill>
                <a:latin typeface="Helvetica Neue"/>
              </a:rPr>
              <a:t>LAMBADA &amp; MMLU Benchmark Evaluation — Extended</a:t>
            </a:r>
          </a:p>
        </p:txBody>
      </p:sp>
      <p:sp>
        <p:nvSpPr>
          <p:cNvPr id="4" name="TextBox 3"/>
          <p:cNvSpPr txBox="1"/>
          <p:nvPr/>
        </p:nvSpPr>
        <p:spPr>
          <a:xfrm>
            <a:off x="11338560" y="6510528"/>
            <a:ext cx="457200" cy="274320"/>
          </a:xfrm>
          <a:prstGeom prst="rect">
            <a:avLst/>
          </a:prstGeom>
          <a:noFill/>
        </p:spPr>
        <p:txBody>
          <a:bodyPr wrap="square">
            <a:spAutoFit/>
          </a:bodyPr>
          <a:lstStyle/>
          <a:p>
            <a:pPr algn="r">
              <a:lnSpc>
                <a:spcPct val="115000"/>
              </a:lnSpc>
            </a:pPr>
            <a:r>
              <a:rPr sz="900" b="0" i="0">
                <a:solidFill>
                  <a:srgbClr val="898781"/>
                </a:solidFill>
                <a:latin typeface="Helvetica Neue"/>
              </a:rPr>
              <a:t>18</a:t>
            </a:r>
          </a:p>
        </p:txBody>
      </p:sp>
      <p:sp>
        <p:nvSpPr>
          <p:cNvPr id="5" name="TextBox 4"/>
          <p:cNvSpPr txBox="1"/>
          <p:nvPr/>
        </p:nvSpPr>
        <p:spPr>
          <a:xfrm>
            <a:off x="548640" y="320040"/>
            <a:ext cx="10058400" cy="320040"/>
          </a:xfrm>
          <a:prstGeom prst="rect">
            <a:avLst/>
          </a:prstGeom>
          <a:noFill/>
        </p:spPr>
        <p:txBody>
          <a:bodyPr wrap="square">
            <a:spAutoFit/>
          </a:bodyPr>
          <a:lstStyle/>
          <a:p>
            <a:pPr algn="l">
              <a:lnSpc>
                <a:spcPct val="115000"/>
              </a:lnSpc>
            </a:pPr>
            <a:r>
              <a:rPr sz="1250" b="1" i="0">
                <a:solidFill>
                  <a:srgbClr val="2A78D6"/>
                </a:solidFill>
                <a:latin typeface="Helvetica Neue"/>
              </a:rPr>
              <a:t>RESULTS</a:t>
            </a:r>
          </a:p>
        </p:txBody>
      </p:sp>
      <p:sp>
        <p:nvSpPr>
          <p:cNvPr id="6" name="TextBox 5"/>
          <p:cNvSpPr txBox="1"/>
          <p:nvPr/>
        </p:nvSpPr>
        <p:spPr>
          <a:xfrm>
            <a:off x="548640" y="914400"/>
            <a:ext cx="11064240" cy="640080"/>
          </a:xfrm>
          <a:prstGeom prst="rect">
            <a:avLst/>
          </a:prstGeom>
          <a:noFill/>
        </p:spPr>
        <p:txBody>
          <a:bodyPr wrap="square">
            <a:spAutoFit/>
          </a:bodyPr>
          <a:lstStyle/>
          <a:p>
            <a:pPr algn="l">
              <a:lnSpc>
                <a:spcPct val="115000"/>
              </a:lnSpc>
            </a:pPr>
            <a:r>
              <a:rPr sz="2600" b="1" i="0">
                <a:solidFill>
                  <a:srgbClr val="0B0B0B"/>
                </a:solidFill>
                <a:latin typeface="Helvetica Neue"/>
              </a:rPr>
              <a:t>MMLU — composite ranking</a:t>
            </a:r>
          </a:p>
        </p:txBody>
      </p:sp>
      <p:cxnSp>
        <p:nvCxnSpPr>
          <p:cNvPr id="7" name="Connector 6"/>
          <p:cNvCxnSpPr/>
          <p:nvPr/>
        </p:nvCxnSpPr>
        <p:spPr>
          <a:xfrm>
            <a:off x="548640" y="1508760"/>
            <a:ext cx="11091672"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548640" y="1783080"/>
          <a:ext cx="11064238" cy="1682496"/>
        </p:xfrm>
        <a:graphic>
          <a:graphicData uri="http://schemas.openxmlformats.org/drawingml/2006/table">
            <a:tbl>
              <a:tblPr firstRow="1" bandRow="1">
                <a:tableStyleId>{5C22544A-7EE6-4342-B048-85BDC9FD1C3A}</a:tableStyleId>
              </a:tblPr>
              <a:tblGrid>
                <a:gridCol w="663854"/>
                <a:gridCol w="3097987"/>
                <a:gridCol w="1770278"/>
                <a:gridCol w="1770278"/>
                <a:gridCol w="1770278"/>
                <a:gridCol w="1991563"/>
              </a:tblGrid>
              <a:tr h="420624">
                <a:tc>
                  <a:txBody>
                    <a:bodyPr/>
                    <a:lstStyle/>
                    <a:p>
                      <a:pPr algn="l"/>
                      <a:r>
                        <a:rPr sz="1300" b="1">
                          <a:solidFill>
                            <a:srgbClr val="FFFFFF"/>
                          </a:solidFill>
                          <a:latin typeface="Helvetica Neue"/>
                        </a:rPr>
                        <a:t>#</a:t>
                      </a:r>
                    </a:p>
                  </a:txBody>
                  <a:tcPr marL="73152" marR="73152" marT="27432" marB="27432" anchor="ctr">
                    <a:solidFill>
                      <a:srgbClr val="0B0B0B"/>
                    </a:solidFill>
                  </a:tcPr>
                </a:tc>
                <a:tc>
                  <a:txBody>
                    <a:bodyPr/>
                    <a:lstStyle/>
                    <a:p>
                      <a:pPr algn="ctr"/>
                      <a:r>
                        <a:rPr sz="1300" b="1">
                          <a:solidFill>
                            <a:srgbClr val="FFFFFF"/>
                          </a:solidFill>
                          <a:latin typeface="Helvetica Neue"/>
                        </a:rPr>
                        <a:t>Model</a:t>
                      </a:r>
                    </a:p>
                  </a:txBody>
                  <a:tcPr marL="73152" marR="73152" marT="27432" marB="27432" anchor="ctr">
                    <a:solidFill>
                      <a:srgbClr val="0B0B0B"/>
                    </a:solidFill>
                  </a:tcPr>
                </a:tc>
                <a:tc>
                  <a:txBody>
                    <a:bodyPr/>
                    <a:lstStyle/>
                    <a:p>
                      <a:pPr algn="ctr"/>
                      <a:r>
                        <a:rPr sz="1300" b="1">
                          <a:solidFill>
                            <a:srgbClr val="FFFFFF"/>
                          </a:solidFill>
                          <a:latin typeface="Helvetica Neue"/>
                        </a:rPr>
                        <a:t>Quality</a:t>
                      </a:r>
                    </a:p>
                  </a:txBody>
                  <a:tcPr marL="73152" marR="73152" marT="27432" marB="27432" anchor="ctr">
                    <a:solidFill>
                      <a:srgbClr val="0B0B0B"/>
                    </a:solidFill>
                  </a:tcPr>
                </a:tc>
                <a:tc>
                  <a:txBody>
                    <a:bodyPr/>
                    <a:lstStyle/>
                    <a:p>
                      <a:pPr algn="ctr"/>
                      <a:r>
                        <a:rPr sz="1300" b="1">
                          <a:solidFill>
                            <a:srgbClr val="FFFFFF"/>
                          </a:solidFill>
                          <a:latin typeface="Helvetica Neue"/>
                        </a:rPr>
                        <a:t>Efficiency</a:t>
                      </a:r>
                    </a:p>
                  </a:txBody>
                  <a:tcPr marL="73152" marR="73152" marT="27432" marB="27432" anchor="ctr">
                    <a:solidFill>
                      <a:srgbClr val="0B0B0B"/>
                    </a:solidFill>
                  </a:tcPr>
                </a:tc>
                <a:tc>
                  <a:txBody>
                    <a:bodyPr/>
                    <a:lstStyle/>
                    <a:p>
                      <a:pPr algn="ctr"/>
                      <a:r>
                        <a:rPr sz="1300" b="1">
                          <a:solidFill>
                            <a:srgbClr val="FFFFFF"/>
                          </a:solidFill>
                          <a:latin typeface="Helvetica Neue"/>
                        </a:rPr>
                        <a:t>Reliability</a:t>
                      </a:r>
                    </a:p>
                  </a:txBody>
                  <a:tcPr marL="73152" marR="73152" marT="27432" marB="27432" anchor="ctr">
                    <a:solidFill>
                      <a:srgbClr val="0B0B0B"/>
                    </a:solidFill>
                  </a:tcPr>
                </a:tc>
                <a:tc>
                  <a:txBody>
                    <a:bodyPr/>
                    <a:lstStyle/>
                    <a:p>
                      <a:pPr algn="ctr"/>
                      <a:r>
                        <a:rPr sz="1300" b="1">
                          <a:solidFill>
                            <a:srgbClr val="FFFFFF"/>
                          </a:solidFill>
                          <a:latin typeface="Helvetica Neue"/>
                        </a:rPr>
                        <a:t>Composite</a:t>
                      </a:r>
                    </a:p>
                  </a:txBody>
                  <a:tcPr marL="73152" marR="73152" marT="27432" marB="27432" anchor="ctr">
                    <a:solidFill>
                      <a:srgbClr val="0B0B0B"/>
                    </a:solidFill>
                  </a:tcPr>
                </a:tc>
              </a:tr>
              <a:tr h="420624">
                <a:tc>
                  <a:txBody>
                    <a:bodyPr/>
                    <a:lstStyle/>
                    <a:p>
                      <a:pPr algn="l"/>
                      <a:r>
                        <a:rPr sz="1300" b="0">
                          <a:solidFill>
                            <a:srgbClr val="0B0B0B"/>
                          </a:solidFill>
                          <a:latin typeface="Helvetica Neue"/>
                        </a:rPr>
                        <a:t>1</a:t>
                      </a:r>
                    </a:p>
                  </a:txBody>
                  <a:tcPr marL="73152" marR="73152" marT="27432" marB="27432" anchor="ctr">
                    <a:solidFill>
                      <a:srgbClr val="FCFCFB"/>
                    </a:solidFill>
                  </a:tcPr>
                </a:tc>
                <a:tc>
                  <a:txBody>
                    <a:bodyPr/>
                    <a:lstStyle/>
                    <a:p>
                      <a:pPr algn="ctr"/>
                      <a:r>
                        <a:rPr sz="1300" b="0">
                          <a:solidFill>
                            <a:srgbClr val="0B0B0B"/>
                          </a:solidFill>
                          <a:latin typeface="Helvetica Neue"/>
                        </a:rPr>
                        <a:t>ministral-8b-2512</a:t>
                      </a:r>
                    </a:p>
                  </a:txBody>
                  <a:tcPr marL="73152" marR="73152" marT="27432" marB="27432" anchor="ctr">
                    <a:solidFill>
                      <a:srgbClr val="FCFCFB"/>
                    </a:solidFill>
                  </a:tcPr>
                </a:tc>
                <a:tc>
                  <a:txBody>
                    <a:bodyPr/>
                    <a:lstStyle/>
                    <a:p>
                      <a:pPr algn="ctr"/>
                      <a:r>
                        <a:rPr sz="1300" b="0">
                          <a:solidFill>
                            <a:srgbClr val="0B0B0B"/>
                          </a:solidFill>
                          <a:latin typeface="Helvetica Neue"/>
                        </a:rPr>
                        <a:t>0.793</a:t>
                      </a:r>
                    </a:p>
                  </a:txBody>
                  <a:tcPr marL="73152" marR="73152" marT="27432" marB="27432" anchor="ctr">
                    <a:solidFill>
                      <a:srgbClr val="FCFCFB"/>
                    </a:solidFill>
                  </a:tcPr>
                </a:tc>
                <a:tc>
                  <a:txBody>
                    <a:bodyPr/>
                    <a:lstStyle/>
                    <a:p>
                      <a:pPr algn="ctr"/>
                      <a:r>
                        <a:rPr sz="1300" b="0">
                          <a:solidFill>
                            <a:srgbClr val="0B0B0B"/>
                          </a:solidFill>
                          <a:latin typeface="Helvetica Neue"/>
                        </a:rPr>
                        <a:t>0.476</a:t>
                      </a:r>
                    </a:p>
                  </a:txBody>
                  <a:tcPr marL="73152" marR="73152" marT="27432" marB="27432" anchor="ctr">
                    <a:solidFill>
                      <a:srgbClr val="FCFCFB"/>
                    </a:solidFill>
                  </a:tcPr>
                </a:tc>
                <a:tc>
                  <a:txBody>
                    <a:bodyPr/>
                    <a:lstStyle/>
                    <a:p>
                      <a:pPr algn="ctr"/>
                      <a:r>
                        <a:rPr sz="1300" b="0">
                          <a:solidFill>
                            <a:srgbClr val="0B0B0B"/>
                          </a:solidFill>
                          <a:latin typeface="Helvetica Neue"/>
                        </a:rPr>
                        <a:t>0.994</a:t>
                      </a:r>
                    </a:p>
                  </a:txBody>
                  <a:tcPr marL="73152" marR="73152" marT="27432" marB="27432" anchor="ctr">
                    <a:solidFill>
                      <a:srgbClr val="FCFCFB"/>
                    </a:solidFill>
                  </a:tcPr>
                </a:tc>
                <a:tc>
                  <a:txBody>
                    <a:bodyPr/>
                    <a:lstStyle/>
                    <a:p>
                      <a:pPr algn="ctr"/>
                      <a:r>
                        <a:rPr sz="1300" b="1">
                          <a:solidFill>
                            <a:srgbClr val="0B0B0B"/>
                          </a:solidFill>
                          <a:latin typeface="Helvetica Neue"/>
                        </a:rPr>
                        <a:t>0.776</a:t>
                      </a:r>
                    </a:p>
                  </a:txBody>
                  <a:tcPr marL="73152" marR="73152" marT="27432" marB="27432" anchor="ctr">
                    <a:solidFill>
                      <a:srgbClr val="FCFCFB"/>
                    </a:solidFill>
                  </a:tcPr>
                </a:tc>
              </a:tr>
              <a:tr h="420624">
                <a:tc>
                  <a:txBody>
                    <a:bodyPr/>
                    <a:lstStyle/>
                    <a:p>
                      <a:pPr algn="l"/>
                      <a:r>
                        <a:rPr sz="1300" b="0">
                          <a:solidFill>
                            <a:srgbClr val="0B0B0B"/>
                          </a:solidFill>
                          <a:latin typeface="Helvetica Neue"/>
                        </a:rPr>
                        <a:t>2</a:t>
                      </a:r>
                    </a:p>
                  </a:txBody>
                  <a:tcPr marL="73152" marR="73152" marT="27432" marB="27432" anchor="ctr">
                    <a:solidFill>
                      <a:srgbClr val="FCFCFB"/>
                    </a:solidFill>
                  </a:tcPr>
                </a:tc>
                <a:tc>
                  <a:txBody>
                    <a:bodyPr/>
                    <a:lstStyle/>
                    <a:p>
                      <a:pPr algn="ctr"/>
                      <a:r>
                        <a:rPr sz="1300" b="0">
                          <a:solidFill>
                            <a:srgbClr val="0B0B0B"/>
                          </a:solidFill>
                          <a:latin typeface="Helvetica Neue"/>
                        </a:rPr>
                        <a:t>llama-3.2-3b-instruct</a:t>
                      </a:r>
                    </a:p>
                  </a:txBody>
                  <a:tcPr marL="73152" marR="73152" marT="27432" marB="27432" anchor="ctr">
                    <a:solidFill>
                      <a:srgbClr val="FCFCFB"/>
                    </a:solidFill>
                  </a:tcPr>
                </a:tc>
                <a:tc>
                  <a:txBody>
                    <a:bodyPr/>
                    <a:lstStyle/>
                    <a:p>
                      <a:pPr algn="ctr"/>
                      <a:r>
                        <a:rPr sz="1300" b="0">
                          <a:solidFill>
                            <a:srgbClr val="0B0B0B"/>
                          </a:solidFill>
                          <a:latin typeface="Helvetica Neue"/>
                        </a:rPr>
                        <a:t>0.547</a:t>
                      </a:r>
                    </a:p>
                  </a:txBody>
                  <a:tcPr marL="73152" marR="73152" marT="27432" marB="27432" anchor="ctr">
                    <a:solidFill>
                      <a:srgbClr val="FCFCFB"/>
                    </a:solidFill>
                  </a:tcPr>
                </a:tc>
                <a:tc>
                  <a:txBody>
                    <a:bodyPr/>
                    <a:lstStyle/>
                    <a:p>
                      <a:pPr algn="ctr"/>
                      <a:r>
                        <a:rPr sz="1300" b="0">
                          <a:solidFill>
                            <a:srgbClr val="0B0B0B"/>
                          </a:solidFill>
                          <a:latin typeface="Helvetica Neue"/>
                        </a:rPr>
                        <a:t>1.000</a:t>
                      </a:r>
                    </a:p>
                  </a:txBody>
                  <a:tcPr marL="73152" marR="73152" marT="27432" marB="27432" anchor="ctr">
                    <a:solidFill>
                      <a:srgbClr val="FCFCFB"/>
                    </a:solidFill>
                  </a:tcPr>
                </a:tc>
                <a:tc>
                  <a:txBody>
                    <a:bodyPr/>
                    <a:lstStyle/>
                    <a:p>
                      <a:pPr algn="ctr"/>
                      <a:r>
                        <a:rPr sz="1300" b="0">
                          <a:solidFill>
                            <a:srgbClr val="0B0B0B"/>
                          </a:solidFill>
                          <a:latin typeface="Helvetica Neue"/>
                        </a:rPr>
                        <a:t>0.883</a:t>
                      </a:r>
                    </a:p>
                  </a:txBody>
                  <a:tcPr marL="73152" marR="73152" marT="27432" marB="27432" anchor="ctr">
                    <a:solidFill>
                      <a:srgbClr val="FCFCFB"/>
                    </a:solidFill>
                  </a:tcPr>
                </a:tc>
                <a:tc>
                  <a:txBody>
                    <a:bodyPr/>
                    <a:lstStyle/>
                    <a:p>
                      <a:pPr algn="ctr"/>
                      <a:r>
                        <a:rPr sz="1300" b="1">
                          <a:solidFill>
                            <a:srgbClr val="0B0B0B"/>
                          </a:solidFill>
                          <a:latin typeface="Helvetica Neue"/>
                        </a:rPr>
                        <a:t>0.659</a:t>
                      </a:r>
                    </a:p>
                  </a:txBody>
                  <a:tcPr marL="73152" marR="73152" marT="27432" marB="27432" anchor="ctr">
                    <a:solidFill>
                      <a:srgbClr val="FCFCFB"/>
                    </a:solidFill>
                  </a:tcPr>
                </a:tc>
              </a:tr>
              <a:tr h="420624">
                <a:tc>
                  <a:txBody>
                    <a:bodyPr/>
                    <a:lstStyle/>
                    <a:p>
                      <a:pPr algn="l"/>
                      <a:r>
                        <a:rPr sz="1300" b="0">
                          <a:solidFill>
                            <a:srgbClr val="0B0B0B"/>
                          </a:solidFill>
                          <a:latin typeface="Helvetica Neue"/>
                        </a:rPr>
                        <a:t>3</a:t>
                      </a:r>
                    </a:p>
                  </a:txBody>
                  <a:tcPr marL="73152" marR="73152" marT="27432" marB="27432" anchor="ctr">
                    <a:solidFill>
                      <a:srgbClr val="FCFCFB"/>
                    </a:solidFill>
                  </a:tcPr>
                </a:tc>
                <a:tc>
                  <a:txBody>
                    <a:bodyPr/>
                    <a:lstStyle/>
                    <a:p>
                      <a:pPr algn="ctr"/>
                      <a:r>
                        <a:rPr sz="1300" b="0">
                          <a:solidFill>
                            <a:srgbClr val="0B0B0B"/>
                          </a:solidFill>
                          <a:latin typeface="Helvetica Neue"/>
                        </a:rPr>
                        <a:t>gemma-3-4b-it</a:t>
                      </a:r>
                    </a:p>
                  </a:txBody>
                  <a:tcPr marL="73152" marR="73152" marT="27432" marB="27432" anchor="ctr">
                    <a:solidFill>
                      <a:srgbClr val="FCFCFB"/>
                    </a:solidFill>
                  </a:tcPr>
                </a:tc>
                <a:tc>
                  <a:txBody>
                    <a:bodyPr/>
                    <a:lstStyle/>
                    <a:p>
                      <a:pPr algn="ctr"/>
                      <a:r>
                        <a:rPr sz="1300" b="0">
                          <a:solidFill>
                            <a:srgbClr val="0B0B0B"/>
                          </a:solidFill>
                          <a:latin typeface="Helvetica Neue"/>
                        </a:rPr>
                        <a:t>0.604</a:t>
                      </a:r>
                    </a:p>
                  </a:txBody>
                  <a:tcPr marL="73152" marR="73152" marT="27432" marB="27432" anchor="ctr">
                    <a:solidFill>
                      <a:srgbClr val="FCFCFB"/>
                    </a:solidFill>
                  </a:tcPr>
                </a:tc>
                <a:tc>
                  <a:txBody>
                    <a:bodyPr/>
                    <a:lstStyle/>
                    <a:p>
                      <a:pPr algn="ctr"/>
                      <a:r>
                        <a:rPr sz="1300" b="0">
                          <a:solidFill>
                            <a:srgbClr val="0B0B0B"/>
                          </a:solidFill>
                          <a:latin typeface="Helvetica Neue"/>
                        </a:rPr>
                        <a:t>0.373</a:t>
                      </a:r>
                    </a:p>
                  </a:txBody>
                  <a:tcPr marL="73152" marR="73152" marT="27432" marB="27432" anchor="ctr">
                    <a:solidFill>
                      <a:srgbClr val="FCFCFB"/>
                    </a:solidFill>
                  </a:tcPr>
                </a:tc>
                <a:tc>
                  <a:txBody>
                    <a:bodyPr/>
                    <a:lstStyle/>
                    <a:p>
                      <a:pPr algn="ctr"/>
                      <a:r>
                        <a:rPr sz="1300" b="0">
                          <a:solidFill>
                            <a:srgbClr val="0B0B0B"/>
                          </a:solidFill>
                          <a:latin typeface="Helvetica Neue"/>
                        </a:rPr>
                        <a:t>0.996</a:t>
                      </a:r>
                    </a:p>
                  </a:txBody>
                  <a:tcPr marL="73152" marR="73152" marT="27432" marB="27432" anchor="ctr">
                    <a:solidFill>
                      <a:srgbClr val="FCFCFB"/>
                    </a:solidFill>
                  </a:tcPr>
                </a:tc>
                <a:tc>
                  <a:txBody>
                    <a:bodyPr/>
                    <a:lstStyle/>
                    <a:p>
                      <a:pPr algn="ctr"/>
                      <a:r>
                        <a:rPr sz="1300" b="1">
                          <a:solidFill>
                            <a:srgbClr val="0B0B0B"/>
                          </a:solidFill>
                          <a:latin typeface="Helvetica Neue"/>
                        </a:rPr>
                        <a:t>0.627</a:t>
                      </a:r>
                    </a:p>
                  </a:txBody>
                  <a:tcPr marL="73152" marR="73152" marT="27432" marB="27432" anchor="ctr">
                    <a:solidFill>
                      <a:srgbClr val="FCFCFB"/>
                    </a:solidFill>
                  </a:tcPr>
                </a:tc>
              </a:tr>
            </a:tbl>
          </a:graphicData>
        </a:graphic>
      </p:graphicFrame>
      <p:sp>
        <p:nvSpPr>
          <p:cNvPr id="9" name="TextBox 8"/>
          <p:cNvSpPr txBox="1"/>
          <p:nvPr/>
        </p:nvSpPr>
        <p:spPr>
          <a:xfrm>
            <a:off x="548640" y="3794760"/>
            <a:ext cx="11064240" cy="365760"/>
          </a:xfrm>
          <a:prstGeom prst="rect">
            <a:avLst/>
          </a:prstGeom>
          <a:noFill/>
        </p:spPr>
        <p:txBody>
          <a:bodyPr wrap="square">
            <a:spAutoFit/>
          </a:bodyPr>
          <a:lstStyle/>
          <a:p>
            <a:pPr algn="l">
              <a:lnSpc>
                <a:spcPct val="115000"/>
              </a:lnSpc>
            </a:pPr>
            <a:r>
              <a:rPr sz="1300" b="1" i="0">
                <a:solidFill>
                  <a:srgbClr val="2A78D6"/>
                </a:solidFill>
                <a:latin typeface="Helvetica Neue"/>
              </a:rPr>
              <a:t>composite  =  0.714 · quality   +   0.143 · efficiency   +   0.143 · reliability</a:t>
            </a:r>
          </a:p>
        </p:txBody>
      </p:sp>
      <p:sp>
        <p:nvSpPr>
          <p:cNvPr id="10" name="TextBox 9"/>
          <p:cNvSpPr txBox="1"/>
          <p:nvPr/>
        </p:nvSpPr>
        <p:spPr>
          <a:xfrm>
            <a:off x="548640" y="4297680"/>
            <a:ext cx="11064240" cy="1371600"/>
          </a:xfrm>
          <a:prstGeom prst="rect">
            <a:avLst/>
          </a:prstGeom>
          <a:noFill/>
        </p:spPr>
        <p:txBody>
          <a:bodyPr wrap="square">
            <a:spAutoFit/>
          </a:bodyPr>
          <a:lstStyle/>
          <a:p>
            <a:pPr algn="l">
              <a:lnSpc>
                <a:spcPct val="130000"/>
              </a:lnSpc>
            </a:pPr>
            <a:r>
              <a:rPr sz="1300" b="0" i="0">
                <a:solidFill>
                  <a:srgbClr val="52514E"/>
                </a:solidFill>
                <a:latin typeface="Helvetica Neue"/>
              </a:rPr>
              <a:t>Calibration and robustness could not be measured — the routed providers returned no log-probabilities and no robustness pass was run. Rather than scoring them zero, their weight is redistributed over the components that were measured, so the weights above are the applied ones, not the nominal 0.50/0.15/0.15/0.10/0.10.</a:t>
            </a:r>
          </a:p>
          <a:p>
            <a:pPr algn="l">
              <a:lnSpc>
                <a:spcPct val="130000"/>
              </a:lnSpc>
            </a:pPr>
            <a:r>
              <a:rPr sz="1300" b="0" i="0">
                <a:solidFill>
                  <a:srgbClr val="52514E"/>
                </a:solidFill>
                <a:latin typeface="Helvetica Neue"/>
              </a:rPr>
              <a:t>all models share one run configuration - differences are attributable to the models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510528"/>
            <a:ext cx="5486400" cy="274320"/>
          </a:xfrm>
          <a:prstGeom prst="rect">
            <a:avLst/>
          </a:prstGeom>
          <a:noFill/>
        </p:spPr>
        <p:txBody>
          <a:bodyPr wrap="square">
            <a:spAutoFit/>
          </a:bodyPr>
          <a:lstStyle/>
          <a:p>
            <a:pPr algn="l">
              <a:lnSpc>
                <a:spcPct val="115000"/>
              </a:lnSpc>
            </a:pPr>
            <a:r>
              <a:rPr sz="900" b="0" i="0">
                <a:solidFill>
                  <a:srgbClr val="898781"/>
                </a:solidFill>
                <a:latin typeface="Helvetica Neue"/>
              </a:rPr>
              <a:t>LAMBADA &amp; MMLU Benchmark Evaluation — Extended</a:t>
            </a:r>
          </a:p>
        </p:txBody>
      </p:sp>
      <p:sp>
        <p:nvSpPr>
          <p:cNvPr id="4" name="TextBox 3"/>
          <p:cNvSpPr txBox="1"/>
          <p:nvPr/>
        </p:nvSpPr>
        <p:spPr>
          <a:xfrm>
            <a:off x="11338560" y="6510528"/>
            <a:ext cx="457200" cy="274320"/>
          </a:xfrm>
          <a:prstGeom prst="rect">
            <a:avLst/>
          </a:prstGeom>
          <a:noFill/>
        </p:spPr>
        <p:txBody>
          <a:bodyPr wrap="square">
            <a:spAutoFit/>
          </a:bodyPr>
          <a:lstStyle/>
          <a:p>
            <a:pPr algn="r">
              <a:lnSpc>
                <a:spcPct val="115000"/>
              </a:lnSpc>
            </a:pPr>
            <a:r>
              <a:rPr sz="900" b="0" i="0">
                <a:solidFill>
                  <a:srgbClr val="898781"/>
                </a:solidFill>
                <a:latin typeface="Helvetica Neue"/>
              </a:rPr>
              <a:t>19</a:t>
            </a:r>
          </a:p>
        </p:txBody>
      </p:sp>
      <p:sp>
        <p:nvSpPr>
          <p:cNvPr id="5" name="TextBox 4"/>
          <p:cNvSpPr txBox="1"/>
          <p:nvPr/>
        </p:nvSpPr>
        <p:spPr>
          <a:xfrm>
            <a:off x="548640" y="320040"/>
            <a:ext cx="10058400" cy="320040"/>
          </a:xfrm>
          <a:prstGeom prst="rect">
            <a:avLst/>
          </a:prstGeom>
          <a:noFill/>
        </p:spPr>
        <p:txBody>
          <a:bodyPr wrap="square">
            <a:spAutoFit/>
          </a:bodyPr>
          <a:lstStyle/>
          <a:p>
            <a:pPr algn="l">
              <a:lnSpc>
                <a:spcPct val="115000"/>
              </a:lnSpc>
            </a:pPr>
            <a:r>
              <a:rPr sz="1250" b="1" i="0">
                <a:solidFill>
                  <a:srgbClr val="2A78D6"/>
                </a:solidFill>
                <a:latin typeface="Helvetica Neue"/>
              </a:rPr>
              <a:t>RESULTS</a:t>
            </a:r>
          </a:p>
        </p:txBody>
      </p:sp>
      <p:sp>
        <p:nvSpPr>
          <p:cNvPr id="6" name="TextBox 5"/>
          <p:cNvSpPr txBox="1"/>
          <p:nvPr/>
        </p:nvSpPr>
        <p:spPr>
          <a:xfrm>
            <a:off x="548640" y="914400"/>
            <a:ext cx="11064240" cy="640080"/>
          </a:xfrm>
          <a:prstGeom prst="rect">
            <a:avLst/>
          </a:prstGeom>
          <a:noFill/>
        </p:spPr>
        <p:txBody>
          <a:bodyPr wrap="square">
            <a:spAutoFit/>
          </a:bodyPr>
          <a:lstStyle/>
          <a:p>
            <a:pPr algn="l">
              <a:lnSpc>
                <a:spcPct val="115000"/>
              </a:lnSpc>
            </a:pPr>
            <a:r>
              <a:rPr sz="2600" b="1" i="0">
                <a:solidFill>
                  <a:srgbClr val="0B0B0B"/>
                </a:solidFill>
                <a:latin typeface="Helvetica Neue"/>
              </a:rPr>
              <a:t>LAMBADA — task quality</a:t>
            </a:r>
          </a:p>
        </p:txBody>
      </p:sp>
      <p:cxnSp>
        <p:nvCxnSpPr>
          <p:cNvPr id="7" name="Connector 6"/>
          <p:cNvCxnSpPr/>
          <p:nvPr/>
        </p:nvCxnSpPr>
        <p:spPr>
          <a:xfrm>
            <a:off x="548640" y="1508760"/>
            <a:ext cx="11091672"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1572768"/>
            <a:ext cx="11064240" cy="292608"/>
          </a:xfrm>
          <a:prstGeom prst="rect">
            <a:avLst/>
          </a:prstGeom>
          <a:noFill/>
        </p:spPr>
        <p:txBody>
          <a:bodyPr wrap="square">
            <a:spAutoFit/>
          </a:bodyPr>
          <a:lstStyle/>
          <a:p>
            <a:pPr algn="l">
              <a:lnSpc>
                <a:spcPct val="115000"/>
              </a:lnSpc>
            </a:pPr>
            <a:r>
              <a:rPr sz="1300" b="1" i="0">
                <a:solidFill>
                  <a:srgbClr val="2A78D6"/>
                </a:solidFill>
                <a:latin typeface="Helvetica Neue"/>
              </a:rPr>
              <a:t>1,000 items per model  ·  Wilson 95% confidence intervals</a:t>
            </a:r>
          </a:p>
        </p:txBody>
      </p:sp>
      <p:graphicFrame>
        <p:nvGraphicFramePr>
          <p:cNvPr id="9" name="Table 8"/>
          <p:cNvGraphicFramePr>
            <a:graphicFrameLocks noGrp="1"/>
          </p:cNvGraphicFramePr>
          <p:nvPr/>
        </p:nvGraphicFramePr>
        <p:xfrm>
          <a:off x="548640" y="2011680"/>
          <a:ext cx="11064239" cy="1609344"/>
        </p:xfrm>
        <a:graphic>
          <a:graphicData uri="http://schemas.openxmlformats.org/drawingml/2006/table">
            <a:tbl>
              <a:tblPr firstRow="1" bandRow="1">
                <a:tableStyleId>{5C22544A-7EE6-4342-B048-85BDC9FD1C3A}</a:tableStyleId>
              </a:tblPr>
              <a:tblGrid>
                <a:gridCol w="3319272"/>
                <a:gridCol w="1991563"/>
                <a:gridCol w="2434132"/>
                <a:gridCol w="1659636"/>
                <a:gridCol w="1659636"/>
              </a:tblGrid>
              <a:tr h="402336">
                <a:tc>
                  <a:txBody>
                    <a:bodyPr/>
                    <a:lstStyle/>
                    <a:p>
                      <a:pPr algn="l"/>
                      <a:r>
                        <a:rPr sz="1350" b="1">
                          <a:solidFill>
                            <a:srgbClr val="FFFFFF"/>
                          </a:solidFill>
                          <a:latin typeface="Helvetica Neue"/>
                        </a:rPr>
                        <a:t>Model</a:t>
                      </a:r>
                    </a:p>
                  </a:txBody>
                  <a:tcPr marL="73152" marR="73152" marT="27432" marB="27432" anchor="ctr">
                    <a:solidFill>
                      <a:srgbClr val="0B0B0B"/>
                    </a:solidFill>
                  </a:tcPr>
                </a:tc>
                <a:tc>
                  <a:txBody>
                    <a:bodyPr/>
                    <a:lstStyle/>
                    <a:p>
                      <a:pPr algn="ctr"/>
                      <a:r>
                        <a:rPr sz="1350" b="1">
                          <a:solidFill>
                            <a:srgbClr val="FFFFFF"/>
                          </a:solidFill>
                          <a:latin typeface="Helvetica Neue"/>
                        </a:rPr>
                        <a:t>Accuracy</a:t>
                      </a:r>
                    </a:p>
                  </a:txBody>
                  <a:tcPr marL="73152" marR="73152" marT="27432" marB="27432" anchor="ctr">
                    <a:solidFill>
                      <a:srgbClr val="0B0B0B"/>
                    </a:solidFill>
                  </a:tcPr>
                </a:tc>
                <a:tc>
                  <a:txBody>
                    <a:bodyPr/>
                    <a:lstStyle/>
                    <a:p>
                      <a:pPr algn="ctr"/>
                      <a:r>
                        <a:rPr sz="1350" b="1">
                          <a:solidFill>
                            <a:srgbClr val="FFFFFF"/>
                          </a:solidFill>
                          <a:latin typeface="Helvetica Neue"/>
                        </a:rPr>
                        <a:t>95% CI</a:t>
                      </a:r>
                    </a:p>
                  </a:txBody>
                  <a:tcPr marL="73152" marR="73152" marT="27432" marB="27432" anchor="ctr">
                    <a:solidFill>
                      <a:srgbClr val="0B0B0B"/>
                    </a:solidFill>
                  </a:tcPr>
                </a:tc>
                <a:tc>
                  <a:txBody>
                    <a:bodyPr/>
                    <a:lstStyle/>
                    <a:p>
                      <a:pPr algn="ctr"/>
                      <a:r>
                        <a:rPr sz="1350" b="1">
                          <a:solidFill>
                            <a:srgbClr val="FFFFFF"/>
                          </a:solidFill>
                          <a:latin typeface="Helvetica Neue"/>
                        </a:rPr>
                        <a:t>Error rate</a:t>
                      </a:r>
                    </a:p>
                  </a:txBody>
                  <a:tcPr marL="73152" marR="73152" marT="27432" marB="27432" anchor="ctr">
                    <a:solidFill>
                      <a:srgbClr val="0B0B0B"/>
                    </a:solidFill>
                  </a:tcPr>
                </a:tc>
                <a:tc>
                  <a:txBody>
                    <a:bodyPr/>
                    <a:lstStyle/>
                    <a:p>
                      <a:pPr algn="ctr"/>
                      <a:r>
                        <a:rPr sz="1350" b="1">
                          <a:solidFill>
                            <a:srgbClr val="FFFFFF"/>
                          </a:solidFill>
                          <a:latin typeface="Helvetica Neue"/>
                        </a:rPr>
                        <a:t>Parse fail</a:t>
                      </a:r>
                    </a:p>
                  </a:txBody>
                  <a:tcPr marL="73152" marR="73152" marT="27432" marB="27432" anchor="ctr">
                    <a:solidFill>
                      <a:srgbClr val="0B0B0B"/>
                    </a:solidFill>
                  </a:tcPr>
                </a:tc>
              </a:tr>
              <a:tr h="402336">
                <a:tc>
                  <a:txBody>
                    <a:bodyPr/>
                    <a:lstStyle/>
                    <a:p>
                      <a:pPr algn="l"/>
                      <a:r>
                        <a:rPr sz="1350" b="0">
                          <a:solidFill>
                            <a:srgbClr val="0B0B0B"/>
                          </a:solidFill>
                          <a:latin typeface="Helvetica Neue"/>
                        </a:rPr>
                        <a:t>Gemma-3-4B</a:t>
                      </a:r>
                    </a:p>
                  </a:txBody>
                  <a:tcPr marL="73152" marR="73152" marT="27432" marB="27432" anchor="ctr">
                    <a:solidFill>
                      <a:srgbClr val="FCFCFB"/>
                    </a:solidFill>
                  </a:tcPr>
                </a:tc>
                <a:tc>
                  <a:txBody>
                    <a:bodyPr/>
                    <a:lstStyle/>
                    <a:p>
                      <a:pPr algn="ctr"/>
                      <a:r>
                        <a:rPr sz="1350" b="1">
                          <a:solidFill>
                            <a:srgbClr val="0B0B0B"/>
                          </a:solidFill>
                          <a:latin typeface="Helvetica Neue"/>
                        </a:rPr>
                        <a:t>18.0%</a:t>
                      </a:r>
                    </a:p>
                  </a:txBody>
                  <a:tcPr marL="73152" marR="73152" marT="27432" marB="27432" anchor="ctr">
                    <a:solidFill>
                      <a:srgbClr val="FCFCFB"/>
                    </a:solidFill>
                  </a:tcPr>
                </a:tc>
                <a:tc>
                  <a:txBody>
                    <a:bodyPr/>
                    <a:lstStyle/>
                    <a:p>
                      <a:pPr algn="ctr"/>
                      <a:r>
                        <a:rPr sz="1350" b="0">
                          <a:solidFill>
                            <a:srgbClr val="0B0B0B"/>
                          </a:solidFill>
                          <a:latin typeface="Helvetica Neue"/>
                        </a:rPr>
                        <a:t>15.7 – 20.5%</a:t>
                      </a:r>
                    </a:p>
                  </a:txBody>
                  <a:tcPr marL="73152" marR="73152" marT="27432" marB="27432" anchor="ctr">
                    <a:solidFill>
                      <a:srgbClr val="FCFCFB"/>
                    </a:solidFill>
                  </a:tcPr>
                </a:tc>
                <a:tc>
                  <a:txBody>
                    <a:bodyPr/>
                    <a:lstStyle/>
                    <a:p>
                      <a:pPr algn="ctr"/>
                      <a:r>
                        <a:rPr sz="1350" b="0">
                          <a:solidFill>
                            <a:srgbClr val="0B0B0B"/>
                          </a:solidFill>
                          <a:latin typeface="Helvetica Neue"/>
                        </a:rPr>
                        <a:t>82.0%</a:t>
                      </a:r>
                    </a:p>
                  </a:txBody>
                  <a:tcPr marL="73152" marR="73152" marT="27432" marB="27432" anchor="ctr">
                    <a:solidFill>
                      <a:srgbClr val="FCFCFB"/>
                    </a:solidFill>
                  </a:tcPr>
                </a:tc>
                <a:tc>
                  <a:txBody>
                    <a:bodyPr/>
                    <a:lstStyle/>
                    <a:p>
                      <a:pPr algn="ctr"/>
                      <a:r>
                        <a:rPr sz="1350" b="0">
                          <a:solidFill>
                            <a:srgbClr val="0B0B0B"/>
                          </a:solidFill>
                          <a:latin typeface="Helvetica Neue"/>
                        </a:rPr>
                        <a:t>0.1%</a:t>
                      </a:r>
                    </a:p>
                  </a:txBody>
                  <a:tcPr marL="73152" marR="73152" marT="27432" marB="27432" anchor="ctr">
                    <a:solidFill>
                      <a:srgbClr val="FCFCFB"/>
                    </a:solidFill>
                  </a:tcPr>
                </a:tc>
              </a:tr>
              <a:tr h="402336">
                <a:tc>
                  <a:txBody>
                    <a:bodyPr/>
                    <a:lstStyle/>
                    <a:p>
                      <a:pPr algn="l"/>
                      <a:r>
                        <a:rPr sz="1350" b="0">
                          <a:solidFill>
                            <a:srgbClr val="0B0B0B"/>
                          </a:solidFill>
                          <a:latin typeface="Helvetica Neue"/>
                        </a:rPr>
                        <a:t>Llama-3.2-3B</a:t>
                      </a:r>
                    </a:p>
                  </a:txBody>
                  <a:tcPr marL="73152" marR="73152" marT="27432" marB="27432" anchor="ctr">
                    <a:solidFill>
                      <a:srgbClr val="FCFCFB"/>
                    </a:solidFill>
                  </a:tcPr>
                </a:tc>
                <a:tc>
                  <a:txBody>
                    <a:bodyPr/>
                    <a:lstStyle/>
                    <a:p>
                      <a:pPr algn="ctr"/>
                      <a:r>
                        <a:rPr sz="1350" b="1">
                          <a:solidFill>
                            <a:srgbClr val="0B0B0B"/>
                          </a:solidFill>
                          <a:latin typeface="Helvetica Neue"/>
                        </a:rPr>
                        <a:t>22.5%</a:t>
                      </a:r>
                    </a:p>
                  </a:txBody>
                  <a:tcPr marL="73152" marR="73152" marT="27432" marB="27432" anchor="ctr">
                    <a:solidFill>
                      <a:srgbClr val="FCFCFB"/>
                    </a:solidFill>
                  </a:tcPr>
                </a:tc>
                <a:tc>
                  <a:txBody>
                    <a:bodyPr/>
                    <a:lstStyle/>
                    <a:p>
                      <a:pPr algn="ctr"/>
                      <a:r>
                        <a:rPr sz="1350" b="0">
                          <a:solidFill>
                            <a:srgbClr val="0B0B0B"/>
                          </a:solidFill>
                          <a:latin typeface="Helvetica Neue"/>
                        </a:rPr>
                        <a:t>20.0 – 25.2%</a:t>
                      </a:r>
                    </a:p>
                  </a:txBody>
                  <a:tcPr marL="73152" marR="73152" marT="27432" marB="27432" anchor="ctr">
                    <a:solidFill>
                      <a:srgbClr val="FCFCFB"/>
                    </a:solidFill>
                  </a:tcPr>
                </a:tc>
                <a:tc>
                  <a:txBody>
                    <a:bodyPr/>
                    <a:lstStyle/>
                    <a:p>
                      <a:pPr algn="ctr"/>
                      <a:r>
                        <a:rPr sz="1350" b="0">
                          <a:solidFill>
                            <a:srgbClr val="0B0B0B"/>
                          </a:solidFill>
                          <a:latin typeface="Helvetica Neue"/>
                        </a:rPr>
                        <a:t>77.5%</a:t>
                      </a:r>
                    </a:p>
                  </a:txBody>
                  <a:tcPr marL="73152" marR="73152" marT="27432" marB="27432" anchor="ctr">
                    <a:solidFill>
                      <a:srgbClr val="FCFCFB"/>
                    </a:solidFill>
                  </a:tcPr>
                </a:tc>
                <a:tc>
                  <a:txBody>
                    <a:bodyPr/>
                    <a:lstStyle/>
                    <a:p>
                      <a:pPr algn="ctr"/>
                      <a:r>
                        <a:rPr sz="1350" b="0">
                          <a:solidFill>
                            <a:srgbClr val="0B0B0B"/>
                          </a:solidFill>
                          <a:latin typeface="Helvetica Neue"/>
                        </a:rPr>
                        <a:t>0.0%</a:t>
                      </a:r>
                    </a:p>
                  </a:txBody>
                  <a:tcPr marL="73152" marR="73152" marT="27432" marB="27432" anchor="ctr">
                    <a:solidFill>
                      <a:srgbClr val="FCFCFB"/>
                    </a:solidFill>
                  </a:tcPr>
                </a:tc>
              </a:tr>
              <a:tr h="402336">
                <a:tc>
                  <a:txBody>
                    <a:bodyPr/>
                    <a:lstStyle/>
                    <a:p>
                      <a:pPr algn="l"/>
                      <a:r>
                        <a:rPr sz="1350" b="0">
                          <a:solidFill>
                            <a:srgbClr val="0B0B0B"/>
                          </a:solidFill>
                          <a:latin typeface="Helvetica Neue"/>
                        </a:rPr>
                        <a:t>Ministral-8B</a:t>
                      </a:r>
                    </a:p>
                  </a:txBody>
                  <a:tcPr marL="73152" marR="73152" marT="27432" marB="27432" anchor="ctr">
                    <a:solidFill>
                      <a:srgbClr val="FCFCFB"/>
                    </a:solidFill>
                  </a:tcPr>
                </a:tc>
                <a:tc>
                  <a:txBody>
                    <a:bodyPr/>
                    <a:lstStyle/>
                    <a:p>
                      <a:pPr algn="ctr"/>
                      <a:r>
                        <a:rPr sz="1350" b="1">
                          <a:solidFill>
                            <a:srgbClr val="0B0B0B"/>
                          </a:solidFill>
                          <a:latin typeface="Helvetica Neue"/>
                        </a:rPr>
                        <a:t>39.9%</a:t>
                      </a:r>
                    </a:p>
                  </a:txBody>
                  <a:tcPr marL="73152" marR="73152" marT="27432" marB="27432" anchor="ctr">
                    <a:solidFill>
                      <a:srgbClr val="FCFCFB"/>
                    </a:solidFill>
                  </a:tcPr>
                </a:tc>
                <a:tc>
                  <a:txBody>
                    <a:bodyPr/>
                    <a:lstStyle/>
                    <a:p>
                      <a:pPr algn="ctr"/>
                      <a:r>
                        <a:rPr sz="1350" b="0">
                          <a:solidFill>
                            <a:srgbClr val="0B0B0B"/>
                          </a:solidFill>
                          <a:latin typeface="Helvetica Neue"/>
                        </a:rPr>
                        <a:t>36.9 – 43.0%</a:t>
                      </a:r>
                    </a:p>
                  </a:txBody>
                  <a:tcPr marL="73152" marR="73152" marT="27432" marB="27432" anchor="ctr">
                    <a:solidFill>
                      <a:srgbClr val="FCFCFB"/>
                    </a:solidFill>
                  </a:tcPr>
                </a:tc>
                <a:tc>
                  <a:txBody>
                    <a:bodyPr/>
                    <a:lstStyle/>
                    <a:p>
                      <a:pPr algn="ctr"/>
                      <a:r>
                        <a:rPr sz="1350" b="0">
                          <a:solidFill>
                            <a:srgbClr val="0B0B0B"/>
                          </a:solidFill>
                          <a:latin typeface="Helvetica Neue"/>
                        </a:rPr>
                        <a:t>60.1%</a:t>
                      </a:r>
                    </a:p>
                  </a:txBody>
                  <a:tcPr marL="73152" marR="73152" marT="27432" marB="27432" anchor="ctr">
                    <a:solidFill>
                      <a:srgbClr val="FCFCFB"/>
                    </a:solidFill>
                  </a:tcPr>
                </a:tc>
                <a:tc>
                  <a:txBody>
                    <a:bodyPr/>
                    <a:lstStyle/>
                    <a:p>
                      <a:pPr algn="ctr"/>
                      <a:r>
                        <a:rPr sz="1350" b="0">
                          <a:solidFill>
                            <a:srgbClr val="0B0B0B"/>
                          </a:solidFill>
                          <a:latin typeface="Helvetica Neue"/>
                        </a:rPr>
                        <a:t>0.0%</a:t>
                      </a:r>
                    </a:p>
                  </a:txBody>
                  <a:tcPr marL="73152" marR="73152" marT="27432" marB="27432" anchor="ctr">
                    <a:solidFill>
                      <a:srgbClr val="FCFCFB"/>
                    </a:solidFill>
                  </a:tcPr>
                </a:tc>
              </a:tr>
            </a:tbl>
          </a:graphicData>
        </a:graphic>
      </p:graphicFrame>
      <p:sp>
        <p:nvSpPr>
          <p:cNvPr id="10" name="TextBox 9"/>
          <p:cNvSpPr txBox="1"/>
          <p:nvPr/>
        </p:nvSpPr>
        <p:spPr>
          <a:xfrm>
            <a:off x="548640" y="3931920"/>
            <a:ext cx="2743200" cy="274320"/>
          </a:xfrm>
          <a:prstGeom prst="rect">
            <a:avLst/>
          </a:prstGeom>
          <a:noFill/>
        </p:spPr>
        <p:txBody>
          <a:bodyPr wrap="square">
            <a:spAutoFit/>
          </a:bodyPr>
          <a:lstStyle/>
          <a:p>
            <a:pPr algn="l">
              <a:lnSpc>
                <a:spcPct val="115000"/>
              </a:lnSpc>
            </a:pPr>
            <a:r>
              <a:rPr sz="1100" b="1" i="0">
                <a:solidFill>
                  <a:srgbClr val="898781"/>
                </a:solidFill>
                <a:latin typeface="Helvetica Neue"/>
              </a:rPr>
              <a:t>READING IT</a:t>
            </a:r>
          </a:p>
        </p:txBody>
      </p:sp>
      <p:sp>
        <p:nvSpPr>
          <p:cNvPr id="11" name="TextBox 10"/>
          <p:cNvSpPr txBox="1"/>
          <p:nvPr/>
        </p:nvSpPr>
        <p:spPr>
          <a:xfrm>
            <a:off x="548640" y="4224528"/>
            <a:ext cx="11064240" cy="1554480"/>
          </a:xfrm>
          <a:prstGeom prst="rect">
            <a:avLst/>
          </a:prstGeom>
          <a:noFill/>
        </p:spPr>
        <p:txBody>
          <a:bodyPr wrap="square">
            <a:spAutoFit/>
          </a:bodyPr>
          <a:lstStyle/>
          <a:p>
            <a:pPr algn="l">
              <a:lnSpc>
                <a:spcPct val="135000"/>
              </a:lnSpc>
              <a:spcAft>
                <a:spcPts val="700"/>
              </a:spcAft>
            </a:pPr>
            <a:r>
              <a:rPr sz="1350" b="0" i="0">
                <a:solidFill>
                  <a:srgbClr val="52514E"/>
                </a:solidFill>
                <a:latin typeface="Helvetica Neue"/>
              </a:rPr>
              <a:t>—  Ministral-8B leads at 39.9%.</a:t>
            </a:r>
          </a:p>
          <a:p>
            <a:pPr algn="l">
              <a:lnSpc>
                <a:spcPct val="135000"/>
              </a:lnSpc>
              <a:spcAft>
                <a:spcPts val="700"/>
              </a:spcAft>
            </a:pPr>
            <a:r>
              <a:rPr sz="1350" b="0" i="0">
                <a:solidFill>
                  <a:srgbClr val="52514E"/>
                </a:solidFill>
                <a:latin typeface="Helvetica Neue"/>
              </a:rPr>
              <a:t>—  Intervals are shown so differences inside them are not claimed as findings.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510528"/>
            <a:ext cx="5486400" cy="274320"/>
          </a:xfrm>
          <a:prstGeom prst="rect">
            <a:avLst/>
          </a:prstGeom>
          <a:noFill/>
        </p:spPr>
        <p:txBody>
          <a:bodyPr wrap="square">
            <a:spAutoFit/>
          </a:bodyPr>
          <a:lstStyle/>
          <a:p>
            <a:pPr algn="l">
              <a:lnSpc>
                <a:spcPct val="115000"/>
              </a:lnSpc>
            </a:pPr>
            <a:r>
              <a:rPr sz="900" b="0" i="0">
                <a:solidFill>
                  <a:srgbClr val="898781"/>
                </a:solidFill>
                <a:latin typeface="Helvetica Neue"/>
              </a:rPr>
              <a:t>LAMBADA &amp; MMLU Benchmark Evaluation — Extended</a:t>
            </a:r>
          </a:p>
        </p:txBody>
      </p:sp>
      <p:sp>
        <p:nvSpPr>
          <p:cNvPr id="4" name="TextBox 3"/>
          <p:cNvSpPr txBox="1"/>
          <p:nvPr/>
        </p:nvSpPr>
        <p:spPr>
          <a:xfrm>
            <a:off x="11338560" y="6510528"/>
            <a:ext cx="457200" cy="274320"/>
          </a:xfrm>
          <a:prstGeom prst="rect">
            <a:avLst/>
          </a:prstGeom>
          <a:noFill/>
        </p:spPr>
        <p:txBody>
          <a:bodyPr wrap="square">
            <a:spAutoFit/>
          </a:bodyPr>
          <a:lstStyle/>
          <a:p>
            <a:pPr algn="r">
              <a:lnSpc>
                <a:spcPct val="115000"/>
              </a:lnSpc>
            </a:pPr>
            <a:r>
              <a:rPr sz="900" b="0" i="0">
                <a:solidFill>
                  <a:srgbClr val="898781"/>
                </a:solidFill>
                <a:latin typeface="Helvetica Neue"/>
              </a:rPr>
              <a:t>20</a:t>
            </a:r>
          </a:p>
        </p:txBody>
      </p:sp>
      <p:sp>
        <p:nvSpPr>
          <p:cNvPr id="5" name="TextBox 4"/>
          <p:cNvSpPr txBox="1"/>
          <p:nvPr/>
        </p:nvSpPr>
        <p:spPr>
          <a:xfrm>
            <a:off x="548640" y="320040"/>
            <a:ext cx="10058400" cy="320040"/>
          </a:xfrm>
          <a:prstGeom prst="rect">
            <a:avLst/>
          </a:prstGeom>
          <a:noFill/>
        </p:spPr>
        <p:txBody>
          <a:bodyPr wrap="square">
            <a:spAutoFit/>
          </a:bodyPr>
          <a:lstStyle/>
          <a:p>
            <a:pPr algn="l">
              <a:lnSpc>
                <a:spcPct val="115000"/>
              </a:lnSpc>
            </a:pPr>
            <a:r>
              <a:rPr sz="1250" b="1" i="0">
                <a:solidFill>
                  <a:srgbClr val="2A78D6"/>
                </a:solidFill>
                <a:latin typeface="Helvetica Neue"/>
              </a:rPr>
              <a:t>RESULTS</a:t>
            </a:r>
          </a:p>
        </p:txBody>
      </p:sp>
      <p:sp>
        <p:nvSpPr>
          <p:cNvPr id="6" name="TextBox 5"/>
          <p:cNvSpPr txBox="1"/>
          <p:nvPr/>
        </p:nvSpPr>
        <p:spPr>
          <a:xfrm>
            <a:off x="548640" y="914400"/>
            <a:ext cx="11064240" cy="640080"/>
          </a:xfrm>
          <a:prstGeom prst="rect">
            <a:avLst/>
          </a:prstGeom>
          <a:noFill/>
        </p:spPr>
        <p:txBody>
          <a:bodyPr wrap="square">
            <a:spAutoFit/>
          </a:bodyPr>
          <a:lstStyle/>
          <a:p>
            <a:pPr algn="l">
              <a:lnSpc>
                <a:spcPct val="115000"/>
              </a:lnSpc>
            </a:pPr>
            <a:r>
              <a:rPr sz="2600" b="1" i="0">
                <a:solidFill>
                  <a:srgbClr val="0B0B0B"/>
                </a:solidFill>
                <a:latin typeface="Helvetica Neue"/>
              </a:rPr>
              <a:t>LAMBADA — serving, cost and reliability</a:t>
            </a:r>
          </a:p>
        </p:txBody>
      </p:sp>
      <p:cxnSp>
        <p:nvCxnSpPr>
          <p:cNvPr id="7" name="Connector 6"/>
          <p:cNvCxnSpPr/>
          <p:nvPr/>
        </p:nvCxnSpPr>
        <p:spPr>
          <a:xfrm>
            <a:off x="548640" y="1508760"/>
            <a:ext cx="11091672"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548640" y="1783080"/>
          <a:ext cx="11064238" cy="1609344"/>
        </p:xfrm>
        <a:graphic>
          <a:graphicData uri="http://schemas.openxmlformats.org/drawingml/2006/table">
            <a:tbl>
              <a:tblPr firstRow="1" bandRow="1">
                <a:tableStyleId>{5C22544A-7EE6-4342-B048-85BDC9FD1C3A}</a:tableStyleId>
              </a:tblPr>
              <a:tblGrid>
                <a:gridCol w="2544775"/>
                <a:gridCol w="1438351"/>
                <a:gridCol w="1438351"/>
                <a:gridCol w="1548993"/>
                <a:gridCol w="1438351"/>
                <a:gridCol w="1548993"/>
                <a:gridCol w="1106424"/>
              </a:tblGrid>
              <a:tr h="402336">
                <a:tc>
                  <a:txBody>
                    <a:bodyPr/>
                    <a:lstStyle/>
                    <a:p>
                      <a:pPr algn="l"/>
                      <a:r>
                        <a:rPr sz="1250" b="1">
                          <a:solidFill>
                            <a:srgbClr val="FFFFFF"/>
                          </a:solidFill>
                          <a:latin typeface="Helvetica Neue"/>
                        </a:rPr>
                        <a:t>Model</a:t>
                      </a:r>
                    </a:p>
                  </a:txBody>
                  <a:tcPr marL="73152" marR="73152" marT="27432" marB="27432" anchor="ctr">
                    <a:solidFill>
                      <a:srgbClr val="0B0B0B"/>
                    </a:solidFill>
                  </a:tcPr>
                </a:tc>
                <a:tc>
                  <a:txBody>
                    <a:bodyPr/>
                    <a:lstStyle/>
                    <a:p>
                      <a:pPr algn="ctr"/>
                      <a:r>
                        <a:rPr sz="1250" b="1">
                          <a:solidFill>
                            <a:srgbClr val="FFFFFF"/>
                          </a:solidFill>
                          <a:latin typeface="Helvetica Neue"/>
                        </a:rPr>
                        <a:t>TTFT</a:t>
                      </a:r>
                    </a:p>
                  </a:txBody>
                  <a:tcPr marL="73152" marR="73152" marT="27432" marB="27432" anchor="ctr">
                    <a:solidFill>
                      <a:srgbClr val="0B0B0B"/>
                    </a:solidFill>
                  </a:tcPr>
                </a:tc>
                <a:tc>
                  <a:txBody>
                    <a:bodyPr/>
                    <a:lstStyle/>
                    <a:p>
                      <a:pPr algn="ctr"/>
                      <a:r>
                        <a:rPr sz="1250" b="1">
                          <a:solidFill>
                            <a:srgbClr val="FFFFFF"/>
                          </a:solidFill>
                          <a:latin typeface="Helvetica Neue"/>
                        </a:rPr>
                        <a:t>E2E p95</a:t>
                      </a:r>
                    </a:p>
                  </a:txBody>
                  <a:tcPr marL="73152" marR="73152" marT="27432" marB="27432" anchor="ctr">
                    <a:solidFill>
                      <a:srgbClr val="0B0B0B"/>
                    </a:solidFill>
                  </a:tcPr>
                </a:tc>
                <a:tc>
                  <a:txBody>
                    <a:bodyPr/>
                    <a:lstStyle/>
                    <a:p>
                      <a:pPr algn="ctr"/>
                      <a:r>
                        <a:rPr sz="1250" b="1">
                          <a:solidFill>
                            <a:srgbClr val="FFFFFF"/>
                          </a:solidFill>
                          <a:latin typeface="Helvetica Neue"/>
                        </a:rPr>
                        <a:t>Tok / correct</a:t>
                      </a:r>
                    </a:p>
                  </a:txBody>
                  <a:tcPr marL="73152" marR="73152" marT="27432" marB="27432" anchor="ctr">
                    <a:solidFill>
                      <a:srgbClr val="0B0B0B"/>
                    </a:solidFill>
                  </a:tcPr>
                </a:tc>
                <a:tc>
                  <a:txBody>
                    <a:bodyPr/>
                    <a:lstStyle/>
                    <a:p>
                      <a:pPr algn="ctr"/>
                      <a:r>
                        <a:rPr sz="1250" b="1">
                          <a:solidFill>
                            <a:srgbClr val="FFFFFF"/>
                          </a:solidFill>
                          <a:latin typeface="Helvetica Neue"/>
                        </a:rPr>
                        <a:t>$ / 1M tok</a:t>
                      </a:r>
                    </a:p>
                  </a:txBody>
                  <a:tcPr marL="73152" marR="73152" marT="27432" marB="27432" anchor="ctr">
                    <a:solidFill>
                      <a:srgbClr val="0B0B0B"/>
                    </a:solidFill>
                  </a:tcPr>
                </a:tc>
                <a:tc>
                  <a:txBody>
                    <a:bodyPr/>
                    <a:lstStyle/>
                    <a:p>
                      <a:pPr algn="ctr"/>
                      <a:r>
                        <a:rPr sz="1250" b="1">
                          <a:solidFill>
                            <a:srgbClr val="FFFFFF"/>
                          </a:solidFill>
                          <a:latin typeface="Helvetica Neue"/>
                        </a:rPr>
                        <a:t>$ / correct</a:t>
                      </a:r>
                    </a:p>
                  </a:txBody>
                  <a:tcPr marL="73152" marR="73152" marT="27432" marB="27432" anchor="ctr">
                    <a:solidFill>
                      <a:srgbClr val="0B0B0B"/>
                    </a:solidFill>
                  </a:tcPr>
                </a:tc>
                <a:tc>
                  <a:txBody>
                    <a:bodyPr/>
                    <a:lstStyle/>
                    <a:p>
                      <a:pPr algn="ctr"/>
                      <a:r>
                        <a:rPr sz="1250" b="1">
                          <a:solidFill>
                            <a:srgbClr val="FFFFFF"/>
                          </a:solidFill>
                          <a:latin typeface="Helvetica Neue"/>
                        </a:rPr>
                        <a:t>Success</a:t>
                      </a:r>
                    </a:p>
                  </a:txBody>
                  <a:tcPr marL="73152" marR="73152" marT="27432" marB="27432" anchor="ctr">
                    <a:solidFill>
                      <a:srgbClr val="0B0B0B"/>
                    </a:solidFill>
                  </a:tcPr>
                </a:tc>
              </a:tr>
              <a:tr h="402336">
                <a:tc>
                  <a:txBody>
                    <a:bodyPr/>
                    <a:lstStyle/>
                    <a:p>
                      <a:pPr algn="l"/>
                      <a:r>
                        <a:rPr sz="1250" b="0">
                          <a:solidFill>
                            <a:srgbClr val="0B0B0B"/>
                          </a:solidFill>
                          <a:latin typeface="Helvetica Neue"/>
                        </a:rPr>
                        <a:t>Gemma-3-4B</a:t>
                      </a:r>
                    </a:p>
                  </a:txBody>
                  <a:tcPr marL="73152" marR="73152" marT="27432" marB="27432" anchor="ctr">
                    <a:solidFill>
                      <a:srgbClr val="FCFCFB"/>
                    </a:solidFill>
                  </a:tcPr>
                </a:tc>
                <a:tc>
                  <a:txBody>
                    <a:bodyPr/>
                    <a:lstStyle/>
                    <a:p>
                      <a:pPr algn="ctr"/>
                      <a:r>
                        <a:rPr sz="1250" b="0">
                          <a:solidFill>
                            <a:srgbClr val="0B0B0B"/>
                          </a:solidFill>
                          <a:latin typeface="Helvetica Neue"/>
                        </a:rPr>
                        <a:t>0.531 s</a:t>
                      </a:r>
                    </a:p>
                  </a:txBody>
                  <a:tcPr marL="73152" marR="73152" marT="27432" marB="27432" anchor="ctr">
                    <a:solidFill>
                      <a:srgbClr val="FCFCFB"/>
                    </a:solidFill>
                  </a:tcPr>
                </a:tc>
                <a:tc>
                  <a:txBody>
                    <a:bodyPr/>
                    <a:lstStyle/>
                    <a:p>
                      <a:pPr algn="ctr"/>
                      <a:r>
                        <a:rPr sz="1250" b="0">
                          <a:solidFill>
                            <a:srgbClr val="0B0B0B"/>
                          </a:solidFill>
                          <a:latin typeface="Helvetica Neue"/>
                        </a:rPr>
                        <a:t>1.336 s</a:t>
                      </a:r>
                    </a:p>
                  </a:txBody>
                  <a:tcPr marL="73152" marR="73152" marT="27432" marB="27432" anchor="ctr">
                    <a:solidFill>
                      <a:srgbClr val="FCFCFB"/>
                    </a:solidFill>
                  </a:tcPr>
                </a:tc>
                <a:tc>
                  <a:txBody>
                    <a:bodyPr/>
                    <a:lstStyle/>
                    <a:p>
                      <a:pPr algn="ctr"/>
                      <a:r>
                        <a:rPr sz="1250" b="0">
                          <a:solidFill>
                            <a:srgbClr val="0B0B0B"/>
                          </a:solidFill>
                          <a:latin typeface="Helvetica Neue"/>
                        </a:rPr>
                        <a:t>1060</a:t>
                      </a:r>
                    </a:p>
                  </a:txBody>
                  <a:tcPr marL="73152" marR="73152" marT="27432" marB="27432" anchor="ctr">
                    <a:solidFill>
                      <a:srgbClr val="FCFCFB"/>
                    </a:solidFill>
                  </a:tcPr>
                </a:tc>
                <a:tc>
                  <a:txBody>
                    <a:bodyPr/>
                    <a:lstStyle/>
                    <a:p>
                      <a:pPr algn="ctr"/>
                      <a:r>
                        <a:rPr sz="1250" b="0">
                          <a:solidFill>
                            <a:srgbClr val="0B0B0B"/>
                          </a:solidFill>
                          <a:latin typeface="Helvetica Neue"/>
                        </a:rPr>
                        <a:t>$0.1005</a:t>
                      </a:r>
                    </a:p>
                  </a:txBody>
                  <a:tcPr marL="73152" marR="73152" marT="27432" marB="27432" anchor="ctr">
                    <a:solidFill>
                      <a:srgbClr val="FCFCFB"/>
                    </a:solidFill>
                  </a:tcPr>
                </a:tc>
                <a:tc>
                  <a:txBody>
                    <a:bodyPr/>
                    <a:lstStyle/>
                    <a:p>
                      <a:pPr algn="ctr"/>
                      <a:r>
                        <a:rPr sz="1250" b="0">
                          <a:solidFill>
                            <a:srgbClr val="0B0B0B"/>
                          </a:solidFill>
                          <a:latin typeface="Helvetica Neue"/>
                        </a:rPr>
                        <a:t>$0.000107</a:t>
                      </a:r>
                    </a:p>
                  </a:txBody>
                  <a:tcPr marL="73152" marR="73152" marT="27432" marB="27432" anchor="ctr">
                    <a:solidFill>
                      <a:srgbClr val="FCFCFB"/>
                    </a:solidFill>
                  </a:tcPr>
                </a:tc>
                <a:tc>
                  <a:txBody>
                    <a:bodyPr/>
                    <a:lstStyle/>
                    <a:p>
                      <a:pPr algn="ctr"/>
                      <a:r>
                        <a:rPr sz="1250" b="0">
                          <a:solidFill>
                            <a:srgbClr val="0B0B0B"/>
                          </a:solidFill>
                          <a:latin typeface="Helvetica Neue"/>
                        </a:rPr>
                        <a:t>100.0%</a:t>
                      </a:r>
                    </a:p>
                  </a:txBody>
                  <a:tcPr marL="73152" marR="73152" marT="27432" marB="27432" anchor="ctr">
                    <a:solidFill>
                      <a:srgbClr val="FCFCFB"/>
                    </a:solidFill>
                  </a:tcPr>
                </a:tc>
              </a:tr>
              <a:tr h="402336">
                <a:tc>
                  <a:txBody>
                    <a:bodyPr/>
                    <a:lstStyle/>
                    <a:p>
                      <a:pPr algn="l"/>
                      <a:r>
                        <a:rPr sz="1250" b="0">
                          <a:solidFill>
                            <a:srgbClr val="0B0B0B"/>
                          </a:solidFill>
                          <a:latin typeface="Helvetica Neue"/>
                        </a:rPr>
                        <a:t>Llama-3.2-3B</a:t>
                      </a:r>
                    </a:p>
                  </a:txBody>
                  <a:tcPr marL="73152" marR="73152" marT="27432" marB="27432" anchor="ctr">
                    <a:solidFill>
                      <a:srgbClr val="FCFCFB"/>
                    </a:solidFill>
                  </a:tcPr>
                </a:tc>
                <a:tc>
                  <a:txBody>
                    <a:bodyPr/>
                    <a:lstStyle/>
                    <a:p>
                      <a:pPr algn="ctr"/>
                      <a:r>
                        <a:rPr sz="1250" b="0">
                          <a:solidFill>
                            <a:srgbClr val="0B0B0B"/>
                          </a:solidFill>
                          <a:latin typeface="Helvetica Neue"/>
                        </a:rPr>
                        <a:t>0.345 s</a:t>
                      </a:r>
                    </a:p>
                  </a:txBody>
                  <a:tcPr marL="73152" marR="73152" marT="27432" marB="27432" anchor="ctr">
                    <a:solidFill>
                      <a:srgbClr val="FCFCFB"/>
                    </a:solidFill>
                  </a:tcPr>
                </a:tc>
                <a:tc>
                  <a:txBody>
                    <a:bodyPr/>
                    <a:lstStyle/>
                    <a:p>
                      <a:pPr algn="ctr"/>
                      <a:r>
                        <a:rPr sz="1250" b="0">
                          <a:solidFill>
                            <a:srgbClr val="0B0B0B"/>
                          </a:solidFill>
                          <a:latin typeface="Helvetica Neue"/>
                        </a:rPr>
                        <a:t>0.665 s</a:t>
                      </a:r>
                    </a:p>
                  </a:txBody>
                  <a:tcPr marL="73152" marR="73152" marT="27432" marB="27432" anchor="ctr">
                    <a:solidFill>
                      <a:srgbClr val="FCFCFB"/>
                    </a:solidFill>
                  </a:tcPr>
                </a:tc>
                <a:tc>
                  <a:txBody>
                    <a:bodyPr/>
                    <a:lstStyle/>
                    <a:p>
                      <a:pPr algn="ctr"/>
                      <a:r>
                        <a:rPr sz="1250" b="0">
                          <a:solidFill>
                            <a:srgbClr val="0B0B0B"/>
                          </a:solidFill>
                          <a:latin typeface="Helvetica Neue"/>
                        </a:rPr>
                        <a:t>954</a:t>
                      </a:r>
                    </a:p>
                  </a:txBody>
                  <a:tcPr marL="73152" marR="73152" marT="27432" marB="27432" anchor="ctr">
                    <a:solidFill>
                      <a:srgbClr val="FCFCFB"/>
                    </a:solidFill>
                  </a:tcPr>
                </a:tc>
                <a:tc>
                  <a:txBody>
                    <a:bodyPr/>
                    <a:lstStyle/>
                    <a:p>
                      <a:pPr algn="ctr"/>
                      <a:r>
                        <a:rPr sz="1250" b="0">
                          <a:solidFill>
                            <a:srgbClr val="0B0B0B"/>
                          </a:solidFill>
                          <a:latin typeface="Helvetica Neue"/>
                        </a:rPr>
                        <a:t>$0.1062</a:t>
                      </a:r>
                    </a:p>
                  </a:txBody>
                  <a:tcPr marL="73152" marR="73152" marT="27432" marB="27432" anchor="ctr">
                    <a:solidFill>
                      <a:srgbClr val="FCFCFB"/>
                    </a:solidFill>
                  </a:tcPr>
                </a:tc>
                <a:tc>
                  <a:txBody>
                    <a:bodyPr/>
                    <a:lstStyle/>
                    <a:p>
                      <a:pPr algn="ctr"/>
                      <a:r>
                        <a:rPr sz="1250" b="0">
                          <a:solidFill>
                            <a:srgbClr val="0B0B0B"/>
                          </a:solidFill>
                          <a:latin typeface="Helvetica Neue"/>
                        </a:rPr>
                        <a:t>$0.000101</a:t>
                      </a:r>
                    </a:p>
                  </a:txBody>
                  <a:tcPr marL="73152" marR="73152" marT="27432" marB="27432" anchor="ctr">
                    <a:solidFill>
                      <a:srgbClr val="FCFCFB"/>
                    </a:solidFill>
                  </a:tcPr>
                </a:tc>
                <a:tc>
                  <a:txBody>
                    <a:bodyPr/>
                    <a:lstStyle/>
                    <a:p>
                      <a:pPr algn="ctr"/>
                      <a:r>
                        <a:rPr sz="1250" b="0">
                          <a:solidFill>
                            <a:srgbClr val="0B0B0B"/>
                          </a:solidFill>
                          <a:latin typeface="Helvetica Neue"/>
                        </a:rPr>
                        <a:t>100.0%</a:t>
                      </a:r>
                    </a:p>
                  </a:txBody>
                  <a:tcPr marL="73152" marR="73152" marT="27432" marB="27432" anchor="ctr">
                    <a:solidFill>
                      <a:srgbClr val="FCFCFB"/>
                    </a:solidFill>
                  </a:tcPr>
                </a:tc>
              </a:tr>
              <a:tr h="402336">
                <a:tc>
                  <a:txBody>
                    <a:bodyPr/>
                    <a:lstStyle/>
                    <a:p>
                      <a:pPr algn="l"/>
                      <a:r>
                        <a:rPr sz="1250" b="0">
                          <a:solidFill>
                            <a:srgbClr val="0B0B0B"/>
                          </a:solidFill>
                          <a:latin typeface="Helvetica Neue"/>
                        </a:rPr>
                        <a:t>Ministral-8B</a:t>
                      </a:r>
                    </a:p>
                  </a:txBody>
                  <a:tcPr marL="73152" marR="73152" marT="27432" marB="27432" anchor="ctr">
                    <a:solidFill>
                      <a:srgbClr val="FCFCFB"/>
                    </a:solidFill>
                  </a:tcPr>
                </a:tc>
                <a:tc>
                  <a:txBody>
                    <a:bodyPr/>
                    <a:lstStyle/>
                    <a:p>
                      <a:pPr algn="ctr"/>
                      <a:r>
                        <a:rPr sz="1250" b="0">
                          <a:solidFill>
                            <a:srgbClr val="0B0B0B"/>
                          </a:solidFill>
                          <a:latin typeface="Helvetica Neue"/>
                        </a:rPr>
                        <a:t>0.537 s</a:t>
                      </a:r>
                    </a:p>
                  </a:txBody>
                  <a:tcPr marL="73152" marR="73152" marT="27432" marB="27432" anchor="ctr">
                    <a:solidFill>
                      <a:srgbClr val="FCFCFB"/>
                    </a:solidFill>
                  </a:tcPr>
                </a:tc>
                <a:tc>
                  <a:txBody>
                    <a:bodyPr/>
                    <a:lstStyle/>
                    <a:p>
                      <a:pPr algn="ctr"/>
                      <a:r>
                        <a:rPr sz="1250" b="0">
                          <a:solidFill>
                            <a:srgbClr val="0B0B0B"/>
                          </a:solidFill>
                          <a:latin typeface="Helvetica Neue"/>
                        </a:rPr>
                        <a:t>1.316 s</a:t>
                      </a:r>
                    </a:p>
                  </a:txBody>
                  <a:tcPr marL="73152" marR="73152" marT="27432" marB="27432" anchor="ctr">
                    <a:solidFill>
                      <a:srgbClr val="FCFCFB"/>
                    </a:solidFill>
                  </a:tcPr>
                </a:tc>
                <a:tc>
                  <a:txBody>
                    <a:bodyPr/>
                    <a:lstStyle/>
                    <a:p>
                      <a:pPr algn="ctr"/>
                      <a:r>
                        <a:rPr sz="1250" b="0">
                          <a:solidFill>
                            <a:srgbClr val="0B0B0B"/>
                          </a:solidFill>
                          <a:latin typeface="Helvetica Neue"/>
                        </a:rPr>
                        <a:t>462</a:t>
                      </a:r>
                    </a:p>
                  </a:txBody>
                  <a:tcPr marL="73152" marR="73152" marT="27432" marB="27432" anchor="ctr">
                    <a:solidFill>
                      <a:srgbClr val="FCFCFB"/>
                    </a:solidFill>
                  </a:tcPr>
                </a:tc>
                <a:tc>
                  <a:txBody>
                    <a:bodyPr/>
                    <a:lstStyle/>
                    <a:p>
                      <a:pPr algn="ctr"/>
                      <a:r>
                        <a:rPr sz="1250" b="0">
                          <a:solidFill>
                            <a:srgbClr val="0B0B0B"/>
                          </a:solidFill>
                          <a:latin typeface="Helvetica Neue"/>
                        </a:rPr>
                        <a:t>$0.2082</a:t>
                      </a:r>
                    </a:p>
                  </a:txBody>
                  <a:tcPr marL="73152" marR="73152" marT="27432" marB="27432" anchor="ctr">
                    <a:solidFill>
                      <a:srgbClr val="FCFCFB"/>
                    </a:solidFill>
                  </a:tcPr>
                </a:tc>
                <a:tc>
                  <a:txBody>
                    <a:bodyPr/>
                    <a:lstStyle/>
                    <a:p>
                      <a:pPr algn="ctr"/>
                      <a:r>
                        <a:rPr sz="1250" b="0">
                          <a:solidFill>
                            <a:srgbClr val="0B0B0B"/>
                          </a:solidFill>
                          <a:latin typeface="Helvetica Neue"/>
                        </a:rPr>
                        <a:t>$0.000096</a:t>
                      </a:r>
                    </a:p>
                  </a:txBody>
                  <a:tcPr marL="73152" marR="73152" marT="27432" marB="27432" anchor="ctr">
                    <a:solidFill>
                      <a:srgbClr val="FCFCFB"/>
                    </a:solidFill>
                  </a:tcPr>
                </a:tc>
                <a:tc>
                  <a:txBody>
                    <a:bodyPr/>
                    <a:lstStyle/>
                    <a:p>
                      <a:pPr algn="ctr"/>
                      <a:r>
                        <a:rPr sz="1250" b="0">
                          <a:solidFill>
                            <a:srgbClr val="0B0B0B"/>
                          </a:solidFill>
                          <a:latin typeface="Helvetica Neue"/>
                        </a:rPr>
                        <a:t>100.0%</a:t>
                      </a:r>
                    </a:p>
                  </a:txBody>
                  <a:tcPr marL="73152" marR="73152" marT="27432" marB="27432" anchor="ctr">
                    <a:solidFill>
                      <a:srgbClr val="FCFCFB"/>
                    </a:solidFill>
                  </a:tcPr>
                </a:tc>
              </a:tr>
            </a:tbl>
          </a:graphicData>
        </a:graphic>
      </p:graphicFrame>
      <p:sp>
        <p:nvSpPr>
          <p:cNvPr id="9" name="TextBox 8"/>
          <p:cNvSpPr txBox="1"/>
          <p:nvPr/>
        </p:nvSpPr>
        <p:spPr>
          <a:xfrm>
            <a:off x="548640" y="3749039"/>
            <a:ext cx="2743200" cy="274320"/>
          </a:xfrm>
          <a:prstGeom prst="rect">
            <a:avLst/>
          </a:prstGeom>
          <a:noFill/>
        </p:spPr>
        <p:txBody>
          <a:bodyPr wrap="square">
            <a:spAutoFit/>
          </a:bodyPr>
          <a:lstStyle/>
          <a:p>
            <a:pPr algn="l">
              <a:lnSpc>
                <a:spcPct val="115000"/>
              </a:lnSpc>
            </a:pPr>
            <a:r>
              <a:rPr sz="1100" b="1" i="0">
                <a:solidFill>
                  <a:srgbClr val="898781"/>
                </a:solidFill>
                <a:latin typeface="Helvetica Neue"/>
              </a:rPr>
              <a:t>READING IT</a:t>
            </a:r>
          </a:p>
        </p:txBody>
      </p:sp>
      <p:sp>
        <p:nvSpPr>
          <p:cNvPr id="10" name="TextBox 9"/>
          <p:cNvSpPr txBox="1"/>
          <p:nvPr/>
        </p:nvSpPr>
        <p:spPr>
          <a:xfrm>
            <a:off x="548640" y="4041648"/>
            <a:ext cx="11064240" cy="1645920"/>
          </a:xfrm>
          <a:prstGeom prst="rect">
            <a:avLst/>
          </a:prstGeom>
          <a:noFill/>
        </p:spPr>
        <p:txBody>
          <a:bodyPr wrap="square">
            <a:spAutoFit/>
          </a:bodyPr>
          <a:lstStyle/>
          <a:p>
            <a:pPr algn="l">
              <a:lnSpc>
                <a:spcPct val="135000"/>
              </a:lnSpc>
              <a:spcAft>
                <a:spcPts val="700"/>
              </a:spcAft>
            </a:pPr>
            <a:r>
              <a:rPr sz="1350" b="0" i="0">
                <a:solidFill>
                  <a:srgbClr val="52514E"/>
                </a:solidFill>
                <a:latin typeface="Helvetica Neue"/>
              </a:rPr>
              <a:t>—  Gemma-3-4B has the cheapest tokens, but Ministral-8B the cheapest correct answer — accuracy converts token price into value.</a:t>
            </a:r>
          </a:p>
          <a:p>
            <a:pPr algn="l">
              <a:lnSpc>
                <a:spcPct val="135000"/>
              </a:lnSpc>
              <a:spcAft>
                <a:spcPts val="700"/>
              </a:spcAft>
            </a:pPr>
            <a:r>
              <a:rPr sz="1350" b="0" i="0">
                <a:solidFill>
                  <a:srgbClr val="52514E"/>
                </a:solidFill>
                <a:latin typeface="Helvetica Neue"/>
              </a:rPr>
              <a:t>—  Ministral-8B costs $0.000096 per correct answer against $0.000107 for Gemma-3-4B — 1.1× more.</a:t>
            </a:r>
          </a:p>
          <a:p>
            <a:pPr algn="l">
              <a:lnSpc>
                <a:spcPct val="135000"/>
              </a:lnSpc>
              <a:spcAft>
                <a:spcPts val="700"/>
              </a:spcAft>
            </a:pPr>
            <a:r>
              <a:rPr sz="1350" b="0" i="0">
                <a:solidFill>
                  <a:srgbClr val="52514E"/>
                </a:solidFill>
                <a:latin typeface="Helvetica Neue"/>
              </a:rPr>
              <a:t>—  Latency is client-measured; tokens and cost are provider-reported. Nothing here is estimated.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510528"/>
            <a:ext cx="5486400" cy="274320"/>
          </a:xfrm>
          <a:prstGeom prst="rect">
            <a:avLst/>
          </a:prstGeom>
          <a:noFill/>
        </p:spPr>
        <p:txBody>
          <a:bodyPr wrap="square">
            <a:spAutoFit/>
          </a:bodyPr>
          <a:lstStyle/>
          <a:p>
            <a:pPr algn="l">
              <a:lnSpc>
                <a:spcPct val="115000"/>
              </a:lnSpc>
            </a:pPr>
            <a:r>
              <a:rPr sz="900" b="0" i="0">
                <a:solidFill>
                  <a:srgbClr val="898781"/>
                </a:solidFill>
                <a:latin typeface="Helvetica Neue"/>
              </a:rPr>
              <a:t>LAMBADA &amp; MMLU Benchmark Evaluation — Extended</a:t>
            </a:r>
          </a:p>
        </p:txBody>
      </p:sp>
      <p:sp>
        <p:nvSpPr>
          <p:cNvPr id="4" name="TextBox 3"/>
          <p:cNvSpPr txBox="1"/>
          <p:nvPr/>
        </p:nvSpPr>
        <p:spPr>
          <a:xfrm>
            <a:off x="11338560" y="6510528"/>
            <a:ext cx="457200" cy="274320"/>
          </a:xfrm>
          <a:prstGeom prst="rect">
            <a:avLst/>
          </a:prstGeom>
          <a:noFill/>
        </p:spPr>
        <p:txBody>
          <a:bodyPr wrap="square">
            <a:spAutoFit/>
          </a:bodyPr>
          <a:lstStyle/>
          <a:p>
            <a:pPr algn="r">
              <a:lnSpc>
                <a:spcPct val="115000"/>
              </a:lnSpc>
            </a:pPr>
            <a:r>
              <a:rPr sz="900" b="0" i="0">
                <a:solidFill>
                  <a:srgbClr val="898781"/>
                </a:solidFill>
                <a:latin typeface="Helvetica Neue"/>
              </a:rPr>
              <a:t>21</a:t>
            </a:r>
          </a:p>
        </p:txBody>
      </p:sp>
      <p:sp>
        <p:nvSpPr>
          <p:cNvPr id="5" name="TextBox 4"/>
          <p:cNvSpPr txBox="1"/>
          <p:nvPr/>
        </p:nvSpPr>
        <p:spPr>
          <a:xfrm>
            <a:off x="548640" y="320040"/>
            <a:ext cx="10058400" cy="320040"/>
          </a:xfrm>
          <a:prstGeom prst="rect">
            <a:avLst/>
          </a:prstGeom>
          <a:noFill/>
        </p:spPr>
        <p:txBody>
          <a:bodyPr wrap="square">
            <a:spAutoFit/>
          </a:bodyPr>
          <a:lstStyle/>
          <a:p>
            <a:pPr algn="l">
              <a:lnSpc>
                <a:spcPct val="115000"/>
              </a:lnSpc>
            </a:pPr>
            <a:r>
              <a:rPr sz="1250" b="1" i="0">
                <a:solidFill>
                  <a:srgbClr val="2A78D6"/>
                </a:solidFill>
                <a:latin typeface="Helvetica Neue"/>
              </a:rPr>
              <a:t>RESULTS</a:t>
            </a:r>
          </a:p>
        </p:txBody>
      </p:sp>
      <p:sp>
        <p:nvSpPr>
          <p:cNvPr id="6" name="TextBox 5"/>
          <p:cNvSpPr txBox="1"/>
          <p:nvPr/>
        </p:nvSpPr>
        <p:spPr>
          <a:xfrm>
            <a:off x="548640" y="914400"/>
            <a:ext cx="11064240" cy="640080"/>
          </a:xfrm>
          <a:prstGeom prst="rect">
            <a:avLst/>
          </a:prstGeom>
          <a:noFill/>
        </p:spPr>
        <p:txBody>
          <a:bodyPr wrap="square">
            <a:spAutoFit/>
          </a:bodyPr>
          <a:lstStyle/>
          <a:p>
            <a:pPr algn="l">
              <a:lnSpc>
                <a:spcPct val="115000"/>
              </a:lnSpc>
            </a:pPr>
            <a:r>
              <a:rPr sz="2600" b="1" i="0">
                <a:solidFill>
                  <a:srgbClr val="0B0B0B"/>
                </a:solidFill>
                <a:latin typeface="Helvetica Neue"/>
              </a:rPr>
              <a:t>LAMBADA — composite ranking</a:t>
            </a:r>
          </a:p>
        </p:txBody>
      </p:sp>
      <p:cxnSp>
        <p:nvCxnSpPr>
          <p:cNvPr id="7" name="Connector 6"/>
          <p:cNvCxnSpPr/>
          <p:nvPr/>
        </p:nvCxnSpPr>
        <p:spPr>
          <a:xfrm>
            <a:off x="548640" y="1508760"/>
            <a:ext cx="11091672"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548640" y="1783080"/>
          <a:ext cx="11064238" cy="1682496"/>
        </p:xfrm>
        <a:graphic>
          <a:graphicData uri="http://schemas.openxmlformats.org/drawingml/2006/table">
            <a:tbl>
              <a:tblPr firstRow="1" bandRow="1">
                <a:tableStyleId>{5C22544A-7EE6-4342-B048-85BDC9FD1C3A}</a:tableStyleId>
              </a:tblPr>
              <a:tblGrid>
                <a:gridCol w="663854"/>
                <a:gridCol w="3097987"/>
                <a:gridCol w="1770278"/>
                <a:gridCol w="1770278"/>
                <a:gridCol w="1770278"/>
                <a:gridCol w="1991563"/>
              </a:tblGrid>
              <a:tr h="420624">
                <a:tc>
                  <a:txBody>
                    <a:bodyPr/>
                    <a:lstStyle/>
                    <a:p>
                      <a:pPr algn="l"/>
                      <a:r>
                        <a:rPr sz="1300" b="1">
                          <a:solidFill>
                            <a:srgbClr val="FFFFFF"/>
                          </a:solidFill>
                          <a:latin typeface="Helvetica Neue"/>
                        </a:rPr>
                        <a:t>#</a:t>
                      </a:r>
                    </a:p>
                  </a:txBody>
                  <a:tcPr marL="73152" marR="73152" marT="27432" marB="27432" anchor="ctr">
                    <a:solidFill>
                      <a:srgbClr val="0B0B0B"/>
                    </a:solidFill>
                  </a:tcPr>
                </a:tc>
                <a:tc>
                  <a:txBody>
                    <a:bodyPr/>
                    <a:lstStyle/>
                    <a:p>
                      <a:pPr algn="ctr"/>
                      <a:r>
                        <a:rPr sz="1300" b="1">
                          <a:solidFill>
                            <a:srgbClr val="FFFFFF"/>
                          </a:solidFill>
                          <a:latin typeface="Helvetica Neue"/>
                        </a:rPr>
                        <a:t>Model</a:t>
                      </a:r>
                    </a:p>
                  </a:txBody>
                  <a:tcPr marL="73152" marR="73152" marT="27432" marB="27432" anchor="ctr">
                    <a:solidFill>
                      <a:srgbClr val="0B0B0B"/>
                    </a:solidFill>
                  </a:tcPr>
                </a:tc>
                <a:tc>
                  <a:txBody>
                    <a:bodyPr/>
                    <a:lstStyle/>
                    <a:p>
                      <a:pPr algn="ctr"/>
                      <a:r>
                        <a:rPr sz="1300" b="1">
                          <a:solidFill>
                            <a:srgbClr val="FFFFFF"/>
                          </a:solidFill>
                          <a:latin typeface="Helvetica Neue"/>
                        </a:rPr>
                        <a:t>Quality</a:t>
                      </a:r>
                    </a:p>
                  </a:txBody>
                  <a:tcPr marL="73152" marR="73152" marT="27432" marB="27432" anchor="ctr">
                    <a:solidFill>
                      <a:srgbClr val="0B0B0B"/>
                    </a:solidFill>
                  </a:tcPr>
                </a:tc>
                <a:tc>
                  <a:txBody>
                    <a:bodyPr/>
                    <a:lstStyle/>
                    <a:p>
                      <a:pPr algn="ctr"/>
                      <a:r>
                        <a:rPr sz="1300" b="1">
                          <a:solidFill>
                            <a:srgbClr val="FFFFFF"/>
                          </a:solidFill>
                          <a:latin typeface="Helvetica Neue"/>
                        </a:rPr>
                        <a:t>Efficiency</a:t>
                      </a:r>
                    </a:p>
                  </a:txBody>
                  <a:tcPr marL="73152" marR="73152" marT="27432" marB="27432" anchor="ctr">
                    <a:solidFill>
                      <a:srgbClr val="0B0B0B"/>
                    </a:solidFill>
                  </a:tcPr>
                </a:tc>
                <a:tc>
                  <a:txBody>
                    <a:bodyPr/>
                    <a:lstStyle/>
                    <a:p>
                      <a:pPr algn="ctr"/>
                      <a:r>
                        <a:rPr sz="1300" b="1">
                          <a:solidFill>
                            <a:srgbClr val="FFFFFF"/>
                          </a:solidFill>
                          <a:latin typeface="Helvetica Neue"/>
                        </a:rPr>
                        <a:t>Reliability</a:t>
                      </a:r>
                    </a:p>
                  </a:txBody>
                  <a:tcPr marL="73152" marR="73152" marT="27432" marB="27432" anchor="ctr">
                    <a:solidFill>
                      <a:srgbClr val="0B0B0B"/>
                    </a:solidFill>
                  </a:tcPr>
                </a:tc>
                <a:tc>
                  <a:txBody>
                    <a:bodyPr/>
                    <a:lstStyle/>
                    <a:p>
                      <a:pPr algn="ctr"/>
                      <a:r>
                        <a:rPr sz="1300" b="1">
                          <a:solidFill>
                            <a:srgbClr val="FFFFFF"/>
                          </a:solidFill>
                          <a:latin typeface="Helvetica Neue"/>
                        </a:rPr>
                        <a:t>Composite</a:t>
                      </a:r>
                    </a:p>
                  </a:txBody>
                  <a:tcPr marL="73152" marR="73152" marT="27432" marB="27432" anchor="ctr">
                    <a:solidFill>
                      <a:srgbClr val="0B0B0B"/>
                    </a:solidFill>
                  </a:tcPr>
                </a:tc>
              </a:tr>
              <a:tr h="420624">
                <a:tc>
                  <a:txBody>
                    <a:bodyPr/>
                    <a:lstStyle/>
                    <a:p>
                      <a:pPr algn="l"/>
                      <a:r>
                        <a:rPr sz="1300" b="0">
                          <a:solidFill>
                            <a:srgbClr val="0B0B0B"/>
                          </a:solidFill>
                          <a:latin typeface="Helvetica Neue"/>
                        </a:rPr>
                        <a:t>1</a:t>
                      </a:r>
                    </a:p>
                  </a:txBody>
                  <a:tcPr marL="73152" marR="73152" marT="27432" marB="27432" anchor="ctr">
                    <a:solidFill>
                      <a:srgbClr val="FCFCFB"/>
                    </a:solidFill>
                  </a:tcPr>
                </a:tc>
                <a:tc>
                  <a:txBody>
                    <a:bodyPr/>
                    <a:lstStyle/>
                    <a:p>
                      <a:pPr algn="ctr"/>
                      <a:r>
                        <a:rPr sz="1300" b="0">
                          <a:solidFill>
                            <a:srgbClr val="0B0B0B"/>
                          </a:solidFill>
                          <a:latin typeface="Helvetica Neue"/>
                        </a:rPr>
                        <a:t>ministral-8b-2512</a:t>
                      </a:r>
                    </a:p>
                  </a:txBody>
                  <a:tcPr marL="73152" marR="73152" marT="27432" marB="27432" anchor="ctr">
                    <a:solidFill>
                      <a:srgbClr val="FCFCFB"/>
                    </a:solidFill>
                  </a:tcPr>
                </a:tc>
                <a:tc>
                  <a:txBody>
                    <a:bodyPr/>
                    <a:lstStyle/>
                    <a:p>
                      <a:pPr algn="ctr"/>
                      <a:r>
                        <a:rPr sz="1300" b="0">
                          <a:solidFill>
                            <a:srgbClr val="0B0B0B"/>
                          </a:solidFill>
                          <a:latin typeface="Helvetica Neue"/>
                        </a:rPr>
                        <a:t>0.399</a:t>
                      </a:r>
                    </a:p>
                  </a:txBody>
                  <a:tcPr marL="73152" marR="73152" marT="27432" marB="27432" anchor="ctr">
                    <a:solidFill>
                      <a:srgbClr val="FCFCFB"/>
                    </a:solidFill>
                  </a:tcPr>
                </a:tc>
                <a:tc>
                  <a:txBody>
                    <a:bodyPr/>
                    <a:lstStyle/>
                    <a:p>
                      <a:pPr algn="ctr"/>
                      <a:r>
                        <a:rPr sz="1300" b="0">
                          <a:solidFill>
                            <a:srgbClr val="0B0B0B"/>
                          </a:solidFill>
                          <a:latin typeface="Helvetica Neue"/>
                        </a:rPr>
                        <a:t>0.623</a:t>
                      </a:r>
                    </a:p>
                  </a:txBody>
                  <a:tcPr marL="73152" marR="73152" marT="27432" marB="27432" anchor="ctr">
                    <a:solidFill>
                      <a:srgbClr val="FCFCFB"/>
                    </a:solidFill>
                  </a:tcPr>
                </a:tc>
                <a:tc>
                  <a:txBody>
                    <a:bodyPr/>
                    <a:lstStyle/>
                    <a:p>
                      <a:pPr algn="ctr"/>
                      <a:r>
                        <a:rPr sz="1300" b="0">
                          <a:solidFill>
                            <a:srgbClr val="0B0B0B"/>
                          </a:solidFill>
                          <a:latin typeface="Helvetica Neue"/>
                        </a:rPr>
                        <a:t>1.000</a:t>
                      </a:r>
                    </a:p>
                  </a:txBody>
                  <a:tcPr marL="73152" marR="73152" marT="27432" marB="27432" anchor="ctr">
                    <a:solidFill>
                      <a:srgbClr val="FCFCFB"/>
                    </a:solidFill>
                  </a:tcPr>
                </a:tc>
                <a:tc>
                  <a:txBody>
                    <a:bodyPr/>
                    <a:lstStyle/>
                    <a:p>
                      <a:pPr algn="ctr"/>
                      <a:r>
                        <a:rPr sz="1300" b="1">
                          <a:solidFill>
                            <a:srgbClr val="0B0B0B"/>
                          </a:solidFill>
                          <a:latin typeface="Helvetica Neue"/>
                        </a:rPr>
                        <a:t>0.517</a:t>
                      </a:r>
                    </a:p>
                  </a:txBody>
                  <a:tcPr marL="73152" marR="73152" marT="27432" marB="27432" anchor="ctr">
                    <a:solidFill>
                      <a:srgbClr val="FCFCFB"/>
                    </a:solidFill>
                  </a:tcPr>
                </a:tc>
              </a:tr>
              <a:tr h="420624">
                <a:tc>
                  <a:txBody>
                    <a:bodyPr/>
                    <a:lstStyle/>
                    <a:p>
                      <a:pPr algn="l"/>
                      <a:r>
                        <a:rPr sz="1300" b="0">
                          <a:solidFill>
                            <a:srgbClr val="0B0B0B"/>
                          </a:solidFill>
                          <a:latin typeface="Helvetica Neue"/>
                        </a:rPr>
                        <a:t>2</a:t>
                      </a:r>
                    </a:p>
                  </a:txBody>
                  <a:tcPr marL="73152" marR="73152" marT="27432" marB="27432" anchor="ctr">
                    <a:solidFill>
                      <a:srgbClr val="FCFCFB"/>
                    </a:solidFill>
                  </a:tcPr>
                </a:tc>
                <a:tc>
                  <a:txBody>
                    <a:bodyPr/>
                    <a:lstStyle/>
                    <a:p>
                      <a:pPr algn="ctr"/>
                      <a:r>
                        <a:rPr sz="1300" b="0">
                          <a:solidFill>
                            <a:srgbClr val="0B0B0B"/>
                          </a:solidFill>
                          <a:latin typeface="Helvetica Neue"/>
                        </a:rPr>
                        <a:t>llama-3.2-3b-instruct</a:t>
                      </a:r>
                    </a:p>
                  </a:txBody>
                  <a:tcPr marL="73152" marR="73152" marT="27432" marB="27432" anchor="ctr">
                    <a:solidFill>
                      <a:srgbClr val="FCFCFB"/>
                    </a:solidFill>
                  </a:tcPr>
                </a:tc>
                <a:tc>
                  <a:txBody>
                    <a:bodyPr/>
                    <a:lstStyle/>
                    <a:p>
                      <a:pPr algn="ctr"/>
                      <a:r>
                        <a:rPr sz="1300" b="0">
                          <a:solidFill>
                            <a:srgbClr val="0B0B0B"/>
                          </a:solidFill>
                          <a:latin typeface="Helvetica Neue"/>
                        </a:rPr>
                        <a:t>0.225</a:t>
                      </a:r>
                    </a:p>
                  </a:txBody>
                  <a:tcPr marL="73152" marR="73152" marT="27432" marB="27432" anchor="ctr">
                    <a:solidFill>
                      <a:srgbClr val="FCFCFB"/>
                    </a:solidFill>
                  </a:tcPr>
                </a:tc>
                <a:tc>
                  <a:txBody>
                    <a:bodyPr/>
                    <a:lstStyle/>
                    <a:p>
                      <a:pPr algn="ctr"/>
                      <a:r>
                        <a:rPr sz="1300" b="0">
                          <a:solidFill>
                            <a:srgbClr val="0B0B0B"/>
                          </a:solidFill>
                          <a:latin typeface="Helvetica Neue"/>
                        </a:rPr>
                        <a:t>1.000</a:t>
                      </a:r>
                    </a:p>
                  </a:txBody>
                  <a:tcPr marL="73152" marR="73152" marT="27432" marB="27432" anchor="ctr">
                    <a:solidFill>
                      <a:srgbClr val="FCFCFB"/>
                    </a:solidFill>
                  </a:tcPr>
                </a:tc>
                <a:tc>
                  <a:txBody>
                    <a:bodyPr/>
                    <a:lstStyle/>
                    <a:p>
                      <a:pPr algn="ctr"/>
                      <a:r>
                        <a:rPr sz="1300" b="0">
                          <a:solidFill>
                            <a:srgbClr val="0B0B0B"/>
                          </a:solidFill>
                          <a:latin typeface="Helvetica Neue"/>
                        </a:rPr>
                        <a:t>1.000</a:t>
                      </a:r>
                    </a:p>
                  </a:txBody>
                  <a:tcPr marL="73152" marR="73152" marT="27432" marB="27432" anchor="ctr">
                    <a:solidFill>
                      <a:srgbClr val="FCFCFB"/>
                    </a:solidFill>
                  </a:tcPr>
                </a:tc>
                <a:tc>
                  <a:txBody>
                    <a:bodyPr/>
                    <a:lstStyle/>
                    <a:p>
                      <a:pPr algn="ctr"/>
                      <a:r>
                        <a:rPr sz="1300" b="1">
                          <a:solidFill>
                            <a:srgbClr val="0B0B0B"/>
                          </a:solidFill>
                          <a:latin typeface="Helvetica Neue"/>
                        </a:rPr>
                        <a:t>0.446</a:t>
                      </a:r>
                    </a:p>
                  </a:txBody>
                  <a:tcPr marL="73152" marR="73152" marT="27432" marB="27432" anchor="ctr">
                    <a:solidFill>
                      <a:srgbClr val="FCFCFB"/>
                    </a:solidFill>
                  </a:tcPr>
                </a:tc>
              </a:tr>
              <a:tr h="420624">
                <a:tc>
                  <a:txBody>
                    <a:bodyPr/>
                    <a:lstStyle/>
                    <a:p>
                      <a:pPr algn="l"/>
                      <a:r>
                        <a:rPr sz="1300" b="0">
                          <a:solidFill>
                            <a:srgbClr val="0B0B0B"/>
                          </a:solidFill>
                          <a:latin typeface="Helvetica Neue"/>
                        </a:rPr>
                        <a:t>3</a:t>
                      </a:r>
                    </a:p>
                  </a:txBody>
                  <a:tcPr marL="73152" marR="73152" marT="27432" marB="27432" anchor="ctr">
                    <a:solidFill>
                      <a:srgbClr val="FCFCFB"/>
                    </a:solidFill>
                  </a:tcPr>
                </a:tc>
                <a:tc>
                  <a:txBody>
                    <a:bodyPr/>
                    <a:lstStyle/>
                    <a:p>
                      <a:pPr algn="ctr"/>
                      <a:r>
                        <a:rPr sz="1300" b="0">
                          <a:solidFill>
                            <a:srgbClr val="0B0B0B"/>
                          </a:solidFill>
                          <a:latin typeface="Helvetica Neue"/>
                        </a:rPr>
                        <a:t>gemma-3-4b-it</a:t>
                      </a:r>
                    </a:p>
                  </a:txBody>
                  <a:tcPr marL="73152" marR="73152" marT="27432" marB="27432" anchor="ctr">
                    <a:solidFill>
                      <a:srgbClr val="FCFCFB"/>
                    </a:solidFill>
                  </a:tcPr>
                </a:tc>
                <a:tc>
                  <a:txBody>
                    <a:bodyPr/>
                    <a:lstStyle/>
                    <a:p>
                      <a:pPr algn="ctr"/>
                      <a:r>
                        <a:rPr sz="1300" b="0">
                          <a:solidFill>
                            <a:srgbClr val="0B0B0B"/>
                          </a:solidFill>
                          <a:latin typeface="Helvetica Neue"/>
                        </a:rPr>
                        <a:t>0.180</a:t>
                      </a:r>
                    </a:p>
                  </a:txBody>
                  <a:tcPr marL="73152" marR="73152" marT="27432" marB="27432" anchor="ctr">
                    <a:solidFill>
                      <a:srgbClr val="FCFCFB"/>
                    </a:solidFill>
                  </a:tcPr>
                </a:tc>
                <a:tc>
                  <a:txBody>
                    <a:bodyPr/>
                    <a:lstStyle/>
                    <a:p>
                      <a:pPr algn="ctr"/>
                      <a:r>
                        <a:rPr sz="1300" b="0">
                          <a:solidFill>
                            <a:srgbClr val="0B0B0B"/>
                          </a:solidFill>
                          <a:latin typeface="Helvetica Neue"/>
                        </a:rPr>
                        <a:t>0.657</a:t>
                      </a:r>
                    </a:p>
                  </a:txBody>
                  <a:tcPr marL="73152" marR="73152" marT="27432" marB="27432" anchor="ctr">
                    <a:solidFill>
                      <a:srgbClr val="FCFCFB"/>
                    </a:solidFill>
                  </a:tcPr>
                </a:tc>
                <a:tc>
                  <a:txBody>
                    <a:bodyPr/>
                    <a:lstStyle/>
                    <a:p>
                      <a:pPr algn="ctr"/>
                      <a:r>
                        <a:rPr sz="1300" b="0">
                          <a:solidFill>
                            <a:srgbClr val="0B0B0B"/>
                          </a:solidFill>
                          <a:latin typeface="Helvetica Neue"/>
                        </a:rPr>
                        <a:t>0.999</a:t>
                      </a:r>
                    </a:p>
                  </a:txBody>
                  <a:tcPr marL="73152" marR="73152" marT="27432" marB="27432" anchor="ctr">
                    <a:solidFill>
                      <a:srgbClr val="FCFCFB"/>
                    </a:solidFill>
                  </a:tcPr>
                </a:tc>
                <a:tc>
                  <a:txBody>
                    <a:bodyPr/>
                    <a:lstStyle/>
                    <a:p>
                      <a:pPr algn="ctr"/>
                      <a:r>
                        <a:rPr sz="1300" b="1">
                          <a:solidFill>
                            <a:srgbClr val="0B0B0B"/>
                          </a:solidFill>
                          <a:latin typeface="Helvetica Neue"/>
                        </a:rPr>
                        <a:t>0.365</a:t>
                      </a:r>
                    </a:p>
                  </a:txBody>
                  <a:tcPr marL="73152" marR="73152" marT="27432" marB="27432" anchor="ctr">
                    <a:solidFill>
                      <a:srgbClr val="FCFCFB"/>
                    </a:solidFill>
                  </a:tcPr>
                </a:tc>
              </a:tr>
            </a:tbl>
          </a:graphicData>
        </a:graphic>
      </p:graphicFrame>
      <p:sp>
        <p:nvSpPr>
          <p:cNvPr id="9" name="TextBox 8"/>
          <p:cNvSpPr txBox="1"/>
          <p:nvPr/>
        </p:nvSpPr>
        <p:spPr>
          <a:xfrm>
            <a:off x="548640" y="3794760"/>
            <a:ext cx="11064240" cy="365760"/>
          </a:xfrm>
          <a:prstGeom prst="rect">
            <a:avLst/>
          </a:prstGeom>
          <a:noFill/>
        </p:spPr>
        <p:txBody>
          <a:bodyPr wrap="square">
            <a:spAutoFit/>
          </a:bodyPr>
          <a:lstStyle/>
          <a:p>
            <a:pPr algn="l">
              <a:lnSpc>
                <a:spcPct val="115000"/>
              </a:lnSpc>
            </a:pPr>
            <a:r>
              <a:rPr sz="1300" b="1" i="0">
                <a:solidFill>
                  <a:srgbClr val="2A78D6"/>
                </a:solidFill>
                <a:latin typeface="Helvetica Neue"/>
              </a:rPr>
              <a:t>composite  =  0.714 · quality   +   0.143 · efficiency   +   0.143 · reliability</a:t>
            </a:r>
          </a:p>
        </p:txBody>
      </p:sp>
      <p:sp>
        <p:nvSpPr>
          <p:cNvPr id="10" name="TextBox 9"/>
          <p:cNvSpPr txBox="1"/>
          <p:nvPr/>
        </p:nvSpPr>
        <p:spPr>
          <a:xfrm>
            <a:off x="548640" y="4297680"/>
            <a:ext cx="11064240" cy="1371600"/>
          </a:xfrm>
          <a:prstGeom prst="rect">
            <a:avLst/>
          </a:prstGeom>
          <a:noFill/>
        </p:spPr>
        <p:txBody>
          <a:bodyPr wrap="square">
            <a:spAutoFit/>
          </a:bodyPr>
          <a:lstStyle/>
          <a:p>
            <a:pPr algn="l">
              <a:lnSpc>
                <a:spcPct val="130000"/>
              </a:lnSpc>
            </a:pPr>
            <a:r>
              <a:rPr sz="1300" b="0" i="0">
                <a:solidFill>
                  <a:srgbClr val="52514E"/>
                </a:solidFill>
                <a:latin typeface="Helvetica Neue"/>
              </a:rPr>
              <a:t>Calibration and robustness could not be measured — the routed providers returned no log-probabilities and no robustness pass was run. Rather than scoring them zero, their weight is redistributed over the components that were measured, so the weights above are the applied ones, not the nominal 0.50/0.15/0.15/0.10/0.10.</a:t>
            </a:r>
          </a:p>
          <a:p>
            <a:pPr algn="l">
              <a:lnSpc>
                <a:spcPct val="130000"/>
              </a:lnSpc>
            </a:pPr>
            <a:r>
              <a:rPr sz="1300" b="0" i="0">
                <a:solidFill>
                  <a:srgbClr val="52514E"/>
                </a:solidFill>
                <a:latin typeface="Helvetica Neue"/>
              </a:rPr>
              <a:t>all models share one run configuration - differences are attributable to the models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510528"/>
            <a:ext cx="5486400" cy="274320"/>
          </a:xfrm>
          <a:prstGeom prst="rect">
            <a:avLst/>
          </a:prstGeom>
          <a:noFill/>
        </p:spPr>
        <p:txBody>
          <a:bodyPr wrap="square">
            <a:spAutoFit/>
          </a:bodyPr>
          <a:lstStyle/>
          <a:p>
            <a:pPr algn="l">
              <a:lnSpc>
                <a:spcPct val="115000"/>
              </a:lnSpc>
            </a:pPr>
            <a:r>
              <a:rPr sz="900" b="0" i="0">
                <a:solidFill>
                  <a:srgbClr val="898781"/>
                </a:solidFill>
                <a:latin typeface="Helvetica Neue"/>
              </a:rPr>
              <a:t>LAMBADA &amp; MMLU Benchmark Evaluation — Extended</a:t>
            </a:r>
          </a:p>
        </p:txBody>
      </p:sp>
      <p:sp>
        <p:nvSpPr>
          <p:cNvPr id="4" name="TextBox 3"/>
          <p:cNvSpPr txBox="1"/>
          <p:nvPr/>
        </p:nvSpPr>
        <p:spPr>
          <a:xfrm>
            <a:off x="11338560" y="6510528"/>
            <a:ext cx="457200" cy="274320"/>
          </a:xfrm>
          <a:prstGeom prst="rect">
            <a:avLst/>
          </a:prstGeom>
          <a:noFill/>
        </p:spPr>
        <p:txBody>
          <a:bodyPr wrap="square">
            <a:spAutoFit/>
          </a:bodyPr>
          <a:lstStyle/>
          <a:p>
            <a:pPr algn="r">
              <a:lnSpc>
                <a:spcPct val="115000"/>
              </a:lnSpc>
            </a:pPr>
            <a:r>
              <a:rPr sz="900" b="0" i="0">
                <a:solidFill>
                  <a:srgbClr val="898781"/>
                </a:solidFill>
                <a:latin typeface="Helvetica Neue"/>
              </a:rPr>
              <a:t>22</a:t>
            </a:r>
          </a:p>
        </p:txBody>
      </p:sp>
      <p:sp>
        <p:nvSpPr>
          <p:cNvPr id="5" name="TextBox 4"/>
          <p:cNvSpPr txBox="1"/>
          <p:nvPr/>
        </p:nvSpPr>
        <p:spPr>
          <a:xfrm>
            <a:off x="548640" y="320040"/>
            <a:ext cx="10058400" cy="320040"/>
          </a:xfrm>
          <a:prstGeom prst="rect">
            <a:avLst/>
          </a:prstGeom>
          <a:noFill/>
        </p:spPr>
        <p:txBody>
          <a:bodyPr wrap="square">
            <a:spAutoFit/>
          </a:bodyPr>
          <a:lstStyle/>
          <a:p>
            <a:pPr algn="l">
              <a:lnSpc>
                <a:spcPct val="115000"/>
              </a:lnSpc>
            </a:pPr>
            <a:r>
              <a:rPr sz="1250" b="1" i="0">
                <a:solidFill>
                  <a:srgbClr val="2A78D6"/>
                </a:solidFill>
                <a:latin typeface="Helvetica Neue"/>
              </a:rPr>
              <a:t>RESULTS</a:t>
            </a:r>
          </a:p>
        </p:txBody>
      </p:sp>
      <p:sp>
        <p:nvSpPr>
          <p:cNvPr id="6" name="TextBox 5"/>
          <p:cNvSpPr txBox="1"/>
          <p:nvPr/>
        </p:nvSpPr>
        <p:spPr>
          <a:xfrm>
            <a:off x="548640" y="914400"/>
            <a:ext cx="11064240" cy="640080"/>
          </a:xfrm>
          <a:prstGeom prst="rect">
            <a:avLst/>
          </a:prstGeom>
          <a:noFill/>
        </p:spPr>
        <p:txBody>
          <a:bodyPr wrap="square">
            <a:spAutoFit/>
          </a:bodyPr>
          <a:lstStyle/>
          <a:p>
            <a:pPr algn="l">
              <a:lnSpc>
                <a:spcPct val="115000"/>
              </a:lnSpc>
            </a:pPr>
            <a:r>
              <a:rPr sz="2600" b="1" i="0">
                <a:solidFill>
                  <a:srgbClr val="0B0B0B"/>
                </a:solidFill>
                <a:latin typeface="Helvetica Neue"/>
              </a:rPr>
              <a:t>The web view — run record and stages</a:t>
            </a:r>
          </a:p>
        </p:txBody>
      </p:sp>
      <p:cxnSp>
        <p:nvCxnSpPr>
          <p:cNvPr id="7" name="Connector 6"/>
          <p:cNvCxnSpPr/>
          <p:nvPr/>
        </p:nvCxnSpPr>
        <p:spPr>
          <a:xfrm>
            <a:off x="548640" y="1508760"/>
            <a:ext cx="11091672"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1645920"/>
            <a:ext cx="5349240" cy="292608"/>
          </a:xfrm>
          <a:prstGeom prst="rect">
            <a:avLst/>
          </a:prstGeom>
          <a:noFill/>
        </p:spPr>
        <p:txBody>
          <a:bodyPr wrap="square">
            <a:spAutoFit/>
          </a:bodyPr>
          <a:lstStyle/>
          <a:p>
            <a:pPr algn="l">
              <a:lnSpc>
                <a:spcPct val="115000"/>
              </a:lnSpc>
            </a:pPr>
            <a:r>
              <a:rPr sz="1400" b="1" i="0">
                <a:solidFill>
                  <a:srgbClr val="0B0B0B"/>
                </a:solidFill>
                <a:latin typeface="Helvetica Neue"/>
              </a:rPr>
              <a:t>The run record</a:t>
            </a:r>
          </a:p>
        </p:txBody>
      </p:sp>
      <p:sp>
        <p:nvSpPr>
          <p:cNvPr id="9" name="Rectangle 8"/>
          <p:cNvSpPr/>
          <p:nvPr/>
        </p:nvSpPr>
        <p:spPr>
          <a:xfrm>
            <a:off x="548640" y="2011680"/>
            <a:ext cx="5349240" cy="3017520"/>
          </a:xfrm>
          <a:prstGeom prst="rect">
            <a:avLst/>
          </a:prstGeom>
          <a:solidFill>
            <a:srgbClr val="F9F9F7"/>
          </a:solidFill>
          <a:ln w="12700">
            <a:solidFill>
              <a:srgbClr val="89878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898781"/>
                </a:solidFill>
                <a:latin typeface="Helvetica Neue"/>
              </a:rPr>
              <a:t>[ screenshot placeholder ]</a:t>
            </a:r>
          </a:p>
          <a:p>
            <a:pPr algn="ctr"/>
            <a:r>
              <a:rPr sz="1100" b="0">
                <a:solidFill>
                  <a:srgbClr val="898781"/>
                </a:solidFill>
                <a:latin typeface="Helvetica Neue"/>
              </a:rPr>
              <a:t>diagram-analysis/analysis-01-history-overview.png</a:t>
            </a:r>
          </a:p>
        </p:txBody>
      </p:sp>
      <p:sp>
        <p:nvSpPr>
          <p:cNvPr id="10" name="TextBox 9"/>
          <p:cNvSpPr txBox="1"/>
          <p:nvPr/>
        </p:nvSpPr>
        <p:spPr>
          <a:xfrm>
            <a:off x="548640" y="5120640"/>
            <a:ext cx="5349240" cy="365760"/>
          </a:xfrm>
          <a:prstGeom prst="rect">
            <a:avLst/>
          </a:prstGeom>
          <a:noFill/>
        </p:spPr>
        <p:txBody>
          <a:bodyPr wrap="square">
            <a:spAutoFit/>
          </a:bodyPr>
          <a:lstStyle/>
          <a:p>
            <a:pPr algn="ctr">
              <a:lnSpc>
                <a:spcPct val="115000"/>
              </a:lnSpc>
            </a:pPr>
            <a:r>
              <a:rPr sz="1150" b="0" i="1">
                <a:solidFill>
                  <a:srgbClr val="898781"/>
                </a:solidFill>
                <a:latin typeface="Helvetica Neue"/>
              </a:rPr>
              <a:t>History: one card per run, with metric-family and configuration chips</a:t>
            </a:r>
          </a:p>
        </p:txBody>
      </p:sp>
      <p:sp>
        <p:nvSpPr>
          <p:cNvPr id="11" name="TextBox 10"/>
          <p:cNvSpPr txBox="1"/>
          <p:nvPr/>
        </p:nvSpPr>
        <p:spPr>
          <a:xfrm>
            <a:off x="6263640" y="1645920"/>
            <a:ext cx="5349240" cy="292608"/>
          </a:xfrm>
          <a:prstGeom prst="rect">
            <a:avLst/>
          </a:prstGeom>
          <a:noFill/>
        </p:spPr>
        <p:txBody>
          <a:bodyPr wrap="square">
            <a:spAutoFit/>
          </a:bodyPr>
          <a:lstStyle/>
          <a:p>
            <a:pPr algn="l">
              <a:lnSpc>
                <a:spcPct val="115000"/>
              </a:lnSpc>
            </a:pPr>
            <a:r>
              <a:rPr sz="1400" b="1" i="0">
                <a:solidFill>
                  <a:srgbClr val="0B0B0B"/>
                </a:solidFill>
                <a:latin typeface="Helvetica Neue"/>
              </a:rPr>
              <a:t>Nine stages per model</a:t>
            </a:r>
          </a:p>
        </p:txBody>
      </p:sp>
      <p:sp>
        <p:nvSpPr>
          <p:cNvPr id="12" name="Rectangle 11"/>
          <p:cNvSpPr/>
          <p:nvPr/>
        </p:nvSpPr>
        <p:spPr>
          <a:xfrm>
            <a:off x="6263640" y="2011680"/>
            <a:ext cx="5349240" cy="3017520"/>
          </a:xfrm>
          <a:prstGeom prst="rect">
            <a:avLst/>
          </a:prstGeom>
          <a:solidFill>
            <a:srgbClr val="F9F9F7"/>
          </a:solidFill>
          <a:ln w="12700">
            <a:solidFill>
              <a:srgbClr val="89878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898781"/>
                </a:solidFill>
                <a:latin typeface="Helvetica Neue"/>
              </a:rPr>
              <a:t>[ screenshot placeholder ]</a:t>
            </a:r>
          </a:p>
          <a:p>
            <a:pPr algn="ctr"/>
            <a:r>
              <a:rPr sz="1100" b="0">
                <a:solidFill>
                  <a:srgbClr val="898781"/>
                </a:solidFill>
                <a:latin typeface="Helvetica Neue"/>
              </a:rPr>
              <a:t>diagram-analysis/analysis-03-stage-list.png</a:t>
            </a:r>
          </a:p>
        </p:txBody>
      </p:sp>
      <p:sp>
        <p:nvSpPr>
          <p:cNvPr id="13" name="TextBox 12"/>
          <p:cNvSpPr txBox="1"/>
          <p:nvPr/>
        </p:nvSpPr>
        <p:spPr>
          <a:xfrm>
            <a:off x="6263640" y="5120640"/>
            <a:ext cx="5349240" cy="365760"/>
          </a:xfrm>
          <a:prstGeom prst="rect">
            <a:avLst/>
          </a:prstGeom>
          <a:noFill/>
        </p:spPr>
        <p:txBody>
          <a:bodyPr wrap="square">
            <a:spAutoFit/>
          </a:bodyPr>
          <a:lstStyle/>
          <a:p>
            <a:pPr algn="ctr">
              <a:lnSpc>
                <a:spcPct val="115000"/>
              </a:lnSpc>
            </a:pPr>
            <a:r>
              <a:rPr sz="1150" b="0" i="1">
                <a:solidFill>
                  <a:srgbClr val="898781"/>
                </a:solidFill>
                <a:latin typeface="Helvetica Neue"/>
              </a:rPr>
              <a:t>Families with no data carry an n/a badge rather than being hidden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510528"/>
            <a:ext cx="5486400" cy="274320"/>
          </a:xfrm>
          <a:prstGeom prst="rect">
            <a:avLst/>
          </a:prstGeom>
          <a:noFill/>
        </p:spPr>
        <p:txBody>
          <a:bodyPr wrap="square">
            <a:spAutoFit/>
          </a:bodyPr>
          <a:lstStyle/>
          <a:p>
            <a:pPr algn="l">
              <a:lnSpc>
                <a:spcPct val="115000"/>
              </a:lnSpc>
            </a:pPr>
            <a:r>
              <a:rPr sz="900" b="0" i="0">
                <a:solidFill>
                  <a:srgbClr val="898781"/>
                </a:solidFill>
                <a:latin typeface="Helvetica Neue"/>
              </a:rPr>
              <a:t>LAMBADA &amp; MMLU Benchmark Evaluation — Extended</a:t>
            </a:r>
          </a:p>
        </p:txBody>
      </p:sp>
      <p:sp>
        <p:nvSpPr>
          <p:cNvPr id="4" name="TextBox 3"/>
          <p:cNvSpPr txBox="1"/>
          <p:nvPr/>
        </p:nvSpPr>
        <p:spPr>
          <a:xfrm>
            <a:off x="11338560" y="6510528"/>
            <a:ext cx="457200" cy="274320"/>
          </a:xfrm>
          <a:prstGeom prst="rect">
            <a:avLst/>
          </a:prstGeom>
          <a:noFill/>
        </p:spPr>
        <p:txBody>
          <a:bodyPr wrap="square">
            <a:spAutoFit/>
          </a:bodyPr>
          <a:lstStyle/>
          <a:p>
            <a:pPr algn="r">
              <a:lnSpc>
                <a:spcPct val="115000"/>
              </a:lnSpc>
            </a:pPr>
            <a:r>
              <a:rPr sz="900" b="0" i="0">
                <a:solidFill>
                  <a:srgbClr val="898781"/>
                </a:solidFill>
                <a:latin typeface="Helvetica Neue"/>
              </a:rPr>
              <a:t>23</a:t>
            </a:r>
          </a:p>
        </p:txBody>
      </p:sp>
      <p:sp>
        <p:nvSpPr>
          <p:cNvPr id="5" name="TextBox 4"/>
          <p:cNvSpPr txBox="1"/>
          <p:nvPr/>
        </p:nvSpPr>
        <p:spPr>
          <a:xfrm>
            <a:off x="548640" y="320040"/>
            <a:ext cx="10058400" cy="320040"/>
          </a:xfrm>
          <a:prstGeom prst="rect">
            <a:avLst/>
          </a:prstGeom>
          <a:noFill/>
        </p:spPr>
        <p:txBody>
          <a:bodyPr wrap="square">
            <a:spAutoFit/>
          </a:bodyPr>
          <a:lstStyle/>
          <a:p>
            <a:pPr algn="l">
              <a:lnSpc>
                <a:spcPct val="115000"/>
              </a:lnSpc>
            </a:pPr>
            <a:r>
              <a:rPr sz="1250" b="1" i="0">
                <a:solidFill>
                  <a:srgbClr val="2A78D6"/>
                </a:solidFill>
                <a:latin typeface="Helvetica Neue"/>
              </a:rPr>
              <a:t>RESULTS</a:t>
            </a:r>
          </a:p>
        </p:txBody>
      </p:sp>
      <p:sp>
        <p:nvSpPr>
          <p:cNvPr id="6" name="TextBox 5"/>
          <p:cNvSpPr txBox="1"/>
          <p:nvPr/>
        </p:nvSpPr>
        <p:spPr>
          <a:xfrm>
            <a:off x="548640" y="914400"/>
            <a:ext cx="11064240" cy="640080"/>
          </a:xfrm>
          <a:prstGeom prst="rect">
            <a:avLst/>
          </a:prstGeom>
          <a:noFill/>
        </p:spPr>
        <p:txBody>
          <a:bodyPr wrap="square">
            <a:spAutoFit/>
          </a:bodyPr>
          <a:lstStyle/>
          <a:p>
            <a:pPr algn="l">
              <a:lnSpc>
                <a:spcPct val="115000"/>
              </a:lnSpc>
            </a:pPr>
            <a:r>
              <a:rPr sz="2600" b="1" i="0">
                <a:solidFill>
                  <a:srgbClr val="0B0B0B"/>
                </a:solidFill>
                <a:latin typeface="Helvetica Neue"/>
              </a:rPr>
              <a:t>The web view — quality and calibration</a:t>
            </a:r>
          </a:p>
        </p:txBody>
      </p:sp>
      <p:cxnSp>
        <p:nvCxnSpPr>
          <p:cNvPr id="7" name="Connector 6"/>
          <p:cNvCxnSpPr/>
          <p:nvPr/>
        </p:nvCxnSpPr>
        <p:spPr>
          <a:xfrm>
            <a:off x="548640" y="1508760"/>
            <a:ext cx="11091672"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1645920"/>
            <a:ext cx="5349240" cy="292608"/>
          </a:xfrm>
          <a:prstGeom prst="rect">
            <a:avLst/>
          </a:prstGeom>
          <a:noFill/>
        </p:spPr>
        <p:txBody>
          <a:bodyPr wrap="square">
            <a:spAutoFit/>
          </a:bodyPr>
          <a:lstStyle/>
          <a:p>
            <a:pPr algn="l">
              <a:lnSpc>
                <a:spcPct val="115000"/>
              </a:lnSpc>
            </a:pPr>
            <a:r>
              <a:rPr sz="1400" b="1" i="0">
                <a:solidFill>
                  <a:srgbClr val="0B0B0B"/>
                </a:solidFill>
                <a:latin typeface="Helvetica Neue"/>
              </a:rPr>
              <a:t>Stage 1 in the web view</a:t>
            </a:r>
          </a:p>
        </p:txBody>
      </p:sp>
      <p:sp>
        <p:nvSpPr>
          <p:cNvPr id="9" name="Rectangle 8"/>
          <p:cNvSpPr/>
          <p:nvPr/>
        </p:nvSpPr>
        <p:spPr>
          <a:xfrm>
            <a:off x="548640" y="2011680"/>
            <a:ext cx="5349240" cy="3017520"/>
          </a:xfrm>
          <a:prstGeom prst="rect">
            <a:avLst/>
          </a:prstGeom>
          <a:solidFill>
            <a:srgbClr val="F9F9F7"/>
          </a:solidFill>
          <a:ln w="12700">
            <a:solidFill>
              <a:srgbClr val="89878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898781"/>
                </a:solidFill>
                <a:latin typeface="Helvetica Neue"/>
              </a:rPr>
              <a:t>[ screenshot placeholder ]</a:t>
            </a:r>
          </a:p>
          <a:p>
            <a:pPr algn="ctr"/>
            <a:r>
              <a:rPr sz="1100" b="0">
                <a:solidFill>
                  <a:srgbClr val="898781"/>
                </a:solidFill>
                <a:latin typeface="Helvetica Neue"/>
              </a:rPr>
              <a:t>diagram-analysis/analysis-04-task-quality.png</a:t>
            </a:r>
          </a:p>
        </p:txBody>
      </p:sp>
      <p:sp>
        <p:nvSpPr>
          <p:cNvPr id="10" name="TextBox 9"/>
          <p:cNvSpPr txBox="1"/>
          <p:nvPr/>
        </p:nvSpPr>
        <p:spPr>
          <a:xfrm>
            <a:off x="548640" y="5120640"/>
            <a:ext cx="5349240" cy="365760"/>
          </a:xfrm>
          <a:prstGeom prst="rect">
            <a:avLst/>
          </a:prstGeom>
          <a:noFill/>
        </p:spPr>
        <p:txBody>
          <a:bodyPr wrap="square">
            <a:spAutoFit/>
          </a:bodyPr>
          <a:lstStyle/>
          <a:p>
            <a:pPr algn="ctr">
              <a:lnSpc>
                <a:spcPct val="115000"/>
              </a:lnSpc>
            </a:pPr>
            <a:r>
              <a:rPr sz="1150" b="0" i="1">
                <a:solidFill>
                  <a:srgbClr val="898781"/>
                </a:solidFill>
                <a:latin typeface="Helvetica Neue"/>
              </a:rPr>
              <a:t>Wilson intervals, per-subject tables and option-position bias</a:t>
            </a:r>
          </a:p>
        </p:txBody>
      </p:sp>
      <p:sp>
        <p:nvSpPr>
          <p:cNvPr id="11" name="TextBox 10"/>
          <p:cNvSpPr txBox="1"/>
          <p:nvPr/>
        </p:nvSpPr>
        <p:spPr>
          <a:xfrm>
            <a:off x="6263640" y="1645920"/>
            <a:ext cx="5349240" cy="292608"/>
          </a:xfrm>
          <a:prstGeom prst="rect">
            <a:avLst/>
          </a:prstGeom>
          <a:noFill/>
        </p:spPr>
        <p:txBody>
          <a:bodyPr wrap="square">
            <a:spAutoFit/>
          </a:bodyPr>
          <a:lstStyle/>
          <a:p>
            <a:pPr algn="l">
              <a:lnSpc>
                <a:spcPct val="115000"/>
              </a:lnSpc>
            </a:pPr>
            <a:r>
              <a:rPr sz="1400" b="1" i="0">
                <a:solidFill>
                  <a:srgbClr val="0B0B0B"/>
                </a:solidFill>
                <a:latin typeface="Helvetica Neue"/>
              </a:rPr>
              <a:t>Stage 2 — reporting absence</a:t>
            </a:r>
          </a:p>
        </p:txBody>
      </p:sp>
      <p:sp>
        <p:nvSpPr>
          <p:cNvPr id="12" name="Rectangle 11"/>
          <p:cNvSpPr/>
          <p:nvPr/>
        </p:nvSpPr>
        <p:spPr>
          <a:xfrm>
            <a:off x="6263640" y="2011680"/>
            <a:ext cx="5349240" cy="3017520"/>
          </a:xfrm>
          <a:prstGeom prst="rect">
            <a:avLst/>
          </a:prstGeom>
          <a:solidFill>
            <a:srgbClr val="F9F9F7"/>
          </a:solidFill>
          <a:ln w="12700">
            <a:solidFill>
              <a:srgbClr val="89878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898781"/>
                </a:solidFill>
                <a:latin typeface="Helvetica Neue"/>
              </a:rPr>
              <a:t>[ screenshot placeholder ]</a:t>
            </a:r>
          </a:p>
          <a:p>
            <a:pPr algn="ctr"/>
            <a:r>
              <a:rPr sz="1100" b="0">
                <a:solidFill>
                  <a:srgbClr val="898781"/>
                </a:solidFill>
                <a:latin typeface="Helvetica Neue"/>
              </a:rPr>
              <a:t>diagram-analysis/analysis-06-calibration-unavailable.png</a:t>
            </a:r>
          </a:p>
        </p:txBody>
      </p:sp>
      <p:sp>
        <p:nvSpPr>
          <p:cNvPr id="13" name="TextBox 12"/>
          <p:cNvSpPr txBox="1"/>
          <p:nvPr/>
        </p:nvSpPr>
        <p:spPr>
          <a:xfrm>
            <a:off x="6263640" y="5120640"/>
            <a:ext cx="5349240" cy="365760"/>
          </a:xfrm>
          <a:prstGeom prst="rect">
            <a:avLst/>
          </a:prstGeom>
          <a:noFill/>
        </p:spPr>
        <p:txBody>
          <a:bodyPr wrap="square">
            <a:spAutoFit/>
          </a:bodyPr>
          <a:lstStyle/>
          <a:p>
            <a:pPr algn="ctr">
              <a:lnSpc>
                <a:spcPct val="115000"/>
              </a:lnSpc>
            </a:pPr>
            <a:r>
              <a:rPr sz="1150" b="0" i="1">
                <a:solidFill>
                  <a:srgbClr val="898781"/>
                </a:solidFill>
                <a:latin typeface="Helvetica Neue"/>
              </a:rPr>
              <a:t>An explicit unavailability notice with its reason, instead of a zero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510528"/>
            <a:ext cx="5486400" cy="274320"/>
          </a:xfrm>
          <a:prstGeom prst="rect">
            <a:avLst/>
          </a:prstGeom>
          <a:noFill/>
        </p:spPr>
        <p:txBody>
          <a:bodyPr wrap="square">
            <a:spAutoFit/>
          </a:bodyPr>
          <a:lstStyle/>
          <a:p>
            <a:pPr algn="l">
              <a:lnSpc>
                <a:spcPct val="115000"/>
              </a:lnSpc>
            </a:pPr>
            <a:r>
              <a:rPr sz="900" b="0" i="0">
                <a:solidFill>
                  <a:srgbClr val="898781"/>
                </a:solidFill>
                <a:latin typeface="Helvetica Neue"/>
              </a:rPr>
              <a:t>LAMBADA &amp; MMLU Benchmark Evaluation — Extended</a:t>
            </a:r>
          </a:p>
        </p:txBody>
      </p:sp>
      <p:sp>
        <p:nvSpPr>
          <p:cNvPr id="4" name="TextBox 3"/>
          <p:cNvSpPr txBox="1"/>
          <p:nvPr/>
        </p:nvSpPr>
        <p:spPr>
          <a:xfrm>
            <a:off x="11338560" y="6510528"/>
            <a:ext cx="457200" cy="274320"/>
          </a:xfrm>
          <a:prstGeom prst="rect">
            <a:avLst/>
          </a:prstGeom>
          <a:noFill/>
        </p:spPr>
        <p:txBody>
          <a:bodyPr wrap="square">
            <a:spAutoFit/>
          </a:bodyPr>
          <a:lstStyle/>
          <a:p>
            <a:pPr algn="r">
              <a:lnSpc>
                <a:spcPct val="115000"/>
              </a:lnSpc>
            </a:pPr>
            <a:r>
              <a:rPr sz="900" b="0" i="0">
                <a:solidFill>
                  <a:srgbClr val="898781"/>
                </a:solidFill>
                <a:latin typeface="Helvetica Neue"/>
              </a:rPr>
              <a:t>24</a:t>
            </a:r>
          </a:p>
        </p:txBody>
      </p:sp>
      <p:sp>
        <p:nvSpPr>
          <p:cNvPr id="5" name="TextBox 4"/>
          <p:cNvSpPr txBox="1"/>
          <p:nvPr/>
        </p:nvSpPr>
        <p:spPr>
          <a:xfrm>
            <a:off x="548640" y="320040"/>
            <a:ext cx="10058400" cy="320040"/>
          </a:xfrm>
          <a:prstGeom prst="rect">
            <a:avLst/>
          </a:prstGeom>
          <a:noFill/>
        </p:spPr>
        <p:txBody>
          <a:bodyPr wrap="square">
            <a:spAutoFit/>
          </a:bodyPr>
          <a:lstStyle/>
          <a:p>
            <a:pPr algn="l">
              <a:lnSpc>
                <a:spcPct val="115000"/>
              </a:lnSpc>
            </a:pPr>
            <a:r>
              <a:rPr sz="1250" b="1" i="0">
                <a:solidFill>
                  <a:srgbClr val="2A78D6"/>
                </a:solidFill>
                <a:latin typeface="Helvetica Neue"/>
              </a:rPr>
              <a:t>RESULTS</a:t>
            </a:r>
          </a:p>
        </p:txBody>
      </p:sp>
      <p:sp>
        <p:nvSpPr>
          <p:cNvPr id="6" name="TextBox 5"/>
          <p:cNvSpPr txBox="1"/>
          <p:nvPr/>
        </p:nvSpPr>
        <p:spPr>
          <a:xfrm>
            <a:off x="548640" y="914400"/>
            <a:ext cx="11064240" cy="640080"/>
          </a:xfrm>
          <a:prstGeom prst="rect">
            <a:avLst/>
          </a:prstGeom>
          <a:noFill/>
        </p:spPr>
        <p:txBody>
          <a:bodyPr wrap="square">
            <a:spAutoFit/>
          </a:bodyPr>
          <a:lstStyle/>
          <a:p>
            <a:pPr algn="l">
              <a:lnSpc>
                <a:spcPct val="115000"/>
              </a:lnSpc>
            </a:pPr>
            <a:r>
              <a:rPr sz="2600" b="1" i="0">
                <a:solidFill>
                  <a:srgbClr val="0B0B0B"/>
                </a:solidFill>
                <a:latin typeface="Helvetica Neue"/>
              </a:rPr>
              <a:t>The web view — latency and reliability</a:t>
            </a:r>
          </a:p>
        </p:txBody>
      </p:sp>
      <p:cxnSp>
        <p:nvCxnSpPr>
          <p:cNvPr id="7" name="Connector 6"/>
          <p:cNvCxnSpPr/>
          <p:nvPr/>
        </p:nvCxnSpPr>
        <p:spPr>
          <a:xfrm>
            <a:off x="548640" y="1508760"/>
            <a:ext cx="11091672"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1645920"/>
            <a:ext cx="5349240" cy="292608"/>
          </a:xfrm>
          <a:prstGeom prst="rect">
            <a:avLst/>
          </a:prstGeom>
          <a:noFill/>
        </p:spPr>
        <p:txBody>
          <a:bodyPr wrap="square">
            <a:spAutoFit/>
          </a:bodyPr>
          <a:lstStyle/>
          <a:p>
            <a:pPr algn="l">
              <a:lnSpc>
                <a:spcPct val="115000"/>
              </a:lnSpc>
            </a:pPr>
            <a:r>
              <a:rPr sz="1400" b="1" i="0">
                <a:solidFill>
                  <a:srgbClr val="0B0B0B"/>
                </a:solidFill>
                <a:latin typeface="Helvetica Neue"/>
              </a:rPr>
              <a:t>Stage 6 — latency</a:t>
            </a:r>
          </a:p>
        </p:txBody>
      </p:sp>
      <p:sp>
        <p:nvSpPr>
          <p:cNvPr id="9" name="Rectangle 8"/>
          <p:cNvSpPr/>
          <p:nvPr/>
        </p:nvSpPr>
        <p:spPr>
          <a:xfrm>
            <a:off x="548640" y="2011680"/>
            <a:ext cx="5349240" cy="3017520"/>
          </a:xfrm>
          <a:prstGeom prst="rect">
            <a:avLst/>
          </a:prstGeom>
          <a:solidFill>
            <a:srgbClr val="F9F9F7"/>
          </a:solidFill>
          <a:ln w="12700">
            <a:solidFill>
              <a:srgbClr val="89878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898781"/>
                </a:solidFill>
                <a:latin typeface="Helvetica Neue"/>
              </a:rPr>
              <a:t>[ screenshot placeholder ]</a:t>
            </a:r>
          </a:p>
          <a:p>
            <a:pPr algn="ctr"/>
            <a:r>
              <a:rPr sz="1100" b="0">
                <a:solidFill>
                  <a:srgbClr val="898781"/>
                </a:solidFill>
                <a:latin typeface="Helvetica Neue"/>
              </a:rPr>
              <a:t>diagram-analysis/analysis-10-api-performance.png</a:t>
            </a:r>
          </a:p>
        </p:txBody>
      </p:sp>
      <p:sp>
        <p:nvSpPr>
          <p:cNvPr id="10" name="TextBox 9"/>
          <p:cNvSpPr txBox="1"/>
          <p:nvPr/>
        </p:nvSpPr>
        <p:spPr>
          <a:xfrm>
            <a:off x="548640" y="5120640"/>
            <a:ext cx="5349240" cy="365760"/>
          </a:xfrm>
          <a:prstGeom prst="rect">
            <a:avLst/>
          </a:prstGeom>
          <a:noFill/>
        </p:spPr>
        <p:txBody>
          <a:bodyPr wrap="square">
            <a:spAutoFit/>
          </a:bodyPr>
          <a:lstStyle/>
          <a:p>
            <a:pPr algn="ctr">
              <a:lnSpc>
                <a:spcPct val="115000"/>
              </a:lnSpc>
            </a:pPr>
            <a:r>
              <a:rPr sz="1150" b="0" i="1">
                <a:solidFill>
                  <a:srgbClr val="898781"/>
                </a:solidFill>
                <a:latin typeface="Helvetica Neue"/>
              </a:rPr>
              <a:t>TTFT, TPOT and E2E with p50 / p95 / p99, plus throughput</a:t>
            </a:r>
          </a:p>
        </p:txBody>
      </p:sp>
      <p:sp>
        <p:nvSpPr>
          <p:cNvPr id="11" name="TextBox 10"/>
          <p:cNvSpPr txBox="1"/>
          <p:nvPr/>
        </p:nvSpPr>
        <p:spPr>
          <a:xfrm>
            <a:off x="6263640" y="1645920"/>
            <a:ext cx="5349240" cy="292608"/>
          </a:xfrm>
          <a:prstGeom prst="rect">
            <a:avLst/>
          </a:prstGeom>
          <a:noFill/>
        </p:spPr>
        <p:txBody>
          <a:bodyPr wrap="square">
            <a:spAutoFit/>
          </a:bodyPr>
          <a:lstStyle/>
          <a:p>
            <a:pPr algn="l">
              <a:lnSpc>
                <a:spcPct val="115000"/>
              </a:lnSpc>
            </a:pPr>
            <a:r>
              <a:rPr sz="1400" b="1" i="0">
                <a:solidFill>
                  <a:srgbClr val="0B0B0B"/>
                </a:solidFill>
                <a:latin typeface="Helvetica Neue"/>
              </a:rPr>
              <a:t>Stage 9 — reliability</a:t>
            </a:r>
          </a:p>
        </p:txBody>
      </p:sp>
      <p:sp>
        <p:nvSpPr>
          <p:cNvPr id="12" name="Rectangle 11"/>
          <p:cNvSpPr/>
          <p:nvPr/>
        </p:nvSpPr>
        <p:spPr>
          <a:xfrm>
            <a:off x="6263640" y="2011680"/>
            <a:ext cx="5349240" cy="3017520"/>
          </a:xfrm>
          <a:prstGeom prst="rect">
            <a:avLst/>
          </a:prstGeom>
          <a:solidFill>
            <a:srgbClr val="F9F9F7"/>
          </a:solidFill>
          <a:ln w="12700">
            <a:solidFill>
              <a:srgbClr val="89878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898781"/>
                </a:solidFill>
                <a:latin typeface="Helvetica Neue"/>
              </a:rPr>
              <a:t>[ screenshot placeholder ]</a:t>
            </a:r>
          </a:p>
          <a:p>
            <a:pPr algn="ctr"/>
            <a:r>
              <a:rPr sz="1100" b="0">
                <a:solidFill>
                  <a:srgbClr val="898781"/>
                </a:solidFill>
                <a:latin typeface="Helvetica Neue"/>
              </a:rPr>
              <a:t>diagram-analysis/analysis-13-reliability.png</a:t>
            </a:r>
          </a:p>
        </p:txBody>
      </p:sp>
      <p:sp>
        <p:nvSpPr>
          <p:cNvPr id="13" name="TextBox 12"/>
          <p:cNvSpPr txBox="1"/>
          <p:nvPr/>
        </p:nvSpPr>
        <p:spPr>
          <a:xfrm>
            <a:off x="6263640" y="5120640"/>
            <a:ext cx="5349240" cy="365760"/>
          </a:xfrm>
          <a:prstGeom prst="rect">
            <a:avLst/>
          </a:prstGeom>
          <a:noFill/>
        </p:spPr>
        <p:txBody>
          <a:bodyPr wrap="square">
            <a:spAutoFit/>
          </a:bodyPr>
          <a:lstStyle/>
          <a:p>
            <a:pPr algn="ctr">
              <a:lnSpc>
                <a:spcPct val="115000"/>
              </a:lnSpc>
            </a:pPr>
            <a:r>
              <a:rPr sz="1150" b="0" i="1">
                <a:solidFill>
                  <a:srgbClr val="898781"/>
                </a:solidFill>
                <a:latin typeface="Helvetica Neue"/>
              </a:rPr>
              <a:t>Retries, failures and provider failover — invisible to accuracy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510528"/>
            <a:ext cx="5486400" cy="274320"/>
          </a:xfrm>
          <a:prstGeom prst="rect">
            <a:avLst/>
          </a:prstGeom>
          <a:noFill/>
        </p:spPr>
        <p:txBody>
          <a:bodyPr wrap="square">
            <a:spAutoFit/>
          </a:bodyPr>
          <a:lstStyle/>
          <a:p>
            <a:pPr algn="l">
              <a:lnSpc>
                <a:spcPct val="115000"/>
              </a:lnSpc>
            </a:pPr>
            <a:r>
              <a:rPr sz="900" b="0" i="0">
                <a:solidFill>
                  <a:srgbClr val="898781"/>
                </a:solidFill>
                <a:latin typeface="Helvetica Neue"/>
              </a:rPr>
              <a:t>LAMBADA &amp; MMLU Benchmark Evaluation — Extended</a:t>
            </a:r>
          </a:p>
        </p:txBody>
      </p:sp>
      <p:sp>
        <p:nvSpPr>
          <p:cNvPr id="4" name="TextBox 3"/>
          <p:cNvSpPr txBox="1"/>
          <p:nvPr/>
        </p:nvSpPr>
        <p:spPr>
          <a:xfrm>
            <a:off x="11338560" y="6510528"/>
            <a:ext cx="457200" cy="274320"/>
          </a:xfrm>
          <a:prstGeom prst="rect">
            <a:avLst/>
          </a:prstGeom>
          <a:noFill/>
        </p:spPr>
        <p:txBody>
          <a:bodyPr wrap="square">
            <a:spAutoFit/>
          </a:bodyPr>
          <a:lstStyle/>
          <a:p>
            <a:pPr algn="r">
              <a:lnSpc>
                <a:spcPct val="115000"/>
              </a:lnSpc>
            </a:pPr>
            <a:r>
              <a:rPr sz="900" b="0" i="0">
                <a:solidFill>
                  <a:srgbClr val="898781"/>
                </a:solidFill>
                <a:latin typeface="Helvetica Neue"/>
              </a:rPr>
              <a:t>25</a:t>
            </a:r>
          </a:p>
        </p:txBody>
      </p:sp>
      <p:sp>
        <p:nvSpPr>
          <p:cNvPr id="5" name="TextBox 4"/>
          <p:cNvSpPr txBox="1"/>
          <p:nvPr/>
        </p:nvSpPr>
        <p:spPr>
          <a:xfrm>
            <a:off x="548640" y="320040"/>
            <a:ext cx="10058400" cy="320040"/>
          </a:xfrm>
          <a:prstGeom prst="rect">
            <a:avLst/>
          </a:prstGeom>
          <a:noFill/>
        </p:spPr>
        <p:txBody>
          <a:bodyPr wrap="square">
            <a:spAutoFit/>
          </a:bodyPr>
          <a:lstStyle/>
          <a:p>
            <a:pPr algn="l">
              <a:lnSpc>
                <a:spcPct val="115000"/>
              </a:lnSpc>
            </a:pPr>
            <a:r>
              <a:rPr sz="1250" b="1" i="0">
                <a:solidFill>
                  <a:srgbClr val="2A78D6"/>
                </a:solidFill>
                <a:latin typeface="Helvetica Neue"/>
              </a:rPr>
              <a:t>RESULTS</a:t>
            </a:r>
          </a:p>
        </p:txBody>
      </p:sp>
      <p:sp>
        <p:nvSpPr>
          <p:cNvPr id="6" name="TextBox 5"/>
          <p:cNvSpPr txBox="1"/>
          <p:nvPr/>
        </p:nvSpPr>
        <p:spPr>
          <a:xfrm>
            <a:off x="548640" y="914400"/>
            <a:ext cx="11064240" cy="640080"/>
          </a:xfrm>
          <a:prstGeom prst="rect">
            <a:avLst/>
          </a:prstGeom>
          <a:noFill/>
        </p:spPr>
        <p:txBody>
          <a:bodyPr wrap="square">
            <a:spAutoFit/>
          </a:bodyPr>
          <a:lstStyle/>
          <a:p>
            <a:pPr algn="l">
              <a:lnSpc>
                <a:spcPct val="115000"/>
              </a:lnSpc>
            </a:pPr>
            <a:r>
              <a:rPr sz="2600" b="1" i="0">
                <a:solidFill>
                  <a:srgbClr val="0B0B0B"/>
                </a:solidFill>
                <a:latin typeface="Helvetica Neue"/>
              </a:rPr>
              <a:t>The web view — configuration and controls</a:t>
            </a:r>
          </a:p>
        </p:txBody>
      </p:sp>
      <p:cxnSp>
        <p:nvCxnSpPr>
          <p:cNvPr id="7" name="Connector 6"/>
          <p:cNvCxnSpPr/>
          <p:nvPr/>
        </p:nvCxnSpPr>
        <p:spPr>
          <a:xfrm>
            <a:off x="548640" y="1508760"/>
            <a:ext cx="11091672"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1645920"/>
            <a:ext cx="5349240" cy="292608"/>
          </a:xfrm>
          <a:prstGeom prst="rect">
            <a:avLst/>
          </a:prstGeom>
          <a:noFill/>
        </p:spPr>
        <p:txBody>
          <a:bodyPr wrap="square">
            <a:spAutoFit/>
          </a:bodyPr>
          <a:lstStyle/>
          <a:p>
            <a:pPr algn="l">
              <a:lnSpc>
                <a:spcPct val="115000"/>
              </a:lnSpc>
            </a:pPr>
            <a:r>
              <a:rPr sz="1400" b="1" i="0">
                <a:solidFill>
                  <a:srgbClr val="0B0B0B"/>
                </a:solidFill>
                <a:latin typeface="Helvetica Neue"/>
              </a:rPr>
              <a:t>Configuration as input</a:t>
            </a:r>
          </a:p>
        </p:txBody>
      </p:sp>
      <p:sp>
        <p:nvSpPr>
          <p:cNvPr id="9" name="Rectangle 8"/>
          <p:cNvSpPr/>
          <p:nvPr/>
        </p:nvSpPr>
        <p:spPr>
          <a:xfrm>
            <a:off x="548640" y="2011680"/>
            <a:ext cx="5349240" cy="3017520"/>
          </a:xfrm>
          <a:prstGeom prst="rect">
            <a:avLst/>
          </a:prstGeom>
          <a:solidFill>
            <a:srgbClr val="F9F9F7"/>
          </a:solidFill>
          <a:ln w="12700">
            <a:solidFill>
              <a:srgbClr val="89878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898781"/>
                </a:solidFill>
                <a:latin typeface="Helvetica Neue"/>
              </a:rPr>
              <a:t>[ screenshot placeholder ]</a:t>
            </a:r>
          </a:p>
          <a:p>
            <a:pPr algn="ctr"/>
            <a:r>
              <a:rPr sz="1100" b="0">
                <a:solidFill>
                  <a:srgbClr val="898781"/>
                </a:solidFill>
                <a:latin typeface="Helvetica Neue"/>
              </a:rPr>
              <a:t>diagram-analysis/analysis-14-run-config.png</a:t>
            </a:r>
          </a:p>
        </p:txBody>
      </p:sp>
      <p:sp>
        <p:nvSpPr>
          <p:cNvPr id="10" name="TextBox 9"/>
          <p:cNvSpPr txBox="1"/>
          <p:nvPr/>
        </p:nvSpPr>
        <p:spPr>
          <a:xfrm>
            <a:off x="548640" y="5120640"/>
            <a:ext cx="5349240" cy="365760"/>
          </a:xfrm>
          <a:prstGeom prst="rect">
            <a:avLst/>
          </a:prstGeom>
          <a:noFill/>
        </p:spPr>
        <p:txBody>
          <a:bodyPr wrap="square">
            <a:spAutoFit/>
          </a:bodyPr>
          <a:lstStyle/>
          <a:p>
            <a:pPr algn="ctr">
              <a:lnSpc>
                <a:spcPct val="115000"/>
              </a:lnSpc>
            </a:pPr>
            <a:r>
              <a:rPr sz="1150" b="0" i="1">
                <a:solidFill>
                  <a:srgbClr val="898781"/>
                </a:solidFill>
                <a:latin typeface="Helvetica Neue"/>
              </a:rPr>
              <a:t>TP/PP/DP/SP/CP/EP recorded and labelled as input, never scored</a:t>
            </a:r>
          </a:p>
        </p:txBody>
      </p:sp>
      <p:sp>
        <p:nvSpPr>
          <p:cNvPr id="11" name="TextBox 10"/>
          <p:cNvSpPr txBox="1"/>
          <p:nvPr/>
        </p:nvSpPr>
        <p:spPr>
          <a:xfrm>
            <a:off x="6263640" y="1645920"/>
            <a:ext cx="5349240" cy="292608"/>
          </a:xfrm>
          <a:prstGeom prst="rect">
            <a:avLst/>
          </a:prstGeom>
          <a:noFill/>
        </p:spPr>
        <p:txBody>
          <a:bodyPr wrap="square">
            <a:spAutoFit/>
          </a:bodyPr>
          <a:lstStyle/>
          <a:p>
            <a:pPr algn="l">
              <a:lnSpc>
                <a:spcPct val="115000"/>
              </a:lnSpc>
            </a:pPr>
            <a:r>
              <a:rPr sz="1400" b="1" i="0">
                <a:solidFill>
                  <a:srgbClr val="0B0B0B"/>
                </a:solidFill>
                <a:latin typeface="Helvetica Neue"/>
              </a:rPr>
              <a:t>Run controls</a:t>
            </a:r>
          </a:p>
        </p:txBody>
      </p:sp>
      <p:sp>
        <p:nvSpPr>
          <p:cNvPr id="12" name="Rectangle 11"/>
          <p:cNvSpPr/>
          <p:nvPr/>
        </p:nvSpPr>
        <p:spPr>
          <a:xfrm>
            <a:off x="6263640" y="2011680"/>
            <a:ext cx="5349240" cy="3017520"/>
          </a:xfrm>
          <a:prstGeom prst="rect">
            <a:avLst/>
          </a:prstGeom>
          <a:solidFill>
            <a:srgbClr val="F9F9F7"/>
          </a:solidFill>
          <a:ln w="12700">
            <a:solidFill>
              <a:srgbClr val="89878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898781"/>
                </a:solidFill>
                <a:latin typeface="Helvetica Neue"/>
              </a:rPr>
              <a:t>[ screenshot placeholder ]</a:t>
            </a:r>
          </a:p>
          <a:p>
            <a:pPr algn="ctr"/>
            <a:r>
              <a:rPr sz="1100" b="0">
                <a:solidFill>
                  <a:srgbClr val="898781"/>
                </a:solidFill>
                <a:latin typeface="Helvetica Neue"/>
              </a:rPr>
              <a:t>diagram-analysis/analysis-15-decoding-panel.png</a:t>
            </a:r>
          </a:p>
        </p:txBody>
      </p:sp>
      <p:sp>
        <p:nvSpPr>
          <p:cNvPr id="13" name="TextBox 12"/>
          <p:cNvSpPr txBox="1"/>
          <p:nvPr/>
        </p:nvSpPr>
        <p:spPr>
          <a:xfrm>
            <a:off x="6263640" y="5120640"/>
            <a:ext cx="5349240" cy="365760"/>
          </a:xfrm>
          <a:prstGeom prst="rect">
            <a:avLst/>
          </a:prstGeom>
          <a:noFill/>
        </p:spPr>
        <p:txBody>
          <a:bodyPr wrap="square">
            <a:spAutoFit/>
          </a:bodyPr>
          <a:lstStyle/>
          <a:p>
            <a:pPr algn="ctr">
              <a:lnSpc>
                <a:spcPct val="115000"/>
              </a:lnSpc>
            </a:pPr>
            <a:r>
              <a:rPr sz="1150" b="0" i="1">
                <a:solidFill>
                  <a:srgbClr val="898781"/>
                </a:solidFill>
                <a:latin typeface="Helvetica Neue"/>
              </a:rPr>
              <a:t>Nine decoding parameters; the call multiplier shown before spending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510528"/>
            <a:ext cx="5486400" cy="274320"/>
          </a:xfrm>
          <a:prstGeom prst="rect">
            <a:avLst/>
          </a:prstGeom>
          <a:noFill/>
        </p:spPr>
        <p:txBody>
          <a:bodyPr wrap="square">
            <a:spAutoFit/>
          </a:bodyPr>
          <a:lstStyle/>
          <a:p>
            <a:pPr algn="l">
              <a:lnSpc>
                <a:spcPct val="115000"/>
              </a:lnSpc>
            </a:pPr>
            <a:r>
              <a:rPr sz="900" b="0" i="0">
                <a:solidFill>
                  <a:srgbClr val="898781"/>
                </a:solidFill>
                <a:latin typeface="Helvetica Neue"/>
              </a:rPr>
              <a:t>LAMBADA &amp; MMLU Benchmark Evaluation — Extended</a:t>
            </a:r>
          </a:p>
        </p:txBody>
      </p:sp>
      <p:sp>
        <p:nvSpPr>
          <p:cNvPr id="4" name="TextBox 3"/>
          <p:cNvSpPr txBox="1"/>
          <p:nvPr/>
        </p:nvSpPr>
        <p:spPr>
          <a:xfrm>
            <a:off x="11338560" y="6510528"/>
            <a:ext cx="457200" cy="274320"/>
          </a:xfrm>
          <a:prstGeom prst="rect">
            <a:avLst/>
          </a:prstGeom>
          <a:noFill/>
        </p:spPr>
        <p:txBody>
          <a:bodyPr wrap="square">
            <a:spAutoFit/>
          </a:bodyPr>
          <a:lstStyle/>
          <a:p>
            <a:pPr algn="r">
              <a:lnSpc>
                <a:spcPct val="115000"/>
              </a:lnSpc>
            </a:pPr>
            <a:r>
              <a:rPr sz="900" b="0" i="0">
                <a:solidFill>
                  <a:srgbClr val="898781"/>
                </a:solidFill>
                <a:latin typeface="Helvetica Neue"/>
              </a:rPr>
              <a:t>26</a:t>
            </a:r>
          </a:p>
        </p:txBody>
      </p:sp>
      <p:sp>
        <p:nvSpPr>
          <p:cNvPr id="5" name="TextBox 4"/>
          <p:cNvSpPr txBox="1"/>
          <p:nvPr/>
        </p:nvSpPr>
        <p:spPr>
          <a:xfrm>
            <a:off x="548640" y="320040"/>
            <a:ext cx="10058400" cy="320040"/>
          </a:xfrm>
          <a:prstGeom prst="rect">
            <a:avLst/>
          </a:prstGeom>
          <a:noFill/>
        </p:spPr>
        <p:txBody>
          <a:bodyPr wrap="square">
            <a:spAutoFit/>
          </a:bodyPr>
          <a:lstStyle/>
          <a:p>
            <a:pPr algn="l">
              <a:lnSpc>
                <a:spcPct val="115000"/>
              </a:lnSpc>
            </a:pPr>
            <a:r>
              <a:rPr sz="1250" b="1" i="0">
                <a:solidFill>
                  <a:srgbClr val="2A78D6"/>
                </a:solidFill>
                <a:latin typeface="Helvetica Neue"/>
              </a:rPr>
              <a:t>ANALYSIS</a:t>
            </a:r>
          </a:p>
        </p:txBody>
      </p:sp>
      <p:sp>
        <p:nvSpPr>
          <p:cNvPr id="6" name="TextBox 5"/>
          <p:cNvSpPr txBox="1"/>
          <p:nvPr/>
        </p:nvSpPr>
        <p:spPr>
          <a:xfrm>
            <a:off x="548640" y="914400"/>
            <a:ext cx="11064240" cy="640080"/>
          </a:xfrm>
          <a:prstGeom prst="rect">
            <a:avLst/>
          </a:prstGeom>
          <a:noFill/>
        </p:spPr>
        <p:txBody>
          <a:bodyPr wrap="square">
            <a:spAutoFit/>
          </a:bodyPr>
          <a:lstStyle/>
          <a:p>
            <a:pPr algn="l">
              <a:lnSpc>
                <a:spcPct val="115000"/>
              </a:lnSpc>
            </a:pPr>
            <a:r>
              <a:rPr sz="2600" b="1" i="0">
                <a:solidFill>
                  <a:srgbClr val="0B0B0B"/>
                </a:solidFill>
                <a:latin typeface="Helvetica Neue"/>
              </a:rPr>
              <a:t>Are the differences real?</a:t>
            </a:r>
          </a:p>
        </p:txBody>
      </p:sp>
      <p:cxnSp>
        <p:nvCxnSpPr>
          <p:cNvPr id="7" name="Connector 6"/>
          <p:cNvCxnSpPr/>
          <p:nvPr/>
        </p:nvCxnSpPr>
        <p:spPr>
          <a:xfrm>
            <a:off x="548640" y="1508760"/>
            <a:ext cx="11091672"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1600200"/>
            <a:ext cx="11064240" cy="685800"/>
          </a:xfrm>
          <a:prstGeom prst="rect">
            <a:avLst/>
          </a:prstGeom>
          <a:noFill/>
        </p:spPr>
        <p:txBody>
          <a:bodyPr wrap="square">
            <a:spAutoFit/>
          </a:bodyPr>
          <a:lstStyle/>
          <a:p>
            <a:pPr algn="l">
              <a:lnSpc>
                <a:spcPct val="115000"/>
              </a:lnSpc>
            </a:pPr>
            <a:r>
              <a:rPr sz="1400" b="0" i="0">
                <a:solidFill>
                  <a:srgbClr val="52514E"/>
                </a:solidFill>
                <a:latin typeface="Helvetica Neue"/>
              </a:rPr>
              <a:t>The models answered identical items, so every comparison is paired. That is what makes McNemar the right test: an unpaired two-proportion test would discard the pairing and overstate the variance.</a:t>
            </a:r>
          </a:p>
        </p:txBody>
      </p:sp>
      <p:graphicFrame>
        <p:nvGraphicFramePr>
          <p:cNvPr id="9" name="Table 8"/>
          <p:cNvGraphicFramePr>
            <a:graphicFrameLocks noGrp="1"/>
          </p:cNvGraphicFramePr>
          <p:nvPr/>
        </p:nvGraphicFramePr>
        <p:xfrm>
          <a:off x="548640" y="2423160"/>
          <a:ext cx="11064239" cy="2816352"/>
        </p:xfrm>
        <a:graphic>
          <a:graphicData uri="http://schemas.openxmlformats.org/drawingml/2006/table">
            <a:tbl>
              <a:tblPr firstRow="1" bandRow="1">
                <a:tableStyleId>{5C22544A-7EE6-4342-B048-85BDC9FD1C3A}</a:tableStyleId>
              </a:tblPr>
              <a:tblGrid>
                <a:gridCol w="2212848"/>
                <a:gridCol w="3540556"/>
                <a:gridCol w="5310835"/>
              </a:tblGrid>
              <a:tr h="402336">
                <a:tc>
                  <a:txBody>
                    <a:bodyPr/>
                    <a:lstStyle/>
                    <a:p>
                      <a:pPr algn="l"/>
                      <a:r>
                        <a:rPr sz="1200" b="1">
                          <a:solidFill>
                            <a:srgbClr val="FFFFFF"/>
                          </a:solidFill>
                          <a:latin typeface="Helvetica Neue"/>
                        </a:rPr>
                        <a:t>Test</a:t>
                      </a:r>
                    </a:p>
                  </a:txBody>
                  <a:tcPr marL="73152" marR="73152" marT="27432" marB="27432" anchor="ctr">
                    <a:solidFill>
                      <a:srgbClr val="0B0B0B"/>
                    </a:solidFill>
                  </a:tcPr>
                </a:tc>
                <a:tc>
                  <a:txBody>
                    <a:bodyPr/>
                    <a:lstStyle/>
                    <a:p>
                      <a:pPr algn="ctr"/>
                      <a:r>
                        <a:rPr sz="1200" b="1">
                          <a:solidFill>
                            <a:srgbClr val="FFFFFF"/>
                          </a:solidFill>
                          <a:latin typeface="Helvetica Neue"/>
                        </a:rPr>
                        <a:t>Question</a:t>
                      </a:r>
                    </a:p>
                  </a:txBody>
                  <a:tcPr marL="73152" marR="73152" marT="27432" marB="27432" anchor="ctr">
                    <a:solidFill>
                      <a:srgbClr val="0B0B0B"/>
                    </a:solidFill>
                  </a:tcPr>
                </a:tc>
                <a:tc>
                  <a:txBody>
                    <a:bodyPr/>
                    <a:lstStyle/>
                    <a:p>
                      <a:pPr algn="ctr"/>
                      <a:r>
                        <a:rPr sz="1200" b="1">
                          <a:solidFill>
                            <a:srgbClr val="FFFFFF"/>
                          </a:solidFill>
                          <a:latin typeface="Helvetica Neue"/>
                        </a:rPr>
                        <a:t>Why this one</a:t>
                      </a:r>
                    </a:p>
                  </a:txBody>
                  <a:tcPr marL="73152" marR="73152" marT="27432" marB="27432" anchor="ctr">
                    <a:solidFill>
                      <a:srgbClr val="0B0B0B"/>
                    </a:solidFill>
                  </a:tcPr>
                </a:tc>
              </a:tr>
              <a:tr h="402336">
                <a:tc>
                  <a:txBody>
                    <a:bodyPr/>
                    <a:lstStyle/>
                    <a:p>
                      <a:pPr algn="l"/>
                      <a:r>
                        <a:rPr sz="1200" b="0">
                          <a:solidFill>
                            <a:srgbClr val="0B0B0B"/>
                          </a:solidFill>
                          <a:latin typeface="Helvetica Neue"/>
                        </a:rPr>
                        <a:t>Cochran's Q</a:t>
                      </a:r>
                    </a:p>
                  </a:txBody>
                  <a:tcPr marL="73152" marR="73152" marT="27432" marB="27432" anchor="ctr">
                    <a:solidFill>
                      <a:srgbClr val="FCFCFB"/>
                    </a:solidFill>
                  </a:tcPr>
                </a:tc>
                <a:tc>
                  <a:txBody>
                    <a:bodyPr/>
                    <a:lstStyle/>
                    <a:p>
                      <a:pPr algn="ctr"/>
                      <a:r>
                        <a:rPr sz="1200" b="0">
                          <a:solidFill>
                            <a:srgbClr val="0B0B0B"/>
                          </a:solidFill>
                          <a:latin typeface="Helvetica Neue"/>
                        </a:rPr>
                        <a:t>Do the k models differ at all?</a:t>
                      </a:r>
                    </a:p>
                  </a:txBody>
                  <a:tcPr marL="73152" marR="73152" marT="27432" marB="27432" anchor="ctr">
                    <a:solidFill>
                      <a:srgbClr val="FCFCFB"/>
                    </a:solidFill>
                  </a:tcPr>
                </a:tc>
                <a:tc>
                  <a:txBody>
                    <a:bodyPr/>
                    <a:lstStyle/>
                    <a:p>
                      <a:pPr algn="ctr"/>
                      <a:r>
                        <a:rPr sz="1200" b="0">
                          <a:solidFill>
                            <a:srgbClr val="0B0B0B"/>
                          </a:solidFill>
                          <a:latin typeface="Helvetica Neue"/>
                        </a:rPr>
                        <a:t>Omnibus first, so pairwise tests are not p-hacking</a:t>
                      </a:r>
                    </a:p>
                  </a:txBody>
                  <a:tcPr marL="73152" marR="73152" marT="27432" marB="27432" anchor="ctr">
                    <a:solidFill>
                      <a:srgbClr val="FCFCFB"/>
                    </a:solidFill>
                  </a:tcPr>
                </a:tc>
              </a:tr>
              <a:tr h="402336">
                <a:tc>
                  <a:txBody>
                    <a:bodyPr/>
                    <a:lstStyle/>
                    <a:p>
                      <a:pPr algn="l"/>
                      <a:r>
                        <a:rPr sz="1200" b="0">
                          <a:solidFill>
                            <a:srgbClr val="0B0B0B"/>
                          </a:solidFill>
                          <a:latin typeface="Helvetica Neue"/>
                        </a:rPr>
                        <a:t>McNemar</a:t>
                      </a:r>
                    </a:p>
                  </a:txBody>
                  <a:tcPr marL="73152" marR="73152" marT="27432" marB="27432" anchor="ctr">
                    <a:solidFill>
                      <a:srgbClr val="FCFCFB"/>
                    </a:solidFill>
                  </a:tcPr>
                </a:tc>
                <a:tc>
                  <a:txBody>
                    <a:bodyPr/>
                    <a:lstStyle/>
                    <a:p>
                      <a:pPr algn="ctr"/>
                      <a:r>
                        <a:rPr sz="1200" b="0">
                          <a:solidFill>
                            <a:srgbClr val="0B0B0B"/>
                          </a:solidFill>
                          <a:latin typeface="Helvetica Neue"/>
                        </a:rPr>
                        <a:t>Is a given pair's gap real?</a:t>
                      </a:r>
                    </a:p>
                  </a:txBody>
                  <a:tcPr marL="73152" marR="73152" marT="27432" marB="27432" anchor="ctr">
                    <a:solidFill>
                      <a:srgbClr val="FCFCFB"/>
                    </a:solidFill>
                  </a:tcPr>
                </a:tc>
                <a:tc>
                  <a:txBody>
                    <a:bodyPr/>
                    <a:lstStyle/>
                    <a:p>
                      <a:pPr algn="ctr"/>
                      <a:r>
                        <a:rPr sz="1200" b="0">
                          <a:solidFill>
                            <a:srgbClr val="0B0B0B"/>
                          </a:solidFill>
                          <a:latin typeface="Helvetica Neue"/>
                        </a:rPr>
                        <a:t>Paired; only discordant items carry information</a:t>
                      </a:r>
                    </a:p>
                  </a:txBody>
                  <a:tcPr marL="73152" marR="73152" marT="27432" marB="27432" anchor="ctr">
                    <a:solidFill>
                      <a:srgbClr val="FCFCFB"/>
                    </a:solidFill>
                  </a:tcPr>
                </a:tc>
              </a:tr>
              <a:tr h="402336">
                <a:tc>
                  <a:txBody>
                    <a:bodyPr/>
                    <a:lstStyle/>
                    <a:p>
                      <a:pPr algn="l"/>
                      <a:r>
                        <a:rPr sz="1200" b="0">
                          <a:solidFill>
                            <a:srgbClr val="0B0B0B"/>
                          </a:solidFill>
                          <a:latin typeface="Helvetica Neue"/>
                        </a:rPr>
                        <a:t>Holm-Bonferroni</a:t>
                      </a:r>
                    </a:p>
                  </a:txBody>
                  <a:tcPr marL="73152" marR="73152" marT="27432" marB="27432" anchor="ctr">
                    <a:solidFill>
                      <a:srgbClr val="FCFCFB"/>
                    </a:solidFill>
                  </a:tcPr>
                </a:tc>
                <a:tc>
                  <a:txBody>
                    <a:bodyPr/>
                    <a:lstStyle/>
                    <a:p>
                      <a:pPr algn="ctr"/>
                      <a:r>
                        <a:rPr sz="1200" b="0">
                          <a:solidFill>
                            <a:srgbClr val="0B0B0B"/>
                          </a:solidFill>
                          <a:latin typeface="Helvetica Neue"/>
                        </a:rPr>
                        <a:t>False positive across 3 pairs?</a:t>
                      </a:r>
                    </a:p>
                  </a:txBody>
                  <a:tcPr marL="73152" marR="73152" marT="27432" marB="27432" anchor="ctr">
                    <a:solidFill>
                      <a:srgbClr val="FCFCFB"/>
                    </a:solidFill>
                  </a:tcPr>
                </a:tc>
                <a:tc>
                  <a:txBody>
                    <a:bodyPr/>
                    <a:lstStyle/>
                    <a:p>
                      <a:pPr algn="ctr"/>
                      <a:r>
                        <a:rPr sz="1200" b="0">
                          <a:solidFill>
                            <a:srgbClr val="0B0B0B"/>
                          </a:solidFill>
                          <a:latin typeface="Helvetica Neue"/>
                        </a:rPr>
                        <a:t>Controls family-wise error without Bonferroni's power loss</a:t>
                      </a:r>
                    </a:p>
                  </a:txBody>
                  <a:tcPr marL="73152" marR="73152" marT="27432" marB="27432" anchor="ctr">
                    <a:solidFill>
                      <a:srgbClr val="FCFCFB"/>
                    </a:solidFill>
                  </a:tcPr>
                </a:tc>
              </a:tr>
              <a:tr h="402336">
                <a:tc>
                  <a:txBody>
                    <a:bodyPr/>
                    <a:lstStyle/>
                    <a:p>
                      <a:pPr algn="l"/>
                      <a:r>
                        <a:rPr sz="1200" b="0">
                          <a:solidFill>
                            <a:srgbClr val="0B0B0B"/>
                          </a:solidFill>
                          <a:latin typeface="Helvetica Neue"/>
                        </a:rPr>
                        <a:t>Chi-square + Cramer's V</a:t>
                      </a:r>
                    </a:p>
                  </a:txBody>
                  <a:tcPr marL="73152" marR="73152" marT="27432" marB="27432" anchor="ctr">
                    <a:solidFill>
                      <a:srgbClr val="FCFCFB"/>
                    </a:solidFill>
                  </a:tcPr>
                </a:tc>
                <a:tc>
                  <a:txBody>
                    <a:bodyPr/>
                    <a:lstStyle/>
                    <a:p>
                      <a:pPr algn="ctr"/>
                      <a:r>
                        <a:rPr sz="1200" b="0">
                          <a:solidFill>
                            <a:srgbClr val="0B0B0B"/>
                          </a:solidFill>
                          <a:latin typeface="Helvetica Neue"/>
                        </a:rPr>
                        <a:t>Does a factor move accuracy?</a:t>
                      </a:r>
                    </a:p>
                  </a:txBody>
                  <a:tcPr marL="73152" marR="73152" marT="27432" marB="27432" anchor="ctr">
                    <a:solidFill>
                      <a:srgbClr val="FCFCFB"/>
                    </a:solidFill>
                  </a:tcPr>
                </a:tc>
                <a:tc>
                  <a:txBody>
                    <a:bodyPr/>
                    <a:lstStyle/>
                    <a:p>
                      <a:pPr algn="ctr"/>
                      <a:r>
                        <a:rPr sz="1200" b="0">
                          <a:solidFill>
                            <a:srgbClr val="0B0B0B"/>
                          </a:solidFill>
                          <a:latin typeface="Helvetica Neue"/>
                        </a:rPr>
                        <a:t>At 1000s of items everything is significant; V says if it matters</a:t>
                      </a:r>
                    </a:p>
                  </a:txBody>
                  <a:tcPr marL="73152" marR="73152" marT="27432" marB="27432" anchor="ctr">
                    <a:solidFill>
                      <a:srgbClr val="FCFCFB"/>
                    </a:solidFill>
                  </a:tcPr>
                </a:tc>
              </a:tr>
              <a:tr h="402336">
                <a:tc>
                  <a:txBody>
                    <a:bodyPr/>
                    <a:lstStyle/>
                    <a:p>
                      <a:pPr algn="l"/>
                      <a:r>
                        <a:rPr sz="1200" b="0">
                          <a:solidFill>
                            <a:srgbClr val="0B0B0B"/>
                          </a:solidFill>
                          <a:latin typeface="Helvetica Neue"/>
                        </a:rPr>
                        <a:t>Variance decomposition</a:t>
                      </a:r>
                    </a:p>
                  </a:txBody>
                  <a:tcPr marL="73152" marR="73152" marT="27432" marB="27432" anchor="ctr">
                    <a:solidFill>
                      <a:srgbClr val="FCFCFB"/>
                    </a:solidFill>
                  </a:tcPr>
                </a:tc>
                <a:tc>
                  <a:txBody>
                    <a:bodyPr/>
                    <a:lstStyle/>
                    <a:p>
                      <a:pPr algn="ctr"/>
                      <a:r>
                        <a:rPr sz="1200" b="0">
                          <a:solidFill>
                            <a:srgbClr val="0B0B0B"/>
                          </a:solidFill>
                          <a:latin typeface="Helvetica Neue"/>
                        </a:rPr>
                        <a:t>Is the subject spread real?</a:t>
                      </a:r>
                    </a:p>
                  </a:txBody>
                  <a:tcPr marL="73152" marR="73152" marT="27432" marB="27432" anchor="ctr">
                    <a:solidFill>
                      <a:srgbClr val="FCFCFB"/>
                    </a:solidFill>
                  </a:tcPr>
                </a:tc>
                <a:tc>
                  <a:txBody>
                    <a:bodyPr/>
                    <a:lstStyle/>
                    <a:p>
                      <a:pPr algn="ctr"/>
                      <a:r>
                        <a:rPr sz="1200" b="0">
                          <a:solidFill>
                            <a:srgbClr val="0B0B0B"/>
                          </a:solidFill>
                          <a:latin typeface="Helvetica Neue"/>
                        </a:rPr>
                        <a:t>Removes the binomial noise of ~50 questions per subject</a:t>
                      </a:r>
                    </a:p>
                  </a:txBody>
                  <a:tcPr marL="73152" marR="73152" marT="27432" marB="27432" anchor="ctr">
                    <a:solidFill>
                      <a:srgbClr val="FCFCFB"/>
                    </a:solidFill>
                  </a:tcPr>
                </a:tc>
              </a:tr>
              <a:tr h="402336">
                <a:tc>
                  <a:txBody>
                    <a:bodyPr/>
                    <a:lstStyle/>
                    <a:p>
                      <a:pPr algn="l"/>
                      <a:r>
                        <a:rPr sz="1200" b="0">
                          <a:solidFill>
                            <a:srgbClr val="0B0B0B"/>
                          </a:solidFill>
                          <a:latin typeface="Helvetica Neue"/>
                        </a:rPr>
                        <a:t>Oracle ceiling</a:t>
                      </a:r>
                    </a:p>
                  </a:txBody>
                  <a:tcPr marL="73152" marR="73152" marT="27432" marB="27432" anchor="ctr">
                    <a:solidFill>
                      <a:srgbClr val="FCFCFB"/>
                    </a:solidFill>
                  </a:tcPr>
                </a:tc>
                <a:tc>
                  <a:txBody>
                    <a:bodyPr/>
                    <a:lstStyle/>
                    <a:p>
                      <a:pPr algn="ctr"/>
                      <a:r>
                        <a:rPr sz="1200" b="0">
                          <a:solidFill>
                            <a:srgbClr val="0B0B0B"/>
                          </a:solidFill>
                          <a:latin typeface="Helvetica Neue"/>
                        </a:rPr>
                        <a:t>What would per-item routing buy?</a:t>
                      </a:r>
                    </a:p>
                  </a:txBody>
                  <a:tcPr marL="73152" marR="73152" marT="27432" marB="27432" anchor="ctr">
                    <a:solidFill>
                      <a:srgbClr val="FCFCFB"/>
                    </a:solidFill>
                  </a:tcPr>
                </a:tc>
                <a:tc>
                  <a:txBody>
                    <a:bodyPr/>
                    <a:lstStyle/>
                    <a:p>
                      <a:pPr algn="ctr"/>
                      <a:r>
                        <a:rPr sz="1200" b="0">
                          <a:solidFill>
                            <a:srgbClr val="0B0B0B"/>
                          </a:solidFill>
                          <a:latin typeface="Helvetica Neue"/>
                        </a:rPr>
                        <a:t>Headroom that individual accuracies cannot show</a:t>
                      </a:r>
                    </a:p>
                  </a:txBody>
                  <a:tcPr marL="73152" marR="73152" marT="27432" marB="27432" anchor="ctr">
                    <a:solidFill>
                      <a:srgbClr val="FCFCFB"/>
                    </a:solidFill>
                  </a:tcPr>
                </a:tc>
              </a:tr>
            </a:tbl>
          </a:graphicData>
        </a:graphic>
      </p:graphicFrame>
      <p:sp>
        <p:nvSpPr>
          <p:cNvPr id="10" name="TextBox 9"/>
          <p:cNvSpPr txBox="1"/>
          <p:nvPr/>
        </p:nvSpPr>
        <p:spPr>
          <a:xfrm>
            <a:off x="548640" y="5440680"/>
            <a:ext cx="11064240" cy="457200"/>
          </a:xfrm>
          <a:prstGeom prst="rect">
            <a:avLst/>
          </a:prstGeom>
          <a:noFill/>
        </p:spPr>
        <p:txBody>
          <a:bodyPr wrap="square">
            <a:spAutoFit/>
          </a:bodyPr>
          <a:lstStyle/>
          <a:p>
            <a:pPr algn="l">
              <a:lnSpc>
                <a:spcPct val="115000"/>
              </a:lnSpc>
            </a:pPr>
            <a:r>
              <a:rPr sz="1200" b="0" i="0">
                <a:solidFill>
                  <a:srgbClr val="898781"/>
                </a:solidFill>
                <a:latin typeface="Helvetica Neue"/>
              </a:rPr>
              <a:t>Pure-stdlib implementations, pinned against SciPy and statsmodels by tests/test_significance.py so the report regenerates on a host where SciPy cannot be installed.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510528"/>
            <a:ext cx="5486400" cy="274320"/>
          </a:xfrm>
          <a:prstGeom prst="rect">
            <a:avLst/>
          </a:prstGeom>
          <a:noFill/>
        </p:spPr>
        <p:txBody>
          <a:bodyPr wrap="square">
            <a:spAutoFit/>
          </a:bodyPr>
          <a:lstStyle/>
          <a:p>
            <a:pPr algn="l">
              <a:lnSpc>
                <a:spcPct val="115000"/>
              </a:lnSpc>
            </a:pPr>
            <a:r>
              <a:rPr sz="900" b="0" i="0">
                <a:solidFill>
                  <a:srgbClr val="898781"/>
                </a:solidFill>
                <a:latin typeface="Helvetica Neue"/>
              </a:rPr>
              <a:t>LAMBADA &amp; MMLU Benchmark Evaluation — Extended</a:t>
            </a:r>
          </a:p>
        </p:txBody>
      </p:sp>
      <p:sp>
        <p:nvSpPr>
          <p:cNvPr id="4" name="TextBox 3"/>
          <p:cNvSpPr txBox="1"/>
          <p:nvPr/>
        </p:nvSpPr>
        <p:spPr>
          <a:xfrm>
            <a:off x="11338560" y="6510528"/>
            <a:ext cx="457200" cy="274320"/>
          </a:xfrm>
          <a:prstGeom prst="rect">
            <a:avLst/>
          </a:prstGeom>
          <a:noFill/>
        </p:spPr>
        <p:txBody>
          <a:bodyPr wrap="square">
            <a:spAutoFit/>
          </a:bodyPr>
          <a:lstStyle/>
          <a:p>
            <a:pPr algn="r">
              <a:lnSpc>
                <a:spcPct val="115000"/>
              </a:lnSpc>
            </a:pPr>
            <a:r>
              <a:rPr sz="900" b="0" i="0">
                <a:solidFill>
                  <a:srgbClr val="898781"/>
                </a:solidFill>
                <a:latin typeface="Helvetica Neue"/>
              </a:rPr>
              <a:t>27</a:t>
            </a:r>
          </a:p>
        </p:txBody>
      </p:sp>
      <p:sp>
        <p:nvSpPr>
          <p:cNvPr id="5" name="TextBox 4"/>
          <p:cNvSpPr txBox="1"/>
          <p:nvPr/>
        </p:nvSpPr>
        <p:spPr>
          <a:xfrm>
            <a:off x="548640" y="320040"/>
            <a:ext cx="10058400" cy="320040"/>
          </a:xfrm>
          <a:prstGeom prst="rect">
            <a:avLst/>
          </a:prstGeom>
          <a:noFill/>
        </p:spPr>
        <p:txBody>
          <a:bodyPr wrap="square">
            <a:spAutoFit/>
          </a:bodyPr>
          <a:lstStyle/>
          <a:p>
            <a:pPr algn="l">
              <a:lnSpc>
                <a:spcPct val="115000"/>
              </a:lnSpc>
            </a:pPr>
            <a:r>
              <a:rPr sz="1250" b="1" i="0">
                <a:solidFill>
                  <a:srgbClr val="2A78D6"/>
                </a:solidFill>
                <a:latin typeface="Helvetica Neue"/>
              </a:rPr>
              <a:t>ANALYSIS</a:t>
            </a:r>
          </a:p>
        </p:txBody>
      </p:sp>
      <p:sp>
        <p:nvSpPr>
          <p:cNvPr id="6" name="TextBox 5"/>
          <p:cNvSpPr txBox="1"/>
          <p:nvPr/>
        </p:nvSpPr>
        <p:spPr>
          <a:xfrm>
            <a:off x="548640" y="914400"/>
            <a:ext cx="11064240" cy="640080"/>
          </a:xfrm>
          <a:prstGeom prst="rect">
            <a:avLst/>
          </a:prstGeom>
          <a:noFill/>
        </p:spPr>
        <p:txBody>
          <a:bodyPr wrap="square">
            <a:spAutoFit/>
          </a:bodyPr>
          <a:lstStyle/>
          <a:p>
            <a:pPr algn="l">
              <a:lnSpc>
                <a:spcPct val="115000"/>
              </a:lnSpc>
            </a:pPr>
            <a:r>
              <a:rPr sz="2600" b="1" i="0">
                <a:solidFill>
                  <a:srgbClr val="0B0B0B"/>
                </a:solidFill>
                <a:latin typeface="Helvetica Neue"/>
              </a:rPr>
              <a:t>MMLU — paired significance</a:t>
            </a:r>
          </a:p>
        </p:txBody>
      </p:sp>
      <p:cxnSp>
        <p:nvCxnSpPr>
          <p:cNvPr id="7" name="Connector 6"/>
          <p:cNvCxnSpPr/>
          <p:nvPr/>
        </p:nvCxnSpPr>
        <p:spPr>
          <a:xfrm>
            <a:off x="548640" y="1508760"/>
            <a:ext cx="11091672"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1600200"/>
            <a:ext cx="11064240" cy="365760"/>
          </a:xfrm>
          <a:prstGeom prst="rect">
            <a:avLst/>
          </a:prstGeom>
          <a:noFill/>
        </p:spPr>
        <p:txBody>
          <a:bodyPr wrap="square">
            <a:spAutoFit/>
          </a:bodyPr>
          <a:lstStyle/>
          <a:p>
            <a:pPr algn="l">
              <a:lnSpc>
                <a:spcPct val="115000"/>
              </a:lnSpc>
            </a:pPr>
            <a:r>
              <a:rPr sz="1400" b="1" i="0">
                <a:solidFill>
                  <a:srgbClr val="2A78D6"/>
                </a:solidFill>
                <a:latin typeface="Helvetica Neue"/>
              </a:rPr>
              <a:t>Cochran's Q = 594.659  (df 2),  p &lt; 0.0001   —   the models differ; pairwise tests follow</a:t>
            </a:r>
          </a:p>
        </p:txBody>
      </p:sp>
      <p:graphicFrame>
        <p:nvGraphicFramePr>
          <p:cNvPr id="9" name="Table 8"/>
          <p:cNvGraphicFramePr>
            <a:graphicFrameLocks noGrp="1"/>
          </p:cNvGraphicFramePr>
          <p:nvPr/>
        </p:nvGraphicFramePr>
        <p:xfrm>
          <a:off x="548640" y="2148840"/>
          <a:ext cx="11064237" cy="1609344"/>
        </p:xfrm>
        <a:graphic>
          <a:graphicData uri="http://schemas.openxmlformats.org/drawingml/2006/table">
            <a:tbl>
              <a:tblPr firstRow="1" bandRow="1">
                <a:tableStyleId>{5C22544A-7EE6-4342-B048-85BDC9FD1C3A}</a:tableStyleId>
              </a:tblPr>
              <a:tblGrid>
                <a:gridCol w="3319272"/>
                <a:gridCol w="1327708"/>
                <a:gridCol w="1991563"/>
                <a:gridCol w="885139"/>
                <a:gridCol w="885139"/>
                <a:gridCol w="1327708"/>
                <a:gridCol w="1327708"/>
              </a:tblGrid>
              <a:tr h="402336">
                <a:tc>
                  <a:txBody>
                    <a:bodyPr/>
                    <a:lstStyle/>
                    <a:p>
                      <a:pPr algn="l"/>
                      <a:r>
                        <a:rPr sz="1200" b="1">
                          <a:solidFill>
                            <a:srgbClr val="FFFFFF"/>
                          </a:solidFill>
                          <a:latin typeface="Helvetica Neue"/>
                        </a:rPr>
                        <a:t>Pair</a:t>
                      </a:r>
                    </a:p>
                  </a:txBody>
                  <a:tcPr marL="73152" marR="73152" marT="27432" marB="27432" anchor="ctr">
                    <a:solidFill>
                      <a:srgbClr val="0B0B0B"/>
                    </a:solidFill>
                  </a:tcPr>
                </a:tc>
                <a:tc>
                  <a:txBody>
                    <a:bodyPr/>
                    <a:lstStyle/>
                    <a:p>
                      <a:pPr algn="ctr"/>
                      <a:r>
                        <a:rPr sz="1200" b="1">
                          <a:solidFill>
                            <a:srgbClr val="FFFFFF"/>
                          </a:solidFill>
                          <a:latin typeface="Helvetica Neue"/>
                        </a:rPr>
                        <a:t>Delta acc.</a:t>
                      </a:r>
                    </a:p>
                  </a:txBody>
                  <a:tcPr marL="73152" marR="73152" marT="27432" marB="27432" anchor="ctr">
                    <a:solidFill>
                      <a:srgbClr val="0B0B0B"/>
                    </a:solidFill>
                  </a:tcPr>
                </a:tc>
                <a:tc>
                  <a:txBody>
                    <a:bodyPr/>
                    <a:lstStyle/>
                    <a:p>
                      <a:pPr algn="ctr"/>
                      <a:r>
                        <a:rPr sz="1200" b="1">
                          <a:solidFill>
                            <a:srgbClr val="FFFFFF"/>
                          </a:solidFill>
                          <a:latin typeface="Helvetica Neue"/>
                        </a:rPr>
                        <a:t>95% CI</a:t>
                      </a:r>
                    </a:p>
                  </a:txBody>
                  <a:tcPr marL="73152" marR="73152" marT="27432" marB="27432" anchor="ctr">
                    <a:solidFill>
                      <a:srgbClr val="0B0B0B"/>
                    </a:solidFill>
                  </a:tcPr>
                </a:tc>
                <a:tc>
                  <a:txBody>
                    <a:bodyPr/>
                    <a:lstStyle/>
                    <a:p>
                      <a:pPr algn="ctr"/>
                      <a:r>
                        <a:rPr sz="1200" b="1">
                          <a:solidFill>
                            <a:srgbClr val="FFFFFF"/>
                          </a:solidFill>
                          <a:latin typeface="Helvetica Neue"/>
                        </a:rPr>
                        <a:t>Only A</a:t>
                      </a:r>
                    </a:p>
                  </a:txBody>
                  <a:tcPr marL="73152" marR="73152" marT="27432" marB="27432" anchor="ctr">
                    <a:solidFill>
                      <a:srgbClr val="0B0B0B"/>
                    </a:solidFill>
                  </a:tcPr>
                </a:tc>
                <a:tc>
                  <a:txBody>
                    <a:bodyPr/>
                    <a:lstStyle/>
                    <a:p>
                      <a:pPr algn="ctr"/>
                      <a:r>
                        <a:rPr sz="1200" b="1">
                          <a:solidFill>
                            <a:srgbClr val="FFFFFF"/>
                          </a:solidFill>
                          <a:latin typeface="Helvetica Neue"/>
                        </a:rPr>
                        <a:t>Only B</a:t>
                      </a:r>
                    </a:p>
                  </a:txBody>
                  <a:tcPr marL="73152" marR="73152" marT="27432" marB="27432" anchor="ctr">
                    <a:solidFill>
                      <a:srgbClr val="0B0B0B"/>
                    </a:solidFill>
                  </a:tcPr>
                </a:tc>
                <a:tc>
                  <a:txBody>
                    <a:bodyPr/>
                    <a:lstStyle/>
                    <a:p>
                      <a:pPr algn="ctr"/>
                      <a:r>
                        <a:rPr sz="1200" b="1">
                          <a:solidFill>
                            <a:srgbClr val="FFFFFF"/>
                          </a:solidFill>
                          <a:latin typeface="Helvetica Neue"/>
                        </a:rPr>
                        <a:t>p (Holm)</a:t>
                      </a:r>
                    </a:p>
                  </a:txBody>
                  <a:tcPr marL="73152" marR="73152" marT="27432" marB="27432" anchor="ctr">
                    <a:solidFill>
                      <a:srgbClr val="0B0B0B"/>
                    </a:solidFill>
                  </a:tcPr>
                </a:tc>
                <a:tc>
                  <a:txBody>
                    <a:bodyPr/>
                    <a:lstStyle/>
                    <a:p>
                      <a:pPr algn="ctr"/>
                      <a:r>
                        <a:rPr sz="1200" b="1">
                          <a:solidFill>
                            <a:srgbClr val="FFFFFF"/>
                          </a:solidFill>
                          <a:latin typeface="Helvetica Neue"/>
                        </a:rPr>
                        <a:t>Verdict</a:t>
                      </a:r>
                    </a:p>
                  </a:txBody>
                  <a:tcPr marL="73152" marR="73152" marT="27432" marB="27432" anchor="ctr">
                    <a:solidFill>
                      <a:srgbClr val="0B0B0B"/>
                    </a:solidFill>
                  </a:tcPr>
                </a:tc>
              </a:tr>
              <a:tr h="402336">
                <a:tc>
                  <a:txBody>
                    <a:bodyPr/>
                    <a:lstStyle/>
                    <a:p>
                      <a:pPr algn="l"/>
                      <a:r>
                        <a:rPr sz="1200" b="0">
                          <a:solidFill>
                            <a:srgbClr val="0B0B0B"/>
                          </a:solidFill>
                          <a:latin typeface="Helvetica Neue"/>
                        </a:rPr>
                        <a:t>Gemma-3-4B vs Llama-3.2-3B</a:t>
                      </a:r>
                    </a:p>
                  </a:txBody>
                  <a:tcPr marL="73152" marR="73152" marT="27432" marB="27432" anchor="ctr">
                    <a:solidFill>
                      <a:srgbClr val="FCFCFB"/>
                    </a:solidFill>
                  </a:tcPr>
                </a:tc>
                <a:tc>
                  <a:txBody>
                    <a:bodyPr/>
                    <a:lstStyle/>
                    <a:p>
                      <a:pPr algn="ctr"/>
                      <a:r>
                        <a:rPr sz="1200" b="0">
                          <a:solidFill>
                            <a:srgbClr val="0B0B0B"/>
                          </a:solidFill>
                          <a:latin typeface="Helvetica Neue"/>
                        </a:rPr>
                        <a:t>+0.0642</a:t>
                      </a:r>
                    </a:p>
                  </a:txBody>
                  <a:tcPr marL="73152" marR="73152" marT="27432" marB="27432" anchor="ctr">
                    <a:solidFill>
                      <a:srgbClr val="FCFCFB"/>
                    </a:solidFill>
                  </a:tcPr>
                </a:tc>
                <a:tc>
                  <a:txBody>
                    <a:bodyPr/>
                    <a:lstStyle/>
                    <a:p>
                      <a:pPr algn="ctr"/>
                      <a:r>
                        <a:rPr sz="1200" b="0">
                          <a:solidFill>
                            <a:srgbClr val="0B0B0B"/>
                          </a:solidFill>
                          <a:latin typeface="Helvetica Neue"/>
                        </a:rPr>
                        <a:t>+0.044 to +0.084</a:t>
                      </a:r>
                    </a:p>
                  </a:txBody>
                  <a:tcPr marL="73152" marR="73152" marT="27432" marB="27432" anchor="ctr">
                    <a:solidFill>
                      <a:srgbClr val="FCFCFB"/>
                    </a:solidFill>
                  </a:tcPr>
                </a:tc>
                <a:tc>
                  <a:txBody>
                    <a:bodyPr/>
                    <a:lstStyle/>
                    <a:p>
                      <a:pPr algn="ctr"/>
                      <a:r>
                        <a:rPr sz="1200" b="0">
                          <a:solidFill>
                            <a:srgbClr val="0B0B0B"/>
                          </a:solidFill>
                          <a:latin typeface="Helvetica Neue"/>
                        </a:rPr>
                        <a:t>520</a:t>
                      </a:r>
                    </a:p>
                  </a:txBody>
                  <a:tcPr marL="73152" marR="73152" marT="27432" marB="27432" anchor="ctr">
                    <a:solidFill>
                      <a:srgbClr val="FCFCFB"/>
                    </a:solidFill>
                  </a:tcPr>
                </a:tc>
                <a:tc>
                  <a:txBody>
                    <a:bodyPr/>
                    <a:lstStyle/>
                    <a:p>
                      <a:pPr algn="ctr"/>
                      <a:r>
                        <a:rPr sz="1200" b="0">
                          <a:solidFill>
                            <a:srgbClr val="0B0B0B"/>
                          </a:solidFill>
                          <a:latin typeface="Helvetica Neue"/>
                        </a:rPr>
                        <a:t>337</a:t>
                      </a:r>
                    </a:p>
                  </a:txBody>
                  <a:tcPr marL="73152" marR="73152" marT="27432" marB="27432" anchor="ctr">
                    <a:solidFill>
                      <a:srgbClr val="FCFCFB"/>
                    </a:solidFill>
                  </a:tcPr>
                </a:tc>
                <a:tc>
                  <a:txBody>
                    <a:bodyPr/>
                    <a:lstStyle/>
                    <a:p>
                      <a:pPr algn="ctr"/>
                      <a:r>
                        <a:rPr sz="1200" b="0">
                          <a:solidFill>
                            <a:srgbClr val="0B0B0B"/>
                          </a:solidFill>
                          <a:latin typeface="Helvetica Neue"/>
                        </a:rPr>
                        <a:t>&lt; 0.0001</a:t>
                      </a:r>
                    </a:p>
                  </a:txBody>
                  <a:tcPr marL="73152" marR="73152" marT="27432" marB="27432" anchor="ctr">
                    <a:solidFill>
                      <a:srgbClr val="FCFCFB"/>
                    </a:solidFill>
                  </a:tcPr>
                </a:tc>
                <a:tc>
                  <a:txBody>
                    <a:bodyPr/>
                    <a:lstStyle/>
                    <a:p>
                      <a:pPr algn="ctr"/>
                      <a:r>
                        <a:rPr sz="1200" b="0">
                          <a:solidFill>
                            <a:srgbClr val="0B0B0B"/>
                          </a:solidFill>
                          <a:latin typeface="Helvetica Neue"/>
                        </a:rPr>
                        <a:t>significant</a:t>
                      </a:r>
                    </a:p>
                  </a:txBody>
                  <a:tcPr marL="73152" marR="73152" marT="27432" marB="27432" anchor="ctr">
                    <a:solidFill>
                      <a:srgbClr val="FCFCFB"/>
                    </a:solidFill>
                  </a:tcPr>
                </a:tc>
              </a:tr>
              <a:tr h="402336">
                <a:tc>
                  <a:txBody>
                    <a:bodyPr/>
                    <a:lstStyle/>
                    <a:p>
                      <a:pPr algn="l"/>
                      <a:r>
                        <a:rPr sz="1200" b="0">
                          <a:solidFill>
                            <a:srgbClr val="0B0B0B"/>
                          </a:solidFill>
                          <a:latin typeface="Helvetica Neue"/>
                        </a:rPr>
                        <a:t>Gemma-3-4B vs Ministral-8B</a:t>
                      </a:r>
                    </a:p>
                  </a:txBody>
                  <a:tcPr marL="73152" marR="73152" marT="27432" marB="27432" anchor="ctr">
                    <a:solidFill>
                      <a:srgbClr val="FCFCFB"/>
                    </a:solidFill>
                  </a:tcPr>
                </a:tc>
                <a:tc>
                  <a:txBody>
                    <a:bodyPr/>
                    <a:lstStyle/>
                    <a:p>
                      <a:pPr algn="ctr"/>
                      <a:r>
                        <a:rPr sz="1200" b="0">
                          <a:solidFill>
                            <a:srgbClr val="0B0B0B"/>
                          </a:solidFill>
                          <a:latin typeface="Helvetica Neue"/>
                        </a:rPr>
                        <a:t>-0.1821</a:t>
                      </a:r>
                    </a:p>
                  </a:txBody>
                  <a:tcPr marL="73152" marR="73152" marT="27432" marB="27432" anchor="ctr">
                    <a:solidFill>
                      <a:srgbClr val="FCFCFB"/>
                    </a:solidFill>
                  </a:tcPr>
                </a:tc>
                <a:tc>
                  <a:txBody>
                    <a:bodyPr/>
                    <a:lstStyle/>
                    <a:p>
                      <a:pPr algn="ctr"/>
                      <a:r>
                        <a:rPr sz="1200" b="0">
                          <a:solidFill>
                            <a:srgbClr val="0B0B0B"/>
                          </a:solidFill>
                          <a:latin typeface="Helvetica Neue"/>
                        </a:rPr>
                        <a:t>-0.201 to -0.163</a:t>
                      </a:r>
                    </a:p>
                  </a:txBody>
                  <a:tcPr marL="73152" marR="73152" marT="27432" marB="27432" anchor="ctr">
                    <a:solidFill>
                      <a:srgbClr val="FCFCFB"/>
                    </a:solidFill>
                  </a:tcPr>
                </a:tc>
                <a:tc>
                  <a:txBody>
                    <a:bodyPr/>
                    <a:lstStyle/>
                    <a:p>
                      <a:pPr algn="ctr"/>
                      <a:r>
                        <a:rPr sz="1200" b="0">
                          <a:solidFill>
                            <a:srgbClr val="0B0B0B"/>
                          </a:solidFill>
                          <a:latin typeface="Helvetica Neue"/>
                        </a:rPr>
                        <a:t>163</a:t>
                      </a:r>
                    </a:p>
                  </a:txBody>
                  <a:tcPr marL="73152" marR="73152" marT="27432" marB="27432" anchor="ctr">
                    <a:solidFill>
                      <a:srgbClr val="FCFCFB"/>
                    </a:solidFill>
                  </a:tcPr>
                </a:tc>
                <a:tc>
                  <a:txBody>
                    <a:bodyPr/>
                    <a:lstStyle/>
                    <a:p>
                      <a:pPr algn="ctr"/>
                      <a:r>
                        <a:rPr sz="1200" b="0">
                          <a:solidFill>
                            <a:srgbClr val="0B0B0B"/>
                          </a:solidFill>
                          <a:latin typeface="Helvetica Neue"/>
                        </a:rPr>
                        <a:t>682</a:t>
                      </a:r>
                    </a:p>
                  </a:txBody>
                  <a:tcPr marL="73152" marR="73152" marT="27432" marB="27432" anchor="ctr">
                    <a:solidFill>
                      <a:srgbClr val="FCFCFB"/>
                    </a:solidFill>
                  </a:tcPr>
                </a:tc>
                <a:tc>
                  <a:txBody>
                    <a:bodyPr/>
                    <a:lstStyle/>
                    <a:p>
                      <a:pPr algn="ctr"/>
                      <a:r>
                        <a:rPr sz="1200" b="0">
                          <a:solidFill>
                            <a:srgbClr val="0B0B0B"/>
                          </a:solidFill>
                          <a:latin typeface="Helvetica Neue"/>
                        </a:rPr>
                        <a:t>&lt; 0.0001</a:t>
                      </a:r>
                    </a:p>
                  </a:txBody>
                  <a:tcPr marL="73152" marR="73152" marT="27432" marB="27432" anchor="ctr">
                    <a:solidFill>
                      <a:srgbClr val="FCFCFB"/>
                    </a:solidFill>
                  </a:tcPr>
                </a:tc>
                <a:tc>
                  <a:txBody>
                    <a:bodyPr/>
                    <a:lstStyle/>
                    <a:p>
                      <a:pPr algn="ctr"/>
                      <a:r>
                        <a:rPr sz="1200" b="0">
                          <a:solidFill>
                            <a:srgbClr val="0B0B0B"/>
                          </a:solidFill>
                          <a:latin typeface="Helvetica Neue"/>
                        </a:rPr>
                        <a:t>significant</a:t>
                      </a:r>
                    </a:p>
                  </a:txBody>
                  <a:tcPr marL="73152" marR="73152" marT="27432" marB="27432" anchor="ctr">
                    <a:solidFill>
                      <a:srgbClr val="FCFCFB"/>
                    </a:solidFill>
                  </a:tcPr>
                </a:tc>
              </a:tr>
              <a:tr h="402336">
                <a:tc>
                  <a:txBody>
                    <a:bodyPr/>
                    <a:lstStyle/>
                    <a:p>
                      <a:pPr algn="l"/>
                      <a:r>
                        <a:rPr sz="1200" b="0">
                          <a:solidFill>
                            <a:srgbClr val="0B0B0B"/>
                          </a:solidFill>
                          <a:latin typeface="Helvetica Neue"/>
                        </a:rPr>
                        <a:t>Llama-3.2-3B vs Ministral-8B</a:t>
                      </a:r>
                    </a:p>
                  </a:txBody>
                  <a:tcPr marL="73152" marR="73152" marT="27432" marB="27432" anchor="ctr">
                    <a:solidFill>
                      <a:srgbClr val="FCFCFB"/>
                    </a:solidFill>
                  </a:tcPr>
                </a:tc>
                <a:tc>
                  <a:txBody>
                    <a:bodyPr/>
                    <a:lstStyle/>
                    <a:p>
                      <a:pPr algn="ctr"/>
                      <a:r>
                        <a:rPr sz="1200" b="0">
                          <a:solidFill>
                            <a:srgbClr val="0B0B0B"/>
                          </a:solidFill>
                          <a:latin typeface="Helvetica Neue"/>
                        </a:rPr>
                        <a:t>-0.2463</a:t>
                      </a:r>
                    </a:p>
                  </a:txBody>
                  <a:tcPr marL="73152" marR="73152" marT="27432" marB="27432" anchor="ctr">
                    <a:solidFill>
                      <a:srgbClr val="FCFCFB"/>
                    </a:solidFill>
                  </a:tcPr>
                </a:tc>
                <a:tc>
                  <a:txBody>
                    <a:bodyPr/>
                    <a:lstStyle/>
                    <a:p>
                      <a:pPr algn="ctr"/>
                      <a:r>
                        <a:rPr sz="1200" b="0">
                          <a:solidFill>
                            <a:srgbClr val="0B0B0B"/>
                          </a:solidFill>
                          <a:latin typeface="Helvetica Neue"/>
                        </a:rPr>
                        <a:t>-0.266 to -0.227</a:t>
                      </a:r>
                    </a:p>
                  </a:txBody>
                  <a:tcPr marL="73152" marR="73152" marT="27432" marB="27432" anchor="ctr">
                    <a:solidFill>
                      <a:srgbClr val="FCFCFB"/>
                    </a:solidFill>
                  </a:tcPr>
                </a:tc>
                <a:tc>
                  <a:txBody>
                    <a:bodyPr/>
                    <a:lstStyle/>
                    <a:p>
                      <a:pPr algn="ctr"/>
                      <a:r>
                        <a:rPr sz="1200" b="0">
                          <a:solidFill>
                            <a:srgbClr val="0B0B0B"/>
                          </a:solidFill>
                          <a:latin typeface="Helvetica Neue"/>
                        </a:rPr>
                        <a:t>136</a:t>
                      </a:r>
                    </a:p>
                  </a:txBody>
                  <a:tcPr marL="73152" marR="73152" marT="27432" marB="27432" anchor="ctr">
                    <a:solidFill>
                      <a:srgbClr val="FCFCFB"/>
                    </a:solidFill>
                  </a:tcPr>
                </a:tc>
                <a:tc>
                  <a:txBody>
                    <a:bodyPr/>
                    <a:lstStyle/>
                    <a:p>
                      <a:pPr algn="ctr"/>
                      <a:r>
                        <a:rPr sz="1200" b="0">
                          <a:solidFill>
                            <a:srgbClr val="0B0B0B"/>
                          </a:solidFill>
                          <a:latin typeface="Helvetica Neue"/>
                        </a:rPr>
                        <a:t>838</a:t>
                      </a:r>
                    </a:p>
                  </a:txBody>
                  <a:tcPr marL="73152" marR="73152" marT="27432" marB="27432" anchor="ctr">
                    <a:solidFill>
                      <a:srgbClr val="FCFCFB"/>
                    </a:solidFill>
                  </a:tcPr>
                </a:tc>
                <a:tc>
                  <a:txBody>
                    <a:bodyPr/>
                    <a:lstStyle/>
                    <a:p>
                      <a:pPr algn="ctr"/>
                      <a:r>
                        <a:rPr sz="1200" b="0">
                          <a:solidFill>
                            <a:srgbClr val="0B0B0B"/>
                          </a:solidFill>
                          <a:latin typeface="Helvetica Neue"/>
                        </a:rPr>
                        <a:t>&lt; 0.0001</a:t>
                      </a:r>
                    </a:p>
                  </a:txBody>
                  <a:tcPr marL="73152" marR="73152" marT="27432" marB="27432" anchor="ctr">
                    <a:solidFill>
                      <a:srgbClr val="FCFCFB"/>
                    </a:solidFill>
                  </a:tcPr>
                </a:tc>
                <a:tc>
                  <a:txBody>
                    <a:bodyPr/>
                    <a:lstStyle/>
                    <a:p>
                      <a:pPr algn="ctr"/>
                      <a:r>
                        <a:rPr sz="1200" b="0">
                          <a:solidFill>
                            <a:srgbClr val="0B0B0B"/>
                          </a:solidFill>
                          <a:latin typeface="Helvetica Neue"/>
                        </a:rPr>
                        <a:t>significant</a:t>
                      </a:r>
                    </a:p>
                  </a:txBody>
                  <a:tcPr marL="73152" marR="73152" marT="27432" marB="27432" anchor="ctr">
                    <a:solidFill>
                      <a:srgbClr val="FCFCFB"/>
                    </a:solidFill>
                  </a:tcPr>
                </a:tc>
              </a:tr>
            </a:tbl>
          </a:graphicData>
        </a:graphic>
      </p:graphicFrame>
      <p:sp>
        <p:nvSpPr>
          <p:cNvPr id="10" name="TextBox 9"/>
          <p:cNvSpPr txBox="1"/>
          <p:nvPr/>
        </p:nvSpPr>
        <p:spPr>
          <a:xfrm>
            <a:off x="548640" y="3977639"/>
            <a:ext cx="2743200" cy="274320"/>
          </a:xfrm>
          <a:prstGeom prst="rect">
            <a:avLst/>
          </a:prstGeom>
          <a:noFill/>
        </p:spPr>
        <p:txBody>
          <a:bodyPr wrap="square">
            <a:spAutoFit/>
          </a:bodyPr>
          <a:lstStyle/>
          <a:p>
            <a:pPr algn="l">
              <a:lnSpc>
                <a:spcPct val="115000"/>
              </a:lnSpc>
            </a:pPr>
            <a:r>
              <a:rPr sz="1100" b="1" i="0">
                <a:solidFill>
                  <a:srgbClr val="898781"/>
                </a:solidFill>
                <a:latin typeface="Helvetica Neue"/>
              </a:rPr>
              <a:t>READING IT</a:t>
            </a:r>
          </a:p>
        </p:txBody>
      </p:sp>
      <p:sp>
        <p:nvSpPr>
          <p:cNvPr id="11" name="TextBox 10"/>
          <p:cNvSpPr txBox="1"/>
          <p:nvPr/>
        </p:nvSpPr>
        <p:spPr>
          <a:xfrm>
            <a:off x="548640" y="4270248"/>
            <a:ext cx="11064240" cy="1737360"/>
          </a:xfrm>
          <a:prstGeom prst="rect">
            <a:avLst/>
          </a:prstGeom>
          <a:noFill/>
        </p:spPr>
        <p:txBody>
          <a:bodyPr wrap="square">
            <a:spAutoFit/>
          </a:bodyPr>
          <a:lstStyle/>
          <a:p>
            <a:pPr algn="l">
              <a:lnSpc>
                <a:spcPct val="135000"/>
              </a:lnSpc>
              <a:spcAft>
                <a:spcPts val="700"/>
              </a:spcAft>
            </a:pPr>
            <a:r>
              <a:rPr sz="1300" b="0" i="0">
                <a:solidFill>
                  <a:srgbClr val="52514E"/>
                </a:solidFill>
                <a:latin typeface="Helvetica Neue"/>
              </a:rPr>
              <a:t>—  Every gap survives Holm correction: the ranking is not a sampling artefact.</a:t>
            </a:r>
          </a:p>
          <a:p>
            <a:pPr algn="l">
              <a:lnSpc>
                <a:spcPct val="135000"/>
              </a:lnSpc>
              <a:spcAft>
                <a:spcPts val="700"/>
              </a:spcAft>
            </a:pPr>
            <a:r>
              <a:rPr sz="1300" b="0" i="0">
                <a:solidFill>
                  <a:srgbClr val="52514E"/>
                </a:solidFill>
                <a:latin typeface="Helvetica Neue"/>
              </a:rPr>
              <a:t>—  Only discordant items count. 'Only A' and 'Only B' are the items one model got right and the other did not - items both answered the same way carry no information about which is better.</a:t>
            </a:r>
          </a:p>
          <a:p>
            <a:pPr algn="l">
              <a:lnSpc>
                <a:spcPct val="135000"/>
              </a:lnSpc>
              <a:spcAft>
                <a:spcPts val="700"/>
              </a:spcAft>
            </a:pPr>
            <a:r>
              <a:rPr sz="1300" b="0" i="0">
                <a:solidFill>
                  <a:srgbClr val="52514E"/>
                </a:solidFill>
                <a:latin typeface="Helvetica Neue"/>
              </a:rPr>
              <a:t>—  An ideal per-item router would reach 87.8% against 79.4% for the best single model - 8.4 points of headroom, with 12.2% of items defeating all three.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510528"/>
            <a:ext cx="5486400" cy="274320"/>
          </a:xfrm>
          <a:prstGeom prst="rect">
            <a:avLst/>
          </a:prstGeom>
          <a:noFill/>
        </p:spPr>
        <p:txBody>
          <a:bodyPr wrap="square">
            <a:spAutoFit/>
          </a:bodyPr>
          <a:lstStyle/>
          <a:p>
            <a:pPr algn="l">
              <a:lnSpc>
                <a:spcPct val="115000"/>
              </a:lnSpc>
            </a:pPr>
            <a:r>
              <a:rPr sz="900" b="0" i="0">
                <a:solidFill>
                  <a:srgbClr val="898781"/>
                </a:solidFill>
                <a:latin typeface="Helvetica Neue"/>
              </a:rPr>
              <a:t>LAMBADA &amp; MMLU Benchmark Evaluation — Extended</a:t>
            </a:r>
          </a:p>
        </p:txBody>
      </p:sp>
      <p:sp>
        <p:nvSpPr>
          <p:cNvPr id="4" name="TextBox 3"/>
          <p:cNvSpPr txBox="1"/>
          <p:nvPr/>
        </p:nvSpPr>
        <p:spPr>
          <a:xfrm>
            <a:off x="11338560" y="6510528"/>
            <a:ext cx="457200" cy="274320"/>
          </a:xfrm>
          <a:prstGeom prst="rect">
            <a:avLst/>
          </a:prstGeom>
          <a:noFill/>
        </p:spPr>
        <p:txBody>
          <a:bodyPr wrap="square">
            <a:spAutoFit/>
          </a:bodyPr>
          <a:lstStyle/>
          <a:p>
            <a:pPr algn="r">
              <a:lnSpc>
                <a:spcPct val="115000"/>
              </a:lnSpc>
            </a:pPr>
            <a:r>
              <a:rPr sz="900" b="0" i="0">
                <a:solidFill>
                  <a:srgbClr val="898781"/>
                </a:solidFill>
                <a:latin typeface="Helvetica Neue"/>
              </a:rPr>
              <a:t>28</a:t>
            </a:r>
          </a:p>
        </p:txBody>
      </p:sp>
      <p:sp>
        <p:nvSpPr>
          <p:cNvPr id="5" name="TextBox 4"/>
          <p:cNvSpPr txBox="1"/>
          <p:nvPr/>
        </p:nvSpPr>
        <p:spPr>
          <a:xfrm>
            <a:off x="548640" y="320040"/>
            <a:ext cx="10058400" cy="320040"/>
          </a:xfrm>
          <a:prstGeom prst="rect">
            <a:avLst/>
          </a:prstGeom>
          <a:noFill/>
        </p:spPr>
        <p:txBody>
          <a:bodyPr wrap="square">
            <a:spAutoFit/>
          </a:bodyPr>
          <a:lstStyle/>
          <a:p>
            <a:pPr algn="l">
              <a:lnSpc>
                <a:spcPct val="115000"/>
              </a:lnSpc>
            </a:pPr>
            <a:r>
              <a:rPr sz="1250" b="1" i="0">
                <a:solidFill>
                  <a:srgbClr val="2A78D6"/>
                </a:solidFill>
                <a:latin typeface="Helvetica Neue"/>
              </a:rPr>
              <a:t>ANALYSIS</a:t>
            </a:r>
          </a:p>
        </p:txBody>
      </p:sp>
      <p:sp>
        <p:nvSpPr>
          <p:cNvPr id="6" name="TextBox 5"/>
          <p:cNvSpPr txBox="1"/>
          <p:nvPr/>
        </p:nvSpPr>
        <p:spPr>
          <a:xfrm>
            <a:off x="548640" y="914400"/>
            <a:ext cx="11064240" cy="640080"/>
          </a:xfrm>
          <a:prstGeom prst="rect">
            <a:avLst/>
          </a:prstGeom>
          <a:noFill/>
        </p:spPr>
        <p:txBody>
          <a:bodyPr wrap="square">
            <a:spAutoFit/>
          </a:bodyPr>
          <a:lstStyle/>
          <a:p>
            <a:pPr algn="l">
              <a:lnSpc>
                <a:spcPct val="115000"/>
              </a:lnSpc>
            </a:pPr>
            <a:r>
              <a:rPr sz="2600" b="1" i="0">
                <a:solidFill>
                  <a:srgbClr val="0B0B0B"/>
                </a:solidFill>
                <a:latin typeface="Helvetica Neue"/>
              </a:rPr>
              <a:t>LAMBADA — paired significance</a:t>
            </a:r>
          </a:p>
        </p:txBody>
      </p:sp>
      <p:cxnSp>
        <p:nvCxnSpPr>
          <p:cNvPr id="7" name="Connector 6"/>
          <p:cNvCxnSpPr/>
          <p:nvPr/>
        </p:nvCxnSpPr>
        <p:spPr>
          <a:xfrm>
            <a:off x="548640" y="1508760"/>
            <a:ext cx="11091672"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1600200"/>
            <a:ext cx="11064240" cy="365760"/>
          </a:xfrm>
          <a:prstGeom prst="rect">
            <a:avLst/>
          </a:prstGeom>
          <a:noFill/>
        </p:spPr>
        <p:txBody>
          <a:bodyPr wrap="square">
            <a:spAutoFit/>
          </a:bodyPr>
          <a:lstStyle/>
          <a:p>
            <a:pPr algn="l">
              <a:lnSpc>
                <a:spcPct val="115000"/>
              </a:lnSpc>
            </a:pPr>
            <a:r>
              <a:rPr sz="1400" b="1" i="0">
                <a:solidFill>
                  <a:srgbClr val="2A78D6"/>
                </a:solidFill>
                <a:latin typeface="Helvetica Neue"/>
              </a:rPr>
              <a:t>Cochran's Q = 173.547  (df 2),  p &lt; 0.0001   —   the models differ; pairwise tests follow</a:t>
            </a:r>
          </a:p>
        </p:txBody>
      </p:sp>
      <p:graphicFrame>
        <p:nvGraphicFramePr>
          <p:cNvPr id="9" name="Table 8"/>
          <p:cNvGraphicFramePr>
            <a:graphicFrameLocks noGrp="1"/>
          </p:cNvGraphicFramePr>
          <p:nvPr/>
        </p:nvGraphicFramePr>
        <p:xfrm>
          <a:off x="548640" y="2148840"/>
          <a:ext cx="11064237" cy="1609344"/>
        </p:xfrm>
        <a:graphic>
          <a:graphicData uri="http://schemas.openxmlformats.org/drawingml/2006/table">
            <a:tbl>
              <a:tblPr firstRow="1" bandRow="1">
                <a:tableStyleId>{5C22544A-7EE6-4342-B048-85BDC9FD1C3A}</a:tableStyleId>
              </a:tblPr>
              <a:tblGrid>
                <a:gridCol w="3319272"/>
                <a:gridCol w="1327708"/>
                <a:gridCol w="1991563"/>
                <a:gridCol w="885139"/>
                <a:gridCol w="885139"/>
                <a:gridCol w="1327708"/>
                <a:gridCol w="1327708"/>
              </a:tblGrid>
              <a:tr h="402336">
                <a:tc>
                  <a:txBody>
                    <a:bodyPr/>
                    <a:lstStyle/>
                    <a:p>
                      <a:pPr algn="l"/>
                      <a:r>
                        <a:rPr sz="1200" b="1">
                          <a:solidFill>
                            <a:srgbClr val="FFFFFF"/>
                          </a:solidFill>
                          <a:latin typeface="Helvetica Neue"/>
                        </a:rPr>
                        <a:t>Pair</a:t>
                      </a:r>
                    </a:p>
                  </a:txBody>
                  <a:tcPr marL="73152" marR="73152" marT="27432" marB="27432" anchor="ctr">
                    <a:solidFill>
                      <a:srgbClr val="0B0B0B"/>
                    </a:solidFill>
                  </a:tcPr>
                </a:tc>
                <a:tc>
                  <a:txBody>
                    <a:bodyPr/>
                    <a:lstStyle/>
                    <a:p>
                      <a:pPr algn="ctr"/>
                      <a:r>
                        <a:rPr sz="1200" b="1">
                          <a:solidFill>
                            <a:srgbClr val="FFFFFF"/>
                          </a:solidFill>
                          <a:latin typeface="Helvetica Neue"/>
                        </a:rPr>
                        <a:t>Delta acc.</a:t>
                      </a:r>
                    </a:p>
                  </a:txBody>
                  <a:tcPr marL="73152" marR="73152" marT="27432" marB="27432" anchor="ctr">
                    <a:solidFill>
                      <a:srgbClr val="0B0B0B"/>
                    </a:solidFill>
                  </a:tcPr>
                </a:tc>
                <a:tc>
                  <a:txBody>
                    <a:bodyPr/>
                    <a:lstStyle/>
                    <a:p>
                      <a:pPr algn="ctr"/>
                      <a:r>
                        <a:rPr sz="1200" b="1">
                          <a:solidFill>
                            <a:srgbClr val="FFFFFF"/>
                          </a:solidFill>
                          <a:latin typeface="Helvetica Neue"/>
                        </a:rPr>
                        <a:t>95% CI</a:t>
                      </a:r>
                    </a:p>
                  </a:txBody>
                  <a:tcPr marL="73152" marR="73152" marT="27432" marB="27432" anchor="ctr">
                    <a:solidFill>
                      <a:srgbClr val="0B0B0B"/>
                    </a:solidFill>
                  </a:tcPr>
                </a:tc>
                <a:tc>
                  <a:txBody>
                    <a:bodyPr/>
                    <a:lstStyle/>
                    <a:p>
                      <a:pPr algn="ctr"/>
                      <a:r>
                        <a:rPr sz="1200" b="1">
                          <a:solidFill>
                            <a:srgbClr val="FFFFFF"/>
                          </a:solidFill>
                          <a:latin typeface="Helvetica Neue"/>
                        </a:rPr>
                        <a:t>Only A</a:t>
                      </a:r>
                    </a:p>
                  </a:txBody>
                  <a:tcPr marL="73152" marR="73152" marT="27432" marB="27432" anchor="ctr">
                    <a:solidFill>
                      <a:srgbClr val="0B0B0B"/>
                    </a:solidFill>
                  </a:tcPr>
                </a:tc>
                <a:tc>
                  <a:txBody>
                    <a:bodyPr/>
                    <a:lstStyle/>
                    <a:p>
                      <a:pPr algn="ctr"/>
                      <a:r>
                        <a:rPr sz="1200" b="1">
                          <a:solidFill>
                            <a:srgbClr val="FFFFFF"/>
                          </a:solidFill>
                          <a:latin typeface="Helvetica Neue"/>
                        </a:rPr>
                        <a:t>Only B</a:t>
                      </a:r>
                    </a:p>
                  </a:txBody>
                  <a:tcPr marL="73152" marR="73152" marT="27432" marB="27432" anchor="ctr">
                    <a:solidFill>
                      <a:srgbClr val="0B0B0B"/>
                    </a:solidFill>
                  </a:tcPr>
                </a:tc>
                <a:tc>
                  <a:txBody>
                    <a:bodyPr/>
                    <a:lstStyle/>
                    <a:p>
                      <a:pPr algn="ctr"/>
                      <a:r>
                        <a:rPr sz="1200" b="1">
                          <a:solidFill>
                            <a:srgbClr val="FFFFFF"/>
                          </a:solidFill>
                          <a:latin typeface="Helvetica Neue"/>
                        </a:rPr>
                        <a:t>p (Holm)</a:t>
                      </a:r>
                    </a:p>
                  </a:txBody>
                  <a:tcPr marL="73152" marR="73152" marT="27432" marB="27432" anchor="ctr">
                    <a:solidFill>
                      <a:srgbClr val="0B0B0B"/>
                    </a:solidFill>
                  </a:tcPr>
                </a:tc>
                <a:tc>
                  <a:txBody>
                    <a:bodyPr/>
                    <a:lstStyle/>
                    <a:p>
                      <a:pPr algn="ctr"/>
                      <a:r>
                        <a:rPr sz="1200" b="1">
                          <a:solidFill>
                            <a:srgbClr val="FFFFFF"/>
                          </a:solidFill>
                          <a:latin typeface="Helvetica Neue"/>
                        </a:rPr>
                        <a:t>Verdict</a:t>
                      </a:r>
                    </a:p>
                  </a:txBody>
                  <a:tcPr marL="73152" marR="73152" marT="27432" marB="27432" anchor="ctr">
                    <a:solidFill>
                      <a:srgbClr val="0B0B0B"/>
                    </a:solidFill>
                  </a:tcPr>
                </a:tc>
              </a:tr>
              <a:tr h="402336">
                <a:tc>
                  <a:txBody>
                    <a:bodyPr/>
                    <a:lstStyle/>
                    <a:p>
                      <a:pPr algn="l"/>
                      <a:r>
                        <a:rPr sz="1200" b="0">
                          <a:solidFill>
                            <a:srgbClr val="0B0B0B"/>
                          </a:solidFill>
                          <a:latin typeface="Helvetica Neue"/>
                        </a:rPr>
                        <a:t>Gemma-3-4B vs Llama-3.2-3B</a:t>
                      </a:r>
                    </a:p>
                  </a:txBody>
                  <a:tcPr marL="73152" marR="73152" marT="27432" marB="27432" anchor="ctr">
                    <a:solidFill>
                      <a:srgbClr val="FCFCFB"/>
                    </a:solidFill>
                  </a:tcPr>
                </a:tc>
                <a:tc>
                  <a:txBody>
                    <a:bodyPr/>
                    <a:lstStyle/>
                    <a:p>
                      <a:pPr algn="ctr"/>
                      <a:r>
                        <a:rPr sz="1200" b="0">
                          <a:solidFill>
                            <a:srgbClr val="0B0B0B"/>
                          </a:solidFill>
                          <a:latin typeface="Helvetica Neue"/>
                        </a:rPr>
                        <a:t>-0.0440</a:t>
                      </a:r>
                    </a:p>
                  </a:txBody>
                  <a:tcPr marL="73152" marR="73152" marT="27432" marB="27432" anchor="ctr">
                    <a:solidFill>
                      <a:srgbClr val="FCFCFB"/>
                    </a:solidFill>
                  </a:tcPr>
                </a:tc>
                <a:tc>
                  <a:txBody>
                    <a:bodyPr/>
                    <a:lstStyle/>
                    <a:p>
                      <a:pPr algn="ctr"/>
                      <a:r>
                        <a:rPr sz="1200" b="0">
                          <a:solidFill>
                            <a:srgbClr val="0B0B0B"/>
                          </a:solidFill>
                          <a:latin typeface="Helvetica Neue"/>
                        </a:rPr>
                        <a:t>-0.073 to -0.015</a:t>
                      </a:r>
                    </a:p>
                  </a:txBody>
                  <a:tcPr marL="73152" marR="73152" marT="27432" marB="27432" anchor="ctr">
                    <a:solidFill>
                      <a:srgbClr val="FCFCFB"/>
                    </a:solidFill>
                  </a:tcPr>
                </a:tc>
                <a:tc>
                  <a:txBody>
                    <a:bodyPr/>
                    <a:lstStyle/>
                    <a:p>
                      <a:pPr algn="ctr"/>
                      <a:r>
                        <a:rPr sz="1200" b="0">
                          <a:solidFill>
                            <a:srgbClr val="0B0B0B"/>
                          </a:solidFill>
                          <a:latin typeface="Helvetica Neue"/>
                        </a:rPr>
                        <a:t>89</a:t>
                      </a:r>
                    </a:p>
                  </a:txBody>
                  <a:tcPr marL="73152" marR="73152" marT="27432" marB="27432" anchor="ctr">
                    <a:solidFill>
                      <a:srgbClr val="FCFCFB"/>
                    </a:solidFill>
                  </a:tcPr>
                </a:tc>
                <a:tc>
                  <a:txBody>
                    <a:bodyPr/>
                    <a:lstStyle/>
                    <a:p>
                      <a:pPr algn="ctr"/>
                      <a:r>
                        <a:rPr sz="1200" b="0">
                          <a:solidFill>
                            <a:srgbClr val="0B0B0B"/>
                          </a:solidFill>
                          <a:latin typeface="Helvetica Neue"/>
                        </a:rPr>
                        <a:t>133</a:t>
                      </a:r>
                    </a:p>
                  </a:txBody>
                  <a:tcPr marL="73152" marR="73152" marT="27432" marB="27432" anchor="ctr">
                    <a:solidFill>
                      <a:srgbClr val="FCFCFB"/>
                    </a:solidFill>
                  </a:tcPr>
                </a:tc>
                <a:tc>
                  <a:txBody>
                    <a:bodyPr/>
                    <a:lstStyle/>
                    <a:p>
                      <a:pPr algn="ctr"/>
                      <a:r>
                        <a:rPr sz="1200" b="0">
                          <a:solidFill>
                            <a:srgbClr val="0B0B0B"/>
                          </a:solidFill>
                          <a:latin typeface="Helvetica Neue"/>
                        </a:rPr>
                        <a:t>0.0039</a:t>
                      </a:r>
                    </a:p>
                  </a:txBody>
                  <a:tcPr marL="73152" marR="73152" marT="27432" marB="27432" anchor="ctr">
                    <a:solidFill>
                      <a:srgbClr val="FCFCFB"/>
                    </a:solidFill>
                  </a:tcPr>
                </a:tc>
                <a:tc>
                  <a:txBody>
                    <a:bodyPr/>
                    <a:lstStyle/>
                    <a:p>
                      <a:pPr algn="ctr"/>
                      <a:r>
                        <a:rPr sz="1200" b="0">
                          <a:solidFill>
                            <a:srgbClr val="0B0B0B"/>
                          </a:solidFill>
                          <a:latin typeface="Helvetica Neue"/>
                        </a:rPr>
                        <a:t>significant</a:t>
                      </a:r>
                    </a:p>
                  </a:txBody>
                  <a:tcPr marL="73152" marR="73152" marT="27432" marB="27432" anchor="ctr">
                    <a:solidFill>
                      <a:srgbClr val="FCFCFB"/>
                    </a:solidFill>
                  </a:tcPr>
                </a:tc>
              </a:tr>
              <a:tr h="402336">
                <a:tc>
                  <a:txBody>
                    <a:bodyPr/>
                    <a:lstStyle/>
                    <a:p>
                      <a:pPr algn="l"/>
                      <a:r>
                        <a:rPr sz="1200" b="0">
                          <a:solidFill>
                            <a:srgbClr val="0B0B0B"/>
                          </a:solidFill>
                          <a:latin typeface="Helvetica Neue"/>
                        </a:rPr>
                        <a:t>Gemma-3-4B vs Ministral-8B</a:t>
                      </a:r>
                    </a:p>
                  </a:txBody>
                  <a:tcPr marL="73152" marR="73152" marT="27432" marB="27432" anchor="ctr">
                    <a:solidFill>
                      <a:srgbClr val="FCFCFB"/>
                    </a:solidFill>
                  </a:tcPr>
                </a:tc>
                <a:tc>
                  <a:txBody>
                    <a:bodyPr/>
                    <a:lstStyle/>
                    <a:p>
                      <a:pPr algn="ctr"/>
                      <a:r>
                        <a:rPr sz="1200" b="0">
                          <a:solidFill>
                            <a:srgbClr val="0B0B0B"/>
                          </a:solidFill>
                          <a:latin typeface="Helvetica Neue"/>
                        </a:rPr>
                        <a:t>-0.2150</a:t>
                      </a:r>
                    </a:p>
                  </a:txBody>
                  <a:tcPr marL="73152" marR="73152" marT="27432" marB="27432" anchor="ctr">
                    <a:solidFill>
                      <a:srgbClr val="FCFCFB"/>
                    </a:solidFill>
                  </a:tcPr>
                </a:tc>
                <a:tc>
                  <a:txBody>
                    <a:bodyPr/>
                    <a:lstStyle/>
                    <a:p>
                      <a:pPr algn="ctr"/>
                      <a:r>
                        <a:rPr sz="1200" b="0">
                          <a:solidFill>
                            <a:srgbClr val="0B0B0B"/>
                          </a:solidFill>
                          <a:latin typeface="Helvetica Neue"/>
                        </a:rPr>
                        <a:t>-0.248 to -0.182</a:t>
                      </a:r>
                    </a:p>
                  </a:txBody>
                  <a:tcPr marL="73152" marR="73152" marT="27432" marB="27432" anchor="ctr">
                    <a:solidFill>
                      <a:srgbClr val="FCFCFB"/>
                    </a:solidFill>
                  </a:tcPr>
                </a:tc>
                <a:tc>
                  <a:txBody>
                    <a:bodyPr/>
                    <a:lstStyle/>
                    <a:p>
                      <a:pPr algn="ctr"/>
                      <a:r>
                        <a:rPr sz="1200" b="0">
                          <a:solidFill>
                            <a:srgbClr val="0B0B0B"/>
                          </a:solidFill>
                          <a:latin typeface="Helvetica Neue"/>
                        </a:rPr>
                        <a:t>58</a:t>
                      </a:r>
                    </a:p>
                  </a:txBody>
                  <a:tcPr marL="73152" marR="73152" marT="27432" marB="27432" anchor="ctr">
                    <a:solidFill>
                      <a:srgbClr val="FCFCFB"/>
                    </a:solidFill>
                  </a:tcPr>
                </a:tc>
                <a:tc>
                  <a:txBody>
                    <a:bodyPr/>
                    <a:lstStyle/>
                    <a:p>
                      <a:pPr algn="ctr"/>
                      <a:r>
                        <a:rPr sz="1200" b="0">
                          <a:solidFill>
                            <a:srgbClr val="0B0B0B"/>
                          </a:solidFill>
                          <a:latin typeface="Helvetica Neue"/>
                        </a:rPr>
                        <a:t>273</a:t>
                      </a:r>
                    </a:p>
                  </a:txBody>
                  <a:tcPr marL="73152" marR="73152" marT="27432" marB="27432" anchor="ctr">
                    <a:solidFill>
                      <a:srgbClr val="FCFCFB"/>
                    </a:solidFill>
                  </a:tcPr>
                </a:tc>
                <a:tc>
                  <a:txBody>
                    <a:bodyPr/>
                    <a:lstStyle/>
                    <a:p>
                      <a:pPr algn="ctr"/>
                      <a:r>
                        <a:rPr sz="1200" b="0">
                          <a:solidFill>
                            <a:srgbClr val="0B0B0B"/>
                          </a:solidFill>
                          <a:latin typeface="Helvetica Neue"/>
                        </a:rPr>
                        <a:t>&lt; 0.0001</a:t>
                      </a:r>
                    </a:p>
                  </a:txBody>
                  <a:tcPr marL="73152" marR="73152" marT="27432" marB="27432" anchor="ctr">
                    <a:solidFill>
                      <a:srgbClr val="FCFCFB"/>
                    </a:solidFill>
                  </a:tcPr>
                </a:tc>
                <a:tc>
                  <a:txBody>
                    <a:bodyPr/>
                    <a:lstStyle/>
                    <a:p>
                      <a:pPr algn="ctr"/>
                      <a:r>
                        <a:rPr sz="1200" b="0">
                          <a:solidFill>
                            <a:srgbClr val="0B0B0B"/>
                          </a:solidFill>
                          <a:latin typeface="Helvetica Neue"/>
                        </a:rPr>
                        <a:t>significant</a:t>
                      </a:r>
                    </a:p>
                  </a:txBody>
                  <a:tcPr marL="73152" marR="73152" marT="27432" marB="27432" anchor="ctr">
                    <a:solidFill>
                      <a:srgbClr val="FCFCFB"/>
                    </a:solidFill>
                  </a:tcPr>
                </a:tc>
              </a:tr>
              <a:tr h="402336">
                <a:tc>
                  <a:txBody>
                    <a:bodyPr/>
                    <a:lstStyle/>
                    <a:p>
                      <a:pPr algn="l"/>
                      <a:r>
                        <a:rPr sz="1200" b="0">
                          <a:solidFill>
                            <a:srgbClr val="0B0B0B"/>
                          </a:solidFill>
                          <a:latin typeface="Helvetica Neue"/>
                        </a:rPr>
                        <a:t>Llama-3.2-3B vs Ministral-8B</a:t>
                      </a:r>
                    </a:p>
                  </a:txBody>
                  <a:tcPr marL="73152" marR="73152" marT="27432" marB="27432" anchor="ctr">
                    <a:solidFill>
                      <a:srgbClr val="FCFCFB"/>
                    </a:solidFill>
                  </a:tcPr>
                </a:tc>
                <a:tc>
                  <a:txBody>
                    <a:bodyPr/>
                    <a:lstStyle/>
                    <a:p>
                      <a:pPr algn="ctr"/>
                      <a:r>
                        <a:rPr sz="1200" b="0">
                          <a:solidFill>
                            <a:srgbClr val="0B0B0B"/>
                          </a:solidFill>
                          <a:latin typeface="Helvetica Neue"/>
                        </a:rPr>
                        <a:t>-0.1710</a:t>
                      </a:r>
                    </a:p>
                  </a:txBody>
                  <a:tcPr marL="73152" marR="73152" marT="27432" marB="27432" anchor="ctr">
                    <a:solidFill>
                      <a:srgbClr val="FCFCFB"/>
                    </a:solidFill>
                  </a:tcPr>
                </a:tc>
                <a:tc>
                  <a:txBody>
                    <a:bodyPr/>
                    <a:lstStyle/>
                    <a:p>
                      <a:pPr algn="ctr"/>
                      <a:r>
                        <a:rPr sz="1200" b="0">
                          <a:solidFill>
                            <a:srgbClr val="0B0B0B"/>
                          </a:solidFill>
                          <a:latin typeface="Helvetica Neue"/>
                        </a:rPr>
                        <a:t>-0.205 to -0.137</a:t>
                      </a:r>
                    </a:p>
                  </a:txBody>
                  <a:tcPr marL="73152" marR="73152" marT="27432" marB="27432" anchor="ctr">
                    <a:solidFill>
                      <a:srgbClr val="FCFCFB"/>
                    </a:solidFill>
                  </a:tcPr>
                </a:tc>
                <a:tc>
                  <a:txBody>
                    <a:bodyPr/>
                    <a:lstStyle/>
                    <a:p>
                      <a:pPr algn="ctr"/>
                      <a:r>
                        <a:rPr sz="1200" b="0">
                          <a:solidFill>
                            <a:srgbClr val="0B0B0B"/>
                          </a:solidFill>
                          <a:latin typeface="Helvetica Neue"/>
                        </a:rPr>
                        <a:t>84</a:t>
                      </a:r>
                    </a:p>
                  </a:txBody>
                  <a:tcPr marL="73152" marR="73152" marT="27432" marB="27432" anchor="ctr">
                    <a:solidFill>
                      <a:srgbClr val="FCFCFB"/>
                    </a:solidFill>
                  </a:tcPr>
                </a:tc>
                <a:tc>
                  <a:txBody>
                    <a:bodyPr/>
                    <a:lstStyle/>
                    <a:p>
                      <a:pPr algn="ctr"/>
                      <a:r>
                        <a:rPr sz="1200" b="0">
                          <a:solidFill>
                            <a:srgbClr val="0B0B0B"/>
                          </a:solidFill>
                          <a:latin typeface="Helvetica Neue"/>
                        </a:rPr>
                        <a:t>255</a:t>
                      </a:r>
                    </a:p>
                  </a:txBody>
                  <a:tcPr marL="73152" marR="73152" marT="27432" marB="27432" anchor="ctr">
                    <a:solidFill>
                      <a:srgbClr val="FCFCFB"/>
                    </a:solidFill>
                  </a:tcPr>
                </a:tc>
                <a:tc>
                  <a:txBody>
                    <a:bodyPr/>
                    <a:lstStyle/>
                    <a:p>
                      <a:pPr algn="ctr"/>
                      <a:r>
                        <a:rPr sz="1200" b="0">
                          <a:solidFill>
                            <a:srgbClr val="0B0B0B"/>
                          </a:solidFill>
                          <a:latin typeface="Helvetica Neue"/>
                        </a:rPr>
                        <a:t>&lt; 0.0001</a:t>
                      </a:r>
                    </a:p>
                  </a:txBody>
                  <a:tcPr marL="73152" marR="73152" marT="27432" marB="27432" anchor="ctr">
                    <a:solidFill>
                      <a:srgbClr val="FCFCFB"/>
                    </a:solidFill>
                  </a:tcPr>
                </a:tc>
                <a:tc>
                  <a:txBody>
                    <a:bodyPr/>
                    <a:lstStyle/>
                    <a:p>
                      <a:pPr algn="ctr"/>
                      <a:r>
                        <a:rPr sz="1200" b="0">
                          <a:solidFill>
                            <a:srgbClr val="0B0B0B"/>
                          </a:solidFill>
                          <a:latin typeface="Helvetica Neue"/>
                        </a:rPr>
                        <a:t>significant</a:t>
                      </a:r>
                    </a:p>
                  </a:txBody>
                  <a:tcPr marL="73152" marR="73152" marT="27432" marB="27432" anchor="ctr">
                    <a:solidFill>
                      <a:srgbClr val="FCFCFB"/>
                    </a:solidFill>
                  </a:tcPr>
                </a:tc>
              </a:tr>
            </a:tbl>
          </a:graphicData>
        </a:graphic>
      </p:graphicFrame>
      <p:sp>
        <p:nvSpPr>
          <p:cNvPr id="10" name="TextBox 9"/>
          <p:cNvSpPr txBox="1"/>
          <p:nvPr/>
        </p:nvSpPr>
        <p:spPr>
          <a:xfrm>
            <a:off x="548640" y="3977639"/>
            <a:ext cx="2743200" cy="274320"/>
          </a:xfrm>
          <a:prstGeom prst="rect">
            <a:avLst/>
          </a:prstGeom>
          <a:noFill/>
        </p:spPr>
        <p:txBody>
          <a:bodyPr wrap="square">
            <a:spAutoFit/>
          </a:bodyPr>
          <a:lstStyle/>
          <a:p>
            <a:pPr algn="l">
              <a:lnSpc>
                <a:spcPct val="115000"/>
              </a:lnSpc>
            </a:pPr>
            <a:r>
              <a:rPr sz="1100" b="1" i="0">
                <a:solidFill>
                  <a:srgbClr val="898781"/>
                </a:solidFill>
                <a:latin typeface="Helvetica Neue"/>
              </a:rPr>
              <a:t>READING IT</a:t>
            </a:r>
          </a:p>
        </p:txBody>
      </p:sp>
      <p:sp>
        <p:nvSpPr>
          <p:cNvPr id="11" name="TextBox 10"/>
          <p:cNvSpPr txBox="1"/>
          <p:nvPr/>
        </p:nvSpPr>
        <p:spPr>
          <a:xfrm>
            <a:off x="548640" y="4270248"/>
            <a:ext cx="11064240" cy="1737360"/>
          </a:xfrm>
          <a:prstGeom prst="rect">
            <a:avLst/>
          </a:prstGeom>
          <a:noFill/>
        </p:spPr>
        <p:txBody>
          <a:bodyPr wrap="square">
            <a:spAutoFit/>
          </a:bodyPr>
          <a:lstStyle/>
          <a:p>
            <a:pPr algn="l">
              <a:lnSpc>
                <a:spcPct val="135000"/>
              </a:lnSpc>
              <a:spcAft>
                <a:spcPts val="700"/>
              </a:spcAft>
            </a:pPr>
            <a:r>
              <a:rPr sz="1300" b="0" i="0">
                <a:solidFill>
                  <a:srgbClr val="52514E"/>
                </a:solidFill>
                <a:latin typeface="Helvetica Neue"/>
              </a:rPr>
              <a:t>—  Every gap survives Holm correction: the ranking is not a sampling artefact.</a:t>
            </a:r>
          </a:p>
          <a:p>
            <a:pPr algn="l">
              <a:lnSpc>
                <a:spcPct val="135000"/>
              </a:lnSpc>
              <a:spcAft>
                <a:spcPts val="700"/>
              </a:spcAft>
            </a:pPr>
            <a:r>
              <a:rPr sz="1300" b="0" i="0">
                <a:solidFill>
                  <a:srgbClr val="52514E"/>
                </a:solidFill>
                <a:latin typeface="Helvetica Neue"/>
              </a:rPr>
              <a:t>—  Only discordant items count. 'Only A' and 'Only B' are the items one model got right and the other did not - items both answered the same way carry no information about which is better.</a:t>
            </a:r>
          </a:p>
          <a:p>
            <a:pPr algn="l">
              <a:lnSpc>
                <a:spcPct val="135000"/>
              </a:lnSpc>
              <a:spcAft>
                <a:spcPts val="700"/>
              </a:spcAft>
            </a:pPr>
            <a:r>
              <a:rPr sz="1300" b="0" i="0">
                <a:solidFill>
                  <a:srgbClr val="52514E"/>
                </a:solidFill>
                <a:latin typeface="Helvetica Neue"/>
              </a:rPr>
              <a:t>—  An ideal per-item router would reach 51.5% against 39.5% for the best single model - 12.0 points of headroom, with 48.5% of items defeating all three.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510528"/>
            <a:ext cx="5486400" cy="274320"/>
          </a:xfrm>
          <a:prstGeom prst="rect">
            <a:avLst/>
          </a:prstGeom>
          <a:noFill/>
        </p:spPr>
        <p:txBody>
          <a:bodyPr wrap="square">
            <a:spAutoFit/>
          </a:bodyPr>
          <a:lstStyle/>
          <a:p>
            <a:pPr algn="l">
              <a:lnSpc>
                <a:spcPct val="115000"/>
              </a:lnSpc>
            </a:pPr>
            <a:r>
              <a:rPr sz="900" b="0" i="0">
                <a:solidFill>
                  <a:srgbClr val="898781"/>
                </a:solidFill>
                <a:latin typeface="Helvetica Neue"/>
              </a:rPr>
              <a:t>LAMBADA &amp; MMLU Benchmark Evaluation — Extended</a:t>
            </a:r>
          </a:p>
        </p:txBody>
      </p:sp>
      <p:sp>
        <p:nvSpPr>
          <p:cNvPr id="4" name="TextBox 3"/>
          <p:cNvSpPr txBox="1"/>
          <p:nvPr/>
        </p:nvSpPr>
        <p:spPr>
          <a:xfrm>
            <a:off x="11338560" y="6510528"/>
            <a:ext cx="457200" cy="274320"/>
          </a:xfrm>
          <a:prstGeom prst="rect">
            <a:avLst/>
          </a:prstGeom>
          <a:noFill/>
        </p:spPr>
        <p:txBody>
          <a:bodyPr wrap="square">
            <a:spAutoFit/>
          </a:bodyPr>
          <a:lstStyle/>
          <a:p>
            <a:pPr algn="r">
              <a:lnSpc>
                <a:spcPct val="115000"/>
              </a:lnSpc>
            </a:pPr>
            <a:r>
              <a:rPr sz="900" b="0" i="0">
                <a:solidFill>
                  <a:srgbClr val="898781"/>
                </a:solidFill>
                <a:latin typeface="Helvetica Neue"/>
              </a:rPr>
              <a:t>29</a:t>
            </a:r>
          </a:p>
        </p:txBody>
      </p:sp>
      <p:sp>
        <p:nvSpPr>
          <p:cNvPr id="5" name="TextBox 4"/>
          <p:cNvSpPr txBox="1"/>
          <p:nvPr/>
        </p:nvSpPr>
        <p:spPr>
          <a:xfrm>
            <a:off x="548640" y="320040"/>
            <a:ext cx="10058400" cy="320040"/>
          </a:xfrm>
          <a:prstGeom prst="rect">
            <a:avLst/>
          </a:prstGeom>
          <a:noFill/>
        </p:spPr>
        <p:txBody>
          <a:bodyPr wrap="square">
            <a:spAutoFit/>
          </a:bodyPr>
          <a:lstStyle/>
          <a:p>
            <a:pPr algn="l">
              <a:lnSpc>
                <a:spcPct val="115000"/>
              </a:lnSpc>
            </a:pPr>
            <a:r>
              <a:rPr sz="1250" b="1" i="0">
                <a:solidFill>
                  <a:srgbClr val="2A78D6"/>
                </a:solidFill>
                <a:latin typeface="Helvetica Neue"/>
              </a:rPr>
              <a:t>ANALYSIS</a:t>
            </a:r>
          </a:p>
        </p:txBody>
      </p:sp>
      <p:sp>
        <p:nvSpPr>
          <p:cNvPr id="6" name="TextBox 5"/>
          <p:cNvSpPr txBox="1"/>
          <p:nvPr/>
        </p:nvSpPr>
        <p:spPr>
          <a:xfrm>
            <a:off x="548640" y="914400"/>
            <a:ext cx="11064240" cy="640080"/>
          </a:xfrm>
          <a:prstGeom prst="rect">
            <a:avLst/>
          </a:prstGeom>
          <a:noFill/>
        </p:spPr>
        <p:txBody>
          <a:bodyPr wrap="square">
            <a:spAutoFit/>
          </a:bodyPr>
          <a:lstStyle/>
          <a:p>
            <a:pPr algn="l">
              <a:lnSpc>
                <a:spcPct val="115000"/>
              </a:lnSpc>
            </a:pPr>
            <a:r>
              <a:rPr sz="2600" b="1" i="0">
                <a:solidFill>
                  <a:srgbClr val="0B0B0B"/>
                </a:solidFill>
                <a:latin typeface="Helvetica Neue"/>
              </a:rPr>
              <a:t>Which parameters move the outcome?</a:t>
            </a:r>
          </a:p>
        </p:txBody>
      </p:sp>
      <p:cxnSp>
        <p:nvCxnSpPr>
          <p:cNvPr id="7" name="Connector 6"/>
          <p:cNvCxnSpPr/>
          <p:nvPr/>
        </p:nvCxnSpPr>
        <p:spPr>
          <a:xfrm>
            <a:off x="548640" y="1508760"/>
            <a:ext cx="11091672"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1600200"/>
            <a:ext cx="11064240" cy="548640"/>
          </a:xfrm>
          <a:prstGeom prst="rect">
            <a:avLst/>
          </a:prstGeom>
          <a:noFill/>
        </p:spPr>
        <p:txBody>
          <a:bodyPr wrap="square">
            <a:spAutoFit/>
          </a:bodyPr>
          <a:lstStyle/>
          <a:p>
            <a:pPr algn="l">
              <a:lnSpc>
                <a:spcPct val="115000"/>
              </a:lnSpc>
            </a:pPr>
            <a:r>
              <a:rPr sz="1400" b="0" i="0">
                <a:solidFill>
                  <a:srgbClr val="52514E"/>
                </a:solidFill>
                <a:latin typeface="Helvetica Neue"/>
              </a:rPr>
              <a:t>Significance and effect size are different questions. Cramer's V is reported alongside every p-value because at thousands of items a negligible association is still significant.</a:t>
            </a:r>
          </a:p>
        </p:txBody>
      </p:sp>
      <p:graphicFrame>
        <p:nvGraphicFramePr>
          <p:cNvPr id="9" name="Table 8"/>
          <p:cNvGraphicFramePr>
            <a:graphicFrameLocks noGrp="1"/>
          </p:cNvGraphicFramePr>
          <p:nvPr/>
        </p:nvGraphicFramePr>
        <p:xfrm>
          <a:off x="548640" y="2286000"/>
          <a:ext cx="11064237" cy="2560320"/>
        </p:xfrm>
        <a:graphic>
          <a:graphicData uri="http://schemas.openxmlformats.org/drawingml/2006/table">
            <a:tbl>
              <a:tblPr firstRow="1" bandRow="1">
                <a:tableStyleId>{5C22544A-7EE6-4342-B048-85BDC9FD1C3A}</a:tableStyleId>
              </a:tblPr>
              <a:tblGrid>
                <a:gridCol w="1548993"/>
                <a:gridCol w="4204411"/>
                <a:gridCol w="1327708"/>
                <a:gridCol w="1548993"/>
                <a:gridCol w="1106424"/>
                <a:gridCol w="1327708"/>
              </a:tblGrid>
              <a:tr h="365760">
                <a:tc>
                  <a:txBody>
                    <a:bodyPr/>
                    <a:lstStyle/>
                    <a:p>
                      <a:pPr algn="l"/>
                      <a:r>
                        <a:rPr sz="1200" b="1">
                          <a:solidFill>
                            <a:srgbClr val="FFFFFF"/>
                          </a:solidFill>
                          <a:latin typeface="Helvetica Neue"/>
                        </a:rPr>
                        <a:t>Benchmark</a:t>
                      </a:r>
                    </a:p>
                  </a:txBody>
                  <a:tcPr marL="73152" marR="73152" marT="27432" marB="27432" anchor="ctr">
                    <a:solidFill>
                      <a:srgbClr val="0B0B0B"/>
                    </a:solidFill>
                  </a:tcPr>
                </a:tc>
                <a:tc>
                  <a:txBody>
                    <a:bodyPr/>
                    <a:lstStyle/>
                    <a:p>
                      <a:pPr algn="ctr"/>
                      <a:r>
                        <a:rPr sz="1200" b="1">
                          <a:solidFill>
                            <a:srgbClr val="FFFFFF"/>
                          </a:solidFill>
                          <a:latin typeface="Helvetica Neue"/>
                        </a:rPr>
                        <a:t>Factor</a:t>
                      </a:r>
                    </a:p>
                  </a:txBody>
                  <a:tcPr marL="73152" marR="73152" marT="27432" marB="27432" anchor="ctr">
                    <a:solidFill>
                      <a:srgbClr val="0B0B0B"/>
                    </a:solidFill>
                  </a:tcPr>
                </a:tc>
                <a:tc>
                  <a:txBody>
                    <a:bodyPr/>
                    <a:lstStyle/>
                    <a:p>
                      <a:pPr algn="ctr"/>
                      <a:r>
                        <a:rPr sz="1200" b="1">
                          <a:solidFill>
                            <a:srgbClr val="FFFFFF"/>
                          </a:solidFill>
                          <a:latin typeface="Helvetica Neue"/>
                        </a:rPr>
                        <a:t>Spread</a:t>
                      </a:r>
                    </a:p>
                  </a:txBody>
                  <a:tcPr marL="73152" marR="73152" marT="27432" marB="27432" anchor="ctr">
                    <a:solidFill>
                      <a:srgbClr val="0B0B0B"/>
                    </a:solidFill>
                  </a:tcPr>
                </a:tc>
                <a:tc>
                  <a:txBody>
                    <a:bodyPr/>
                    <a:lstStyle/>
                    <a:p>
                      <a:pPr algn="ctr"/>
                      <a:r>
                        <a:rPr sz="1200" b="1">
                          <a:solidFill>
                            <a:srgbClr val="FFFFFF"/>
                          </a:solidFill>
                          <a:latin typeface="Helvetica Neue"/>
                        </a:rPr>
                        <a:t>p</a:t>
                      </a:r>
                    </a:p>
                  </a:txBody>
                  <a:tcPr marL="73152" marR="73152" marT="27432" marB="27432" anchor="ctr">
                    <a:solidFill>
                      <a:srgbClr val="0B0B0B"/>
                    </a:solidFill>
                  </a:tcPr>
                </a:tc>
                <a:tc>
                  <a:txBody>
                    <a:bodyPr/>
                    <a:lstStyle/>
                    <a:p>
                      <a:pPr algn="ctr"/>
                      <a:r>
                        <a:rPr sz="1200" b="1">
                          <a:solidFill>
                            <a:srgbClr val="FFFFFF"/>
                          </a:solidFill>
                          <a:latin typeface="Helvetica Neue"/>
                        </a:rPr>
                        <a:t>V</a:t>
                      </a:r>
                    </a:p>
                  </a:txBody>
                  <a:tcPr marL="73152" marR="73152" marT="27432" marB="27432" anchor="ctr">
                    <a:solidFill>
                      <a:srgbClr val="0B0B0B"/>
                    </a:solidFill>
                  </a:tcPr>
                </a:tc>
                <a:tc>
                  <a:txBody>
                    <a:bodyPr/>
                    <a:lstStyle/>
                    <a:p>
                      <a:pPr algn="ctr"/>
                      <a:r>
                        <a:rPr sz="1200" b="1">
                          <a:solidFill>
                            <a:srgbClr val="FFFFFF"/>
                          </a:solidFill>
                          <a:latin typeface="Helvetica Neue"/>
                        </a:rPr>
                        <a:t>Effect</a:t>
                      </a:r>
                    </a:p>
                  </a:txBody>
                  <a:tcPr marL="73152" marR="73152" marT="27432" marB="27432" anchor="ctr">
                    <a:solidFill>
                      <a:srgbClr val="0B0B0B"/>
                    </a:solidFill>
                  </a:tcPr>
                </a:tc>
              </a:tr>
              <a:tr h="365760">
                <a:tc>
                  <a:txBody>
                    <a:bodyPr/>
                    <a:lstStyle/>
                    <a:p>
                      <a:pPr algn="l"/>
                      <a:r>
                        <a:rPr sz="1200" b="0">
                          <a:solidFill>
                            <a:srgbClr val="0B0B0B"/>
                          </a:solidFill>
                          <a:latin typeface="Helvetica Neue"/>
                        </a:rPr>
                        <a:t>MMLU</a:t>
                      </a:r>
                    </a:p>
                  </a:txBody>
                  <a:tcPr marL="73152" marR="73152" marT="27432" marB="27432" anchor="ctr">
                    <a:solidFill>
                      <a:srgbClr val="FCFCFB"/>
                    </a:solidFill>
                  </a:tcPr>
                </a:tc>
                <a:tc>
                  <a:txBody>
                    <a:bodyPr/>
                    <a:lstStyle/>
                    <a:p>
                      <a:pPr algn="ctr"/>
                      <a:r>
                        <a:rPr sz="1200" b="0">
                          <a:solidFill>
                            <a:srgbClr val="0B0B0B"/>
                          </a:solidFill>
                          <a:latin typeface="Helvetica Neue"/>
                        </a:rPr>
                        <a:t>subject category</a:t>
                      </a:r>
                    </a:p>
                  </a:txBody>
                  <a:tcPr marL="73152" marR="73152" marT="27432" marB="27432" anchor="ctr">
                    <a:solidFill>
                      <a:srgbClr val="FCFCFB"/>
                    </a:solidFill>
                  </a:tcPr>
                </a:tc>
                <a:tc>
                  <a:txBody>
                    <a:bodyPr/>
                    <a:lstStyle/>
                    <a:p>
                      <a:pPr algn="ctr"/>
                      <a:r>
                        <a:rPr sz="1200" b="0">
                          <a:solidFill>
                            <a:srgbClr val="0B0B0B"/>
                          </a:solidFill>
                          <a:latin typeface="Helvetica Neue"/>
                        </a:rPr>
                        <a:t>11.3 pp</a:t>
                      </a:r>
                    </a:p>
                  </a:txBody>
                  <a:tcPr marL="73152" marR="73152" marT="27432" marB="27432" anchor="ctr">
                    <a:solidFill>
                      <a:srgbClr val="FCFCFB"/>
                    </a:solidFill>
                  </a:tcPr>
                </a:tc>
                <a:tc>
                  <a:txBody>
                    <a:bodyPr/>
                    <a:lstStyle/>
                    <a:p>
                      <a:pPr algn="ctr"/>
                      <a:r>
                        <a:rPr sz="1200" b="0">
                          <a:solidFill>
                            <a:srgbClr val="0B0B0B"/>
                          </a:solidFill>
                          <a:latin typeface="Helvetica Neue"/>
                        </a:rPr>
                        <a:t>&lt; 0.0001</a:t>
                      </a:r>
                    </a:p>
                  </a:txBody>
                  <a:tcPr marL="73152" marR="73152" marT="27432" marB="27432" anchor="ctr">
                    <a:solidFill>
                      <a:srgbClr val="FCFCFB"/>
                    </a:solidFill>
                  </a:tcPr>
                </a:tc>
                <a:tc>
                  <a:txBody>
                    <a:bodyPr/>
                    <a:lstStyle/>
                    <a:p>
                      <a:pPr algn="ctr"/>
                      <a:r>
                        <a:rPr sz="1200" b="0">
                          <a:solidFill>
                            <a:srgbClr val="0B0B0B"/>
                          </a:solidFill>
                          <a:latin typeface="Helvetica Neue"/>
                        </a:rPr>
                        <a:t>0.093</a:t>
                      </a:r>
                    </a:p>
                  </a:txBody>
                  <a:tcPr marL="73152" marR="73152" marT="27432" marB="27432" anchor="ctr">
                    <a:solidFill>
                      <a:srgbClr val="FCFCFB"/>
                    </a:solidFill>
                  </a:tcPr>
                </a:tc>
                <a:tc>
                  <a:txBody>
                    <a:bodyPr/>
                    <a:lstStyle/>
                    <a:p>
                      <a:pPr algn="ctr"/>
                      <a:r>
                        <a:rPr sz="1200" b="0">
                          <a:solidFill>
                            <a:srgbClr val="0B0B0B"/>
                          </a:solidFill>
                          <a:latin typeface="Helvetica Neue"/>
                        </a:rPr>
                        <a:t>negligible</a:t>
                      </a:r>
                    </a:p>
                  </a:txBody>
                  <a:tcPr marL="73152" marR="73152" marT="27432" marB="27432" anchor="ctr">
                    <a:solidFill>
                      <a:srgbClr val="FCFCFB"/>
                    </a:solidFill>
                  </a:tcPr>
                </a:tc>
              </a:tr>
              <a:tr h="365760">
                <a:tc>
                  <a:txBody>
                    <a:bodyPr/>
                    <a:lstStyle/>
                    <a:p>
                      <a:pPr algn="l"/>
                      <a:r>
                        <a:rPr sz="1200" b="0">
                          <a:solidFill>
                            <a:srgbClr val="0B0B0B"/>
                          </a:solidFill>
                          <a:latin typeface="Helvetica Neue"/>
                        </a:rPr>
                        <a:t>MMLU</a:t>
                      </a:r>
                    </a:p>
                  </a:txBody>
                  <a:tcPr marL="73152" marR="73152" marT="27432" marB="27432" anchor="ctr">
                    <a:solidFill>
                      <a:srgbClr val="FCFCFB"/>
                    </a:solidFill>
                  </a:tcPr>
                </a:tc>
                <a:tc>
                  <a:txBody>
                    <a:bodyPr/>
                    <a:lstStyle/>
                    <a:p>
                      <a:pPr algn="ctr"/>
                      <a:r>
                        <a:rPr sz="1200" b="0">
                          <a:solidFill>
                            <a:srgbClr val="0B0B0B"/>
                          </a:solidFill>
                          <a:latin typeface="Helvetica Neue"/>
                        </a:rPr>
                        <a:t>correct-option position</a:t>
                      </a:r>
                    </a:p>
                  </a:txBody>
                  <a:tcPr marL="73152" marR="73152" marT="27432" marB="27432" anchor="ctr">
                    <a:solidFill>
                      <a:srgbClr val="FCFCFB"/>
                    </a:solidFill>
                  </a:tcPr>
                </a:tc>
                <a:tc>
                  <a:txBody>
                    <a:bodyPr/>
                    <a:lstStyle/>
                    <a:p>
                      <a:pPr algn="ctr"/>
                      <a:r>
                        <a:rPr sz="1200" b="0">
                          <a:solidFill>
                            <a:srgbClr val="0B0B0B"/>
                          </a:solidFill>
                          <a:latin typeface="Helvetica Neue"/>
                        </a:rPr>
                        <a:t>7.0 pp</a:t>
                      </a:r>
                    </a:p>
                  </a:txBody>
                  <a:tcPr marL="73152" marR="73152" marT="27432" marB="27432" anchor="ctr">
                    <a:solidFill>
                      <a:srgbClr val="FCFCFB"/>
                    </a:solidFill>
                  </a:tcPr>
                </a:tc>
                <a:tc>
                  <a:txBody>
                    <a:bodyPr/>
                    <a:lstStyle/>
                    <a:p>
                      <a:pPr algn="ctr"/>
                      <a:r>
                        <a:rPr sz="1200" b="0">
                          <a:solidFill>
                            <a:srgbClr val="0B0B0B"/>
                          </a:solidFill>
                          <a:latin typeface="Helvetica Neue"/>
                        </a:rPr>
                        <a:t>&lt; 0.0001</a:t>
                      </a:r>
                    </a:p>
                  </a:txBody>
                  <a:tcPr marL="73152" marR="73152" marT="27432" marB="27432" anchor="ctr">
                    <a:solidFill>
                      <a:srgbClr val="FCFCFB"/>
                    </a:solidFill>
                  </a:tcPr>
                </a:tc>
                <a:tc>
                  <a:txBody>
                    <a:bodyPr/>
                    <a:lstStyle/>
                    <a:p>
                      <a:pPr algn="ctr"/>
                      <a:r>
                        <a:rPr sz="1200" b="0">
                          <a:solidFill>
                            <a:srgbClr val="0B0B0B"/>
                          </a:solidFill>
                          <a:latin typeface="Helvetica Neue"/>
                        </a:rPr>
                        <a:t>0.056</a:t>
                      </a:r>
                    </a:p>
                  </a:txBody>
                  <a:tcPr marL="73152" marR="73152" marT="27432" marB="27432" anchor="ctr">
                    <a:solidFill>
                      <a:srgbClr val="FCFCFB"/>
                    </a:solidFill>
                  </a:tcPr>
                </a:tc>
                <a:tc>
                  <a:txBody>
                    <a:bodyPr/>
                    <a:lstStyle/>
                    <a:p>
                      <a:pPr algn="ctr"/>
                      <a:r>
                        <a:rPr sz="1200" b="0">
                          <a:solidFill>
                            <a:srgbClr val="0B0B0B"/>
                          </a:solidFill>
                          <a:latin typeface="Helvetica Neue"/>
                        </a:rPr>
                        <a:t>negligible</a:t>
                      </a:r>
                    </a:p>
                  </a:txBody>
                  <a:tcPr marL="73152" marR="73152" marT="27432" marB="27432" anchor="ctr">
                    <a:solidFill>
                      <a:srgbClr val="FCFCFB"/>
                    </a:solidFill>
                  </a:tcPr>
                </a:tc>
              </a:tr>
              <a:tr h="365760">
                <a:tc>
                  <a:txBody>
                    <a:bodyPr/>
                    <a:lstStyle/>
                    <a:p>
                      <a:pPr algn="l"/>
                      <a:r>
                        <a:rPr sz="1200" b="0">
                          <a:solidFill>
                            <a:srgbClr val="0B0B0B"/>
                          </a:solidFill>
                          <a:latin typeface="Helvetica Neue"/>
                        </a:rPr>
                        <a:t>LAMBADA</a:t>
                      </a:r>
                    </a:p>
                  </a:txBody>
                  <a:tcPr marL="73152" marR="73152" marT="27432" marB="27432" anchor="ctr">
                    <a:solidFill>
                      <a:srgbClr val="FCFCFB"/>
                    </a:solidFill>
                  </a:tcPr>
                </a:tc>
                <a:tc>
                  <a:txBody>
                    <a:bodyPr/>
                    <a:lstStyle/>
                    <a:p>
                      <a:pPr algn="ctr"/>
                      <a:r>
                        <a:rPr sz="1200" b="0">
                          <a:solidFill>
                            <a:srgbClr val="0B0B0B"/>
                          </a:solidFill>
                          <a:latin typeface="Helvetica Neue"/>
                        </a:rPr>
                        <a:t>passage length (true)</a:t>
                      </a:r>
                    </a:p>
                  </a:txBody>
                  <a:tcPr marL="73152" marR="73152" marT="27432" marB="27432" anchor="ctr">
                    <a:solidFill>
                      <a:srgbClr val="FCFCFB"/>
                    </a:solidFill>
                  </a:tcPr>
                </a:tc>
                <a:tc>
                  <a:txBody>
                    <a:bodyPr/>
                    <a:lstStyle/>
                    <a:p>
                      <a:pPr algn="ctr"/>
                      <a:r>
                        <a:rPr sz="1200" b="0">
                          <a:solidFill>
                            <a:srgbClr val="0B0B0B"/>
                          </a:solidFill>
                          <a:latin typeface="Helvetica Neue"/>
                        </a:rPr>
                        <a:t>14.9 pp</a:t>
                      </a:r>
                    </a:p>
                  </a:txBody>
                  <a:tcPr marL="73152" marR="73152" marT="27432" marB="27432" anchor="ctr">
                    <a:solidFill>
                      <a:srgbClr val="FCFCFB"/>
                    </a:solidFill>
                  </a:tcPr>
                </a:tc>
                <a:tc>
                  <a:txBody>
                    <a:bodyPr/>
                    <a:lstStyle/>
                    <a:p>
                      <a:pPr algn="ctr"/>
                      <a:r>
                        <a:rPr sz="1200" b="0">
                          <a:solidFill>
                            <a:srgbClr val="0B0B0B"/>
                          </a:solidFill>
                          <a:latin typeface="Helvetica Neue"/>
                        </a:rPr>
                        <a:t>0.0031</a:t>
                      </a:r>
                    </a:p>
                  </a:txBody>
                  <a:tcPr marL="73152" marR="73152" marT="27432" marB="27432" anchor="ctr">
                    <a:solidFill>
                      <a:srgbClr val="FCFCFB"/>
                    </a:solidFill>
                  </a:tcPr>
                </a:tc>
                <a:tc>
                  <a:txBody>
                    <a:bodyPr/>
                    <a:lstStyle/>
                    <a:p>
                      <a:pPr algn="ctr"/>
                      <a:r>
                        <a:rPr sz="1200" b="0">
                          <a:solidFill>
                            <a:srgbClr val="0B0B0B"/>
                          </a:solidFill>
                          <a:latin typeface="Helvetica Neue"/>
                        </a:rPr>
                        <a:t>0.068</a:t>
                      </a:r>
                    </a:p>
                  </a:txBody>
                  <a:tcPr marL="73152" marR="73152" marT="27432" marB="27432" anchor="ctr">
                    <a:solidFill>
                      <a:srgbClr val="FCFCFB"/>
                    </a:solidFill>
                  </a:tcPr>
                </a:tc>
                <a:tc>
                  <a:txBody>
                    <a:bodyPr/>
                    <a:lstStyle/>
                    <a:p>
                      <a:pPr algn="ctr"/>
                      <a:r>
                        <a:rPr sz="1200" b="0">
                          <a:solidFill>
                            <a:srgbClr val="0B0B0B"/>
                          </a:solidFill>
                          <a:latin typeface="Helvetica Neue"/>
                        </a:rPr>
                        <a:t>negligible</a:t>
                      </a:r>
                    </a:p>
                  </a:txBody>
                  <a:tcPr marL="73152" marR="73152" marT="27432" marB="27432" anchor="ctr">
                    <a:solidFill>
                      <a:srgbClr val="FCFCFB"/>
                    </a:solidFill>
                  </a:tcPr>
                </a:tc>
              </a:tr>
              <a:tr h="365760">
                <a:tc>
                  <a:txBody>
                    <a:bodyPr/>
                    <a:lstStyle/>
                    <a:p>
                      <a:pPr algn="l"/>
                      <a:r>
                        <a:rPr sz="1200" b="0">
                          <a:solidFill>
                            <a:srgbClr val="0B0B0B"/>
                          </a:solidFill>
                          <a:latin typeface="Helvetica Neue"/>
                        </a:rPr>
                        <a:t>LAMBADA</a:t>
                      </a:r>
                    </a:p>
                  </a:txBody>
                  <a:tcPr marL="73152" marR="73152" marT="27432" marB="27432" anchor="ctr">
                    <a:solidFill>
                      <a:srgbClr val="FCFCFB"/>
                    </a:solidFill>
                  </a:tcPr>
                </a:tc>
                <a:tc>
                  <a:txBody>
                    <a:bodyPr/>
                    <a:lstStyle/>
                    <a:p>
                      <a:pPr algn="ctr"/>
                      <a:r>
                        <a:rPr sz="1200" b="0">
                          <a:solidFill>
                            <a:srgbClr val="0B0B0B"/>
                          </a:solidFill>
                          <a:latin typeface="Helvetica Neue"/>
                        </a:rPr>
                        <a:t>target fragmentation - Gemma-3-4B</a:t>
                      </a:r>
                    </a:p>
                  </a:txBody>
                  <a:tcPr marL="73152" marR="73152" marT="27432" marB="27432" anchor="ctr">
                    <a:solidFill>
                      <a:srgbClr val="FCFCFB"/>
                    </a:solidFill>
                  </a:tcPr>
                </a:tc>
                <a:tc>
                  <a:txBody>
                    <a:bodyPr/>
                    <a:lstStyle/>
                    <a:p>
                      <a:pPr algn="ctr"/>
                      <a:r>
                        <a:rPr sz="1200" b="0">
                          <a:solidFill>
                            <a:srgbClr val="0B0B0B"/>
                          </a:solidFill>
                          <a:latin typeface="Helvetica Neue"/>
                        </a:rPr>
                        <a:t>21.0 pp</a:t>
                      </a:r>
                    </a:p>
                  </a:txBody>
                  <a:tcPr marL="73152" marR="73152" marT="27432" marB="27432" anchor="ctr">
                    <a:solidFill>
                      <a:srgbClr val="FCFCFB"/>
                    </a:solidFill>
                  </a:tcPr>
                </a:tc>
                <a:tc>
                  <a:txBody>
                    <a:bodyPr/>
                    <a:lstStyle/>
                    <a:p>
                      <a:pPr algn="ctr"/>
                      <a:r>
                        <a:rPr sz="1200" b="0">
                          <a:solidFill>
                            <a:srgbClr val="0B0B0B"/>
                          </a:solidFill>
                          <a:latin typeface="Helvetica Neue"/>
                        </a:rPr>
                        <a:t>&lt; 0.0001</a:t>
                      </a:r>
                    </a:p>
                  </a:txBody>
                  <a:tcPr marL="73152" marR="73152" marT="27432" marB="27432" anchor="ctr">
                    <a:solidFill>
                      <a:srgbClr val="FCFCFB"/>
                    </a:solidFill>
                  </a:tcPr>
                </a:tc>
                <a:tc>
                  <a:txBody>
                    <a:bodyPr/>
                    <a:lstStyle/>
                    <a:p>
                      <a:pPr algn="ctr"/>
                      <a:r>
                        <a:rPr sz="1200" b="0">
                          <a:solidFill>
                            <a:srgbClr val="0B0B0B"/>
                          </a:solidFill>
                          <a:latin typeface="Helvetica Neue"/>
                        </a:rPr>
                        <a:t>0.180</a:t>
                      </a:r>
                    </a:p>
                  </a:txBody>
                  <a:tcPr marL="73152" marR="73152" marT="27432" marB="27432" anchor="ctr">
                    <a:solidFill>
                      <a:srgbClr val="FCFCFB"/>
                    </a:solidFill>
                  </a:tcPr>
                </a:tc>
                <a:tc>
                  <a:txBody>
                    <a:bodyPr/>
                    <a:lstStyle/>
                    <a:p>
                      <a:pPr algn="ctr"/>
                      <a:r>
                        <a:rPr sz="1200" b="0">
                          <a:solidFill>
                            <a:srgbClr val="0B0B0B"/>
                          </a:solidFill>
                          <a:latin typeface="Helvetica Neue"/>
                        </a:rPr>
                        <a:t>small</a:t>
                      </a:r>
                    </a:p>
                  </a:txBody>
                  <a:tcPr marL="73152" marR="73152" marT="27432" marB="27432" anchor="ctr">
                    <a:solidFill>
                      <a:srgbClr val="FCFCFB"/>
                    </a:solidFill>
                  </a:tcPr>
                </a:tc>
              </a:tr>
              <a:tr h="365760">
                <a:tc>
                  <a:txBody>
                    <a:bodyPr/>
                    <a:lstStyle/>
                    <a:p>
                      <a:pPr algn="l"/>
                      <a:r>
                        <a:rPr sz="1200" b="0">
                          <a:solidFill>
                            <a:srgbClr val="0B0B0B"/>
                          </a:solidFill>
                          <a:latin typeface="Helvetica Neue"/>
                        </a:rPr>
                        <a:t>LAMBADA</a:t>
                      </a:r>
                    </a:p>
                  </a:txBody>
                  <a:tcPr marL="73152" marR="73152" marT="27432" marB="27432" anchor="ctr">
                    <a:solidFill>
                      <a:srgbClr val="FCFCFB"/>
                    </a:solidFill>
                  </a:tcPr>
                </a:tc>
                <a:tc>
                  <a:txBody>
                    <a:bodyPr/>
                    <a:lstStyle/>
                    <a:p>
                      <a:pPr algn="ctr"/>
                      <a:r>
                        <a:rPr sz="1200" b="0">
                          <a:solidFill>
                            <a:srgbClr val="0B0B0B"/>
                          </a:solidFill>
                          <a:latin typeface="Helvetica Neue"/>
                        </a:rPr>
                        <a:t>target fragmentation - Llama-3.2-3B</a:t>
                      </a:r>
                    </a:p>
                  </a:txBody>
                  <a:tcPr marL="73152" marR="73152" marT="27432" marB="27432" anchor="ctr">
                    <a:solidFill>
                      <a:srgbClr val="FCFCFB"/>
                    </a:solidFill>
                  </a:tcPr>
                </a:tc>
                <a:tc>
                  <a:txBody>
                    <a:bodyPr/>
                    <a:lstStyle/>
                    <a:p>
                      <a:pPr algn="ctr"/>
                      <a:r>
                        <a:rPr sz="1200" b="0">
                          <a:solidFill>
                            <a:srgbClr val="0B0B0B"/>
                          </a:solidFill>
                          <a:latin typeface="Helvetica Neue"/>
                        </a:rPr>
                        <a:t>26.7 pp</a:t>
                      </a:r>
                    </a:p>
                  </a:txBody>
                  <a:tcPr marL="73152" marR="73152" marT="27432" marB="27432" anchor="ctr">
                    <a:solidFill>
                      <a:srgbClr val="FCFCFB"/>
                    </a:solidFill>
                  </a:tcPr>
                </a:tc>
                <a:tc>
                  <a:txBody>
                    <a:bodyPr/>
                    <a:lstStyle/>
                    <a:p>
                      <a:pPr algn="ctr"/>
                      <a:r>
                        <a:rPr sz="1200" b="0">
                          <a:solidFill>
                            <a:srgbClr val="0B0B0B"/>
                          </a:solidFill>
                          <a:latin typeface="Helvetica Neue"/>
                        </a:rPr>
                        <a:t>&lt; 0.0001</a:t>
                      </a:r>
                    </a:p>
                  </a:txBody>
                  <a:tcPr marL="73152" marR="73152" marT="27432" marB="27432" anchor="ctr">
                    <a:solidFill>
                      <a:srgbClr val="FCFCFB"/>
                    </a:solidFill>
                  </a:tcPr>
                </a:tc>
                <a:tc>
                  <a:txBody>
                    <a:bodyPr/>
                    <a:lstStyle/>
                    <a:p>
                      <a:pPr algn="ctr"/>
                      <a:r>
                        <a:rPr sz="1200" b="0">
                          <a:solidFill>
                            <a:srgbClr val="0B0B0B"/>
                          </a:solidFill>
                          <a:latin typeface="Helvetica Neue"/>
                        </a:rPr>
                        <a:t>0.206</a:t>
                      </a:r>
                    </a:p>
                  </a:txBody>
                  <a:tcPr marL="73152" marR="73152" marT="27432" marB="27432" anchor="ctr">
                    <a:solidFill>
                      <a:srgbClr val="FCFCFB"/>
                    </a:solidFill>
                  </a:tcPr>
                </a:tc>
                <a:tc>
                  <a:txBody>
                    <a:bodyPr/>
                    <a:lstStyle/>
                    <a:p>
                      <a:pPr algn="ctr"/>
                      <a:r>
                        <a:rPr sz="1200" b="0">
                          <a:solidFill>
                            <a:srgbClr val="0B0B0B"/>
                          </a:solidFill>
                          <a:latin typeface="Helvetica Neue"/>
                        </a:rPr>
                        <a:t>small</a:t>
                      </a:r>
                    </a:p>
                  </a:txBody>
                  <a:tcPr marL="73152" marR="73152" marT="27432" marB="27432" anchor="ctr">
                    <a:solidFill>
                      <a:srgbClr val="FCFCFB"/>
                    </a:solidFill>
                  </a:tcPr>
                </a:tc>
              </a:tr>
              <a:tr h="365760">
                <a:tc>
                  <a:txBody>
                    <a:bodyPr/>
                    <a:lstStyle/>
                    <a:p>
                      <a:pPr algn="l"/>
                      <a:r>
                        <a:rPr sz="1200" b="0">
                          <a:solidFill>
                            <a:srgbClr val="0B0B0B"/>
                          </a:solidFill>
                          <a:latin typeface="Helvetica Neue"/>
                        </a:rPr>
                        <a:t>LAMBADA</a:t>
                      </a:r>
                    </a:p>
                  </a:txBody>
                  <a:tcPr marL="73152" marR="73152" marT="27432" marB="27432" anchor="ctr">
                    <a:solidFill>
                      <a:srgbClr val="FCFCFB"/>
                    </a:solidFill>
                  </a:tcPr>
                </a:tc>
                <a:tc>
                  <a:txBody>
                    <a:bodyPr/>
                    <a:lstStyle/>
                    <a:p>
                      <a:pPr algn="ctr"/>
                      <a:r>
                        <a:rPr sz="1200" b="0">
                          <a:solidFill>
                            <a:srgbClr val="0B0B0B"/>
                          </a:solidFill>
                          <a:latin typeface="Helvetica Neue"/>
                        </a:rPr>
                        <a:t>target fragmentation - Ministral-8B</a:t>
                      </a:r>
                    </a:p>
                  </a:txBody>
                  <a:tcPr marL="73152" marR="73152" marT="27432" marB="27432" anchor="ctr">
                    <a:solidFill>
                      <a:srgbClr val="FCFCFB"/>
                    </a:solidFill>
                  </a:tcPr>
                </a:tc>
                <a:tc>
                  <a:txBody>
                    <a:bodyPr/>
                    <a:lstStyle/>
                    <a:p>
                      <a:pPr algn="ctr"/>
                      <a:r>
                        <a:rPr sz="1200" b="0">
                          <a:solidFill>
                            <a:srgbClr val="0B0B0B"/>
                          </a:solidFill>
                          <a:latin typeface="Helvetica Neue"/>
                        </a:rPr>
                        <a:t>13.1 pp</a:t>
                      </a:r>
                    </a:p>
                  </a:txBody>
                  <a:tcPr marL="73152" marR="73152" marT="27432" marB="27432" anchor="ctr">
                    <a:solidFill>
                      <a:srgbClr val="FCFCFB"/>
                    </a:solidFill>
                  </a:tcPr>
                </a:tc>
                <a:tc>
                  <a:txBody>
                    <a:bodyPr/>
                    <a:lstStyle/>
                    <a:p>
                      <a:pPr algn="ctr"/>
                      <a:r>
                        <a:rPr sz="1200" b="0">
                          <a:solidFill>
                            <a:srgbClr val="0B0B0B"/>
                          </a:solidFill>
                          <a:latin typeface="Helvetica Neue"/>
                        </a:rPr>
                        <a:t>0.0047</a:t>
                      </a:r>
                    </a:p>
                  </a:txBody>
                  <a:tcPr marL="73152" marR="73152" marT="27432" marB="27432" anchor="ctr">
                    <a:solidFill>
                      <a:srgbClr val="FCFCFB"/>
                    </a:solidFill>
                  </a:tcPr>
                </a:tc>
                <a:tc>
                  <a:txBody>
                    <a:bodyPr/>
                    <a:lstStyle/>
                    <a:p>
                      <a:pPr algn="ctr"/>
                      <a:r>
                        <a:rPr sz="1200" b="0">
                          <a:solidFill>
                            <a:srgbClr val="0B0B0B"/>
                          </a:solidFill>
                          <a:latin typeface="Helvetica Neue"/>
                        </a:rPr>
                        <a:t>0.103</a:t>
                      </a:r>
                    </a:p>
                  </a:txBody>
                  <a:tcPr marL="73152" marR="73152" marT="27432" marB="27432" anchor="ctr">
                    <a:solidFill>
                      <a:srgbClr val="FCFCFB"/>
                    </a:solidFill>
                  </a:tcPr>
                </a:tc>
                <a:tc>
                  <a:txBody>
                    <a:bodyPr/>
                    <a:lstStyle/>
                    <a:p>
                      <a:pPr algn="ctr"/>
                      <a:r>
                        <a:rPr sz="1200" b="0">
                          <a:solidFill>
                            <a:srgbClr val="0B0B0B"/>
                          </a:solidFill>
                          <a:latin typeface="Helvetica Neue"/>
                        </a:rPr>
                        <a:t>small</a:t>
                      </a:r>
                    </a:p>
                  </a:txBody>
                  <a:tcPr marL="73152" marR="73152" marT="27432" marB="27432" anchor="ctr">
                    <a:solidFill>
                      <a:srgbClr val="FCFCFB"/>
                    </a:solidFill>
                  </a:tcPr>
                </a:tc>
              </a:tr>
            </a:tbl>
          </a:graphicData>
        </a:graphic>
      </p:graphicFrame>
      <p:sp>
        <p:nvSpPr>
          <p:cNvPr id="10" name="TextBox 9"/>
          <p:cNvSpPr txBox="1"/>
          <p:nvPr/>
        </p:nvSpPr>
        <p:spPr>
          <a:xfrm>
            <a:off x="548640" y="4617720"/>
            <a:ext cx="2743200" cy="274320"/>
          </a:xfrm>
          <a:prstGeom prst="rect">
            <a:avLst/>
          </a:prstGeom>
          <a:noFill/>
        </p:spPr>
        <p:txBody>
          <a:bodyPr wrap="square">
            <a:spAutoFit/>
          </a:bodyPr>
          <a:lstStyle/>
          <a:p>
            <a:pPr algn="l">
              <a:lnSpc>
                <a:spcPct val="115000"/>
              </a:lnSpc>
            </a:pPr>
            <a:r>
              <a:rPr sz="1100" b="1" i="0">
                <a:solidFill>
                  <a:srgbClr val="898781"/>
                </a:solidFill>
                <a:latin typeface="Helvetica Neue"/>
              </a:rPr>
              <a:t>READING IT</a:t>
            </a:r>
          </a:p>
        </p:txBody>
      </p:sp>
      <p:sp>
        <p:nvSpPr>
          <p:cNvPr id="11" name="TextBox 10"/>
          <p:cNvSpPr txBox="1"/>
          <p:nvPr/>
        </p:nvSpPr>
        <p:spPr>
          <a:xfrm>
            <a:off x="548640" y="4910328"/>
            <a:ext cx="11064240" cy="1371600"/>
          </a:xfrm>
          <a:prstGeom prst="rect">
            <a:avLst/>
          </a:prstGeom>
          <a:noFill/>
        </p:spPr>
        <p:txBody>
          <a:bodyPr wrap="square">
            <a:spAutoFit/>
          </a:bodyPr>
          <a:lstStyle/>
          <a:p>
            <a:pPr algn="l">
              <a:lnSpc>
                <a:spcPct val="135000"/>
              </a:lnSpc>
              <a:spcAft>
                <a:spcPts val="700"/>
              </a:spcAft>
            </a:pPr>
            <a:r>
              <a:rPr sz="1300" b="0" i="0">
                <a:solidFill>
                  <a:srgbClr val="52514E"/>
                </a:solidFill>
                <a:latin typeface="Helvetica Neue"/>
              </a:rPr>
              <a:t>—  MMLU subject spread is real, not noise: observed SD 13.3 pp, and after removing the binomial variance of ~50 questions per subject, 92% of it survives (a null of identical subjects averages ~8%).</a:t>
            </a:r>
          </a:p>
          <a:p>
            <a:pPr algn="l">
              <a:lnSpc>
                <a:spcPct val="135000"/>
              </a:lnSpc>
              <a:spcAft>
                <a:spcPts val="700"/>
              </a:spcAft>
            </a:pPr>
            <a:r>
              <a:rPr sz="1300" b="0" i="0">
                <a:solidFill>
                  <a:srgbClr val="52514E"/>
                </a:solidFill>
                <a:latin typeface="Helvetica Neue"/>
              </a:rPr>
              <a:t>—  LAMBADA: target fragmentation outweighs passage length two to three times over. The gap is a vocabulary handicap, not a context-window one.</a:t>
            </a:r>
          </a:p>
          <a:p>
            <a:pPr algn="l">
              <a:lnSpc>
                <a:spcPct val="135000"/>
              </a:lnSpc>
              <a:spcAft>
                <a:spcPts val="700"/>
              </a:spcAft>
            </a:pPr>
            <a:r>
              <a:rPr sz="1300" b="0" i="0">
                <a:solidFill>
                  <a:srgbClr val="52514E"/>
                </a:solidFill>
                <a:latin typeface="Helvetica Neue"/>
              </a:rPr>
              <a:t>—  MMLU: the correct option's position shifts accuracy by 7 points - a property of the harness, not of the knowledge tested, which is why the robustness stage permutes options.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510528"/>
            <a:ext cx="5486400" cy="274320"/>
          </a:xfrm>
          <a:prstGeom prst="rect">
            <a:avLst/>
          </a:prstGeom>
          <a:noFill/>
        </p:spPr>
        <p:txBody>
          <a:bodyPr wrap="square">
            <a:spAutoFit/>
          </a:bodyPr>
          <a:lstStyle/>
          <a:p>
            <a:pPr algn="l">
              <a:lnSpc>
                <a:spcPct val="115000"/>
              </a:lnSpc>
            </a:pPr>
            <a:r>
              <a:rPr sz="900" b="0" i="0">
                <a:solidFill>
                  <a:srgbClr val="898781"/>
                </a:solidFill>
                <a:latin typeface="Helvetica Neue"/>
              </a:rPr>
              <a:t>LAMBADA &amp; MMLU Benchmark Evaluation — Extended</a:t>
            </a:r>
          </a:p>
        </p:txBody>
      </p:sp>
      <p:sp>
        <p:nvSpPr>
          <p:cNvPr id="4" name="TextBox 3"/>
          <p:cNvSpPr txBox="1"/>
          <p:nvPr/>
        </p:nvSpPr>
        <p:spPr>
          <a:xfrm>
            <a:off x="11338560" y="6510528"/>
            <a:ext cx="457200" cy="274320"/>
          </a:xfrm>
          <a:prstGeom prst="rect">
            <a:avLst/>
          </a:prstGeom>
          <a:noFill/>
        </p:spPr>
        <p:txBody>
          <a:bodyPr wrap="square">
            <a:spAutoFit/>
          </a:bodyPr>
          <a:lstStyle/>
          <a:p>
            <a:pPr algn="r">
              <a:lnSpc>
                <a:spcPct val="115000"/>
              </a:lnSpc>
            </a:pPr>
            <a:r>
              <a:rPr sz="900" b="0" i="0">
                <a:solidFill>
                  <a:srgbClr val="898781"/>
                </a:solidFill>
                <a:latin typeface="Helvetica Neue"/>
              </a:rPr>
              <a:t>30</a:t>
            </a:r>
          </a:p>
        </p:txBody>
      </p:sp>
      <p:sp>
        <p:nvSpPr>
          <p:cNvPr id="5" name="TextBox 4"/>
          <p:cNvSpPr txBox="1"/>
          <p:nvPr/>
        </p:nvSpPr>
        <p:spPr>
          <a:xfrm>
            <a:off x="548640" y="320040"/>
            <a:ext cx="10058400" cy="320040"/>
          </a:xfrm>
          <a:prstGeom prst="rect">
            <a:avLst/>
          </a:prstGeom>
          <a:noFill/>
        </p:spPr>
        <p:txBody>
          <a:bodyPr wrap="square">
            <a:spAutoFit/>
          </a:bodyPr>
          <a:lstStyle/>
          <a:p>
            <a:pPr algn="l">
              <a:lnSpc>
                <a:spcPct val="115000"/>
              </a:lnSpc>
            </a:pPr>
            <a:r>
              <a:rPr sz="1250" b="1" i="0">
                <a:solidFill>
                  <a:srgbClr val="2A78D6"/>
                </a:solidFill>
                <a:latin typeface="Helvetica Neue"/>
              </a:rPr>
              <a:t>DISCUSSION OF THE RESULTS</a:t>
            </a:r>
          </a:p>
        </p:txBody>
      </p:sp>
      <p:sp>
        <p:nvSpPr>
          <p:cNvPr id="6" name="TextBox 5"/>
          <p:cNvSpPr txBox="1"/>
          <p:nvPr/>
        </p:nvSpPr>
        <p:spPr>
          <a:xfrm>
            <a:off x="548640" y="914400"/>
            <a:ext cx="11064240" cy="640080"/>
          </a:xfrm>
          <a:prstGeom prst="rect">
            <a:avLst/>
          </a:prstGeom>
          <a:noFill/>
        </p:spPr>
        <p:txBody>
          <a:bodyPr wrap="square">
            <a:spAutoFit/>
          </a:bodyPr>
          <a:lstStyle/>
          <a:p>
            <a:pPr algn="l">
              <a:lnSpc>
                <a:spcPct val="115000"/>
              </a:lnSpc>
            </a:pPr>
            <a:r>
              <a:rPr sz="2600" b="1" i="0">
                <a:solidFill>
                  <a:srgbClr val="0B0B0B"/>
                </a:solidFill>
                <a:latin typeface="Helvetica Neue"/>
              </a:rPr>
              <a:t>Findings accuracy alone would have missed</a:t>
            </a:r>
          </a:p>
        </p:txBody>
      </p:sp>
      <p:cxnSp>
        <p:nvCxnSpPr>
          <p:cNvPr id="7" name="Connector 6"/>
          <p:cNvCxnSpPr/>
          <p:nvPr/>
        </p:nvCxnSpPr>
        <p:spPr>
          <a:xfrm>
            <a:off x="548640" y="1508760"/>
            <a:ext cx="11091672"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548640" y="1737360"/>
          <a:ext cx="11064239" cy="3401568"/>
        </p:xfrm>
        <a:graphic>
          <a:graphicData uri="http://schemas.openxmlformats.org/drawingml/2006/table">
            <a:tbl>
              <a:tblPr firstRow="1" bandRow="1">
                <a:tableStyleId>{5C22544A-7EE6-4342-B048-85BDC9FD1C3A}</a:tableStyleId>
              </a:tblPr>
              <a:tblGrid>
                <a:gridCol w="1991563"/>
                <a:gridCol w="9072676"/>
              </a:tblGrid>
              <a:tr h="566928">
                <a:tc>
                  <a:txBody>
                    <a:bodyPr/>
                    <a:lstStyle/>
                    <a:p>
                      <a:pPr algn="l"/>
                      <a:r>
                        <a:rPr sz="1200" b="1">
                          <a:solidFill>
                            <a:srgbClr val="FFFFFF"/>
                          </a:solidFill>
                          <a:latin typeface="Helvetica Neue"/>
                        </a:rPr>
                        <a:t>Stage</a:t>
                      </a:r>
                    </a:p>
                  </a:txBody>
                  <a:tcPr marL="73152" marR="73152" marT="27432" marB="27432" anchor="ctr">
                    <a:solidFill>
                      <a:srgbClr val="0B0B0B"/>
                    </a:solidFill>
                  </a:tcPr>
                </a:tc>
                <a:tc>
                  <a:txBody>
                    <a:bodyPr/>
                    <a:lstStyle/>
                    <a:p>
                      <a:pPr algn="ctr"/>
                      <a:r>
                        <a:rPr sz="1200" b="1">
                          <a:solidFill>
                            <a:srgbClr val="FFFFFF"/>
                          </a:solidFill>
                          <a:latin typeface="Helvetica Neue"/>
                        </a:rPr>
                        <a:t>Finding</a:t>
                      </a:r>
                    </a:p>
                  </a:txBody>
                  <a:tcPr marL="73152" marR="73152" marT="27432" marB="27432" anchor="ctr">
                    <a:solidFill>
                      <a:srgbClr val="0B0B0B"/>
                    </a:solidFill>
                  </a:tcPr>
                </a:tc>
              </a:tr>
              <a:tr h="566928">
                <a:tc>
                  <a:txBody>
                    <a:bodyPr/>
                    <a:lstStyle/>
                    <a:p>
                      <a:pPr algn="l"/>
                      <a:r>
                        <a:rPr sz="1200" b="0">
                          <a:solidFill>
                            <a:srgbClr val="0B0B0B"/>
                          </a:solidFill>
                          <a:latin typeface="Helvetica Neue"/>
                        </a:rPr>
                        <a:t>1 · Task Quality</a:t>
                      </a:r>
                    </a:p>
                  </a:txBody>
                  <a:tcPr marL="73152" marR="73152" marT="27432" marB="27432" anchor="ctr">
                    <a:solidFill>
                      <a:srgbClr val="FCFCFB"/>
                    </a:solidFill>
                  </a:tcPr>
                </a:tc>
                <a:tc>
                  <a:txBody>
                    <a:bodyPr/>
                    <a:lstStyle/>
                    <a:p>
                      <a:pPr algn="ctr"/>
                      <a:r>
                        <a:rPr sz="1200" b="0">
                          <a:solidFill>
                            <a:srgbClr val="0B0B0B"/>
                          </a:solidFill>
                          <a:latin typeface="Helvetica Neue"/>
                        </a:rPr>
                        <a:t>Llama-3.2-3B returns no parseable answer on 11.7% of questions — disobedience scored as ignorance.</a:t>
                      </a:r>
                    </a:p>
                  </a:txBody>
                  <a:tcPr marL="73152" marR="73152" marT="27432" marB="27432" anchor="ctr">
                    <a:solidFill>
                      <a:srgbClr val="FCFCFB"/>
                    </a:solidFill>
                  </a:tcPr>
                </a:tc>
              </a:tr>
              <a:tr h="566928">
                <a:tc>
                  <a:txBody>
                    <a:bodyPr/>
                    <a:lstStyle/>
                    <a:p>
                      <a:pPr algn="l"/>
                      <a:r>
                        <a:rPr sz="1200" b="0">
                          <a:solidFill>
                            <a:srgbClr val="0B0B0B"/>
                          </a:solidFill>
                          <a:latin typeface="Helvetica Neue"/>
                        </a:rPr>
                        <a:t>Tokenization</a:t>
                      </a:r>
                    </a:p>
                  </a:txBody>
                  <a:tcPr marL="73152" marR="73152" marT="27432" marB="27432" anchor="ctr">
                    <a:solidFill>
                      <a:srgbClr val="FCFCFB"/>
                    </a:solidFill>
                  </a:tcPr>
                </a:tc>
                <a:tc>
                  <a:txBody>
                    <a:bodyPr/>
                    <a:lstStyle/>
                    <a:p>
                      <a:pPr algn="ctr"/>
                      <a:r>
                        <a:rPr sz="1200" b="0">
                          <a:solidFill>
                            <a:srgbClr val="0B0B0B"/>
                          </a:solidFill>
                          <a:latin typeface="Helvetica Neue"/>
                        </a:rPr>
                        <a:t>On 3+-token targets Ministral-8B holds 34% while Gemma-3-4B collapses to 3% — a vocabulary handicap, not a comprehension gap.</a:t>
                      </a:r>
                    </a:p>
                  </a:txBody>
                  <a:tcPr marL="73152" marR="73152" marT="27432" marB="27432" anchor="ctr">
                    <a:solidFill>
                      <a:srgbClr val="FCFCFB"/>
                    </a:solidFill>
                  </a:tcPr>
                </a:tc>
              </a:tr>
              <a:tr h="566928">
                <a:tc>
                  <a:txBody>
                    <a:bodyPr/>
                    <a:lstStyle/>
                    <a:p>
                      <a:pPr algn="l"/>
                      <a:r>
                        <a:rPr sz="1200" b="0">
                          <a:solidFill>
                            <a:srgbClr val="0B0B0B"/>
                          </a:solidFill>
                          <a:latin typeface="Helvetica Neue"/>
                        </a:rPr>
                        <a:t>9 · Reliability</a:t>
                      </a:r>
                    </a:p>
                  </a:txBody>
                  <a:tcPr marL="73152" marR="73152" marT="27432" marB="27432" anchor="ctr">
                    <a:solidFill>
                      <a:srgbClr val="FCFCFB"/>
                    </a:solidFill>
                  </a:tcPr>
                </a:tc>
                <a:tc>
                  <a:txBody>
                    <a:bodyPr/>
                    <a:lstStyle/>
                    <a:p>
                      <a:pPr algn="ctr"/>
                      <a:r>
                        <a:rPr sz="1200" b="0">
                          <a:solidFill>
                            <a:srgbClr val="0B0B0B"/>
                          </a:solidFill>
                          <a:latin typeface="Helvetica Neue"/>
                        </a:rPr>
                        <a:t>Gemma-3-4B: 40 retries, 0.1% transport failures — invisible in an accuracy table and unrecoverable after the fact without this stage.</a:t>
                      </a:r>
                    </a:p>
                  </a:txBody>
                  <a:tcPr marL="73152" marR="73152" marT="27432" marB="27432" anchor="ctr">
                    <a:solidFill>
                      <a:srgbClr val="FCFCFB"/>
                    </a:solidFill>
                  </a:tcPr>
                </a:tc>
              </a:tr>
              <a:tr h="566928">
                <a:tc>
                  <a:txBody>
                    <a:bodyPr/>
                    <a:lstStyle/>
                    <a:p>
                      <a:pPr algn="l"/>
                      <a:r>
                        <a:rPr sz="1200" b="0">
                          <a:solidFill>
                            <a:srgbClr val="0B0B0B"/>
                          </a:solidFill>
                          <a:latin typeface="Helvetica Neue"/>
                        </a:rPr>
                        <a:t>8 · Economics</a:t>
                      </a:r>
                    </a:p>
                  </a:txBody>
                  <a:tcPr marL="73152" marR="73152" marT="27432" marB="27432" anchor="ctr">
                    <a:solidFill>
                      <a:srgbClr val="FCFCFB"/>
                    </a:solidFill>
                  </a:tcPr>
                </a:tc>
                <a:tc>
                  <a:txBody>
                    <a:bodyPr/>
                    <a:lstStyle/>
                    <a:p>
                      <a:pPr algn="ctr"/>
                      <a:r>
                        <a:rPr sz="1200" b="0">
                          <a:solidFill>
                            <a:srgbClr val="0B0B0B"/>
                          </a:solidFill>
                          <a:latin typeface="Helvetica Neue"/>
                        </a:rPr>
                        <a:t>Llama-3.2-3B costs 1.8× more per correct answer than Gemma-3-4B — token price inverts once accuracy is applied.</a:t>
                      </a:r>
                    </a:p>
                  </a:txBody>
                  <a:tcPr marL="73152" marR="73152" marT="27432" marB="27432" anchor="ctr">
                    <a:solidFill>
                      <a:srgbClr val="FCFCFB"/>
                    </a:solidFill>
                  </a:tcPr>
                </a:tc>
              </a:tr>
              <a:tr h="566928">
                <a:tc>
                  <a:txBody>
                    <a:bodyPr/>
                    <a:lstStyle/>
                    <a:p>
                      <a:pPr algn="l"/>
                      <a:r>
                        <a:rPr sz="1200" b="0">
                          <a:solidFill>
                            <a:srgbClr val="0B0B0B"/>
                          </a:solidFill>
                          <a:latin typeface="Helvetica Neue"/>
                        </a:rPr>
                        <a:t>2 · Probabilistic</a:t>
                      </a:r>
                    </a:p>
                  </a:txBody>
                  <a:tcPr marL="73152" marR="73152" marT="27432" marB="27432" anchor="ctr">
                    <a:solidFill>
                      <a:srgbClr val="FCFCFB"/>
                    </a:solidFill>
                  </a:tcPr>
                </a:tc>
                <a:tc>
                  <a:txBody>
                    <a:bodyPr/>
                    <a:lstStyle/>
                    <a:p>
                      <a:pPr algn="ctr"/>
                      <a:r>
                        <a:rPr sz="1200" b="0">
                          <a:solidFill>
                            <a:srgbClr val="0B0B0B"/>
                          </a:solidFill>
                          <a:latin typeface="Helvetica Neue"/>
                        </a:rPr>
                        <a:t>Whether calibration is obtainable at all depends on which provider OpenRouter routes to — a property of the serving path, not the model.</a:t>
                      </a:r>
                    </a:p>
                  </a:txBody>
                  <a:tcPr marL="73152" marR="73152" marT="27432" marB="27432" anchor="ctr">
                    <a:solidFill>
                      <a:srgbClr val="FCFCFB"/>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510528"/>
            <a:ext cx="5486400" cy="274320"/>
          </a:xfrm>
          <a:prstGeom prst="rect">
            <a:avLst/>
          </a:prstGeom>
          <a:noFill/>
        </p:spPr>
        <p:txBody>
          <a:bodyPr wrap="square">
            <a:spAutoFit/>
          </a:bodyPr>
          <a:lstStyle/>
          <a:p>
            <a:pPr algn="l">
              <a:lnSpc>
                <a:spcPct val="115000"/>
              </a:lnSpc>
            </a:pPr>
            <a:r>
              <a:rPr sz="900" b="0" i="0">
                <a:solidFill>
                  <a:srgbClr val="898781"/>
                </a:solidFill>
                <a:latin typeface="Helvetica Neue"/>
              </a:rPr>
              <a:t>LAMBADA &amp; MMLU Benchmark Evaluation — Extended</a:t>
            </a:r>
          </a:p>
        </p:txBody>
      </p:sp>
      <p:sp>
        <p:nvSpPr>
          <p:cNvPr id="4" name="TextBox 3"/>
          <p:cNvSpPr txBox="1"/>
          <p:nvPr/>
        </p:nvSpPr>
        <p:spPr>
          <a:xfrm>
            <a:off x="11338560" y="6510528"/>
            <a:ext cx="457200" cy="274320"/>
          </a:xfrm>
          <a:prstGeom prst="rect">
            <a:avLst/>
          </a:prstGeom>
          <a:noFill/>
        </p:spPr>
        <p:txBody>
          <a:bodyPr wrap="square">
            <a:spAutoFit/>
          </a:bodyPr>
          <a:lstStyle/>
          <a:p>
            <a:pPr algn="r">
              <a:lnSpc>
                <a:spcPct val="115000"/>
              </a:lnSpc>
            </a:pPr>
            <a:r>
              <a:rPr sz="900" b="0" i="0">
                <a:solidFill>
                  <a:srgbClr val="898781"/>
                </a:solidFill>
                <a:latin typeface="Helvetica Neue"/>
              </a:rPr>
              <a:t>31</a:t>
            </a:r>
          </a:p>
        </p:txBody>
      </p:sp>
      <p:sp>
        <p:nvSpPr>
          <p:cNvPr id="5" name="TextBox 4"/>
          <p:cNvSpPr txBox="1"/>
          <p:nvPr/>
        </p:nvSpPr>
        <p:spPr>
          <a:xfrm>
            <a:off x="548640" y="320040"/>
            <a:ext cx="10058400" cy="320040"/>
          </a:xfrm>
          <a:prstGeom prst="rect">
            <a:avLst/>
          </a:prstGeom>
          <a:noFill/>
        </p:spPr>
        <p:txBody>
          <a:bodyPr wrap="square">
            <a:spAutoFit/>
          </a:bodyPr>
          <a:lstStyle/>
          <a:p>
            <a:pPr algn="l">
              <a:lnSpc>
                <a:spcPct val="115000"/>
              </a:lnSpc>
            </a:pPr>
            <a:r>
              <a:rPr sz="1250" b="1" i="0">
                <a:solidFill>
                  <a:srgbClr val="2A78D6"/>
                </a:solidFill>
                <a:latin typeface="Helvetica Neue"/>
              </a:rPr>
              <a:t>DISCUSSION OF THE RESULTS</a:t>
            </a:r>
          </a:p>
        </p:txBody>
      </p:sp>
      <p:sp>
        <p:nvSpPr>
          <p:cNvPr id="6" name="TextBox 5"/>
          <p:cNvSpPr txBox="1"/>
          <p:nvPr/>
        </p:nvSpPr>
        <p:spPr>
          <a:xfrm>
            <a:off x="548640" y="914400"/>
            <a:ext cx="11064240" cy="640080"/>
          </a:xfrm>
          <a:prstGeom prst="rect">
            <a:avLst/>
          </a:prstGeom>
          <a:noFill/>
        </p:spPr>
        <p:txBody>
          <a:bodyPr wrap="square">
            <a:spAutoFit/>
          </a:bodyPr>
          <a:lstStyle/>
          <a:p>
            <a:pPr algn="l">
              <a:lnSpc>
                <a:spcPct val="115000"/>
              </a:lnSpc>
            </a:pPr>
            <a:r>
              <a:rPr sz="2600" b="1" i="0">
                <a:solidFill>
                  <a:srgbClr val="0B0B0B"/>
                </a:solidFill>
                <a:latin typeface="Helvetica Neue"/>
              </a:rPr>
              <a:t>Part of the LAMBADA gap is the tokenizer</a:t>
            </a:r>
          </a:p>
        </p:txBody>
      </p:sp>
      <p:cxnSp>
        <p:nvCxnSpPr>
          <p:cNvPr id="7" name="Connector 6"/>
          <p:cNvCxnSpPr/>
          <p:nvPr/>
        </p:nvCxnSpPr>
        <p:spPr>
          <a:xfrm>
            <a:off x="548640" y="1508760"/>
            <a:ext cx="11091672"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548640" y="1783080"/>
          <a:ext cx="11064237" cy="1682496"/>
        </p:xfrm>
        <a:graphic>
          <a:graphicData uri="http://schemas.openxmlformats.org/drawingml/2006/table">
            <a:tbl>
              <a:tblPr firstRow="1" bandRow="1">
                <a:tableStyleId>{5C22544A-7EE6-4342-B048-85BDC9FD1C3A}</a:tableStyleId>
              </a:tblPr>
              <a:tblGrid>
                <a:gridCol w="2434132"/>
                <a:gridCol w="1880920"/>
                <a:gridCol w="1438351"/>
                <a:gridCol w="1548993"/>
                <a:gridCol w="1548993"/>
                <a:gridCol w="2212848"/>
              </a:tblGrid>
              <a:tr h="420624">
                <a:tc>
                  <a:txBody>
                    <a:bodyPr/>
                    <a:lstStyle/>
                    <a:p>
                      <a:pPr algn="l"/>
                      <a:r>
                        <a:rPr sz="1250" b="1">
                          <a:solidFill>
                            <a:srgbClr val="FFFFFF"/>
                          </a:solidFill>
                          <a:latin typeface="Helvetica Neue"/>
                        </a:rPr>
                        <a:t>Model</a:t>
                      </a:r>
                    </a:p>
                  </a:txBody>
                  <a:tcPr marL="73152" marR="73152" marT="27432" marB="27432" anchor="ctr">
                    <a:solidFill>
                      <a:srgbClr val="0B0B0B"/>
                    </a:solidFill>
                  </a:tcPr>
                </a:tc>
                <a:tc>
                  <a:txBody>
                    <a:bodyPr/>
                    <a:lstStyle/>
                    <a:p>
                      <a:pPr algn="ctr"/>
                      <a:r>
                        <a:rPr sz="1250" b="1">
                          <a:solidFill>
                            <a:srgbClr val="FFFFFF"/>
                          </a:solidFill>
                          <a:latin typeface="Helvetica Neue"/>
                        </a:rPr>
                        <a:t>1-token targets</a:t>
                      </a:r>
                    </a:p>
                  </a:txBody>
                  <a:tcPr marL="73152" marR="73152" marT="27432" marB="27432" anchor="ctr">
                    <a:solidFill>
                      <a:srgbClr val="0B0B0B"/>
                    </a:solidFill>
                  </a:tcPr>
                </a:tc>
                <a:tc>
                  <a:txBody>
                    <a:bodyPr/>
                    <a:lstStyle/>
                    <a:p>
                      <a:pPr algn="ctr"/>
                      <a:r>
                        <a:rPr sz="1250" b="1">
                          <a:solidFill>
                            <a:srgbClr val="FFFFFF"/>
                          </a:solidFill>
                          <a:latin typeface="Helvetica Neue"/>
                        </a:rPr>
                        <a:t>2-token</a:t>
                      </a:r>
                    </a:p>
                  </a:txBody>
                  <a:tcPr marL="73152" marR="73152" marT="27432" marB="27432" anchor="ctr">
                    <a:solidFill>
                      <a:srgbClr val="0B0B0B"/>
                    </a:solidFill>
                  </a:tcPr>
                </a:tc>
                <a:tc>
                  <a:txBody>
                    <a:bodyPr/>
                    <a:lstStyle/>
                    <a:p>
                      <a:pPr algn="ctr"/>
                      <a:r>
                        <a:rPr sz="1250" b="1">
                          <a:solidFill>
                            <a:srgbClr val="FFFFFF"/>
                          </a:solidFill>
                          <a:latin typeface="Helvetica Neue"/>
                        </a:rPr>
                        <a:t>3+-token</a:t>
                      </a:r>
                    </a:p>
                  </a:txBody>
                  <a:tcPr marL="73152" marR="73152" marT="27432" marB="27432" anchor="ctr">
                    <a:solidFill>
                      <a:srgbClr val="0B0B0B"/>
                    </a:solidFill>
                  </a:tcPr>
                </a:tc>
                <a:tc>
                  <a:txBody>
                    <a:bodyPr/>
                    <a:lstStyle/>
                    <a:p>
                      <a:pPr algn="ctr"/>
                      <a:r>
                        <a:rPr sz="1250" b="1">
                          <a:solidFill>
                            <a:srgbClr val="FFFFFF"/>
                          </a:solidFill>
                          <a:latin typeface="Helvetica Neue"/>
                        </a:rPr>
                        <a:t>Collapse</a:t>
                      </a:r>
                    </a:p>
                  </a:txBody>
                  <a:tcPr marL="73152" marR="73152" marT="27432" marB="27432" anchor="ctr">
                    <a:solidFill>
                      <a:srgbClr val="0B0B0B"/>
                    </a:solidFill>
                  </a:tcPr>
                </a:tc>
                <a:tc>
                  <a:txBody>
                    <a:bodyPr/>
                    <a:lstStyle/>
                    <a:p>
                      <a:pPr algn="ctr"/>
                      <a:r>
                        <a:rPr sz="1250" b="1">
                          <a:solidFill>
                            <a:srgbClr val="FFFFFF"/>
                          </a:solidFill>
                          <a:latin typeface="Helvetica Neue"/>
                        </a:rPr>
                        <a:t>Tokenizer exact?</a:t>
                      </a:r>
                    </a:p>
                  </a:txBody>
                  <a:tcPr marL="73152" marR="73152" marT="27432" marB="27432" anchor="ctr">
                    <a:solidFill>
                      <a:srgbClr val="0B0B0B"/>
                    </a:solidFill>
                  </a:tcPr>
                </a:tc>
              </a:tr>
              <a:tr h="420624">
                <a:tc>
                  <a:txBody>
                    <a:bodyPr/>
                    <a:lstStyle/>
                    <a:p>
                      <a:pPr algn="l"/>
                      <a:r>
                        <a:rPr sz="1250" b="0">
                          <a:solidFill>
                            <a:srgbClr val="0B0B0B"/>
                          </a:solidFill>
                          <a:latin typeface="Helvetica Neue"/>
                        </a:rPr>
                        <a:t>Gemma-3-4B</a:t>
                      </a:r>
                    </a:p>
                  </a:txBody>
                  <a:tcPr marL="73152" marR="73152" marT="27432" marB="27432" anchor="ctr">
                    <a:solidFill>
                      <a:srgbClr val="FCFCFB"/>
                    </a:solidFill>
                  </a:tcPr>
                </a:tc>
                <a:tc>
                  <a:txBody>
                    <a:bodyPr/>
                    <a:lstStyle/>
                    <a:p>
                      <a:pPr algn="ctr"/>
                      <a:r>
                        <a:rPr sz="1250" b="0">
                          <a:solidFill>
                            <a:srgbClr val="0B0B0B"/>
                          </a:solidFill>
                          <a:latin typeface="Helvetica Neue"/>
                        </a:rPr>
                        <a:t>23.6%</a:t>
                      </a:r>
                    </a:p>
                  </a:txBody>
                  <a:tcPr marL="73152" marR="73152" marT="27432" marB="27432" anchor="ctr">
                    <a:solidFill>
                      <a:srgbClr val="FCFCFB"/>
                    </a:solidFill>
                  </a:tcPr>
                </a:tc>
                <a:tc>
                  <a:txBody>
                    <a:bodyPr/>
                    <a:lstStyle/>
                    <a:p>
                      <a:pPr algn="ctr"/>
                      <a:r>
                        <a:rPr sz="1250" b="0">
                          <a:solidFill>
                            <a:srgbClr val="0B0B0B"/>
                          </a:solidFill>
                          <a:latin typeface="Helvetica Neue"/>
                        </a:rPr>
                        <a:t>10.6%</a:t>
                      </a:r>
                    </a:p>
                  </a:txBody>
                  <a:tcPr marL="73152" marR="73152" marT="27432" marB="27432" anchor="ctr">
                    <a:solidFill>
                      <a:srgbClr val="FCFCFB"/>
                    </a:solidFill>
                  </a:tcPr>
                </a:tc>
                <a:tc>
                  <a:txBody>
                    <a:bodyPr/>
                    <a:lstStyle/>
                    <a:p>
                      <a:pPr algn="ctr"/>
                      <a:r>
                        <a:rPr sz="1250" b="0">
                          <a:solidFill>
                            <a:srgbClr val="0B0B0B"/>
                          </a:solidFill>
                          <a:latin typeface="Helvetica Neue"/>
                        </a:rPr>
                        <a:t>2.6%</a:t>
                      </a:r>
                    </a:p>
                  </a:txBody>
                  <a:tcPr marL="73152" marR="73152" marT="27432" marB="27432" anchor="ctr">
                    <a:solidFill>
                      <a:srgbClr val="FCFCFB"/>
                    </a:solidFill>
                  </a:tcPr>
                </a:tc>
                <a:tc>
                  <a:txBody>
                    <a:bodyPr/>
                    <a:lstStyle/>
                    <a:p>
                      <a:pPr algn="ctr"/>
                      <a:r>
                        <a:rPr sz="1250" b="0">
                          <a:solidFill>
                            <a:srgbClr val="0B0B0B"/>
                          </a:solidFill>
                          <a:latin typeface="Helvetica Neue"/>
                        </a:rPr>
                        <a:t>+21.0 pp</a:t>
                      </a:r>
                    </a:p>
                  </a:txBody>
                  <a:tcPr marL="73152" marR="73152" marT="27432" marB="27432" anchor="ctr">
                    <a:solidFill>
                      <a:srgbClr val="FCFCFB"/>
                    </a:solidFill>
                  </a:tcPr>
                </a:tc>
                <a:tc>
                  <a:txBody>
                    <a:bodyPr/>
                    <a:lstStyle/>
                    <a:p>
                      <a:pPr algn="ctr"/>
                      <a:r>
                        <a:rPr sz="1250" b="0">
                          <a:solidFill>
                            <a:srgbClr val="0B0B0B"/>
                          </a:solidFill>
                          <a:latin typeface="Helvetica Neue"/>
                        </a:rPr>
                        <a:t>no — fallback</a:t>
                      </a:r>
                    </a:p>
                  </a:txBody>
                  <a:tcPr marL="73152" marR="73152" marT="27432" marB="27432" anchor="ctr">
                    <a:solidFill>
                      <a:srgbClr val="FCFCFB"/>
                    </a:solidFill>
                  </a:tcPr>
                </a:tc>
              </a:tr>
              <a:tr h="420624">
                <a:tc>
                  <a:txBody>
                    <a:bodyPr/>
                    <a:lstStyle/>
                    <a:p>
                      <a:pPr algn="l"/>
                      <a:r>
                        <a:rPr sz="1250" b="0">
                          <a:solidFill>
                            <a:srgbClr val="0B0B0B"/>
                          </a:solidFill>
                          <a:latin typeface="Helvetica Neue"/>
                        </a:rPr>
                        <a:t>Llama-3.2-3B</a:t>
                      </a:r>
                    </a:p>
                  </a:txBody>
                  <a:tcPr marL="73152" marR="73152" marT="27432" marB="27432" anchor="ctr">
                    <a:solidFill>
                      <a:srgbClr val="FCFCFB"/>
                    </a:solidFill>
                  </a:tcPr>
                </a:tc>
                <a:tc>
                  <a:txBody>
                    <a:bodyPr/>
                    <a:lstStyle/>
                    <a:p>
                      <a:pPr algn="ctr"/>
                      <a:r>
                        <a:rPr sz="1250" b="0">
                          <a:solidFill>
                            <a:srgbClr val="0B0B0B"/>
                          </a:solidFill>
                          <a:latin typeface="Helvetica Neue"/>
                        </a:rPr>
                        <a:t>29.5%</a:t>
                      </a:r>
                    </a:p>
                  </a:txBody>
                  <a:tcPr marL="73152" marR="73152" marT="27432" marB="27432" anchor="ctr">
                    <a:solidFill>
                      <a:srgbClr val="FCFCFB"/>
                    </a:solidFill>
                  </a:tcPr>
                </a:tc>
                <a:tc>
                  <a:txBody>
                    <a:bodyPr/>
                    <a:lstStyle/>
                    <a:p>
                      <a:pPr algn="ctr"/>
                      <a:r>
                        <a:rPr sz="1250" b="0">
                          <a:solidFill>
                            <a:srgbClr val="0B0B0B"/>
                          </a:solidFill>
                          <a:latin typeface="Helvetica Neue"/>
                        </a:rPr>
                        <a:t>13.4%</a:t>
                      </a:r>
                    </a:p>
                  </a:txBody>
                  <a:tcPr marL="73152" marR="73152" marT="27432" marB="27432" anchor="ctr">
                    <a:solidFill>
                      <a:srgbClr val="FCFCFB"/>
                    </a:solidFill>
                  </a:tcPr>
                </a:tc>
                <a:tc>
                  <a:txBody>
                    <a:bodyPr/>
                    <a:lstStyle/>
                    <a:p>
                      <a:pPr algn="ctr"/>
                      <a:r>
                        <a:rPr sz="1250" b="0">
                          <a:solidFill>
                            <a:srgbClr val="0B0B0B"/>
                          </a:solidFill>
                          <a:latin typeface="Helvetica Neue"/>
                        </a:rPr>
                        <a:t>2.6%</a:t>
                      </a:r>
                    </a:p>
                  </a:txBody>
                  <a:tcPr marL="73152" marR="73152" marT="27432" marB="27432" anchor="ctr">
                    <a:solidFill>
                      <a:srgbClr val="FCFCFB"/>
                    </a:solidFill>
                  </a:tcPr>
                </a:tc>
                <a:tc>
                  <a:txBody>
                    <a:bodyPr/>
                    <a:lstStyle/>
                    <a:p>
                      <a:pPr algn="ctr"/>
                      <a:r>
                        <a:rPr sz="1250" b="0">
                          <a:solidFill>
                            <a:srgbClr val="0B0B0B"/>
                          </a:solidFill>
                          <a:latin typeface="Helvetica Neue"/>
                        </a:rPr>
                        <a:t>+26.9 pp</a:t>
                      </a:r>
                    </a:p>
                  </a:txBody>
                  <a:tcPr marL="73152" marR="73152" marT="27432" marB="27432" anchor="ctr">
                    <a:solidFill>
                      <a:srgbClr val="FCFCFB"/>
                    </a:solidFill>
                  </a:tcPr>
                </a:tc>
                <a:tc>
                  <a:txBody>
                    <a:bodyPr/>
                    <a:lstStyle/>
                    <a:p>
                      <a:pPr algn="ctr"/>
                      <a:r>
                        <a:rPr sz="1250" b="0">
                          <a:solidFill>
                            <a:srgbClr val="0B0B0B"/>
                          </a:solidFill>
                          <a:latin typeface="Helvetica Neue"/>
                        </a:rPr>
                        <a:t>no — fallback</a:t>
                      </a:r>
                    </a:p>
                  </a:txBody>
                  <a:tcPr marL="73152" marR="73152" marT="27432" marB="27432" anchor="ctr">
                    <a:solidFill>
                      <a:srgbClr val="FCFCFB"/>
                    </a:solidFill>
                  </a:tcPr>
                </a:tc>
              </a:tr>
              <a:tr h="420624">
                <a:tc>
                  <a:txBody>
                    <a:bodyPr/>
                    <a:lstStyle/>
                    <a:p>
                      <a:pPr algn="l"/>
                      <a:r>
                        <a:rPr sz="1250" b="0">
                          <a:solidFill>
                            <a:srgbClr val="0B0B0B"/>
                          </a:solidFill>
                          <a:latin typeface="Helvetica Neue"/>
                        </a:rPr>
                        <a:t>Ministral-8B</a:t>
                      </a:r>
                    </a:p>
                  </a:txBody>
                  <a:tcPr marL="73152" marR="73152" marT="27432" marB="27432" anchor="ctr">
                    <a:solidFill>
                      <a:srgbClr val="FCFCFB"/>
                    </a:solidFill>
                  </a:tcPr>
                </a:tc>
                <a:tc>
                  <a:txBody>
                    <a:bodyPr/>
                    <a:lstStyle/>
                    <a:p>
                      <a:pPr algn="ctr"/>
                      <a:r>
                        <a:rPr sz="1250" b="0">
                          <a:solidFill>
                            <a:srgbClr val="0B0B0B"/>
                          </a:solidFill>
                          <a:latin typeface="Helvetica Neue"/>
                        </a:rPr>
                        <a:t>44.3%</a:t>
                      </a:r>
                    </a:p>
                  </a:txBody>
                  <a:tcPr marL="73152" marR="73152" marT="27432" marB="27432" anchor="ctr">
                    <a:solidFill>
                      <a:srgbClr val="FCFCFB"/>
                    </a:solidFill>
                  </a:tcPr>
                </a:tc>
                <a:tc>
                  <a:txBody>
                    <a:bodyPr/>
                    <a:lstStyle/>
                    <a:p>
                      <a:pPr algn="ctr"/>
                      <a:r>
                        <a:rPr sz="1250" b="0">
                          <a:solidFill>
                            <a:srgbClr val="0B0B0B"/>
                          </a:solidFill>
                          <a:latin typeface="Helvetica Neue"/>
                        </a:rPr>
                        <a:t>34.8%</a:t>
                      </a:r>
                    </a:p>
                  </a:txBody>
                  <a:tcPr marL="73152" marR="73152" marT="27432" marB="27432" anchor="ctr">
                    <a:solidFill>
                      <a:srgbClr val="FCFCFB"/>
                    </a:solidFill>
                  </a:tcPr>
                </a:tc>
                <a:tc>
                  <a:txBody>
                    <a:bodyPr/>
                    <a:lstStyle/>
                    <a:p>
                      <a:pPr algn="ctr"/>
                      <a:r>
                        <a:rPr sz="1250" b="0">
                          <a:solidFill>
                            <a:srgbClr val="0B0B0B"/>
                          </a:solidFill>
                          <a:latin typeface="Helvetica Neue"/>
                        </a:rPr>
                        <a:t>34.5%</a:t>
                      </a:r>
                    </a:p>
                  </a:txBody>
                  <a:tcPr marL="73152" marR="73152" marT="27432" marB="27432" anchor="ctr">
                    <a:solidFill>
                      <a:srgbClr val="FCFCFB"/>
                    </a:solidFill>
                  </a:tcPr>
                </a:tc>
                <a:tc>
                  <a:txBody>
                    <a:bodyPr/>
                    <a:lstStyle/>
                    <a:p>
                      <a:pPr algn="ctr"/>
                      <a:r>
                        <a:rPr sz="1250" b="0">
                          <a:solidFill>
                            <a:srgbClr val="0B0B0B"/>
                          </a:solidFill>
                          <a:latin typeface="Helvetica Neue"/>
                        </a:rPr>
                        <a:t>+9.8 pp</a:t>
                      </a:r>
                    </a:p>
                  </a:txBody>
                  <a:tcPr marL="73152" marR="73152" marT="27432" marB="27432" anchor="ctr">
                    <a:solidFill>
                      <a:srgbClr val="FCFCFB"/>
                    </a:solidFill>
                  </a:tcPr>
                </a:tc>
                <a:tc>
                  <a:txBody>
                    <a:bodyPr/>
                    <a:lstStyle/>
                    <a:p>
                      <a:pPr algn="ctr"/>
                      <a:r>
                        <a:rPr sz="1250" b="0">
                          <a:solidFill>
                            <a:srgbClr val="0B0B0B"/>
                          </a:solidFill>
                          <a:latin typeface="Helvetica Neue"/>
                        </a:rPr>
                        <a:t>yes</a:t>
                      </a:r>
                    </a:p>
                  </a:txBody>
                  <a:tcPr marL="73152" marR="73152" marT="27432" marB="27432" anchor="ctr">
                    <a:solidFill>
                      <a:srgbClr val="FCFCFB"/>
                    </a:solidFill>
                  </a:tcPr>
                </a:tc>
              </a:tr>
            </a:tbl>
          </a:graphicData>
        </a:graphic>
      </p:graphicFrame>
      <p:sp>
        <p:nvSpPr>
          <p:cNvPr id="9" name="TextBox 8"/>
          <p:cNvSpPr txBox="1"/>
          <p:nvPr/>
        </p:nvSpPr>
        <p:spPr>
          <a:xfrm>
            <a:off x="548640" y="3703320"/>
            <a:ext cx="11064240" cy="1005840"/>
          </a:xfrm>
          <a:prstGeom prst="rect">
            <a:avLst/>
          </a:prstGeom>
          <a:noFill/>
        </p:spPr>
        <p:txBody>
          <a:bodyPr wrap="square">
            <a:spAutoFit/>
          </a:bodyPr>
          <a:lstStyle/>
          <a:p>
            <a:pPr algn="l">
              <a:lnSpc>
                <a:spcPct val="135000"/>
              </a:lnSpc>
              <a:spcAft>
                <a:spcPts val="700"/>
              </a:spcAft>
            </a:pPr>
            <a:r>
              <a:rPr sz="1350" b="0" i="0">
                <a:solidFill>
                  <a:srgbClr val="52514E"/>
                </a:solidFill>
                <a:latin typeface="Helvetica Neue"/>
              </a:rPr>
              <a:t>—  A multi-token target must be produced correctly several times over — a mechanical handicap, not a comprehension one.</a:t>
            </a:r>
          </a:p>
          <a:p>
            <a:pPr algn="l">
              <a:lnSpc>
                <a:spcPct val="135000"/>
              </a:lnSpc>
              <a:spcAft>
                <a:spcPts val="700"/>
              </a:spcAft>
            </a:pPr>
            <a:r>
              <a:rPr sz="1350" b="0" i="0">
                <a:solidFill>
                  <a:srgbClr val="52514E"/>
                </a:solidFill>
                <a:latin typeface="Helvetica Neue"/>
              </a:rPr>
              <a:t>—  Comparing raw LAMBADA scores without this split treats a vocabulary difference as a capability difference.</a:t>
            </a:r>
          </a:p>
        </p:txBody>
      </p:sp>
      <p:sp>
        <p:nvSpPr>
          <p:cNvPr id="10" name="TextBox 9"/>
          <p:cNvSpPr txBox="1"/>
          <p:nvPr/>
        </p:nvSpPr>
        <p:spPr>
          <a:xfrm>
            <a:off x="548640" y="4846320"/>
            <a:ext cx="11064240" cy="777240"/>
          </a:xfrm>
          <a:prstGeom prst="rect">
            <a:avLst/>
          </a:prstGeom>
          <a:noFill/>
        </p:spPr>
        <p:txBody>
          <a:bodyPr wrap="square">
            <a:spAutoFit/>
          </a:bodyPr>
          <a:lstStyle/>
          <a:p>
            <a:pPr algn="l">
              <a:lnSpc>
                <a:spcPct val="130000"/>
              </a:lnSpc>
            </a:pPr>
            <a:r>
              <a:rPr sz="1250" b="0" i="0">
                <a:solidFill>
                  <a:srgbClr val="2A78D6"/>
                </a:solidFill>
                <a:latin typeface="Helvetica Neue"/>
              </a:rPr>
              <a:t>Caveat: Gemma-3-4B, Llama-3.2-3B fell back to a generic BPE vocabulary because their Hugging Face tokenizers are gated. The trend within each model holds; the fragmentation rates are not comparable across models.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510528"/>
            <a:ext cx="5486400" cy="274320"/>
          </a:xfrm>
          <a:prstGeom prst="rect">
            <a:avLst/>
          </a:prstGeom>
          <a:noFill/>
        </p:spPr>
        <p:txBody>
          <a:bodyPr wrap="square">
            <a:spAutoFit/>
          </a:bodyPr>
          <a:lstStyle/>
          <a:p>
            <a:pPr algn="l">
              <a:lnSpc>
                <a:spcPct val="115000"/>
              </a:lnSpc>
            </a:pPr>
            <a:r>
              <a:rPr sz="900" b="0" i="0">
                <a:solidFill>
                  <a:srgbClr val="898781"/>
                </a:solidFill>
                <a:latin typeface="Helvetica Neue"/>
              </a:rPr>
              <a:t>LAMBADA &amp; MMLU Benchmark Evaluation — Extended</a:t>
            </a:r>
          </a:p>
        </p:txBody>
      </p:sp>
      <p:sp>
        <p:nvSpPr>
          <p:cNvPr id="4" name="TextBox 3"/>
          <p:cNvSpPr txBox="1"/>
          <p:nvPr/>
        </p:nvSpPr>
        <p:spPr>
          <a:xfrm>
            <a:off x="11338560" y="6510528"/>
            <a:ext cx="457200" cy="274320"/>
          </a:xfrm>
          <a:prstGeom prst="rect">
            <a:avLst/>
          </a:prstGeom>
          <a:noFill/>
        </p:spPr>
        <p:txBody>
          <a:bodyPr wrap="square">
            <a:spAutoFit/>
          </a:bodyPr>
          <a:lstStyle/>
          <a:p>
            <a:pPr algn="r">
              <a:lnSpc>
                <a:spcPct val="115000"/>
              </a:lnSpc>
            </a:pPr>
            <a:r>
              <a:rPr sz="900" b="0" i="0">
                <a:solidFill>
                  <a:srgbClr val="898781"/>
                </a:solidFill>
                <a:latin typeface="Helvetica Neue"/>
              </a:rPr>
              <a:t>32</a:t>
            </a:r>
          </a:p>
        </p:txBody>
      </p:sp>
      <p:sp>
        <p:nvSpPr>
          <p:cNvPr id="5" name="TextBox 4"/>
          <p:cNvSpPr txBox="1"/>
          <p:nvPr/>
        </p:nvSpPr>
        <p:spPr>
          <a:xfrm>
            <a:off x="548640" y="502920"/>
            <a:ext cx="11064240" cy="640080"/>
          </a:xfrm>
          <a:prstGeom prst="rect">
            <a:avLst/>
          </a:prstGeom>
          <a:noFill/>
        </p:spPr>
        <p:txBody>
          <a:bodyPr wrap="square">
            <a:spAutoFit/>
          </a:bodyPr>
          <a:lstStyle/>
          <a:p>
            <a:pPr algn="l">
              <a:lnSpc>
                <a:spcPct val="115000"/>
              </a:lnSpc>
            </a:pPr>
            <a:r>
              <a:rPr sz="3000" b="1" i="0">
                <a:solidFill>
                  <a:srgbClr val="0B0B0B"/>
                </a:solidFill>
                <a:latin typeface="Helvetica Neue"/>
              </a:rPr>
              <a:t>Conclusions</a:t>
            </a:r>
          </a:p>
        </p:txBody>
      </p:sp>
      <p:cxnSp>
        <p:nvCxnSpPr>
          <p:cNvPr id="6" name="Connector 5"/>
          <p:cNvCxnSpPr/>
          <p:nvPr/>
        </p:nvCxnSpPr>
        <p:spPr>
          <a:xfrm>
            <a:off x="548640" y="1188720"/>
            <a:ext cx="11091672"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1508760"/>
            <a:ext cx="11064240" cy="384048"/>
          </a:xfrm>
          <a:prstGeom prst="rect">
            <a:avLst/>
          </a:prstGeom>
          <a:noFill/>
        </p:spPr>
        <p:txBody>
          <a:bodyPr wrap="square">
            <a:spAutoFit/>
          </a:bodyPr>
          <a:lstStyle/>
          <a:p>
            <a:pPr algn="l">
              <a:lnSpc>
                <a:spcPct val="115000"/>
              </a:lnSpc>
            </a:pPr>
            <a:r>
              <a:rPr sz="1700" b="1" i="0">
                <a:solidFill>
                  <a:srgbClr val="0B0B0B"/>
                </a:solidFill>
                <a:latin typeface="Helvetica Neue"/>
              </a:rPr>
              <a:t>Does a larger, non-distilled model beat smaller compressed ones?</a:t>
            </a:r>
          </a:p>
        </p:txBody>
      </p:sp>
      <p:sp>
        <p:nvSpPr>
          <p:cNvPr id="8" name="TextBox 7"/>
          <p:cNvSpPr txBox="1"/>
          <p:nvPr/>
        </p:nvSpPr>
        <p:spPr>
          <a:xfrm>
            <a:off x="548640" y="1929384"/>
            <a:ext cx="11064240" cy="1051560"/>
          </a:xfrm>
          <a:prstGeom prst="rect">
            <a:avLst/>
          </a:prstGeom>
          <a:noFill/>
        </p:spPr>
        <p:txBody>
          <a:bodyPr wrap="square">
            <a:spAutoFit/>
          </a:bodyPr>
          <a:lstStyle/>
          <a:p>
            <a:pPr algn="l">
              <a:lnSpc>
                <a:spcPct val="130000"/>
              </a:lnSpc>
            </a:pPr>
            <a:r>
              <a:rPr sz="1400" b="0" i="0">
                <a:solidFill>
                  <a:srgbClr val="52514E"/>
                </a:solidFill>
                <a:latin typeface="Helvetica Neue"/>
              </a:rPr>
              <a:t>On task quality, consistently — Ministral-8B leads both benchmarks. But the nine-stage view shows the answer is not one-dimensional: the smaller models win on latency and, on MMLU, on cost per correct answer, and second place changes hands depending on whether reliability is counted.</a:t>
            </a:r>
          </a:p>
        </p:txBody>
      </p:sp>
      <p:sp>
        <p:nvSpPr>
          <p:cNvPr id="9" name="TextBox 8"/>
          <p:cNvSpPr txBox="1"/>
          <p:nvPr/>
        </p:nvSpPr>
        <p:spPr>
          <a:xfrm>
            <a:off x="548640" y="3081528"/>
            <a:ext cx="11064240" cy="384048"/>
          </a:xfrm>
          <a:prstGeom prst="rect">
            <a:avLst/>
          </a:prstGeom>
          <a:noFill/>
        </p:spPr>
        <p:txBody>
          <a:bodyPr wrap="square">
            <a:spAutoFit/>
          </a:bodyPr>
          <a:lstStyle/>
          <a:p>
            <a:pPr algn="l">
              <a:lnSpc>
                <a:spcPct val="115000"/>
              </a:lnSpc>
            </a:pPr>
            <a:r>
              <a:rPr sz="1700" b="1" i="0">
                <a:solidFill>
                  <a:srgbClr val="0B0B0B"/>
                </a:solidFill>
                <a:latin typeface="Helvetica Neue"/>
              </a:rPr>
              <a:t>What the extra stages bought.</a:t>
            </a:r>
          </a:p>
        </p:txBody>
      </p:sp>
      <p:sp>
        <p:nvSpPr>
          <p:cNvPr id="10" name="TextBox 9"/>
          <p:cNvSpPr txBox="1"/>
          <p:nvPr/>
        </p:nvSpPr>
        <p:spPr>
          <a:xfrm>
            <a:off x="548640" y="3502152"/>
            <a:ext cx="11064240" cy="1051560"/>
          </a:xfrm>
          <a:prstGeom prst="rect">
            <a:avLst/>
          </a:prstGeom>
          <a:noFill/>
        </p:spPr>
        <p:txBody>
          <a:bodyPr wrap="square">
            <a:spAutoFit/>
          </a:bodyPr>
          <a:lstStyle/>
          <a:p>
            <a:pPr algn="l">
              <a:lnSpc>
                <a:spcPct val="130000"/>
              </a:lnSpc>
            </a:pPr>
            <a:r>
              <a:rPr sz="1400" b="0" i="0">
                <a:solidFill>
                  <a:srgbClr val="52514E"/>
                </a:solidFill>
                <a:latin typeface="Helvetica Neue"/>
              </a:rPr>
              <a:t>Findings invisible to accuracy alone: an instruction-following failure mistaken for ignorance; a tokenizer handicap mistaken for a comprehension gap; a token price that inverts once accuracy is applied; and serving failures hidden inside a clean score.</a:t>
            </a:r>
          </a:p>
        </p:txBody>
      </p:sp>
      <p:sp>
        <p:nvSpPr>
          <p:cNvPr id="11" name="TextBox 10"/>
          <p:cNvSpPr txBox="1"/>
          <p:nvPr/>
        </p:nvSpPr>
        <p:spPr>
          <a:xfrm>
            <a:off x="548640" y="4654296"/>
            <a:ext cx="11064240" cy="384048"/>
          </a:xfrm>
          <a:prstGeom prst="rect">
            <a:avLst/>
          </a:prstGeom>
          <a:noFill/>
        </p:spPr>
        <p:txBody>
          <a:bodyPr wrap="square">
            <a:spAutoFit/>
          </a:bodyPr>
          <a:lstStyle/>
          <a:p>
            <a:pPr algn="l">
              <a:lnSpc>
                <a:spcPct val="115000"/>
              </a:lnSpc>
            </a:pPr>
            <a:r>
              <a:rPr sz="1700" b="1" i="0">
                <a:solidFill>
                  <a:srgbClr val="0B0B0B"/>
                </a:solidFill>
                <a:latin typeface="Helvetica Neue"/>
              </a:rPr>
              <a:t>The methodological point.</a:t>
            </a:r>
          </a:p>
        </p:txBody>
      </p:sp>
      <p:sp>
        <p:nvSpPr>
          <p:cNvPr id="12" name="TextBox 11"/>
          <p:cNvSpPr txBox="1"/>
          <p:nvPr/>
        </p:nvSpPr>
        <p:spPr>
          <a:xfrm>
            <a:off x="548640" y="5074920"/>
            <a:ext cx="11064240" cy="1051560"/>
          </a:xfrm>
          <a:prstGeom prst="rect">
            <a:avLst/>
          </a:prstGeom>
          <a:noFill/>
        </p:spPr>
        <p:txBody>
          <a:bodyPr wrap="square">
            <a:spAutoFit/>
          </a:bodyPr>
          <a:lstStyle/>
          <a:p>
            <a:pPr algn="l">
              <a:lnSpc>
                <a:spcPct val="130000"/>
              </a:lnSpc>
            </a:pPr>
            <a:r>
              <a:rPr sz="1400" b="0" i="0">
                <a:solidFill>
                  <a:srgbClr val="52514E"/>
                </a:solidFill>
                <a:latin typeface="Helvetica Neue"/>
              </a:rPr>
              <a:t>Configuration and measurement are kept apart — parallelism degrees and decoding settings are inputs recorded in a run manifest, never folded into a score. That is what lets the comparison layer refuse to rank runs that are not comparable, which is the correct output in that case.</a:t>
            </a:r>
          </a:p>
        </p:txBody>
      </p:sp>
      <p:cxnSp>
        <p:nvCxnSpPr>
          <p:cNvPr id="13" name="Connector 12"/>
          <p:cNvCxnSpPr/>
          <p:nvPr/>
        </p:nvCxnSpPr>
        <p:spPr>
          <a:xfrm>
            <a:off x="548640" y="6172200"/>
            <a:ext cx="11091672"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48640" y="6309360"/>
            <a:ext cx="11064240" cy="365760"/>
          </a:xfrm>
          <a:prstGeom prst="rect">
            <a:avLst/>
          </a:prstGeom>
          <a:noFill/>
        </p:spPr>
        <p:txBody>
          <a:bodyPr wrap="square">
            <a:spAutoFit/>
          </a:bodyPr>
          <a:lstStyle/>
          <a:p>
            <a:pPr algn="l">
              <a:lnSpc>
                <a:spcPct val="115000"/>
              </a:lnSpc>
            </a:pPr>
            <a:r>
              <a:rPr sz="1400" b="1" i="0">
                <a:solidFill>
                  <a:srgbClr val="2A78D6"/>
                </a:solidFill>
                <a:latin typeface="Helvetica Neue"/>
              </a:rPr>
              <a:t>Absence is reported, not filled in — the difference between a benchmark you can cite and one you cannot.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510528"/>
            <a:ext cx="5486400" cy="274320"/>
          </a:xfrm>
          <a:prstGeom prst="rect">
            <a:avLst/>
          </a:prstGeom>
          <a:noFill/>
        </p:spPr>
        <p:txBody>
          <a:bodyPr wrap="square">
            <a:spAutoFit/>
          </a:bodyPr>
          <a:lstStyle/>
          <a:p>
            <a:pPr algn="l">
              <a:lnSpc>
                <a:spcPct val="115000"/>
              </a:lnSpc>
            </a:pPr>
            <a:r>
              <a:rPr sz="900" b="0" i="0">
                <a:solidFill>
                  <a:srgbClr val="898781"/>
                </a:solidFill>
                <a:latin typeface="Helvetica Neue"/>
              </a:rPr>
              <a:t>LAMBADA &amp; MMLU Benchmark Evaluation — Extended</a:t>
            </a:r>
          </a:p>
        </p:txBody>
      </p:sp>
      <p:sp>
        <p:nvSpPr>
          <p:cNvPr id="4" name="TextBox 3"/>
          <p:cNvSpPr txBox="1"/>
          <p:nvPr/>
        </p:nvSpPr>
        <p:spPr>
          <a:xfrm>
            <a:off x="11338560" y="6510528"/>
            <a:ext cx="457200" cy="274320"/>
          </a:xfrm>
          <a:prstGeom prst="rect">
            <a:avLst/>
          </a:prstGeom>
          <a:noFill/>
        </p:spPr>
        <p:txBody>
          <a:bodyPr wrap="square">
            <a:spAutoFit/>
          </a:bodyPr>
          <a:lstStyle/>
          <a:p>
            <a:pPr algn="r">
              <a:lnSpc>
                <a:spcPct val="115000"/>
              </a:lnSpc>
            </a:pPr>
            <a:r>
              <a:rPr sz="900" b="0" i="0">
                <a:solidFill>
                  <a:srgbClr val="898781"/>
                </a:solidFill>
                <a:latin typeface="Helvetica Neue"/>
              </a:rPr>
              <a:t>33</a:t>
            </a:r>
          </a:p>
        </p:txBody>
      </p:sp>
      <p:sp>
        <p:nvSpPr>
          <p:cNvPr id="5" name="TextBox 4"/>
          <p:cNvSpPr txBox="1"/>
          <p:nvPr/>
        </p:nvSpPr>
        <p:spPr>
          <a:xfrm>
            <a:off x="548640" y="320040"/>
            <a:ext cx="10058400" cy="320040"/>
          </a:xfrm>
          <a:prstGeom prst="rect">
            <a:avLst/>
          </a:prstGeom>
          <a:noFill/>
        </p:spPr>
        <p:txBody>
          <a:bodyPr wrap="square">
            <a:spAutoFit/>
          </a:bodyPr>
          <a:lstStyle/>
          <a:p>
            <a:pPr algn="l">
              <a:lnSpc>
                <a:spcPct val="115000"/>
              </a:lnSpc>
            </a:pPr>
            <a:r>
              <a:rPr sz="1250" b="1" i="0">
                <a:solidFill>
                  <a:srgbClr val="2A78D6"/>
                </a:solidFill>
                <a:latin typeface="Helvetica Neue"/>
              </a:rPr>
              <a:t>REFERENCES</a:t>
            </a:r>
          </a:p>
        </p:txBody>
      </p:sp>
      <p:sp>
        <p:nvSpPr>
          <p:cNvPr id="6" name="TextBox 5"/>
          <p:cNvSpPr txBox="1"/>
          <p:nvPr/>
        </p:nvSpPr>
        <p:spPr>
          <a:xfrm>
            <a:off x="548640" y="914400"/>
            <a:ext cx="11064240" cy="640080"/>
          </a:xfrm>
          <a:prstGeom prst="rect">
            <a:avLst/>
          </a:prstGeom>
          <a:noFill/>
        </p:spPr>
        <p:txBody>
          <a:bodyPr wrap="square">
            <a:spAutoFit/>
          </a:bodyPr>
          <a:lstStyle/>
          <a:p>
            <a:pPr algn="l">
              <a:lnSpc>
                <a:spcPct val="115000"/>
              </a:lnSpc>
            </a:pPr>
            <a:r>
              <a:rPr sz="2800" b="1" i="0">
                <a:solidFill>
                  <a:srgbClr val="0B0B0B"/>
                </a:solidFill>
                <a:latin typeface="Helvetica Neue"/>
              </a:rPr>
              <a:t>Sources</a:t>
            </a:r>
          </a:p>
        </p:txBody>
      </p:sp>
      <p:cxnSp>
        <p:nvCxnSpPr>
          <p:cNvPr id="7" name="Connector 6"/>
          <p:cNvCxnSpPr/>
          <p:nvPr/>
        </p:nvCxnSpPr>
        <p:spPr>
          <a:xfrm>
            <a:off x="548640" y="1508760"/>
            <a:ext cx="11091672"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1783080"/>
            <a:ext cx="10881360" cy="4023360"/>
          </a:xfrm>
          <a:prstGeom prst="rect">
            <a:avLst/>
          </a:prstGeom>
          <a:noFill/>
        </p:spPr>
        <p:txBody>
          <a:bodyPr wrap="square">
            <a:spAutoFit/>
          </a:bodyPr>
          <a:lstStyle/>
          <a:p>
            <a:pPr algn="l">
              <a:lnSpc>
                <a:spcPct val="125000"/>
              </a:lnSpc>
              <a:spcAft>
                <a:spcPts val="700"/>
              </a:spcAft>
            </a:pPr>
            <a:r>
              <a:rPr sz="1300" b="0" i="0">
                <a:solidFill>
                  <a:srgbClr val="52514E"/>
                </a:solidFill>
                <a:latin typeface="Helvetica Neue"/>
              </a:rPr>
              <a:t>—  Hendrycks, D. et al. (2021). Measuring Massive Multitask Language Understanding. ICLR 2021.</a:t>
            </a:r>
          </a:p>
          <a:p>
            <a:pPr algn="l">
              <a:lnSpc>
                <a:spcPct val="125000"/>
              </a:lnSpc>
              <a:spcAft>
                <a:spcPts val="700"/>
              </a:spcAft>
            </a:pPr>
            <a:r>
              <a:rPr sz="1300" b="0" i="0">
                <a:solidFill>
                  <a:srgbClr val="52514E"/>
                </a:solidFill>
                <a:latin typeface="Helvetica Neue"/>
              </a:rPr>
              <a:t>—  Paperno, D. et al. (2016). The LAMBADA dataset. ACL 2016.</a:t>
            </a:r>
          </a:p>
          <a:p>
            <a:pPr algn="l">
              <a:lnSpc>
                <a:spcPct val="125000"/>
              </a:lnSpc>
              <a:spcAft>
                <a:spcPts val="700"/>
              </a:spcAft>
            </a:pPr>
            <a:r>
              <a:rPr sz="1300" b="0" i="0">
                <a:solidFill>
                  <a:srgbClr val="52514E"/>
                </a:solidFill>
                <a:latin typeface="Helvetica Neue"/>
              </a:rPr>
              <a:t>—  Guo, C. et al. (2017). On Calibration of Modern Neural Networks. ICML 2017.</a:t>
            </a:r>
          </a:p>
          <a:p>
            <a:pPr algn="l">
              <a:lnSpc>
                <a:spcPct val="125000"/>
              </a:lnSpc>
              <a:spcAft>
                <a:spcPts val="700"/>
              </a:spcAft>
            </a:pPr>
            <a:r>
              <a:rPr sz="1300" b="0" i="0">
                <a:solidFill>
                  <a:srgbClr val="52514E"/>
                </a:solidFill>
                <a:latin typeface="Helvetica Neue"/>
              </a:rPr>
              <a:t>—  Brier, G. W. (1950). Verification of Forecasts Expressed in Terms of Probability. Monthly Weather Review.</a:t>
            </a:r>
          </a:p>
          <a:p>
            <a:pPr algn="l">
              <a:lnSpc>
                <a:spcPct val="125000"/>
              </a:lnSpc>
              <a:spcAft>
                <a:spcPts val="700"/>
              </a:spcAft>
            </a:pPr>
            <a:r>
              <a:rPr sz="1300" b="0" i="0">
                <a:solidFill>
                  <a:srgbClr val="52514E"/>
                </a:solidFill>
                <a:latin typeface="Helvetica Neue"/>
              </a:rPr>
              <a:t>—  Wilson, E. B. (1927). Probable Inference, the Law of Succession, and Statistical Inference. JASA.</a:t>
            </a:r>
          </a:p>
          <a:p>
            <a:pPr algn="l">
              <a:lnSpc>
                <a:spcPct val="125000"/>
              </a:lnSpc>
              <a:spcAft>
                <a:spcPts val="700"/>
              </a:spcAft>
            </a:pPr>
            <a:r>
              <a:rPr sz="1300" b="0" i="0">
                <a:solidFill>
                  <a:srgbClr val="52514E"/>
                </a:solidFill>
                <a:latin typeface="Helvetica Neue"/>
              </a:rPr>
              <a:t>—  Wang, X. et al. (2023). Self-Consistency Improves Chain of Thought Reasoning. ICLR 2023.</a:t>
            </a:r>
          </a:p>
          <a:p>
            <a:pPr algn="l">
              <a:lnSpc>
                <a:spcPct val="125000"/>
              </a:lnSpc>
              <a:spcAft>
                <a:spcPts val="700"/>
              </a:spcAft>
            </a:pPr>
            <a:r>
              <a:rPr sz="1300" b="0" i="0">
                <a:solidFill>
                  <a:srgbClr val="52514E"/>
                </a:solidFill>
                <a:latin typeface="Helvetica Neue"/>
              </a:rPr>
              <a:t>—  Gao, L. et al. (2024). A Framework for Few-Shot Language Model Evaluation (lm-evaluation-harness).</a:t>
            </a:r>
          </a:p>
          <a:p>
            <a:pPr algn="l">
              <a:lnSpc>
                <a:spcPct val="125000"/>
              </a:lnSpc>
              <a:spcAft>
                <a:spcPts val="700"/>
              </a:spcAft>
            </a:pPr>
            <a:r>
              <a:rPr sz="1300" b="0" i="0">
                <a:solidFill>
                  <a:srgbClr val="52514E"/>
                </a:solidFill>
                <a:latin typeface="Helvetica Neue"/>
              </a:rPr>
              <a:t>—  Shoeybi, M. et al. (2019). Megatron-LM: Training Multi-Billion Parameter Models Using Model Parallelism.</a:t>
            </a:r>
          </a:p>
          <a:p>
            <a:pPr algn="l">
              <a:lnSpc>
                <a:spcPct val="125000"/>
              </a:lnSpc>
              <a:spcAft>
                <a:spcPts val="700"/>
              </a:spcAft>
            </a:pPr>
            <a:r>
              <a:rPr sz="1300" b="0" i="0">
                <a:solidFill>
                  <a:srgbClr val="52514E"/>
                </a:solidFill>
                <a:latin typeface="Helvetica Neue"/>
              </a:rPr>
              <a:t>—  Kwon, W. et al. (2023). Efficient Memory Management for LLM Serving with PagedAttention (vLLM). SOSP 2023.</a:t>
            </a:r>
          </a:p>
          <a:p>
            <a:pPr algn="l">
              <a:lnSpc>
                <a:spcPct val="125000"/>
              </a:lnSpc>
              <a:spcAft>
                <a:spcPts val="700"/>
              </a:spcAft>
            </a:pPr>
            <a:r>
              <a:rPr sz="1300" b="0" i="0">
                <a:solidFill>
                  <a:srgbClr val="52514E"/>
                </a:solidFill>
                <a:latin typeface="Helvetica Neue"/>
              </a:rPr>
              <a:t>—  Google (2025) Gemma 3 technical report · Meta (2024) Llama 3.2 model card · Mistral AI (2024) Ministral family.</a:t>
            </a:r>
          </a:p>
        </p:txBody>
      </p:sp>
      <p:sp>
        <p:nvSpPr>
          <p:cNvPr id="9" name="TextBox 8"/>
          <p:cNvSpPr txBox="1"/>
          <p:nvPr/>
        </p:nvSpPr>
        <p:spPr>
          <a:xfrm>
            <a:off x="548640" y="5989320"/>
            <a:ext cx="10881360" cy="365760"/>
          </a:xfrm>
          <a:prstGeom prst="rect">
            <a:avLst/>
          </a:prstGeom>
          <a:noFill/>
        </p:spPr>
        <p:txBody>
          <a:bodyPr wrap="square">
            <a:spAutoFit/>
          </a:bodyPr>
          <a:lstStyle/>
          <a:p>
            <a:pPr algn="l">
              <a:lnSpc>
                <a:spcPct val="115000"/>
              </a:lnSpc>
            </a:pPr>
            <a:r>
              <a:rPr sz="1200" b="0" i="0">
                <a:solidFill>
                  <a:srgbClr val="898781"/>
                </a:solidFill>
                <a:latin typeface="Helvetica Neue"/>
              </a:rPr>
              <a:t>github.com/ronvoy/gen-ai   ·   unina.cc/gen-ai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