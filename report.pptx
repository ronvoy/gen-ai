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6"/>
  </p:normalViewPr>
  <p:slideViewPr>
    <p:cSldViewPr snapToGrid="0" snapToObjects="1">
      <p:cViewPr varScale="1">
        <p:scale>
          <a:sx n="105" d="100"/>
          <a:sy n="105"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P"/>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8925C-60B5-0140-85DC-B55942F6CDA3}" type="datetimeFigureOut">
              <a:rPr lang="en-NP" smtClean="0"/>
              <a:t>22/07/2026</a:t>
            </a:fld>
            <a:endParaRPr lang="en-NP"/>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P"/>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P"/>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P"/>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F49565-4748-5C44-A67D-DB95F795ED62}" type="slidenum">
              <a:rPr lang="en-NP" smtClean="0"/>
              <a:t>‹#›</a:t>
            </a:fld>
            <a:endParaRPr lang="en-NP"/>
          </a:p>
        </p:txBody>
      </p:sp>
    </p:spTree>
    <p:extLst>
      <p:ext uri="{BB962C8B-B14F-4D97-AF65-F5344CB8AC3E}">
        <p14:creationId xmlns:p14="http://schemas.microsoft.com/office/powerpoint/2010/main" val="3653739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P" dirty="0"/>
          </a:p>
        </p:txBody>
      </p:sp>
      <p:sp>
        <p:nvSpPr>
          <p:cNvPr id="4" name="Slide Number Placeholder 3"/>
          <p:cNvSpPr>
            <a:spLocks noGrp="1"/>
          </p:cNvSpPr>
          <p:nvPr>
            <p:ph type="sldNum" sz="quarter" idx="5"/>
          </p:nvPr>
        </p:nvSpPr>
        <p:spPr/>
        <p:txBody>
          <a:bodyPr/>
          <a:lstStyle/>
          <a:p>
            <a:fld id="{A4F49565-4748-5C44-A67D-DB95F795ED62}" type="slidenum">
              <a:rPr lang="en-NP" smtClean="0"/>
              <a:t>12</a:t>
            </a:fld>
            <a:endParaRPr lang="en-NP"/>
          </a:p>
        </p:txBody>
      </p:sp>
    </p:spTree>
    <p:extLst>
      <p:ext uri="{BB962C8B-B14F-4D97-AF65-F5344CB8AC3E}">
        <p14:creationId xmlns:p14="http://schemas.microsoft.com/office/powerpoint/2010/main" val="34599114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2801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965960"/>
            <a:ext cx="10515600" cy="365760"/>
          </a:xfrm>
          <a:prstGeom prst="rect">
            <a:avLst/>
          </a:prstGeom>
          <a:noFill/>
        </p:spPr>
        <p:txBody>
          <a:bodyPr wrap="square" lIns="0" tIns="0" rIns="0" bIns="0" anchor="t">
            <a:spAutoFit/>
          </a:bodyPr>
          <a:lstStyle/>
          <a:p>
            <a:pPr algn="l">
              <a:lnSpc>
                <a:spcPct val="100000"/>
              </a:lnSpc>
            </a:pPr>
            <a:r>
              <a:rPr sz="1400" b="1" i="0">
                <a:solidFill>
                  <a:srgbClr val="2A78D6"/>
                </a:solidFill>
                <a:latin typeface="Helvetica Neue"/>
              </a:rPr>
              <a:t>MID-TERM EMPIRICAL STUDY</a:t>
            </a:r>
          </a:p>
        </p:txBody>
      </p:sp>
      <p:sp>
        <p:nvSpPr>
          <p:cNvPr id="5" name="TextBox 4"/>
          <p:cNvSpPr txBox="1"/>
          <p:nvPr/>
        </p:nvSpPr>
        <p:spPr>
          <a:xfrm>
            <a:off x="822960" y="2359152"/>
            <a:ext cx="10515600" cy="1554480"/>
          </a:xfrm>
          <a:prstGeom prst="rect">
            <a:avLst/>
          </a:prstGeom>
          <a:noFill/>
        </p:spPr>
        <p:txBody>
          <a:bodyPr wrap="square" lIns="0" tIns="0" rIns="0" bIns="0" anchor="t">
            <a:spAutoFit/>
          </a:bodyPr>
          <a:lstStyle/>
          <a:p>
            <a:pPr algn="l">
              <a:lnSpc>
                <a:spcPct val="105000"/>
              </a:lnSpc>
            </a:pPr>
            <a:r>
              <a:rPr sz="3600" b="1" i="0">
                <a:solidFill>
                  <a:srgbClr val="0B0B0B"/>
                </a:solidFill>
                <a:latin typeface="Helvetica Neue"/>
              </a:rPr>
              <a:t>LAMBADA &amp; MMLU Benchmark
Evaluation of Small Language Models</a:t>
            </a:r>
          </a:p>
        </p:txBody>
      </p:sp>
      <p:sp>
        <p:nvSpPr>
          <p:cNvPr id="6" name="TextBox 5"/>
          <p:cNvSpPr txBox="1"/>
          <p:nvPr/>
        </p:nvSpPr>
        <p:spPr>
          <a:xfrm>
            <a:off x="822960" y="3703320"/>
            <a:ext cx="10515600" cy="822960"/>
          </a:xfrm>
          <a:prstGeom prst="rect">
            <a:avLst/>
          </a:prstGeom>
          <a:noFill/>
        </p:spPr>
        <p:txBody>
          <a:bodyPr wrap="square" lIns="0" tIns="0" rIns="0" bIns="0" anchor="t">
            <a:spAutoFit/>
          </a:bodyPr>
          <a:lstStyle/>
          <a:p>
            <a:pPr algn="l">
              <a:lnSpc>
                <a:spcPct val="125000"/>
              </a:lnSpc>
            </a:pPr>
            <a:r>
              <a:rPr sz="1450" b="0" i="1" dirty="0">
                <a:solidFill>
                  <a:srgbClr val="52514E"/>
                </a:solidFill>
                <a:latin typeface="Helvetica Neue"/>
              </a:rPr>
              <a:t>Evaluating small language models on long-range word prediction (LAMBADA) and multi-subject knowledge &amp; reasoning (MMLU) — architecture, fine-tuning parameters, metrics, and results explained in full.</a:t>
            </a:r>
          </a:p>
        </p:txBody>
      </p:sp>
      <p:cxnSp>
        <p:nvCxnSpPr>
          <p:cNvPr id="7" name="Connector 6"/>
          <p:cNvCxnSpPr/>
          <p:nvPr/>
        </p:nvCxnSpPr>
        <p:spPr>
          <a:xfrm>
            <a:off x="822960" y="4709160"/>
            <a:ext cx="10515600"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4937760"/>
            <a:ext cx="5486400" cy="320040"/>
          </a:xfrm>
          <a:prstGeom prst="rect">
            <a:avLst/>
          </a:prstGeom>
          <a:noFill/>
        </p:spPr>
        <p:txBody>
          <a:bodyPr wrap="square" lIns="0" tIns="0" rIns="0" bIns="0" anchor="t">
            <a:spAutoFit/>
          </a:bodyPr>
          <a:lstStyle/>
          <a:p>
            <a:pPr algn="l">
              <a:lnSpc>
                <a:spcPct val="100000"/>
              </a:lnSpc>
            </a:pPr>
            <a:r>
              <a:rPr sz="1050" b="1" i="0">
                <a:solidFill>
                  <a:srgbClr val="898781"/>
                </a:solidFill>
                <a:latin typeface="Helvetica Neue"/>
              </a:rPr>
              <a:t>SUBMITTED TO</a:t>
            </a:r>
          </a:p>
        </p:txBody>
      </p:sp>
      <p:sp>
        <p:nvSpPr>
          <p:cNvPr id="9" name="TextBox 8"/>
          <p:cNvSpPr txBox="1"/>
          <p:nvPr/>
        </p:nvSpPr>
        <p:spPr>
          <a:xfrm>
            <a:off x="822960" y="5230368"/>
            <a:ext cx="5486400" cy="365760"/>
          </a:xfrm>
          <a:prstGeom prst="rect">
            <a:avLst/>
          </a:prstGeom>
          <a:noFill/>
        </p:spPr>
        <p:txBody>
          <a:bodyPr wrap="square" lIns="0" tIns="0" rIns="0" bIns="0" anchor="t">
            <a:spAutoFit/>
          </a:bodyPr>
          <a:lstStyle/>
          <a:p>
            <a:pPr algn="l">
              <a:lnSpc>
                <a:spcPct val="100000"/>
              </a:lnSpc>
            </a:pPr>
            <a:r>
              <a:rPr sz="1400" b="0" i="0">
                <a:solidFill>
                  <a:srgbClr val="0B0B0B"/>
                </a:solidFill>
                <a:latin typeface="Helvetica Neue"/>
              </a:rPr>
              <a:t>Prof. Anna Corazza</a:t>
            </a:r>
          </a:p>
        </p:txBody>
      </p:sp>
      <p:sp>
        <p:nvSpPr>
          <p:cNvPr id="10" name="TextBox 9"/>
          <p:cNvSpPr txBox="1"/>
          <p:nvPr/>
        </p:nvSpPr>
        <p:spPr>
          <a:xfrm>
            <a:off x="822960" y="5623560"/>
            <a:ext cx="8229600" cy="320040"/>
          </a:xfrm>
          <a:prstGeom prst="rect">
            <a:avLst/>
          </a:prstGeom>
          <a:noFill/>
        </p:spPr>
        <p:txBody>
          <a:bodyPr wrap="square" lIns="0" tIns="0" rIns="0" bIns="0" anchor="t">
            <a:spAutoFit/>
          </a:bodyPr>
          <a:lstStyle/>
          <a:p>
            <a:pPr algn="l">
              <a:lnSpc>
                <a:spcPct val="100000"/>
              </a:lnSpc>
            </a:pPr>
            <a:r>
              <a:rPr sz="1050" b="1" i="0">
                <a:solidFill>
                  <a:srgbClr val="898781"/>
                </a:solidFill>
                <a:latin typeface="Helvetica Neue"/>
              </a:rPr>
              <a:t>TEAM WORK — SUBMITTED BY</a:t>
            </a:r>
          </a:p>
        </p:txBody>
      </p:sp>
      <p:sp>
        <p:nvSpPr>
          <p:cNvPr id="11" name="TextBox 10"/>
          <p:cNvSpPr txBox="1"/>
          <p:nvPr/>
        </p:nvSpPr>
        <p:spPr>
          <a:xfrm>
            <a:off x="822960" y="5916168"/>
            <a:ext cx="8229600" cy="365760"/>
          </a:xfrm>
          <a:prstGeom prst="rect">
            <a:avLst/>
          </a:prstGeom>
          <a:noFill/>
        </p:spPr>
        <p:txBody>
          <a:bodyPr wrap="square" lIns="0" tIns="0" rIns="0" bIns="0" anchor="t">
            <a:spAutoFit/>
          </a:bodyPr>
          <a:lstStyle/>
          <a:p>
            <a:pPr algn="l">
              <a:lnSpc>
                <a:spcPct val="100000"/>
              </a:lnSpc>
            </a:pPr>
            <a:r>
              <a:rPr sz="1400" b="0" i="0">
                <a:solidFill>
                  <a:srgbClr val="0B0B0B"/>
                </a:solidFill>
                <a:latin typeface="Helvetica Neue"/>
              </a:rPr>
              <a:t>Francesco Ventimiglia   ·   Danilo Rodriguez   ·   Rohan Baidya</a:t>
            </a:r>
          </a:p>
        </p:txBody>
      </p:sp>
      <p:sp>
        <p:nvSpPr>
          <p:cNvPr id="12" name="TextBox 11"/>
          <p:cNvSpPr txBox="1"/>
          <p:nvPr/>
        </p:nvSpPr>
        <p:spPr>
          <a:xfrm>
            <a:off x="822960" y="6355080"/>
            <a:ext cx="8229600" cy="320040"/>
          </a:xfrm>
          <a:prstGeom prst="rect">
            <a:avLst/>
          </a:prstGeom>
          <a:noFill/>
        </p:spPr>
        <p:txBody>
          <a:bodyPr wrap="square" lIns="0" tIns="0" rIns="0" bIns="0" anchor="t">
            <a:spAutoFit/>
          </a:bodyPr>
          <a:lstStyle/>
          <a:p>
            <a:pPr algn="l">
              <a:lnSpc>
                <a:spcPct val="100000"/>
              </a:lnSpc>
            </a:pPr>
            <a:r>
              <a:rPr sz="1050" b="0" i="0">
                <a:solidFill>
                  <a:srgbClr val="898781"/>
                </a:solidFill>
                <a:latin typeface="Helvetica Neue"/>
              </a:rPr>
              <a:t>github.com/ronvoy/gen-ai   ·   unina.cc/gen-ai</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502920"/>
            <a:ext cx="11064240" cy="640080"/>
          </a:xfrm>
          <a:prstGeom prst="rect">
            <a:avLst/>
          </a:prstGeom>
          <a:noFill/>
        </p:spPr>
        <p:txBody>
          <a:bodyPr wrap="square" lIns="0" tIns="0" rIns="0" bIns="0" anchor="t">
            <a:spAutoFit/>
          </a:bodyPr>
          <a:lstStyle/>
          <a:p>
            <a:pPr algn="l">
              <a:lnSpc>
                <a:spcPct val="100000"/>
              </a:lnSpc>
            </a:pPr>
            <a:r>
              <a:rPr sz="3000" b="1" i="0">
                <a:solidFill>
                  <a:srgbClr val="0B0B0B"/>
                </a:solidFill>
                <a:latin typeface="Helvetica Neue"/>
              </a:rPr>
              <a:t>Research Question</a:t>
            </a:r>
          </a:p>
        </p:txBody>
      </p:sp>
      <p:cxnSp>
        <p:nvCxnSpPr>
          <p:cNvPr id="4" name="Connector 3"/>
          <p:cNvCxnSpPr/>
          <p:nvPr/>
        </p:nvCxnSpPr>
        <p:spPr>
          <a:xfrm>
            <a:off x="548640" y="118872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548640" y="1691640"/>
            <a:ext cx="11064240" cy="1920240"/>
          </a:xfrm>
          <a:prstGeom prst="roundRect">
            <a:avLst>
              <a:gd name="adj" fmla="val 6000"/>
            </a:avLst>
          </a:prstGeom>
          <a:solidFill>
            <a:srgbClr val="F9F9F7"/>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wrap="square" lIns="355600" tIns="228600" rIns="355600" bIns="228600" rtlCol="0" anchor="ctr"/>
          <a:lstStyle/>
          <a:p>
            <a:pPr algn="ctr">
              <a:lnSpc>
                <a:spcPct val="120000"/>
              </a:lnSpc>
            </a:pPr>
            <a:r>
              <a:rPr sz="2100" b="1">
                <a:solidFill>
                  <a:srgbClr val="0B0B0B"/>
                </a:solidFill>
                <a:latin typeface="Helvetica Neue"/>
              </a:rPr>
              <a:t>Among three small language models built with different compression strategies and attention mechanisms, which one best balances accuracy, reasoning quality, and latency — on long-range context prediction (LAMBADA) and broad knowledge &amp; reasoning (MMLU)?</a:t>
            </a:r>
          </a:p>
        </p:txBody>
      </p:sp>
      <p:sp>
        <p:nvSpPr>
          <p:cNvPr id="6" name="TextBox 5"/>
          <p:cNvSpPr txBox="1"/>
          <p:nvPr/>
        </p:nvSpPr>
        <p:spPr>
          <a:xfrm>
            <a:off x="548640" y="3931920"/>
            <a:ext cx="11064240" cy="1463040"/>
          </a:xfrm>
          <a:prstGeom prst="rect">
            <a:avLst/>
          </a:prstGeom>
          <a:noFill/>
        </p:spPr>
        <p:txBody>
          <a:bodyPr wrap="square" lIns="0" tIns="0" rIns="0" bIns="0" anchor="t">
            <a:spAutoFit/>
          </a:bodyPr>
          <a:lstStyle/>
          <a:p>
            <a:pPr algn="l">
              <a:lnSpc>
                <a:spcPct val="130000"/>
              </a:lnSpc>
            </a:pPr>
            <a:r>
              <a:rPr sz="1600" b="0" i="1">
                <a:solidFill>
                  <a:srgbClr val="52514E"/>
                </a:solidFill>
                <a:latin typeface="Helvetica Neue"/>
              </a:rPr>
              <a:t>In particular: does a larger, non-distilled model (Ministral-8B) outperform smaller distilled/pruned models (Gemma-3-4B, Llama-3.2-3B) across both benchmarks — or does compression cost more in one dimension (accuracy, reasoning, speed) than another?</a:t>
            </a:r>
          </a:p>
        </p:txBody>
      </p:sp>
      <p:sp>
        <p:nvSpPr>
          <p:cNvPr id="7" name="TextBox 6"/>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8" name="TextBox 7"/>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502920"/>
            <a:ext cx="11064240" cy="640080"/>
          </a:xfrm>
          <a:prstGeom prst="rect">
            <a:avLst/>
          </a:prstGeom>
          <a:noFill/>
        </p:spPr>
        <p:txBody>
          <a:bodyPr wrap="square" lIns="0" tIns="0" rIns="0" bIns="0" anchor="t">
            <a:spAutoFit/>
          </a:bodyPr>
          <a:lstStyle/>
          <a:p>
            <a:pPr algn="l">
              <a:lnSpc>
                <a:spcPct val="100000"/>
              </a:lnSpc>
            </a:pPr>
            <a:r>
              <a:rPr sz="3000" b="1" i="0">
                <a:solidFill>
                  <a:srgbClr val="0B0B0B"/>
                </a:solidFill>
                <a:latin typeface="Helvetica Neue"/>
              </a:rPr>
              <a:t>Experimental Protocol</a:t>
            </a:r>
          </a:p>
        </p:txBody>
      </p:sp>
      <p:cxnSp>
        <p:nvCxnSpPr>
          <p:cNvPr id="4" name="Connector 3"/>
          <p:cNvCxnSpPr/>
          <p:nvPr/>
        </p:nvCxnSpPr>
        <p:spPr>
          <a:xfrm>
            <a:off x="548640" y="118872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46304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DATASET</a:t>
            </a:r>
          </a:p>
        </p:txBody>
      </p:sp>
      <p:sp>
        <p:nvSpPr>
          <p:cNvPr id="6" name="TextBox 5"/>
          <p:cNvSpPr txBox="1"/>
          <p:nvPr/>
        </p:nvSpPr>
        <p:spPr>
          <a:xfrm>
            <a:off x="548640" y="1810512"/>
            <a:ext cx="5440680" cy="196138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LAMBADA: 5,153-passage test split from BookCorpus (English, ACL 2016).</a:t>
            </a:r>
          </a:p>
          <a:p>
            <a:pPr>
              <a:lnSpc>
                <a:spcPct val="112000"/>
              </a:lnSpc>
              <a:spcAft>
                <a:spcPts val="600"/>
              </a:spcAft>
            </a:pPr>
            <a:r>
              <a:rPr sz="1250">
                <a:solidFill>
                  <a:srgbClr val="52514E"/>
                </a:solidFill>
                <a:latin typeface="Helvetica Neue"/>
              </a:rPr>
              <a:t>—  MMLU: 57 subjects × 5 questions/subject = 285 questions per model, fetched from the free HF datasets-server API and cached locally.</a:t>
            </a:r>
          </a:p>
        </p:txBody>
      </p:sp>
      <p:sp>
        <p:nvSpPr>
          <p:cNvPr id="7" name="TextBox 6"/>
          <p:cNvSpPr txBox="1"/>
          <p:nvPr/>
        </p:nvSpPr>
        <p:spPr>
          <a:xfrm>
            <a:off x="6217920" y="146304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PREPROCESSING</a:t>
            </a:r>
          </a:p>
        </p:txBody>
      </p:sp>
      <p:sp>
        <p:nvSpPr>
          <p:cNvPr id="8" name="TextBox 7"/>
          <p:cNvSpPr txBox="1"/>
          <p:nvPr/>
        </p:nvSpPr>
        <p:spPr>
          <a:xfrm>
            <a:off x="6217920" y="1810512"/>
            <a:ext cx="5440680" cy="196138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LAMBADA: predictions normalized (lowercase, punctuation stripped) before exact-match comparison.</a:t>
            </a:r>
          </a:p>
          <a:p>
            <a:pPr>
              <a:lnSpc>
                <a:spcPct val="112000"/>
              </a:lnSpc>
              <a:spcAft>
                <a:spcPts val="600"/>
              </a:spcAft>
            </a:pPr>
            <a:r>
              <a:rPr sz="1250">
                <a:solidFill>
                  <a:srgbClr val="52514E"/>
                </a:solidFill>
                <a:latin typeface="Helvetica Neue"/>
              </a:rPr>
              <a:t>—  MMLU: chain-of-thought prompt with one worked example enforcing a strict Reasoning: / Answer: &lt;letter&gt; format.</a:t>
            </a:r>
          </a:p>
        </p:txBody>
      </p:sp>
      <p:sp>
        <p:nvSpPr>
          <p:cNvPr id="9" name="TextBox 8"/>
          <p:cNvSpPr txBox="1"/>
          <p:nvPr/>
        </p:nvSpPr>
        <p:spPr>
          <a:xfrm>
            <a:off x="548640" y="404622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DECODING SETUP (NO TRAINING)</a:t>
            </a:r>
          </a:p>
        </p:txBody>
      </p:sp>
      <p:sp>
        <p:nvSpPr>
          <p:cNvPr id="10" name="TextBox 9"/>
          <p:cNvSpPr txBox="1"/>
          <p:nvPr/>
        </p:nvSpPr>
        <p:spPr>
          <a:xfrm>
            <a:off x="548640" y="4393692"/>
            <a:ext cx="5440680" cy="196138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No model weights are changed — only decoding parameters (temperature, top-p, max tokens, few-shot count) vary.</a:t>
            </a:r>
          </a:p>
          <a:p>
            <a:pPr>
              <a:lnSpc>
                <a:spcPct val="112000"/>
              </a:lnSpc>
              <a:spcAft>
                <a:spcPts val="600"/>
              </a:spcAft>
            </a:pPr>
            <a:r>
              <a:rPr sz="1250">
                <a:solidFill>
                  <a:srgbClr val="52514E"/>
                </a:solidFill>
                <a:latin typeface="Helvetica Neue"/>
              </a:rPr>
              <a:t>—  Shared presets — Optimal, Normal, Best Performance — apply identically to both benchmarks and all three models for a like-for-like comparison.</a:t>
            </a:r>
          </a:p>
        </p:txBody>
      </p:sp>
      <p:sp>
        <p:nvSpPr>
          <p:cNvPr id="11" name="TextBox 10"/>
          <p:cNvSpPr txBox="1"/>
          <p:nvPr/>
        </p:nvSpPr>
        <p:spPr>
          <a:xfrm>
            <a:off x="6217920" y="404622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EVALUATION STRATEGY</a:t>
            </a:r>
          </a:p>
        </p:txBody>
      </p:sp>
      <p:sp>
        <p:nvSpPr>
          <p:cNvPr id="12" name="TextBox 11"/>
          <p:cNvSpPr txBox="1"/>
          <p:nvPr/>
        </p:nvSpPr>
        <p:spPr>
          <a:xfrm>
            <a:off x="6217920" y="4393692"/>
            <a:ext cx="5440680" cy="196138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All models queried through the OpenRouter API for a hardware-neutral comparison.</a:t>
            </a:r>
          </a:p>
          <a:p>
            <a:pPr>
              <a:lnSpc>
                <a:spcPct val="112000"/>
              </a:lnSpc>
              <a:spcAft>
                <a:spcPts val="600"/>
              </a:spcAft>
            </a:pPr>
            <a:r>
              <a:rPr sz="1250">
                <a:solidFill>
                  <a:srgbClr val="52514E"/>
                </a:solidFill>
                <a:latin typeface="Helvetica Neue"/>
              </a:rPr>
              <a:t>—  Deterministic sampling — fixed subject/question order, no randomness — for reproducible runs.</a:t>
            </a:r>
          </a:p>
          <a:p>
            <a:pPr>
              <a:lnSpc>
                <a:spcPct val="112000"/>
              </a:lnSpc>
              <a:spcAft>
                <a:spcPts val="600"/>
              </a:spcAft>
            </a:pPr>
            <a:r>
              <a:rPr sz="1250">
                <a:solidFill>
                  <a:srgbClr val="52514E"/>
                </a:solidFill>
                <a:latin typeface="Helvetica Neue"/>
              </a:rPr>
              <a:t>—  Metrics captured live in one shared web app: terminal streaming, run history, charts.</a:t>
            </a:r>
          </a:p>
        </p:txBody>
      </p:sp>
      <p:sp>
        <p:nvSpPr>
          <p:cNvPr id="13" name="TextBox 12"/>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4" name="TextBox 13"/>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502920"/>
            <a:ext cx="11064240" cy="640080"/>
          </a:xfrm>
          <a:prstGeom prst="rect">
            <a:avLst/>
          </a:prstGeom>
          <a:noFill/>
        </p:spPr>
        <p:txBody>
          <a:bodyPr wrap="square" lIns="0" tIns="0" rIns="0" bIns="0" anchor="t">
            <a:spAutoFit/>
          </a:bodyPr>
          <a:lstStyle/>
          <a:p>
            <a:pPr algn="l">
              <a:lnSpc>
                <a:spcPct val="100000"/>
              </a:lnSpc>
            </a:pPr>
            <a:r>
              <a:rPr sz="3000" b="1" i="0">
                <a:solidFill>
                  <a:srgbClr val="0B0B0B"/>
                </a:solidFill>
                <a:latin typeface="Helvetica Neue"/>
              </a:rPr>
              <a:t>Benchmark</a:t>
            </a:r>
          </a:p>
        </p:txBody>
      </p:sp>
      <p:cxnSp>
        <p:nvCxnSpPr>
          <p:cNvPr id="4" name="Connector 3"/>
          <p:cNvCxnSpPr/>
          <p:nvPr/>
        </p:nvCxnSpPr>
        <p:spPr>
          <a:xfrm>
            <a:off x="548640" y="118872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417320"/>
            <a:ext cx="1106424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BASELINE TASK</a:t>
            </a:r>
          </a:p>
        </p:txBody>
      </p:sp>
      <p:sp>
        <p:nvSpPr>
          <p:cNvPr id="6" name="TextBox 5"/>
          <p:cNvSpPr txBox="1"/>
          <p:nvPr/>
        </p:nvSpPr>
        <p:spPr>
          <a:xfrm>
            <a:off x="548640" y="1737360"/>
            <a:ext cx="11064240" cy="914400"/>
          </a:xfrm>
          <a:prstGeom prst="rect">
            <a:avLst/>
          </a:prstGeom>
          <a:noFill/>
        </p:spPr>
        <p:txBody>
          <a:bodyPr wrap="square">
            <a:spAutoFit/>
          </a:bodyPr>
          <a:lstStyle/>
          <a:p>
            <a:pPr>
              <a:lnSpc>
                <a:spcPct val="112000"/>
              </a:lnSpc>
              <a:spcAft>
                <a:spcPts val="0"/>
              </a:spcAft>
            </a:pPr>
            <a:r>
              <a:rPr sz="1350">
                <a:solidFill>
                  <a:srgbClr val="52514E"/>
                </a:solidFill>
                <a:latin typeface="Helvetica Neue"/>
              </a:rPr>
              <a:t>—  LAMBADA: predict the single next word of a passage, guessable only from full context. MMLU: choose the correct option (A–D) after writing short step-by-step reasoning. No fine-tuning either way — every model is evaluated purely on its pretrained + instruction-tuned weights.</a:t>
            </a:r>
          </a:p>
        </p:txBody>
      </p:sp>
      <p:sp>
        <p:nvSpPr>
          <p:cNvPr id="7" name="TextBox 6"/>
          <p:cNvSpPr txBox="1"/>
          <p:nvPr/>
        </p:nvSpPr>
        <p:spPr>
          <a:xfrm>
            <a:off x="548640" y="2743200"/>
            <a:ext cx="53949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REFERENCE CRITERIA — LAMBADA</a:t>
            </a:r>
          </a:p>
        </p:txBody>
      </p:sp>
      <p:graphicFrame>
        <p:nvGraphicFramePr>
          <p:cNvPr id="8" name="Table 7"/>
          <p:cNvGraphicFramePr>
            <a:graphicFrameLocks noGrp="1"/>
          </p:cNvGraphicFramePr>
          <p:nvPr/>
        </p:nvGraphicFramePr>
        <p:xfrm>
          <a:off x="548640" y="3063240"/>
          <a:ext cx="5394959" cy="1920240"/>
        </p:xfrm>
        <a:graphic>
          <a:graphicData uri="http://schemas.openxmlformats.org/drawingml/2006/table">
            <a:tbl>
              <a:tblPr firstRow="1" bandRow="1">
                <a:tableStyleId>{5C22544A-7EE6-4342-B048-85BDC9FD1C3A}</a:tableStyleId>
              </a:tblPr>
              <a:tblGrid>
                <a:gridCol w="3853542">
                  <a:extLst>
                    <a:ext uri="{9D8B030D-6E8A-4147-A177-3AD203B41FA5}">
                      <a16:colId xmlns:a16="http://schemas.microsoft.com/office/drawing/2014/main" val="20000"/>
                    </a:ext>
                  </a:extLst>
                </a:gridCol>
                <a:gridCol w="1541417">
                  <a:extLst>
                    <a:ext uri="{9D8B030D-6E8A-4147-A177-3AD203B41FA5}">
                      <a16:colId xmlns:a16="http://schemas.microsoft.com/office/drawing/2014/main" val="20001"/>
                    </a:ext>
                  </a:extLst>
                </a:gridCol>
              </a:tblGrid>
              <a:tr h="384048">
                <a:tc>
                  <a:txBody>
                    <a:bodyPr/>
                    <a:lstStyle/>
                    <a:p>
                      <a:r>
                        <a:rPr sz="1200" b="1">
                          <a:solidFill>
                            <a:srgbClr val="FFFFFF"/>
                          </a:solidFill>
                          <a:latin typeface="Helvetica Neue"/>
                        </a:rPr>
                        <a:t>Metric</a:t>
                      </a:r>
                    </a:p>
                  </a:txBody>
                  <a:tcPr marL="101600" marR="76200" marT="50800" marB="50800" anchor="ctr">
                    <a:solidFill>
                      <a:srgbClr val="0B0B0B"/>
                    </a:solidFill>
                  </a:tcPr>
                </a:tc>
                <a:tc>
                  <a:txBody>
                    <a:bodyPr/>
                    <a:lstStyle/>
                    <a:p>
                      <a:r>
                        <a:rPr sz="1200" b="1">
                          <a:solidFill>
                            <a:srgbClr val="FFFFFF"/>
                          </a:solidFill>
                          <a:latin typeface="Helvetica Neue"/>
                        </a:rPr>
                        <a:t>Better</a:t>
                      </a:r>
                    </a:p>
                  </a:txBody>
                  <a:tcPr marL="101600" marR="76200" marT="50800" marB="50800" anchor="ctr">
                    <a:solidFill>
                      <a:srgbClr val="0B0B0B"/>
                    </a:solidFill>
                  </a:tcPr>
                </a:tc>
                <a:extLst>
                  <a:ext uri="{0D108BD9-81ED-4DB2-BD59-A6C34878D82A}">
                    <a16:rowId xmlns:a16="http://schemas.microsoft.com/office/drawing/2014/main" val="10000"/>
                  </a:ext>
                </a:extLst>
              </a:tr>
              <a:tr h="384048">
                <a:tc>
                  <a:txBody>
                    <a:bodyPr/>
                    <a:lstStyle/>
                    <a:p>
                      <a:r>
                        <a:rPr sz="1200" b="1">
                          <a:solidFill>
                            <a:srgbClr val="0B0B0B"/>
                          </a:solidFill>
                          <a:latin typeface="Helvetica Neue"/>
                        </a:rPr>
                        <a:t>Exact-match accuracy</a:t>
                      </a:r>
                    </a:p>
                  </a:txBody>
                  <a:tcPr marL="101600" marR="76200" marT="38100" marB="38100" anchor="ctr">
                    <a:solidFill>
                      <a:srgbClr val="FCFCFB"/>
                    </a:solidFill>
                  </a:tcPr>
                </a:tc>
                <a:tc>
                  <a:txBody>
                    <a:bodyPr/>
                    <a:lstStyle/>
                    <a:p>
                      <a:r>
                        <a:rPr sz="1200">
                          <a:solidFill>
                            <a:srgbClr val="52514E"/>
                          </a:solidFill>
                          <a:latin typeface="Helvetica Neue"/>
                        </a:rPr>
                        <a:t>Higher</a:t>
                      </a:r>
                    </a:p>
                  </a:txBody>
                  <a:tcPr marL="101600" marR="76200" marT="38100" marB="38100" anchor="ctr">
                    <a:solidFill>
                      <a:srgbClr val="FCFCFB"/>
                    </a:solidFill>
                  </a:tcPr>
                </a:tc>
                <a:extLst>
                  <a:ext uri="{0D108BD9-81ED-4DB2-BD59-A6C34878D82A}">
                    <a16:rowId xmlns:a16="http://schemas.microsoft.com/office/drawing/2014/main" val="10001"/>
                  </a:ext>
                </a:extLst>
              </a:tr>
              <a:tr h="384048">
                <a:tc>
                  <a:txBody>
                    <a:bodyPr/>
                    <a:lstStyle/>
                    <a:p>
                      <a:r>
                        <a:rPr sz="1200" b="1">
                          <a:solidFill>
                            <a:srgbClr val="0B0B0B"/>
                          </a:solidFill>
                          <a:latin typeface="Helvetica Neue"/>
                        </a:rPr>
                        <a:t>Average response time</a:t>
                      </a:r>
                    </a:p>
                  </a:txBody>
                  <a:tcPr marL="101600" marR="76200" marT="38100" marB="38100" anchor="ctr">
                    <a:solidFill>
                      <a:srgbClr val="F3F2EE"/>
                    </a:solidFill>
                  </a:tcPr>
                </a:tc>
                <a:tc>
                  <a:txBody>
                    <a:bodyPr/>
                    <a:lstStyle/>
                    <a:p>
                      <a:r>
                        <a:rPr sz="1200">
                          <a:solidFill>
                            <a:srgbClr val="52514E"/>
                          </a:solidFill>
                          <a:latin typeface="Helvetica Neue"/>
                        </a:rPr>
                        <a:t>Lower</a:t>
                      </a:r>
                    </a:p>
                  </a:txBody>
                  <a:tcPr marL="101600" marR="76200" marT="38100" marB="38100" anchor="ctr">
                    <a:solidFill>
                      <a:srgbClr val="F3F2EE"/>
                    </a:solidFill>
                  </a:tcPr>
                </a:tc>
                <a:extLst>
                  <a:ext uri="{0D108BD9-81ED-4DB2-BD59-A6C34878D82A}">
                    <a16:rowId xmlns:a16="http://schemas.microsoft.com/office/drawing/2014/main" val="10002"/>
                  </a:ext>
                </a:extLst>
              </a:tr>
              <a:tr h="384048">
                <a:tc>
                  <a:txBody>
                    <a:bodyPr/>
                    <a:lstStyle/>
                    <a:p>
                      <a:r>
                        <a:rPr sz="1200" b="1">
                          <a:solidFill>
                            <a:srgbClr val="0B0B0B"/>
                          </a:solidFill>
                          <a:latin typeface="Helvetica Neue"/>
                        </a:rPr>
                        <a:t>Error rate</a:t>
                      </a:r>
                    </a:p>
                  </a:txBody>
                  <a:tcPr marL="101600" marR="76200" marT="38100" marB="38100" anchor="ctr">
                    <a:solidFill>
                      <a:srgbClr val="FCFCFB"/>
                    </a:solidFill>
                  </a:tcPr>
                </a:tc>
                <a:tc>
                  <a:txBody>
                    <a:bodyPr/>
                    <a:lstStyle/>
                    <a:p>
                      <a:r>
                        <a:rPr sz="1200">
                          <a:solidFill>
                            <a:srgbClr val="52514E"/>
                          </a:solidFill>
                          <a:latin typeface="Helvetica Neue"/>
                        </a:rPr>
                        <a:t>Lower</a:t>
                      </a:r>
                    </a:p>
                  </a:txBody>
                  <a:tcPr marL="101600" marR="76200" marT="38100" marB="38100" anchor="ctr">
                    <a:solidFill>
                      <a:srgbClr val="FCFCFB"/>
                    </a:solidFill>
                  </a:tcPr>
                </a:tc>
                <a:extLst>
                  <a:ext uri="{0D108BD9-81ED-4DB2-BD59-A6C34878D82A}">
                    <a16:rowId xmlns:a16="http://schemas.microsoft.com/office/drawing/2014/main" val="10003"/>
                  </a:ext>
                </a:extLst>
              </a:tr>
              <a:tr h="384048">
                <a:tc>
                  <a:txBody>
                    <a:bodyPr/>
                    <a:lstStyle/>
                    <a:p>
                      <a:r>
                        <a:rPr sz="1200" b="1">
                          <a:solidFill>
                            <a:srgbClr val="0B0B0B"/>
                          </a:solidFill>
                          <a:latin typeface="Helvetica Neue"/>
                        </a:rPr>
                        <a:t>Throughput</a:t>
                      </a:r>
                    </a:p>
                  </a:txBody>
                  <a:tcPr marL="101600" marR="76200" marT="38100" marB="38100" anchor="ctr">
                    <a:solidFill>
                      <a:srgbClr val="F3F2EE"/>
                    </a:solidFill>
                  </a:tcPr>
                </a:tc>
                <a:tc>
                  <a:txBody>
                    <a:bodyPr/>
                    <a:lstStyle/>
                    <a:p>
                      <a:r>
                        <a:rPr sz="1200">
                          <a:solidFill>
                            <a:srgbClr val="52514E"/>
                          </a:solidFill>
                          <a:latin typeface="Helvetica Neue"/>
                        </a:rPr>
                        <a:t>Higher</a:t>
                      </a:r>
                    </a:p>
                  </a:txBody>
                  <a:tcPr marL="101600" marR="76200" marT="38100" marB="38100" anchor="ctr">
                    <a:solidFill>
                      <a:srgbClr val="F3F2EE"/>
                    </a:solidFill>
                  </a:tcPr>
                </a:tc>
                <a:extLst>
                  <a:ext uri="{0D108BD9-81ED-4DB2-BD59-A6C34878D82A}">
                    <a16:rowId xmlns:a16="http://schemas.microsoft.com/office/drawing/2014/main" val="10004"/>
                  </a:ext>
                </a:extLst>
              </a:tr>
            </a:tbl>
          </a:graphicData>
        </a:graphic>
      </p:graphicFrame>
      <p:sp>
        <p:nvSpPr>
          <p:cNvPr id="9" name="TextBox 8"/>
          <p:cNvSpPr txBox="1"/>
          <p:nvPr/>
        </p:nvSpPr>
        <p:spPr>
          <a:xfrm>
            <a:off x="6217920" y="2743200"/>
            <a:ext cx="53949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REFERENCE CRITERIA — MMLU</a:t>
            </a:r>
          </a:p>
        </p:txBody>
      </p:sp>
      <p:graphicFrame>
        <p:nvGraphicFramePr>
          <p:cNvPr id="10" name="Table 9"/>
          <p:cNvGraphicFramePr>
            <a:graphicFrameLocks noGrp="1"/>
          </p:cNvGraphicFramePr>
          <p:nvPr/>
        </p:nvGraphicFramePr>
        <p:xfrm>
          <a:off x="6217920" y="3063240"/>
          <a:ext cx="5394959" cy="1920240"/>
        </p:xfrm>
        <a:graphic>
          <a:graphicData uri="http://schemas.openxmlformats.org/drawingml/2006/table">
            <a:tbl>
              <a:tblPr firstRow="1" bandRow="1">
                <a:tableStyleId>{5C22544A-7EE6-4342-B048-85BDC9FD1C3A}</a:tableStyleId>
              </a:tblPr>
              <a:tblGrid>
                <a:gridCol w="1961803">
                  <a:extLst>
                    <a:ext uri="{9D8B030D-6E8A-4147-A177-3AD203B41FA5}">
                      <a16:colId xmlns:a16="http://schemas.microsoft.com/office/drawing/2014/main" val="20000"/>
                    </a:ext>
                  </a:extLst>
                </a:gridCol>
                <a:gridCol w="3433156">
                  <a:extLst>
                    <a:ext uri="{9D8B030D-6E8A-4147-A177-3AD203B41FA5}">
                      <a16:colId xmlns:a16="http://schemas.microsoft.com/office/drawing/2014/main" val="20001"/>
                    </a:ext>
                  </a:extLst>
                </a:gridCol>
              </a:tblGrid>
              <a:tr h="384048">
                <a:tc>
                  <a:txBody>
                    <a:bodyPr/>
                    <a:lstStyle/>
                    <a:p>
                      <a:r>
                        <a:rPr sz="1150" b="1">
                          <a:solidFill>
                            <a:srgbClr val="FFFFFF"/>
                          </a:solidFill>
                          <a:latin typeface="Helvetica Neue"/>
                        </a:rPr>
                        <a:t>Metric</a:t>
                      </a:r>
                    </a:p>
                  </a:txBody>
                  <a:tcPr marL="101600" marR="76200" marT="50800" marB="50800" anchor="ctr">
                    <a:solidFill>
                      <a:srgbClr val="0B0B0B"/>
                    </a:solidFill>
                  </a:tcPr>
                </a:tc>
                <a:tc>
                  <a:txBody>
                    <a:bodyPr/>
                    <a:lstStyle/>
                    <a:p>
                      <a:r>
                        <a:rPr sz="1150" b="1">
                          <a:solidFill>
                            <a:srgbClr val="FFFFFF"/>
                          </a:solidFill>
                          <a:latin typeface="Helvetica Neue"/>
                        </a:rPr>
                        <a:t>Definition</a:t>
                      </a:r>
                    </a:p>
                  </a:txBody>
                  <a:tcPr marL="101600" marR="76200" marT="50800" marB="50800" anchor="ctr">
                    <a:solidFill>
                      <a:srgbClr val="0B0B0B"/>
                    </a:solidFill>
                  </a:tcPr>
                </a:tc>
                <a:extLst>
                  <a:ext uri="{0D108BD9-81ED-4DB2-BD59-A6C34878D82A}">
                    <a16:rowId xmlns:a16="http://schemas.microsoft.com/office/drawing/2014/main" val="10000"/>
                  </a:ext>
                </a:extLst>
              </a:tr>
              <a:tr h="384048">
                <a:tc>
                  <a:txBody>
                    <a:bodyPr/>
                    <a:lstStyle/>
                    <a:p>
                      <a:r>
                        <a:rPr sz="1100" b="1">
                          <a:solidFill>
                            <a:srgbClr val="0B0B0B"/>
                          </a:solidFill>
                          <a:latin typeface="Helvetica Neue"/>
                        </a:rPr>
                        <a:t>Accuracy</a:t>
                      </a:r>
                    </a:p>
                  </a:txBody>
                  <a:tcPr marL="101600" marR="76200" marT="38100" marB="38100" anchor="ctr">
                    <a:solidFill>
                      <a:srgbClr val="FCFCFB"/>
                    </a:solidFill>
                  </a:tcPr>
                </a:tc>
                <a:tc>
                  <a:txBody>
                    <a:bodyPr/>
                    <a:lstStyle/>
                    <a:p>
                      <a:r>
                        <a:rPr sz="1100">
                          <a:solidFill>
                            <a:srgbClr val="52514E"/>
                          </a:solidFill>
                          <a:latin typeface="Helvetica Neue"/>
                        </a:rPr>
                        <a:t>Correct letters / total (exact match)</a:t>
                      </a:r>
                    </a:p>
                  </a:txBody>
                  <a:tcPr marL="101600" marR="76200" marT="38100" marB="38100" anchor="ctr">
                    <a:solidFill>
                      <a:srgbClr val="FCFCFB"/>
                    </a:solidFill>
                  </a:tcPr>
                </a:tc>
                <a:extLst>
                  <a:ext uri="{0D108BD9-81ED-4DB2-BD59-A6C34878D82A}">
                    <a16:rowId xmlns:a16="http://schemas.microsoft.com/office/drawing/2014/main" val="10001"/>
                  </a:ext>
                </a:extLst>
              </a:tr>
              <a:tr h="384048">
                <a:tc>
                  <a:txBody>
                    <a:bodyPr/>
                    <a:lstStyle/>
                    <a:p>
                      <a:r>
                        <a:rPr sz="1100" b="1">
                          <a:solidFill>
                            <a:srgbClr val="0B0B0B"/>
                          </a:solidFill>
                          <a:latin typeface="Helvetica Neue"/>
                        </a:rPr>
                        <a:t>Category accuracy</a:t>
                      </a:r>
                    </a:p>
                  </a:txBody>
                  <a:tcPr marL="101600" marR="76200" marT="38100" marB="38100" anchor="ctr">
                    <a:solidFill>
                      <a:srgbClr val="F3F2EE"/>
                    </a:solidFill>
                  </a:tcPr>
                </a:tc>
                <a:tc>
                  <a:txBody>
                    <a:bodyPr/>
                    <a:lstStyle/>
                    <a:p>
                      <a:r>
                        <a:rPr sz="1100">
                          <a:solidFill>
                            <a:srgbClr val="52514E"/>
                          </a:solidFill>
                          <a:latin typeface="Helvetica Neue"/>
                        </a:rPr>
                        <a:t>Per STEM / Human. / Social / Other</a:t>
                      </a:r>
                    </a:p>
                  </a:txBody>
                  <a:tcPr marL="101600" marR="76200" marT="38100" marB="38100" anchor="ctr">
                    <a:solidFill>
                      <a:srgbClr val="F3F2EE"/>
                    </a:solidFill>
                  </a:tcPr>
                </a:tc>
                <a:extLst>
                  <a:ext uri="{0D108BD9-81ED-4DB2-BD59-A6C34878D82A}">
                    <a16:rowId xmlns:a16="http://schemas.microsoft.com/office/drawing/2014/main" val="10002"/>
                  </a:ext>
                </a:extLst>
              </a:tr>
              <a:tr h="384048">
                <a:tc>
                  <a:txBody>
                    <a:bodyPr/>
                    <a:lstStyle/>
                    <a:p>
                      <a:r>
                        <a:rPr sz="1100" b="1">
                          <a:solidFill>
                            <a:srgbClr val="0B0B0B"/>
                          </a:solidFill>
                          <a:latin typeface="Helvetica Neue"/>
                        </a:rPr>
                        <a:t>Reasoning consistency</a:t>
                      </a:r>
                    </a:p>
                  </a:txBody>
                  <a:tcPr marL="101600" marR="76200" marT="38100" marB="38100" anchor="ctr">
                    <a:solidFill>
                      <a:srgbClr val="FCFCFB"/>
                    </a:solidFill>
                  </a:tcPr>
                </a:tc>
                <a:tc>
                  <a:txBody>
                    <a:bodyPr/>
                    <a:lstStyle/>
                    <a:p>
                      <a:r>
                        <a:rPr sz="1100">
                          <a:solidFill>
                            <a:srgbClr val="52514E"/>
                          </a:solidFill>
                          <a:latin typeface="Helvetica Neue"/>
                        </a:rPr>
                        <a:t>Reasoning supports the chosen option</a:t>
                      </a:r>
                    </a:p>
                  </a:txBody>
                  <a:tcPr marL="101600" marR="76200" marT="38100" marB="38100" anchor="ctr">
                    <a:solidFill>
                      <a:srgbClr val="FCFCFB"/>
                    </a:solidFill>
                  </a:tcPr>
                </a:tc>
                <a:extLst>
                  <a:ext uri="{0D108BD9-81ED-4DB2-BD59-A6C34878D82A}">
                    <a16:rowId xmlns:a16="http://schemas.microsoft.com/office/drawing/2014/main" val="10003"/>
                  </a:ext>
                </a:extLst>
              </a:tr>
              <a:tr h="384048">
                <a:tc>
                  <a:txBody>
                    <a:bodyPr/>
                    <a:lstStyle/>
                    <a:p>
                      <a:r>
                        <a:rPr sz="1100" b="1">
                          <a:solidFill>
                            <a:srgbClr val="0B0B0B"/>
                          </a:solidFill>
                          <a:latin typeface="Helvetica Neue"/>
                        </a:rPr>
                        <a:t>Composite score</a:t>
                      </a:r>
                    </a:p>
                  </a:txBody>
                  <a:tcPr marL="101600" marR="76200" marT="38100" marB="38100" anchor="ctr">
                    <a:solidFill>
                      <a:srgbClr val="F3F2EE"/>
                    </a:solidFill>
                  </a:tcPr>
                </a:tc>
                <a:tc>
                  <a:txBody>
                    <a:bodyPr/>
                    <a:lstStyle/>
                    <a:p>
                      <a:r>
                        <a:rPr sz="1100">
                          <a:solidFill>
                            <a:srgbClr val="52514E"/>
                          </a:solidFill>
                          <a:latin typeface="Helvetica Neue"/>
                        </a:rPr>
                        <a:t>0.70·acc + 0.15·reasoning + 0.15·speed</a:t>
                      </a:r>
                    </a:p>
                  </a:txBody>
                  <a:tcPr marL="101600" marR="76200" marT="38100" marB="38100" anchor="ctr">
                    <a:solidFill>
                      <a:srgbClr val="F3F2EE"/>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548640" y="5349240"/>
            <a:ext cx="11064240" cy="640080"/>
          </a:xfrm>
          <a:prstGeom prst="rect">
            <a:avLst/>
          </a:prstGeom>
          <a:noFill/>
        </p:spPr>
        <p:txBody>
          <a:bodyPr wrap="square" lIns="0" tIns="0" rIns="0" bIns="0" anchor="t">
            <a:spAutoFit/>
          </a:bodyPr>
          <a:lstStyle/>
          <a:p>
            <a:pPr algn="l">
              <a:lnSpc>
                <a:spcPct val="100000"/>
              </a:lnSpc>
            </a:pPr>
            <a:r>
              <a:rPr sz="1250" b="0" i="1">
                <a:solidFill>
                  <a:srgbClr val="52514E"/>
                </a:solidFill>
                <a:latin typeface="Helvetica Neue"/>
              </a:rPr>
              <a:t>Ground truth for both benchmarks comes directly from the source datasets (the target word / the official answer key) — never inferred.</a:t>
            </a:r>
          </a:p>
        </p:txBody>
      </p:sp>
      <p:sp>
        <p:nvSpPr>
          <p:cNvPr id="12" name="TextBox 11"/>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3" name="TextBox 12"/>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502920"/>
            <a:ext cx="11064240" cy="640080"/>
          </a:xfrm>
          <a:prstGeom prst="rect">
            <a:avLst/>
          </a:prstGeom>
          <a:noFill/>
        </p:spPr>
        <p:txBody>
          <a:bodyPr wrap="square" lIns="0" tIns="0" rIns="0" bIns="0" anchor="t">
            <a:spAutoFit/>
          </a:bodyPr>
          <a:lstStyle/>
          <a:p>
            <a:pPr algn="l">
              <a:lnSpc>
                <a:spcPct val="100000"/>
              </a:lnSpc>
            </a:pPr>
            <a:r>
              <a:rPr sz="3000" b="1" i="0">
                <a:solidFill>
                  <a:srgbClr val="0B0B0B"/>
                </a:solidFill>
                <a:latin typeface="Helvetica Neue"/>
              </a:rPr>
              <a:t>Involved approaches</a:t>
            </a:r>
          </a:p>
        </p:txBody>
      </p:sp>
      <p:cxnSp>
        <p:nvCxnSpPr>
          <p:cNvPr id="4" name="Connector 3"/>
          <p:cNvCxnSpPr/>
          <p:nvPr/>
        </p:nvCxnSpPr>
        <p:spPr>
          <a:xfrm>
            <a:off x="548640" y="118872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nvGraphicFramePr>
        <p:xfrm>
          <a:off x="548640" y="1463040"/>
          <a:ext cx="11064237" cy="1737360"/>
        </p:xfrm>
        <a:graphic>
          <a:graphicData uri="http://schemas.openxmlformats.org/drawingml/2006/table">
            <a:tbl>
              <a:tblPr firstRow="1" bandRow="1">
                <a:tableStyleId>{5C22544A-7EE6-4342-B048-85BDC9FD1C3A}</a:tableStyleId>
              </a:tblPr>
              <a:tblGrid>
                <a:gridCol w="542364">
                  <a:extLst>
                    <a:ext uri="{9D8B030D-6E8A-4147-A177-3AD203B41FA5}">
                      <a16:colId xmlns:a16="http://schemas.microsoft.com/office/drawing/2014/main" val="20000"/>
                    </a:ext>
                  </a:extLst>
                </a:gridCol>
                <a:gridCol w="2386404">
                  <a:extLst>
                    <a:ext uri="{9D8B030D-6E8A-4147-A177-3AD203B41FA5}">
                      <a16:colId xmlns:a16="http://schemas.microsoft.com/office/drawing/2014/main" val="20001"/>
                    </a:ext>
                  </a:extLst>
                </a:gridCol>
                <a:gridCol w="1952512">
                  <a:extLst>
                    <a:ext uri="{9D8B030D-6E8A-4147-A177-3AD203B41FA5}">
                      <a16:colId xmlns:a16="http://schemas.microsoft.com/office/drawing/2014/main" val="20002"/>
                    </a:ext>
                  </a:extLst>
                </a:gridCol>
                <a:gridCol w="1193202">
                  <a:extLst>
                    <a:ext uri="{9D8B030D-6E8A-4147-A177-3AD203B41FA5}">
                      <a16:colId xmlns:a16="http://schemas.microsoft.com/office/drawing/2014/main" val="20003"/>
                    </a:ext>
                  </a:extLst>
                </a:gridCol>
                <a:gridCol w="4989755">
                  <a:extLst>
                    <a:ext uri="{9D8B030D-6E8A-4147-A177-3AD203B41FA5}">
                      <a16:colId xmlns:a16="http://schemas.microsoft.com/office/drawing/2014/main" val="20004"/>
                    </a:ext>
                  </a:extLst>
                </a:gridCol>
              </a:tblGrid>
              <a:tr h="434340">
                <a:tc>
                  <a:txBody>
                    <a:bodyPr/>
                    <a:lstStyle/>
                    <a:p>
                      <a:r>
                        <a:rPr sz="1300" b="1">
                          <a:solidFill>
                            <a:srgbClr val="FFFFFF"/>
                          </a:solidFill>
                          <a:latin typeface="Helvetica Neue"/>
                        </a:rPr>
                        <a:t>#</a:t>
                      </a:r>
                    </a:p>
                  </a:txBody>
                  <a:tcPr marL="101600" marR="76200" marT="50800" marB="50800" anchor="ctr">
                    <a:solidFill>
                      <a:srgbClr val="0B0B0B"/>
                    </a:solidFill>
                  </a:tcPr>
                </a:tc>
                <a:tc>
                  <a:txBody>
                    <a:bodyPr/>
                    <a:lstStyle/>
                    <a:p>
                      <a:r>
                        <a:rPr sz="1300" b="1">
                          <a:solidFill>
                            <a:srgbClr val="FFFFFF"/>
                          </a:solidFill>
                          <a:latin typeface="Helvetica Neue"/>
                        </a:rPr>
                        <a:t>Model</a:t>
                      </a:r>
                    </a:p>
                  </a:txBody>
                  <a:tcPr marL="101600" marR="76200" marT="50800" marB="50800" anchor="ctr">
                    <a:solidFill>
                      <a:srgbClr val="0B0B0B"/>
                    </a:solidFill>
                  </a:tcPr>
                </a:tc>
                <a:tc>
                  <a:txBody>
                    <a:bodyPr/>
                    <a:lstStyle/>
                    <a:p>
                      <a:r>
                        <a:rPr sz="1300" b="1">
                          <a:solidFill>
                            <a:srgbClr val="FFFFFF"/>
                          </a:solidFill>
                          <a:latin typeface="Helvetica Neue"/>
                        </a:rPr>
                        <a:t>Developer</a:t>
                      </a:r>
                    </a:p>
                  </a:txBody>
                  <a:tcPr marL="101600" marR="76200" marT="50800" marB="50800" anchor="ctr">
                    <a:solidFill>
                      <a:srgbClr val="0B0B0B"/>
                    </a:solidFill>
                  </a:tcPr>
                </a:tc>
                <a:tc>
                  <a:txBody>
                    <a:bodyPr/>
                    <a:lstStyle/>
                    <a:p>
                      <a:r>
                        <a:rPr sz="1300" b="1">
                          <a:solidFill>
                            <a:srgbClr val="FFFFFF"/>
                          </a:solidFill>
                          <a:latin typeface="Helvetica Neue"/>
                        </a:rPr>
                        <a:t>Params</a:t>
                      </a:r>
                    </a:p>
                  </a:txBody>
                  <a:tcPr marL="101600" marR="76200" marT="50800" marB="50800" anchor="ctr">
                    <a:solidFill>
                      <a:srgbClr val="0B0B0B"/>
                    </a:solidFill>
                  </a:tcPr>
                </a:tc>
                <a:tc>
                  <a:txBody>
                    <a:bodyPr/>
                    <a:lstStyle/>
                    <a:p>
                      <a:r>
                        <a:rPr sz="1300" b="1">
                          <a:solidFill>
                            <a:srgbClr val="FFFFFF"/>
                          </a:solidFill>
                          <a:latin typeface="Helvetica Neue"/>
                        </a:rPr>
                        <a:t>Key Technique</a:t>
                      </a:r>
                    </a:p>
                  </a:txBody>
                  <a:tcPr marL="101600" marR="76200" marT="50800" marB="50800" anchor="ctr">
                    <a:solidFill>
                      <a:srgbClr val="0B0B0B"/>
                    </a:solidFill>
                  </a:tcPr>
                </a:tc>
                <a:extLst>
                  <a:ext uri="{0D108BD9-81ED-4DB2-BD59-A6C34878D82A}">
                    <a16:rowId xmlns:a16="http://schemas.microsoft.com/office/drawing/2014/main" val="10000"/>
                  </a:ext>
                </a:extLst>
              </a:tr>
              <a:tr h="434340">
                <a:tc>
                  <a:txBody>
                    <a:bodyPr/>
                    <a:lstStyle/>
                    <a:p>
                      <a:r>
                        <a:rPr sz="1300" b="1">
                          <a:solidFill>
                            <a:srgbClr val="0B0B0B"/>
                          </a:solidFill>
                          <a:latin typeface="Helvetica Neue"/>
                        </a:rPr>
                        <a:t>1</a:t>
                      </a:r>
                    </a:p>
                  </a:txBody>
                  <a:tcPr marL="101600" marR="76200" marT="38100" marB="38100" anchor="ctr">
                    <a:solidFill>
                      <a:srgbClr val="FCFCFB"/>
                    </a:solidFill>
                  </a:tcPr>
                </a:tc>
                <a:tc>
                  <a:txBody>
                    <a:bodyPr/>
                    <a:lstStyle/>
                    <a:p>
                      <a:r>
                        <a:rPr sz="1300">
                          <a:solidFill>
                            <a:srgbClr val="52514E"/>
                          </a:solidFill>
                          <a:latin typeface="Helvetica Neue"/>
                        </a:rPr>
                        <a:t>Gemma-3-4B</a:t>
                      </a:r>
                    </a:p>
                  </a:txBody>
                  <a:tcPr marL="101600" marR="76200" marT="38100" marB="38100" anchor="ctr">
                    <a:solidFill>
                      <a:srgbClr val="FCFCFB"/>
                    </a:solidFill>
                  </a:tcPr>
                </a:tc>
                <a:tc>
                  <a:txBody>
                    <a:bodyPr/>
                    <a:lstStyle/>
                    <a:p>
                      <a:r>
                        <a:rPr sz="1300">
                          <a:solidFill>
                            <a:srgbClr val="52514E"/>
                          </a:solidFill>
                          <a:latin typeface="Helvetica Neue"/>
                        </a:rPr>
                        <a:t>Google</a:t>
                      </a:r>
                    </a:p>
                  </a:txBody>
                  <a:tcPr marL="101600" marR="76200" marT="38100" marB="38100" anchor="ctr">
                    <a:solidFill>
                      <a:srgbClr val="FCFCFB"/>
                    </a:solidFill>
                  </a:tcPr>
                </a:tc>
                <a:tc>
                  <a:txBody>
                    <a:bodyPr/>
                    <a:lstStyle/>
                    <a:p>
                      <a:r>
                        <a:rPr sz="1300">
                          <a:solidFill>
                            <a:srgbClr val="52514E"/>
                          </a:solidFill>
                          <a:latin typeface="Helvetica Neue"/>
                        </a:rPr>
                        <a:t>4B</a:t>
                      </a:r>
                    </a:p>
                  </a:txBody>
                  <a:tcPr marL="101600" marR="76200" marT="38100" marB="38100" anchor="ctr">
                    <a:solidFill>
                      <a:srgbClr val="FCFCFB"/>
                    </a:solidFill>
                  </a:tcPr>
                </a:tc>
                <a:tc>
                  <a:txBody>
                    <a:bodyPr/>
                    <a:lstStyle/>
                    <a:p>
                      <a:r>
                        <a:rPr sz="1300">
                          <a:solidFill>
                            <a:srgbClr val="52514E"/>
                          </a:solidFill>
                          <a:latin typeface="Helvetica Neue"/>
                        </a:rPr>
                        <a:t>Knowledge distillation + local/global attention</a:t>
                      </a:r>
                    </a:p>
                  </a:txBody>
                  <a:tcPr marL="101600" marR="76200" marT="38100" marB="38100" anchor="ctr">
                    <a:solidFill>
                      <a:srgbClr val="FCFCFB"/>
                    </a:solidFill>
                  </a:tcPr>
                </a:tc>
                <a:extLst>
                  <a:ext uri="{0D108BD9-81ED-4DB2-BD59-A6C34878D82A}">
                    <a16:rowId xmlns:a16="http://schemas.microsoft.com/office/drawing/2014/main" val="10001"/>
                  </a:ext>
                </a:extLst>
              </a:tr>
              <a:tr h="434340">
                <a:tc>
                  <a:txBody>
                    <a:bodyPr/>
                    <a:lstStyle/>
                    <a:p>
                      <a:r>
                        <a:rPr sz="1300" b="1">
                          <a:solidFill>
                            <a:srgbClr val="0B0B0B"/>
                          </a:solidFill>
                          <a:latin typeface="Helvetica Neue"/>
                        </a:rPr>
                        <a:t>2</a:t>
                      </a:r>
                    </a:p>
                  </a:txBody>
                  <a:tcPr marL="101600" marR="76200" marT="38100" marB="38100" anchor="ctr">
                    <a:solidFill>
                      <a:srgbClr val="F3F2EE"/>
                    </a:solidFill>
                  </a:tcPr>
                </a:tc>
                <a:tc>
                  <a:txBody>
                    <a:bodyPr/>
                    <a:lstStyle/>
                    <a:p>
                      <a:r>
                        <a:rPr sz="1300">
                          <a:solidFill>
                            <a:srgbClr val="52514E"/>
                          </a:solidFill>
                          <a:latin typeface="Helvetica Neue"/>
                        </a:rPr>
                        <a:t>Llama-3.2-3B</a:t>
                      </a:r>
                    </a:p>
                  </a:txBody>
                  <a:tcPr marL="101600" marR="76200" marT="38100" marB="38100" anchor="ctr">
                    <a:solidFill>
                      <a:srgbClr val="F3F2EE"/>
                    </a:solidFill>
                  </a:tcPr>
                </a:tc>
                <a:tc>
                  <a:txBody>
                    <a:bodyPr/>
                    <a:lstStyle/>
                    <a:p>
                      <a:r>
                        <a:rPr sz="1300">
                          <a:solidFill>
                            <a:srgbClr val="52514E"/>
                          </a:solidFill>
                          <a:latin typeface="Helvetica Neue"/>
                        </a:rPr>
                        <a:t>Meta</a:t>
                      </a:r>
                    </a:p>
                  </a:txBody>
                  <a:tcPr marL="101600" marR="76200" marT="38100" marB="38100" anchor="ctr">
                    <a:solidFill>
                      <a:srgbClr val="F3F2EE"/>
                    </a:solidFill>
                  </a:tcPr>
                </a:tc>
                <a:tc>
                  <a:txBody>
                    <a:bodyPr/>
                    <a:lstStyle/>
                    <a:p>
                      <a:r>
                        <a:rPr sz="1300">
                          <a:solidFill>
                            <a:srgbClr val="52514E"/>
                          </a:solidFill>
                          <a:latin typeface="Helvetica Neue"/>
                        </a:rPr>
                        <a:t>3B</a:t>
                      </a:r>
                    </a:p>
                  </a:txBody>
                  <a:tcPr marL="101600" marR="76200" marT="38100" marB="38100" anchor="ctr">
                    <a:solidFill>
                      <a:srgbClr val="F3F2EE"/>
                    </a:solidFill>
                  </a:tcPr>
                </a:tc>
                <a:tc>
                  <a:txBody>
                    <a:bodyPr/>
                    <a:lstStyle/>
                    <a:p>
                      <a:r>
                        <a:rPr sz="1300">
                          <a:solidFill>
                            <a:srgbClr val="52514E"/>
                          </a:solidFill>
                          <a:latin typeface="Helvetica Neue"/>
                        </a:rPr>
                        <a:t>Compact dense transformer</a:t>
                      </a:r>
                    </a:p>
                  </a:txBody>
                  <a:tcPr marL="101600" marR="76200" marT="38100" marB="38100" anchor="ctr">
                    <a:solidFill>
                      <a:srgbClr val="F3F2EE"/>
                    </a:solidFill>
                  </a:tcPr>
                </a:tc>
                <a:extLst>
                  <a:ext uri="{0D108BD9-81ED-4DB2-BD59-A6C34878D82A}">
                    <a16:rowId xmlns:a16="http://schemas.microsoft.com/office/drawing/2014/main" val="10002"/>
                  </a:ext>
                </a:extLst>
              </a:tr>
              <a:tr h="434340">
                <a:tc>
                  <a:txBody>
                    <a:bodyPr/>
                    <a:lstStyle/>
                    <a:p>
                      <a:r>
                        <a:rPr sz="1300" b="1">
                          <a:solidFill>
                            <a:srgbClr val="0B0B0B"/>
                          </a:solidFill>
                          <a:latin typeface="Helvetica Neue"/>
                        </a:rPr>
                        <a:t>3</a:t>
                      </a:r>
                    </a:p>
                  </a:txBody>
                  <a:tcPr marL="101600" marR="76200" marT="38100" marB="38100" anchor="ctr">
                    <a:solidFill>
                      <a:srgbClr val="FCFCFB"/>
                    </a:solidFill>
                  </a:tcPr>
                </a:tc>
                <a:tc>
                  <a:txBody>
                    <a:bodyPr/>
                    <a:lstStyle/>
                    <a:p>
                      <a:r>
                        <a:rPr sz="1300">
                          <a:solidFill>
                            <a:srgbClr val="52514E"/>
                          </a:solidFill>
                          <a:latin typeface="Helvetica Neue"/>
                        </a:rPr>
                        <a:t>Ministral-8B</a:t>
                      </a:r>
                    </a:p>
                  </a:txBody>
                  <a:tcPr marL="101600" marR="76200" marT="38100" marB="38100" anchor="ctr">
                    <a:solidFill>
                      <a:srgbClr val="FCFCFB"/>
                    </a:solidFill>
                  </a:tcPr>
                </a:tc>
                <a:tc>
                  <a:txBody>
                    <a:bodyPr/>
                    <a:lstStyle/>
                    <a:p>
                      <a:r>
                        <a:rPr sz="1300">
                          <a:solidFill>
                            <a:srgbClr val="52514E"/>
                          </a:solidFill>
                          <a:latin typeface="Helvetica Neue"/>
                        </a:rPr>
                        <a:t>Mistral AI</a:t>
                      </a:r>
                    </a:p>
                  </a:txBody>
                  <a:tcPr marL="101600" marR="76200" marT="38100" marB="38100" anchor="ctr">
                    <a:solidFill>
                      <a:srgbClr val="FCFCFB"/>
                    </a:solidFill>
                  </a:tcPr>
                </a:tc>
                <a:tc>
                  <a:txBody>
                    <a:bodyPr/>
                    <a:lstStyle/>
                    <a:p>
                      <a:r>
                        <a:rPr sz="1300">
                          <a:solidFill>
                            <a:srgbClr val="52514E"/>
                          </a:solidFill>
                          <a:latin typeface="Helvetica Neue"/>
                        </a:rPr>
                        <a:t>8B</a:t>
                      </a:r>
                    </a:p>
                  </a:txBody>
                  <a:tcPr marL="101600" marR="76200" marT="38100" marB="38100" anchor="ctr">
                    <a:solidFill>
                      <a:srgbClr val="FCFCFB"/>
                    </a:solidFill>
                  </a:tcPr>
                </a:tc>
                <a:tc>
                  <a:txBody>
                    <a:bodyPr/>
                    <a:lstStyle/>
                    <a:p>
                      <a:r>
                        <a:rPr sz="1300">
                          <a:solidFill>
                            <a:srgbClr val="52514E"/>
                          </a:solidFill>
                          <a:latin typeface="Helvetica Neue"/>
                        </a:rPr>
                        <a:t>Sliding Window Attention + GQA</a:t>
                      </a:r>
                    </a:p>
                  </a:txBody>
                  <a:tcPr marL="101600" marR="76200" marT="38100" marB="38100" anchor="ctr">
                    <a:solidFill>
                      <a:srgbClr val="FCFCFB"/>
                    </a:solidFill>
                  </a:tcPr>
                </a:tc>
                <a:extLst>
                  <a:ext uri="{0D108BD9-81ED-4DB2-BD59-A6C34878D82A}">
                    <a16:rowId xmlns:a16="http://schemas.microsoft.com/office/drawing/2014/main" val="10003"/>
                  </a:ext>
                </a:extLst>
              </a:tr>
            </a:tbl>
          </a:graphicData>
        </a:graphic>
      </p:graphicFrame>
      <p:sp>
        <p:nvSpPr>
          <p:cNvPr id="6" name="TextBox 5"/>
          <p:cNvSpPr txBox="1"/>
          <p:nvPr/>
        </p:nvSpPr>
        <p:spPr>
          <a:xfrm>
            <a:off x="548640" y="3566160"/>
            <a:ext cx="11064240" cy="2377440"/>
          </a:xfrm>
          <a:prstGeom prst="rect">
            <a:avLst/>
          </a:prstGeom>
          <a:noFill/>
        </p:spPr>
        <p:txBody>
          <a:bodyPr wrap="square">
            <a:spAutoFit/>
          </a:bodyPr>
          <a:lstStyle/>
          <a:p>
            <a:pPr>
              <a:lnSpc>
                <a:spcPct val="112000"/>
              </a:lnSpc>
              <a:spcAft>
                <a:spcPts val="1000"/>
              </a:spcAft>
            </a:pPr>
            <a:r>
              <a:rPr sz="1450">
                <a:solidFill>
                  <a:srgbClr val="52514E"/>
                </a:solidFill>
                <a:latin typeface="Helvetica Neue"/>
              </a:rPr>
              <a:t>—  Gemma-3-4B: dense decoder-only transformer with interleaved local/global attention, distilled from a larger teacher, 128k-token context.</a:t>
            </a:r>
          </a:p>
          <a:p>
            <a:pPr>
              <a:lnSpc>
                <a:spcPct val="112000"/>
              </a:lnSpc>
              <a:spcAft>
                <a:spcPts val="1000"/>
              </a:spcAft>
            </a:pPr>
            <a:r>
              <a:rPr sz="1450">
                <a:solidFill>
                  <a:srgbClr val="52514E"/>
                </a:solidFill>
                <a:latin typeface="Helvetica Neue"/>
              </a:rPr>
              <a:t>—  Llama-3.2-3B: standard dense transformer recipe — RoPE, Grouped Query Attention, SwiGLU — pruned and distilled from larger Llama 3.1 models.</a:t>
            </a:r>
          </a:p>
          <a:p>
            <a:pPr>
              <a:lnSpc>
                <a:spcPct val="112000"/>
              </a:lnSpc>
              <a:spcAft>
                <a:spcPts val="1000"/>
              </a:spcAft>
            </a:pPr>
            <a:r>
              <a:rPr sz="1450">
                <a:solidFill>
                  <a:srgbClr val="52514E"/>
                </a:solidFill>
                <a:latin typeface="Helvetica Neue"/>
              </a:rPr>
              <a:t>—  Ministral-8B: sliding window attention + GQA for efficient long-context inference at the edge — trained at its native 8B size, not distilled down from a larger checkpoint.</a:t>
            </a:r>
          </a:p>
        </p:txBody>
      </p:sp>
      <p:sp>
        <p:nvSpPr>
          <p:cNvPr id="7" name="TextBox 6"/>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8" name="TextBox 7"/>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CONSIDERED MODEL(S)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800" b="1" i="0">
                <a:solidFill>
                  <a:srgbClr val="0B0B0B"/>
                </a:solidFill>
                <a:latin typeface="Helvetica Neue"/>
              </a:rPr>
              <a:t>Gemma-3-4B</a:t>
            </a:r>
          </a:p>
        </p:txBody>
      </p:sp>
      <p:sp>
        <p:nvSpPr>
          <p:cNvPr id="5" name="Rounded Rectangle 4"/>
          <p:cNvSpPr/>
          <p:nvPr/>
        </p:nvSpPr>
        <p:spPr>
          <a:xfrm>
            <a:off x="548640" y="1517904"/>
            <a:ext cx="1463040" cy="329184"/>
          </a:xfrm>
          <a:prstGeom prst="roundRect">
            <a:avLst>
              <a:gd name="adj" fmla="val 50000"/>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100" b="1">
                <a:solidFill>
                  <a:srgbClr val="FFFFFF"/>
                </a:solidFill>
                <a:latin typeface="Helvetica Neue"/>
              </a:rPr>
              <a:t>Google</a:t>
            </a:r>
          </a:p>
        </p:txBody>
      </p:sp>
      <p:sp>
        <p:nvSpPr>
          <p:cNvPr id="6" name="Rounded Rectangle 5"/>
          <p:cNvSpPr/>
          <p:nvPr/>
        </p:nvSpPr>
        <p:spPr>
          <a:xfrm>
            <a:off x="2103120" y="1517904"/>
            <a:ext cx="1737360" cy="329184"/>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100" b="1">
                <a:solidFill>
                  <a:srgbClr val="FFFFFF"/>
                </a:solidFill>
                <a:latin typeface="Helvetica Neue"/>
              </a:rPr>
              <a:t>4B parameters</a:t>
            </a:r>
          </a:p>
        </p:txBody>
      </p:sp>
      <p:cxnSp>
        <p:nvCxnSpPr>
          <p:cNvPr id="7" name="Connector 6"/>
          <p:cNvCxnSpPr/>
          <p:nvPr/>
        </p:nvCxnSpPr>
        <p:spPr>
          <a:xfrm>
            <a:off x="548640" y="201168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2194560"/>
            <a:ext cx="11064240" cy="32004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WORKING TECHNIQUE</a:t>
            </a:r>
          </a:p>
        </p:txBody>
      </p:sp>
      <p:sp>
        <p:nvSpPr>
          <p:cNvPr id="9" name="TextBox 8"/>
          <p:cNvSpPr txBox="1"/>
          <p:nvPr/>
        </p:nvSpPr>
        <p:spPr>
          <a:xfrm>
            <a:off x="548640" y="2487168"/>
            <a:ext cx="11064240" cy="457200"/>
          </a:xfrm>
          <a:prstGeom prst="rect">
            <a:avLst/>
          </a:prstGeom>
          <a:noFill/>
        </p:spPr>
        <p:txBody>
          <a:bodyPr wrap="square" lIns="0" tIns="0" rIns="0" bIns="0" anchor="t">
            <a:spAutoFit/>
          </a:bodyPr>
          <a:lstStyle/>
          <a:p>
            <a:pPr algn="l">
              <a:lnSpc>
                <a:spcPct val="100000"/>
              </a:lnSpc>
            </a:pPr>
            <a:r>
              <a:rPr sz="1700" b="1" i="0">
                <a:solidFill>
                  <a:srgbClr val="008300"/>
                </a:solidFill>
                <a:latin typeface="Helvetica Neue"/>
              </a:rPr>
              <a:t>Knowledge distillation + local/global attention interleaving</a:t>
            </a:r>
          </a:p>
        </p:txBody>
      </p:sp>
      <p:sp>
        <p:nvSpPr>
          <p:cNvPr id="10" name="TextBox 9"/>
          <p:cNvSpPr txBox="1"/>
          <p:nvPr/>
        </p:nvSpPr>
        <p:spPr>
          <a:xfrm>
            <a:off x="548640" y="2971800"/>
            <a:ext cx="6766560" cy="3291840"/>
          </a:xfrm>
          <a:prstGeom prst="rect">
            <a:avLst/>
          </a:prstGeom>
          <a:noFill/>
        </p:spPr>
        <p:txBody>
          <a:bodyPr wrap="square">
            <a:spAutoFit/>
          </a:bodyPr>
          <a:lstStyle/>
          <a:p>
            <a:pPr>
              <a:lnSpc>
                <a:spcPct val="112000"/>
              </a:lnSpc>
              <a:spcAft>
                <a:spcPts val="800"/>
              </a:spcAft>
            </a:pPr>
            <a:r>
              <a:rPr sz="1200">
                <a:solidFill>
                  <a:srgbClr val="52514E"/>
                </a:solidFill>
                <a:latin typeface="Helvetica Neue"/>
              </a:rPr>
              <a:t>—  4B instruction-tuned dense decoder-only transformer from Google, sharing research lineage with Gemini.</a:t>
            </a:r>
          </a:p>
          <a:p>
            <a:pPr>
              <a:lnSpc>
                <a:spcPct val="112000"/>
              </a:lnSpc>
              <a:spcAft>
                <a:spcPts val="800"/>
              </a:spcAft>
            </a:pPr>
            <a:r>
              <a:rPr sz="1200">
                <a:solidFill>
                  <a:srgbClr val="52514E"/>
                </a:solidFill>
                <a:latin typeface="Helvetica Neue"/>
              </a:rPr>
              <a:t>—  Core idea: alternate between cheap LOCAL attention (each token only looks at a nearby sliding window — fast, low-memory) and occasional expensive GLOBAL attention (one layer in every five lets every token see the entire context) — a 5:1 ratio.</a:t>
            </a:r>
          </a:p>
          <a:p>
            <a:pPr>
              <a:lnSpc>
                <a:spcPct val="112000"/>
              </a:lnSpc>
              <a:spcAft>
                <a:spcPts val="800"/>
              </a:spcAft>
            </a:pPr>
            <a:r>
              <a:rPr sz="1200">
                <a:solidFill>
                  <a:srgbClr val="52514E"/>
                </a:solidFill>
                <a:latin typeface="Helvetica Neue"/>
              </a:rPr>
              <a:t>—  Why interleave rather than use global attention everywhere: full attention cost grows quadratically with context length; interleaving keeps memory roughly linear while information still reaches every token by the time it passes a global layer.</a:t>
            </a:r>
          </a:p>
          <a:p>
            <a:pPr>
              <a:lnSpc>
                <a:spcPct val="112000"/>
              </a:lnSpc>
              <a:spcAft>
                <a:spcPts val="800"/>
              </a:spcAft>
            </a:pPr>
            <a:r>
              <a:rPr sz="1200">
                <a:solidFill>
                  <a:srgbClr val="52514E"/>
                </a:solidFill>
                <a:latin typeface="Helvetica Neue"/>
              </a:rPr>
              <a:t>—  Trained via knowledge distillation: the small model learns to match a larger teacher model's output probability distribution, rather than training from raw text alone — this tends to transfer more of the teacher's knowledge per parameter.</a:t>
            </a:r>
          </a:p>
          <a:p>
            <a:pPr>
              <a:lnSpc>
                <a:spcPct val="112000"/>
              </a:lnSpc>
              <a:spcAft>
                <a:spcPts val="800"/>
              </a:spcAft>
            </a:pPr>
            <a:r>
              <a:rPr sz="1200">
                <a:solidFill>
                  <a:srgbClr val="52514E"/>
                </a:solidFill>
                <a:latin typeface="Helvetica Neue"/>
              </a:rPr>
              <a:t>—  Also uses Grouped Query Attention with QK-norm for training stability, and supports up to a 128k-token context window.</a:t>
            </a:r>
          </a:p>
        </p:txBody>
      </p:sp>
      <p:sp>
        <p:nvSpPr>
          <p:cNvPr id="11" name="TextBox 10"/>
          <p:cNvSpPr txBox="1"/>
          <p:nvPr/>
        </p:nvSpPr>
        <p:spPr>
          <a:xfrm>
            <a:off x="7589520" y="2971800"/>
            <a:ext cx="40233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KEY PROPERTIES</a:t>
            </a:r>
          </a:p>
        </p:txBody>
      </p:sp>
      <p:sp>
        <p:nvSpPr>
          <p:cNvPr id="12" name="TextBox 11"/>
          <p:cNvSpPr txBox="1"/>
          <p:nvPr/>
        </p:nvSpPr>
        <p:spPr>
          <a:xfrm>
            <a:off x="7589520" y="3291840"/>
            <a:ext cx="4023360" cy="1920240"/>
          </a:xfrm>
          <a:prstGeom prst="rect">
            <a:avLst/>
          </a:prstGeom>
          <a:noFill/>
        </p:spPr>
        <p:txBody>
          <a:bodyPr wrap="square">
            <a:spAutoFit/>
          </a:bodyPr>
          <a:lstStyle/>
          <a:p>
            <a:pPr>
              <a:lnSpc>
                <a:spcPct val="112000"/>
              </a:lnSpc>
              <a:spcAft>
                <a:spcPts val="700"/>
              </a:spcAft>
            </a:pPr>
            <a:r>
              <a:rPr sz="1150">
                <a:solidFill>
                  <a:srgbClr val="52514E"/>
                </a:solidFill>
                <a:latin typeface="Helvetica Neue"/>
              </a:rPr>
              <a:t>•  Dense decoder-only transformer, no expert routing</a:t>
            </a:r>
          </a:p>
          <a:p>
            <a:pPr>
              <a:lnSpc>
                <a:spcPct val="112000"/>
              </a:lnSpc>
              <a:spcAft>
                <a:spcPts val="700"/>
              </a:spcAft>
            </a:pPr>
            <a:r>
              <a:rPr sz="1150">
                <a:solidFill>
                  <a:srgbClr val="52514E"/>
                </a:solidFill>
                <a:latin typeface="Helvetica Neue"/>
              </a:rPr>
              <a:t>•  5:1 interleaving of local sliding-window and global attention layers</a:t>
            </a:r>
          </a:p>
          <a:p>
            <a:pPr>
              <a:lnSpc>
                <a:spcPct val="112000"/>
              </a:lnSpc>
              <a:spcAft>
                <a:spcPts val="700"/>
              </a:spcAft>
            </a:pPr>
            <a:r>
              <a:rPr sz="1150">
                <a:solidFill>
                  <a:srgbClr val="52514E"/>
                </a:solidFill>
                <a:latin typeface="Helvetica Neue"/>
              </a:rPr>
              <a:t>•  Grouped Query Attention with QK-norm; 128k-token context window</a:t>
            </a:r>
          </a:p>
          <a:p>
            <a:pPr>
              <a:lnSpc>
                <a:spcPct val="112000"/>
              </a:lnSpc>
              <a:spcAft>
                <a:spcPts val="700"/>
              </a:spcAft>
            </a:pPr>
            <a:r>
              <a:rPr sz="1150">
                <a:solidFill>
                  <a:srgbClr val="52514E"/>
                </a:solidFill>
                <a:latin typeface="Helvetica Neue"/>
              </a:rPr>
              <a:t>•  Distilled from larger Gemma / Gemini-family teacher models</a:t>
            </a:r>
          </a:p>
        </p:txBody>
      </p:sp>
      <p:sp>
        <p:nvSpPr>
          <p:cNvPr id="13" name="TextBox 12"/>
          <p:cNvSpPr txBox="1"/>
          <p:nvPr/>
        </p:nvSpPr>
        <p:spPr>
          <a:xfrm>
            <a:off x="548640" y="6217920"/>
            <a:ext cx="11064240" cy="274320"/>
          </a:xfrm>
          <a:prstGeom prst="rect">
            <a:avLst/>
          </a:prstGeom>
          <a:noFill/>
        </p:spPr>
        <p:txBody>
          <a:bodyPr wrap="square" lIns="0" tIns="0" rIns="0" bIns="0" anchor="t">
            <a:spAutoFit/>
          </a:bodyPr>
          <a:lstStyle/>
          <a:p>
            <a:pPr algn="l">
              <a:lnSpc>
                <a:spcPct val="100000"/>
              </a:lnSpc>
            </a:pPr>
            <a:r>
              <a:rPr sz="1000" b="0" i="1">
                <a:solidFill>
                  <a:srgbClr val="898781"/>
                </a:solidFill>
                <a:latin typeface="Helvetica Neue"/>
              </a:rPr>
              <a:t>Evaluated with identical decoding parameters across all three models — see “Parameter set used in this evaluation.”</a:t>
            </a:r>
          </a:p>
        </p:txBody>
      </p:sp>
      <p:sp>
        <p:nvSpPr>
          <p:cNvPr id="14" name="TextBox 13"/>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5" name="TextBox 14"/>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CONSIDERED MODEL(S)</a:t>
            </a:r>
          </a:p>
        </p:txBody>
      </p:sp>
      <p:sp>
        <p:nvSpPr>
          <p:cNvPr id="4" name="TextBox 3"/>
          <p:cNvSpPr txBox="1"/>
          <p:nvPr/>
        </p:nvSpPr>
        <p:spPr>
          <a:xfrm>
            <a:off x="548640" y="566928"/>
            <a:ext cx="11064240" cy="640080"/>
          </a:xfrm>
          <a:prstGeom prst="rect">
            <a:avLst/>
          </a:prstGeom>
          <a:noFill/>
        </p:spPr>
        <p:txBody>
          <a:bodyPr wrap="square" lIns="0" tIns="0" rIns="0" bIns="0" anchor="t">
            <a:spAutoFit/>
          </a:bodyPr>
          <a:lstStyle/>
          <a:p>
            <a:pPr algn="l">
              <a:lnSpc>
                <a:spcPct val="100000"/>
              </a:lnSpc>
            </a:pPr>
            <a:r>
              <a:rPr sz="2800" b="1" i="0">
                <a:solidFill>
                  <a:srgbClr val="0B0B0B"/>
                </a:solidFill>
                <a:latin typeface="Helvetica Neue"/>
              </a:rPr>
              <a:t>Gemma-3-4B — inference flow</a:t>
            </a:r>
          </a:p>
        </p:txBody>
      </p:sp>
      <p:cxnSp>
        <p:nvCxnSpPr>
          <p:cNvPr id="5" name="Connector 4"/>
          <p:cNvCxnSpPr/>
          <p:nvPr/>
        </p:nvCxnSpPr>
        <p:spPr>
          <a:xfrm>
            <a:off x="548640" y="123444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291840" y="1508760"/>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Input tokens</a:t>
            </a:r>
          </a:p>
        </p:txBody>
      </p:sp>
      <p:sp>
        <p:nvSpPr>
          <p:cNvPr id="7" name="Rounded Rectangle 6"/>
          <p:cNvSpPr/>
          <p:nvPr/>
        </p:nvSpPr>
        <p:spPr>
          <a:xfrm>
            <a:off x="3291840" y="2093976"/>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Token embedding + RoPE</a:t>
            </a:r>
          </a:p>
        </p:txBody>
      </p:sp>
      <p:sp>
        <p:nvSpPr>
          <p:cNvPr id="8" name="Rounded Rectangle 7"/>
          <p:cNvSpPr/>
          <p:nvPr/>
        </p:nvSpPr>
        <p:spPr>
          <a:xfrm>
            <a:off x="3291840" y="2679192"/>
            <a:ext cx="5577840" cy="457200"/>
          </a:xfrm>
          <a:prstGeom prst="roundRect">
            <a:avLst>
              <a:gd name="adj" fmla="val 50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Local sliding-window attention ×5</a:t>
            </a:r>
          </a:p>
        </p:txBody>
      </p:sp>
      <p:sp>
        <p:nvSpPr>
          <p:cNvPr id="9" name="Rounded Rectangle 8"/>
          <p:cNvSpPr/>
          <p:nvPr/>
        </p:nvSpPr>
        <p:spPr>
          <a:xfrm>
            <a:off x="3291840" y="3264408"/>
            <a:ext cx="5577840" cy="457200"/>
          </a:xfrm>
          <a:prstGeom prst="roundRect">
            <a:avLst>
              <a:gd name="adj" fmla="val 50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Global attention ×1</a:t>
            </a:r>
          </a:p>
        </p:txBody>
      </p:sp>
      <p:sp>
        <p:nvSpPr>
          <p:cNvPr id="10" name="Rounded Rectangle 9"/>
          <p:cNvSpPr/>
          <p:nvPr/>
        </p:nvSpPr>
        <p:spPr>
          <a:xfrm>
            <a:off x="3291840" y="3849624"/>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GeGLU feed forward</a:t>
            </a:r>
          </a:p>
        </p:txBody>
      </p:sp>
      <p:sp>
        <p:nvSpPr>
          <p:cNvPr id="11" name="Rounded Rectangle 10"/>
          <p:cNvSpPr/>
          <p:nvPr/>
        </p:nvSpPr>
        <p:spPr>
          <a:xfrm>
            <a:off x="3291840" y="4434840"/>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RMSNorm + residual (×N layers)</a:t>
            </a:r>
          </a:p>
        </p:txBody>
      </p:sp>
      <p:sp>
        <p:nvSpPr>
          <p:cNvPr id="12" name="Rounded Rectangle 11"/>
          <p:cNvSpPr/>
          <p:nvPr/>
        </p:nvSpPr>
        <p:spPr>
          <a:xfrm>
            <a:off x="3291840" y="5020056"/>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Final RMSNorm → LM head</a:t>
            </a:r>
          </a:p>
        </p:txBody>
      </p:sp>
      <p:sp>
        <p:nvSpPr>
          <p:cNvPr id="13" name="Rounded Rectangle 12"/>
          <p:cNvSpPr/>
          <p:nvPr/>
        </p:nvSpPr>
        <p:spPr>
          <a:xfrm>
            <a:off x="3291840" y="5605272"/>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Softmax → next token</a:t>
            </a:r>
          </a:p>
        </p:txBody>
      </p:sp>
      <p:sp>
        <p:nvSpPr>
          <p:cNvPr id="14" name="TextBox 13"/>
          <p:cNvSpPr txBox="1"/>
          <p:nvPr/>
        </p:nvSpPr>
        <p:spPr>
          <a:xfrm>
            <a:off x="9144000" y="1508760"/>
            <a:ext cx="24688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NOTE</a:t>
            </a:r>
          </a:p>
        </p:txBody>
      </p:sp>
      <p:sp>
        <p:nvSpPr>
          <p:cNvPr id="15" name="TextBox 14"/>
          <p:cNvSpPr txBox="1"/>
          <p:nvPr/>
        </p:nvSpPr>
        <p:spPr>
          <a:xfrm>
            <a:off x="9144000" y="1828800"/>
            <a:ext cx="2468880" cy="4389120"/>
          </a:xfrm>
          <a:prstGeom prst="rect">
            <a:avLst/>
          </a:prstGeom>
          <a:noFill/>
        </p:spPr>
        <p:txBody>
          <a:bodyPr wrap="square">
            <a:spAutoFit/>
          </a:bodyPr>
          <a:lstStyle/>
          <a:p>
            <a:pPr>
              <a:lnSpc>
                <a:spcPct val="112000"/>
              </a:lnSpc>
              <a:spcAft>
                <a:spcPts val="1000"/>
              </a:spcAft>
            </a:pPr>
            <a:r>
              <a:rPr sz="1100">
                <a:solidFill>
                  <a:srgbClr val="52514E"/>
                </a:solidFill>
                <a:latin typeface="Helvetica Neue"/>
              </a:rPr>
              <a:t>•  Local sliding-window attention ×5: cheap, restricted to nearby tokens.</a:t>
            </a:r>
          </a:p>
          <a:p>
            <a:pPr>
              <a:lnSpc>
                <a:spcPct val="112000"/>
              </a:lnSpc>
              <a:spcAft>
                <a:spcPts val="1000"/>
              </a:spcAft>
            </a:pPr>
            <a:r>
              <a:rPr sz="1100">
                <a:solidFill>
                  <a:srgbClr val="52514E"/>
                </a:solidFill>
                <a:latin typeface="Helvetica Neue"/>
              </a:rPr>
              <a:t>•  Global attention ×1: the one layer per block where every token can see the full passage — this is how long-range context (LAMBADA's whole point) actually gets used.</a:t>
            </a:r>
          </a:p>
          <a:p>
            <a:pPr>
              <a:lnSpc>
                <a:spcPct val="112000"/>
              </a:lnSpc>
              <a:spcAft>
                <a:spcPts val="1000"/>
              </a:spcAft>
            </a:pPr>
            <a:r>
              <a:rPr sz="1100">
                <a:solidFill>
                  <a:srgbClr val="52514E"/>
                </a:solidFill>
                <a:latin typeface="Helvetica Neue"/>
              </a:rPr>
              <a:t>•  GeGLU feed forward: a gated variant of the MLP block used after attention.</a:t>
            </a:r>
          </a:p>
        </p:txBody>
      </p:sp>
      <p:sp>
        <p:nvSpPr>
          <p:cNvPr id="16" name="TextBox 15"/>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7" name="TextBox 16"/>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CONSIDERED MODEL(S)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800" b="1" i="0">
                <a:solidFill>
                  <a:srgbClr val="0B0B0B"/>
                </a:solidFill>
                <a:latin typeface="Helvetica Neue"/>
              </a:rPr>
              <a:t>Llama-3.2-3B</a:t>
            </a:r>
          </a:p>
        </p:txBody>
      </p:sp>
      <p:sp>
        <p:nvSpPr>
          <p:cNvPr id="5" name="Rounded Rectangle 4"/>
          <p:cNvSpPr/>
          <p:nvPr/>
        </p:nvSpPr>
        <p:spPr>
          <a:xfrm>
            <a:off x="548640" y="1517904"/>
            <a:ext cx="1463040" cy="329184"/>
          </a:xfrm>
          <a:prstGeom prst="roundRect">
            <a:avLst>
              <a:gd name="adj" fmla="val 50000"/>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100" b="1">
                <a:solidFill>
                  <a:srgbClr val="FFFFFF"/>
                </a:solidFill>
                <a:latin typeface="Helvetica Neue"/>
              </a:rPr>
              <a:t>Meta</a:t>
            </a:r>
          </a:p>
        </p:txBody>
      </p:sp>
      <p:sp>
        <p:nvSpPr>
          <p:cNvPr id="6" name="Rounded Rectangle 5"/>
          <p:cNvSpPr/>
          <p:nvPr/>
        </p:nvSpPr>
        <p:spPr>
          <a:xfrm>
            <a:off x="2103120" y="1517904"/>
            <a:ext cx="1737360" cy="329184"/>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100" b="1">
                <a:solidFill>
                  <a:srgbClr val="FFFFFF"/>
                </a:solidFill>
                <a:latin typeface="Helvetica Neue"/>
              </a:rPr>
              <a:t>3B parameters</a:t>
            </a:r>
          </a:p>
        </p:txBody>
      </p:sp>
      <p:cxnSp>
        <p:nvCxnSpPr>
          <p:cNvPr id="7" name="Connector 6"/>
          <p:cNvCxnSpPr/>
          <p:nvPr/>
        </p:nvCxnSpPr>
        <p:spPr>
          <a:xfrm>
            <a:off x="548640" y="201168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2194560"/>
            <a:ext cx="11064240" cy="32004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WORKING TECHNIQUE</a:t>
            </a:r>
          </a:p>
        </p:txBody>
      </p:sp>
      <p:sp>
        <p:nvSpPr>
          <p:cNvPr id="9" name="TextBox 8"/>
          <p:cNvSpPr txBox="1"/>
          <p:nvPr/>
        </p:nvSpPr>
        <p:spPr>
          <a:xfrm>
            <a:off x="548640" y="2487168"/>
            <a:ext cx="11064240" cy="457200"/>
          </a:xfrm>
          <a:prstGeom prst="rect">
            <a:avLst/>
          </a:prstGeom>
          <a:noFill/>
        </p:spPr>
        <p:txBody>
          <a:bodyPr wrap="square" lIns="0" tIns="0" rIns="0" bIns="0" anchor="t">
            <a:spAutoFit/>
          </a:bodyPr>
          <a:lstStyle/>
          <a:p>
            <a:pPr algn="l">
              <a:lnSpc>
                <a:spcPct val="100000"/>
              </a:lnSpc>
            </a:pPr>
            <a:r>
              <a:rPr sz="1700" b="1" i="0">
                <a:solidFill>
                  <a:srgbClr val="008300"/>
                </a:solidFill>
                <a:latin typeface="Helvetica Neue"/>
              </a:rPr>
              <a:t>Compact dense transformer</a:t>
            </a:r>
          </a:p>
        </p:txBody>
      </p:sp>
      <p:sp>
        <p:nvSpPr>
          <p:cNvPr id="10" name="TextBox 9"/>
          <p:cNvSpPr txBox="1"/>
          <p:nvPr/>
        </p:nvSpPr>
        <p:spPr>
          <a:xfrm>
            <a:off x="548640" y="2971800"/>
            <a:ext cx="6766560" cy="3291840"/>
          </a:xfrm>
          <a:prstGeom prst="rect">
            <a:avLst/>
          </a:prstGeom>
          <a:noFill/>
        </p:spPr>
        <p:txBody>
          <a:bodyPr wrap="square">
            <a:spAutoFit/>
          </a:bodyPr>
          <a:lstStyle/>
          <a:p>
            <a:pPr>
              <a:lnSpc>
                <a:spcPct val="112000"/>
              </a:lnSpc>
              <a:spcAft>
                <a:spcPts val="800"/>
              </a:spcAft>
            </a:pPr>
            <a:r>
              <a:rPr sz="1200">
                <a:solidFill>
                  <a:srgbClr val="52514E"/>
                </a:solidFill>
                <a:latin typeface="Helvetica Neue"/>
              </a:rPr>
              <a:t>—  3B instruction-tuned model from Meta, explicitly aimed at on-device and low-cost deployment.</a:t>
            </a:r>
          </a:p>
          <a:p>
            <a:pPr>
              <a:lnSpc>
                <a:spcPct val="112000"/>
              </a:lnSpc>
              <a:spcAft>
                <a:spcPts val="800"/>
              </a:spcAft>
            </a:pPr>
            <a:r>
              <a:rPr sz="1200">
                <a:solidFill>
                  <a:srgbClr val="52514E"/>
                </a:solidFill>
                <a:latin typeface="Helvetica Neue"/>
              </a:rPr>
              <a:t>—  Core idea: no architectural novelty — the standard, well-proven dense transformer recipe used across the Llama family, simply shrunk to 3B parameters, rather than a smaller model with new efficiency tricks.</a:t>
            </a:r>
          </a:p>
          <a:p>
            <a:pPr>
              <a:lnSpc>
                <a:spcPct val="112000"/>
              </a:lnSpc>
              <a:spcAft>
                <a:spcPts val="800"/>
              </a:spcAft>
            </a:pPr>
            <a:r>
              <a:rPr sz="1200">
                <a:solidFill>
                  <a:srgbClr val="52514E"/>
                </a:solidFill>
                <a:latin typeface="Helvetica Neue"/>
              </a:rPr>
              <a:t>—  Built by pruning and distilling from larger Llama 3.1 checkpoints: structured pruning removes less-important weights/layers from a bigger trained model, then distillation fine-tunes the pruned model to match the bigger one's behavior — 'compress an expert' rather than 'train a novice from scratch'.</a:t>
            </a:r>
          </a:p>
          <a:p>
            <a:pPr>
              <a:lnSpc>
                <a:spcPct val="112000"/>
              </a:lnSpc>
              <a:spcAft>
                <a:spcPts val="800"/>
              </a:spcAft>
            </a:pPr>
            <a:r>
              <a:rPr sz="1200">
                <a:solidFill>
                  <a:srgbClr val="52514E"/>
                </a:solidFill>
                <a:latin typeface="Helvetica Neue"/>
              </a:rPr>
              <a:t>—  Uses RoPE (rotary position embeddings — encodes token position by rotating vectors, generalizing well to lengths not seen in training), Grouped Query Attention, and SwiGLU-gated feed-forward layers.</a:t>
            </a:r>
          </a:p>
          <a:p>
            <a:pPr>
              <a:lnSpc>
                <a:spcPct val="112000"/>
              </a:lnSpc>
              <a:spcAft>
                <a:spcPts val="800"/>
              </a:spcAft>
            </a:pPr>
            <a:r>
              <a:rPr sz="1200">
                <a:solidFill>
                  <a:srgbClr val="52514E"/>
                </a:solidFill>
                <a:latin typeface="Helvetica Neue"/>
              </a:rPr>
              <a:t>—  Net effect: predictable, well-understood behavior, easy to serve on modest hardware — at some cost to raw capacity relative to a natively-trained model of similar size (see Ministral-8B).</a:t>
            </a:r>
          </a:p>
        </p:txBody>
      </p:sp>
      <p:sp>
        <p:nvSpPr>
          <p:cNvPr id="11" name="TextBox 10"/>
          <p:cNvSpPr txBox="1"/>
          <p:nvPr/>
        </p:nvSpPr>
        <p:spPr>
          <a:xfrm>
            <a:off x="7589520" y="2971800"/>
            <a:ext cx="40233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KEY PROPERTIES</a:t>
            </a:r>
          </a:p>
        </p:txBody>
      </p:sp>
      <p:sp>
        <p:nvSpPr>
          <p:cNvPr id="12" name="TextBox 11"/>
          <p:cNvSpPr txBox="1"/>
          <p:nvPr/>
        </p:nvSpPr>
        <p:spPr>
          <a:xfrm>
            <a:off x="7589520" y="3291840"/>
            <a:ext cx="4023360" cy="1920240"/>
          </a:xfrm>
          <a:prstGeom prst="rect">
            <a:avLst/>
          </a:prstGeom>
          <a:noFill/>
        </p:spPr>
        <p:txBody>
          <a:bodyPr wrap="square">
            <a:spAutoFit/>
          </a:bodyPr>
          <a:lstStyle/>
          <a:p>
            <a:pPr>
              <a:lnSpc>
                <a:spcPct val="112000"/>
              </a:lnSpc>
              <a:spcAft>
                <a:spcPts val="700"/>
              </a:spcAft>
            </a:pPr>
            <a:r>
              <a:rPr sz="1150">
                <a:solidFill>
                  <a:srgbClr val="52514E"/>
                </a:solidFill>
                <a:latin typeface="Helvetica Neue"/>
              </a:rPr>
              <a:t>•  Dense decoder-only transformer</a:t>
            </a:r>
          </a:p>
          <a:p>
            <a:pPr>
              <a:lnSpc>
                <a:spcPct val="112000"/>
              </a:lnSpc>
              <a:spcAft>
                <a:spcPts val="700"/>
              </a:spcAft>
            </a:pPr>
            <a:r>
              <a:rPr sz="1150">
                <a:solidFill>
                  <a:srgbClr val="52514E"/>
                </a:solidFill>
                <a:latin typeface="Helvetica Neue"/>
              </a:rPr>
              <a:t>•  RoPE position embeddings for length generalisation</a:t>
            </a:r>
          </a:p>
          <a:p>
            <a:pPr>
              <a:lnSpc>
                <a:spcPct val="112000"/>
              </a:lnSpc>
              <a:spcAft>
                <a:spcPts val="700"/>
              </a:spcAft>
            </a:pPr>
            <a:r>
              <a:rPr sz="1150">
                <a:solidFill>
                  <a:srgbClr val="52514E"/>
                </a:solidFill>
                <a:latin typeface="Helvetica Neue"/>
              </a:rPr>
              <a:t>•  Grouped Query Attention and SwiGLU feed-forward layers</a:t>
            </a:r>
          </a:p>
          <a:p>
            <a:pPr>
              <a:lnSpc>
                <a:spcPct val="112000"/>
              </a:lnSpc>
              <a:spcAft>
                <a:spcPts val="700"/>
              </a:spcAft>
            </a:pPr>
            <a:r>
              <a:rPr sz="1150">
                <a:solidFill>
                  <a:srgbClr val="52514E"/>
                </a:solidFill>
                <a:latin typeface="Helvetica Neue"/>
              </a:rPr>
              <a:t>•  Predictable and easy to serve on modest hardware</a:t>
            </a:r>
          </a:p>
        </p:txBody>
      </p:sp>
      <p:sp>
        <p:nvSpPr>
          <p:cNvPr id="13" name="TextBox 12"/>
          <p:cNvSpPr txBox="1"/>
          <p:nvPr/>
        </p:nvSpPr>
        <p:spPr>
          <a:xfrm>
            <a:off x="548640" y="6217920"/>
            <a:ext cx="11064240" cy="274320"/>
          </a:xfrm>
          <a:prstGeom prst="rect">
            <a:avLst/>
          </a:prstGeom>
          <a:noFill/>
        </p:spPr>
        <p:txBody>
          <a:bodyPr wrap="square" lIns="0" tIns="0" rIns="0" bIns="0" anchor="t">
            <a:spAutoFit/>
          </a:bodyPr>
          <a:lstStyle/>
          <a:p>
            <a:pPr algn="l">
              <a:lnSpc>
                <a:spcPct val="100000"/>
              </a:lnSpc>
            </a:pPr>
            <a:r>
              <a:rPr sz="1000" b="0" i="1">
                <a:solidFill>
                  <a:srgbClr val="898781"/>
                </a:solidFill>
                <a:latin typeface="Helvetica Neue"/>
              </a:rPr>
              <a:t>Evaluated with identical decoding parameters across all three models — see “Parameter set used in this evaluation.”</a:t>
            </a:r>
          </a:p>
        </p:txBody>
      </p:sp>
      <p:sp>
        <p:nvSpPr>
          <p:cNvPr id="14" name="TextBox 13"/>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5" name="TextBox 14"/>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CONSIDERED MODEL(S)</a:t>
            </a:r>
          </a:p>
        </p:txBody>
      </p:sp>
      <p:sp>
        <p:nvSpPr>
          <p:cNvPr id="4" name="TextBox 3"/>
          <p:cNvSpPr txBox="1"/>
          <p:nvPr/>
        </p:nvSpPr>
        <p:spPr>
          <a:xfrm>
            <a:off x="548640" y="566928"/>
            <a:ext cx="11064240" cy="640080"/>
          </a:xfrm>
          <a:prstGeom prst="rect">
            <a:avLst/>
          </a:prstGeom>
          <a:noFill/>
        </p:spPr>
        <p:txBody>
          <a:bodyPr wrap="square" lIns="0" tIns="0" rIns="0" bIns="0" anchor="t">
            <a:spAutoFit/>
          </a:bodyPr>
          <a:lstStyle/>
          <a:p>
            <a:pPr algn="l">
              <a:lnSpc>
                <a:spcPct val="100000"/>
              </a:lnSpc>
            </a:pPr>
            <a:r>
              <a:rPr sz="2800" b="1" i="0">
                <a:solidFill>
                  <a:srgbClr val="0B0B0B"/>
                </a:solidFill>
                <a:latin typeface="Helvetica Neue"/>
              </a:rPr>
              <a:t>Llama-3.2-3B — inference flow</a:t>
            </a:r>
          </a:p>
        </p:txBody>
      </p:sp>
      <p:cxnSp>
        <p:nvCxnSpPr>
          <p:cNvPr id="5" name="Connector 4"/>
          <p:cNvCxnSpPr/>
          <p:nvPr/>
        </p:nvCxnSpPr>
        <p:spPr>
          <a:xfrm>
            <a:off x="548640" y="123444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291840" y="1508760"/>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Input tokens</a:t>
            </a:r>
          </a:p>
        </p:txBody>
      </p:sp>
      <p:sp>
        <p:nvSpPr>
          <p:cNvPr id="7" name="Rounded Rectangle 6"/>
          <p:cNvSpPr/>
          <p:nvPr/>
        </p:nvSpPr>
        <p:spPr>
          <a:xfrm>
            <a:off x="3291840" y="2093976"/>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Token embedding + RoPE</a:t>
            </a:r>
          </a:p>
        </p:txBody>
      </p:sp>
      <p:sp>
        <p:nvSpPr>
          <p:cNvPr id="8" name="Rounded Rectangle 7"/>
          <p:cNvSpPr/>
          <p:nvPr/>
        </p:nvSpPr>
        <p:spPr>
          <a:xfrm>
            <a:off x="3291840" y="2679192"/>
            <a:ext cx="5577840" cy="457200"/>
          </a:xfrm>
          <a:prstGeom prst="roundRect">
            <a:avLst>
              <a:gd name="adj" fmla="val 50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Multi-head attention (GQA)</a:t>
            </a:r>
          </a:p>
        </p:txBody>
      </p:sp>
      <p:sp>
        <p:nvSpPr>
          <p:cNvPr id="9" name="Rounded Rectangle 8"/>
          <p:cNvSpPr/>
          <p:nvPr/>
        </p:nvSpPr>
        <p:spPr>
          <a:xfrm>
            <a:off x="3291840" y="3264408"/>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SwiGLU feed forward</a:t>
            </a:r>
          </a:p>
        </p:txBody>
      </p:sp>
      <p:sp>
        <p:nvSpPr>
          <p:cNvPr id="10" name="Rounded Rectangle 9"/>
          <p:cNvSpPr/>
          <p:nvPr/>
        </p:nvSpPr>
        <p:spPr>
          <a:xfrm>
            <a:off x="3291840" y="3849624"/>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RMSNorm + residual (×N layers)</a:t>
            </a:r>
          </a:p>
        </p:txBody>
      </p:sp>
      <p:sp>
        <p:nvSpPr>
          <p:cNvPr id="11" name="Rounded Rectangle 10"/>
          <p:cNvSpPr/>
          <p:nvPr/>
        </p:nvSpPr>
        <p:spPr>
          <a:xfrm>
            <a:off x="3291840" y="4434840"/>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Final RMSNorm → LM head</a:t>
            </a:r>
          </a:p>
        </p:txBody>
      </p:sp>
      <p:sp>
        <p:nvSpPr>
          <p:cNvPr id="12" name="Rounded Rectangle 11"/>
          <p:cNvSpPr/>
          <p:nvPr/>
        </p:nvSpPr>
        <p:spPr>
          <a:xfrm>
            <a:off x="3291840" y="5020056"/>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Softmax → next token</a:t>
            </a:r>
          </a:p>
        </p:txBody>
      </p:sp>
      <p:sp>
        <p:nvSpPr>
          <p:cNvPr id="13" name="TextBox 12"/>
          <p:cNvSpPr txBox="1"/>
          <p:nvPr/>
        </p:nvSpPr>
        <p:spPr>
          <a:xfrm>
            <a:off x="9144000" y="1508760"/>
            <a:ext cx="24688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NOTE</a:t>
            </a:r>
          </a:p>
        </p:txBody>
      </p:sp>
      <p:sp>
        <p:nvSpPr>
          <p:cNvPr id="14" name="TextBox 13"/>
          <p:cNvSpPr txBox="1"/>
          <p:nvPr/>
        </p:nvSpPr>
        <p:spPr>
          <a:xfrm>
            <a:off x="9144000" y="1828800"/>
            <a:ext cx="2468880" cy="4389120"/>
          </a:xfrm>
          <a:prstGeom prst="rect">
            <a:avLst/>
          </a:prstGeom>
          <a:noFill/>
        </p:spPr>
        <p:txBody>
          <a:bodyPr wrap="square">
            <a:spAutoFit/>
          </a:bodyPr>
          <a:lstStyle/>
          <a:p>
            <a:pPr>
              <a:lnSpc>
                <a:spcPct val="112000"/>
              </a:lnSpc>
              <a:spcAft>
                <a:spcPts val="1000"/>
              </a:spcAft>
            </a:pPr>
            <a:r>
              <a:rPr sz="1100">
                <a:solidFill>
                  <a:srgbClr val="52514E"/>
                </a:solidFill>
                <a:latin typeface="Helvetica Neue"/>
              </a:rPr>
              <a:t>•  Multi-head attention (GQA): full attention over the whole context, but with grouped key/value heads to shrink the KV cache.</a:t>
            </a:r>
          </a:p>
          <a:p>
            <a:pPr>
              <a:lnSpc>
                <a:spcPct val="112000"/>
              </a:lnSpc>
              <a:spcAft>
                <a:spcPts val="1000"/>
              </a:spcAft>
            </a:pPr>
            <a:r>
              <a:rPr sz="1100">
                <a:solidFill>
                  <a:srgbClr val="52514E"/>
                </a:solidFill>
                <a:latin typeface="Helvetica Neue"/>
              </a:rPr>
              <a:t>•  SwiGLU feed forward: a gated MLP block, used in place of a plain ReLU/GeLU MLP.</a:t>
            </a:r>
          </a:p>
          <a:p>
            <a:pPr>
              <a:lnSpc>
                <a:spcPct val="112000"/>
              </a:lnSpc>
              <a:spcAft>
                <a:spcPts val="1000"/>
              </a:spcAft>
            </a:pPr>
            <a:r>
              <a:rPr sz="1100">
                <a:solidFill>
                  <a:srgbClr val="52514E"/>
                </a:solidFill>
                <a:latin typeface="Helvetica Neue"/>
              </a:rPr>
              <a:t>•  No local/global split, no sliding window — the simplest of the three designs.</a:t>
            </a:r>
          </a:p>
        </p:txBody>
      </p:sp>
      <p:sp>
        <p:nvSpPr>
          <p:cNvPr id="15" name="TextBox 14"/>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6" name="TextBox 15"/>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CONSIDERED MODEL(S)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800" b="1" i="0">
                <a:solidFill>
                  <a:srgbClr val="0B0B0B"/>
                </a:solidFill>
                <a:latin typeface="Helvetica Neue"/>
              </a:rPr>
              <a:t>Ministral-8B</a:t>
            </a:r>
          </a:p>
        </p:txBody>
      </p:sp>
      <p:sp>
        <p:nvSpPr>
          <p:cNvPr id="5" name="Rounded Rectangle 4"/>
          <p:cNvSpPr/>
          <p:nvPr/>
        </p:nvSpPr>
        <p:spPr>
          <a:xfrm>
            <a:off x="548640" y="1517904"/>
            <a:ext cx="1463040" cy="329184"/>
          </a:xfrm>
          <a:prstGeom prst="roundRect">
            <a:avLst>
              <a:gd name="adj" fmla="val 50000"/>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100" b="1">
                <a:solidFill>
                  <a:srgbClr val="FFFFFF"/>
                </a:solidFill>
                <a:latin typeface="Helvetica Neue"/>
              </a:rPr>
              <a:t>Mistral AI</a:t>
            </a:r>
          </a:p>
        </p:txBody>
      </p:sp>
      <p:sp>
        <p:nvSpPr>
          <p:cNvPr id="6" name="Rounded Rectangle 5"/>
          <p:cNvSpPr/>
          <p:nvPr/>
        </p:nvSpPr>
        <p:spPr>
          <a:xfrm>
            <a:off x="2103120" y="1517904"/>
            <a:ext cx="1737360" cy="329184"/>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100" b="1">
                <a:solidFill>
                  <a:srgbClr val="FFFFFF"/>
                </a:solidFill>
                <a:latin typeface="Helvetica Neue"/>
              </a:rPr>
              <a:t>8B parameters</a:t>
            </a:r>
          </a:p>
        </p:txBody>
      </p:sp>
      <p:cxnSp>
        <p:nvCxnSpPr>
          <p:cNvPr id="7" name="Connector 6"/>
          <p:cNvCxnSpPr/>
          <p:nvPr/>
        </p:nvCxnSpPr>
        <p:spPr>
          <a:xfrm>
            <a:off x="548640" y="201168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2194560"/>
            <a:ext cx="11064240" cy="32004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WORKING TECHNIQUE</a:t>
            </a:r>
          </a:p>
        </p:txBody>
      </p:sp>
      <p:sp>
        <p:nvSpPr>
          <p:cNvPr id="9" name="TextBox 8"/>
          <p:cNvSpPr txBox="1"/>
          <p:nvPr/>
        </p:nvSpPr>
        <p:spPr>
          <a:xfrm>
            <a:off x="548640" y="2487168"/>
            <a:ext cx="11064240" cy="457200"/>
          </a:xfrm>
          <a:prstGeom prst="rect">
            <a:avLst/>
          </a:prstGeom>
          <a:noFill/>
        </p:spPr>
        <p:txBody>
          <a:bodyPr wrap="square" lIns="0" tIns="0" rIns="0" bIns="0" anchor="t">
            <a:spAutoFit/>
          </a:bodyPr>
          <a:lstStyle/>
          <a:p>
            <a:pPr algn="l">
              <a:lnSpc>
                <a:spcPct val="100000"/>
              </a:lnSpc>
            </a:pPr>
            <a:r>
              <a:rPr sz="1700" b="1" i="0">
                <a:solidFill>
                  <a:srgbClr val="008300"/>
                </a:solidFill>
                <a:latin typeface="Helvetica Neue"/>
              </a:rPr>
              <a:t>Sliding Window Attention + GQA</a:t>
            </a:r>
          </a:p>
        </p:txBody>
      </p:sp>
      <p:sp>
        <p:nvSpPr>
          <p:cNvPr id="10" name="TextBox 9"/>
          <p:cNvSpPr txBox="1"/>
          <p:nvPr/>
        </p:nvSpPr>
        <p:spPr>
          <a:xfrm>
            <a:off x="548640" y="2971800"/>
            <a:ext cx="6766560" cy="3291840"/>
          </a:xfrm>
          <a:prstGeom prst="rect">
            <a:avLst/>
          </a:prstGeom>
          <a:noFill/>
        </p:spPr>
        <p:txBody>
          <a:bodyPr wrap="square">
            <a:spAutoFit/>
          </a:bodyPr>
          <a:lstStyle/>
          <a:p>
            <a:pPr>
              <a:lnSpc>
                <a:spcPct val="112000"/>
              </a:lnSpc>
              <a:spcAft>
                <a:spcPts val="800"/>
              </a:spcAft>
            </a:pPr>
            <a:r>
              <a:rPr sz="1200">
                <a:solidFill>
                  <a:srgbClr val="52514E"/>
                </a:solidFill>
                <a:latin typeface="Helvetica Neue"/>
              </a:rPr>
              <a:t>—  8B model from Mistral AI, part of the Ministral family built specifically for edge deployment.</a:t>
            </a:r>
          </a:p>
          <a:p>
            <a:pPr>
              <a:lnSpc>
                <a:spcPct val="112000"/>
              </a:lnSpc>
              <a:spcAft>
                <a:spcPts val="800"/>
              </a:spcAft>
            </a:pPr>
            <a:r>
              <a:rPr sz="1200">
                <a:solidFill>
                  <a:srgbClr val="52514E"/>
                </a:solidFill>
                <a:latin typeface="Helvetica Neue"/>
              </a:rPr>
              <a:t>—  Core idea: sliding window attention — each layer only attends to a fixed local window of recent tokens rather than the full context, capping the per-layer attention cost regardless of passage length.</a:t>
            </a:r>
          </a:p>
          <a:p>
            <a:pPr>
              <a:lnSpc>
                <a:spcPct val="112000"/>
              </a:lnSpc>
              <a:spcAft>
                <a:spcPts val="800"/>
              </a:spcAft>
            </a:pPr>
            <a:r>
              <a:rPr sz="1200">
                <a:solidFill>
                  <a:srgbClr val="52514E"/>
                </a:solidFill>
                <a:latin typeface="Helvetica Neue"/>
              </a:rPr>
              <a:t>—  Stacking many such layers lets information still propagate across the whole passage (a later layer's window can see information an earlier layer already gathered from tokens further back), without ever paying the full quadratic cost in a single layer.</a:t>
            </a:r>
          </a:p>
          <a:p>
            <a:pPr>
              <a:lnSpc>
                <a:spcPct val="112000"/>
              </a:lnSpc>
              <a:spcAft>
                <a:spcPts val="800"/>
              </a:spcAft>
            </a:pPr>
            <a:r>
              <a:rPr sz="1200">
                <a:solidFill>
                  <a:srgbClr val="52514E"/>
                </a:solidFill>
                <a:latin typeface="Helvetica Neue"/>
              </a:rPr>
              <a:t>—  Combined with Grouped Query Attention to further shrink the key-value cache, keeping memory low even on long documents.</a:t>
            </a:r>
          </a:p>
          <a:p>
            <a:pPr>
              <a:lnSpc>
                <a:spcPct val="112000"/>
              </a:lnSpc>
              <a:spcAft>
                <a:spcPts val="800"/>
              </a:spcAft>
            </a:pPr>
            <a:r>
              <a:rPr sz="1200">
                <a:solidFill>
                  <a:srgbClr val="52514E"/>
                </a:solidFill>
                <a:latin typeface="Helvetica Neue"/>
              </a:rPr>
              <a:t>—  Unlike the other two models in this study, Ministral-8B is not described as distilled or pruned from a larger checkpoint — it is trained at its native 8B size, very likely the single biggest reason it leads both benchmarks.</a:t>
            </a:r>
          </a:p>
        </p:txBody>
      </p:sp>
      <p:sp>
        <p:nvSpPr>
          <p:cNvPr id="11" name="TextBox 10"/>
          <p:cNvSpPr txBox="1"/>
          <p:nvPr/>
        </p:nvSpPr>
        <p:spPr>
          <a:xfrm>
            <a:off x="7589520" y="2971800"/>
            <a:ext cx="40233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KEY PROPERTIES</a:t>
            </a:r>
          </a:p>
        </p:txBody>
      </p:sp>
      <p:sp>
        <p:nvSpPr>
          <p:cNvPr id="12" name="TextBox 11"/>
          <p:cNvSpPr txBox="1"/>
          <p:nvPr/>
        </p:nvSpPr>
        <p:spPr>
          <a:xfrm>
            <a:off x="7589520" y="3291840"/>
            <a:ext cx="4023360" cy="1920240"/>
          </a:xfrm>
          <a:prstGeom prst="rect">
            <a:avLst/>
          </a:prstGeom>
          <a:noFill/>
        </p:spPr>
        <p:txBody>
          <a:bodyPr wrap="square">
            <a:spAutoFit/>
          </a:bodyPr>
          <a:lstStyle/>
          <a:p>
            <a:pPr>
              <a:lnSpc>
                <a:spcPct val="112000"/>
              </a:lnSpc>
              <a:spcAft>
                <a:spcPts val="700"/>
              </a:spcAft>
            </a:pPr>
            <a:r>
              <a:rPr sz="1150">
                <a:solidFill>
                  <a:srgbClr val="52514E"/>
                </a:solidFill>
                <a:latin typeface="Helvetica Neue"/>
              </a:rPr>
              <a:t>•  Sliding window attention for local context</a:t>
            </a:r>
          </a:p>
          <a:p>
            <a:pPr>
              <a:lnSpc>
                <a:spcPct val="112000"/>
              </a:lnSpc>
              <a:spcAft>
                <a:spcPts val="700"/>
              </a:spcAft>
            </a:pPr>
            <a:r>
              <a:rPr sz="1150">
                <a:solidFill>
                  <a:srgbClr val="52514E"/>
                </a:solidFill>
                <a:latin typeface="Helvetica Neue"/>
              </a:rPr>
              <a:t>•  Grouped Query Attention for a smaller KV cache</a:t>
            </a:r>
          </a:p>
          <a:p>
            <a:pPr>
              <a:lnSpc>
                <a:spcPct val="112000"/>
              </a:lnSpc>
              <a:spcAft>
                <a:spcPts val="700"/>
              </a:spcAft>
            </a:pPr>
            <a:r>
              <a:rPr sz="1150">
                <a:solidFill>
                  <a:srgbClr val="52514E"/>
                </a:solidFill>
                <a:latin typeface="Helvetica Neue"/>
              </a:rPr>
              <a:t>•  Efficient long-context inference at the edge</a:t>
            </a:r>
          </a:p>
        </p:txBody>
      </p:sp>
      <p:sp>
        <p:nvSpPr>
          <p:cNvPr id="13" name="TextBox 12"/>
          <p:cNvSpPr txBox="1"/>
          <p:nvPr/>
        </p:nvSpPr>
        <p:spPr>
          <a:xfrm>
            <a:off x="548640" y="6217920"/>
            <a:ext cx="11064240" cy="274320"/>
          </a:xfrm>
          <a:prstGeom prst="rect">
            <a:avLst/>
          </a:prstGeom>
          <a:noFill/>
        </p:spPr>
        <p:txBody>
          <a:bodyPr wrap="square" lIns="0" tIns="0" rIns="0" bIns="0" anchor="t">
            <a:spAutoFit/>
          </a:bodyPr>
          <a:lstStyle/>
          <a:p>
            <a:pPr algn="l">
              <a:lnSpc>
                <a:spcPct val="100000"/>
              </a:lnSpc>
            </a:pPr>
            <a:r>
              <a:rPr sz="1000" b="0" i="1">
                <a:solidFill>
                  <a:srgbClr val="898781"/>
                </a:solidFill>
                <a:latin typeface="Helvetica Neue"/>
              </a:rPr>
              <a:t>Evaluated with identical decoding parameters across all three models — see “Parameter set used in this evaluation.”</a:t>
            </a:r>
          </a:p>
        </p:txBody>
      </p:sp>
      <p:sp>
        <p:nvSpPr>
          <p:cNvPr id="14" name="TextBox 13"/>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5" name="TextBox 14"/>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CONSIDERED MODEL(S)</a:t>
            </a:r>
          </a:p>
        </p:txBody>
      </p:sp>
      <p:sp>
        <p:nvSpPr>
          <p:cNvPr id="4" name="TextBox 3"/>
          <p:cNvSpPr txBox="1"/>
          <p:nvPr/>
        </p:nvSpPr>
        <p:spPr>
          <a:xfrm>
            <a:off x="548640" y="566928"/>
            <a:ext cx="11064240" cy="640080"/>
          </a:xfrm>
          <a:prstGeom prst="rect">
            <a:avLst/>
          </a:prstGeom>
          <a:noFill/>
        </p:spPr>
        <p:txBody>
          <a:bodyPr wrap="square" lIns="0" tIns="0" rIns="0" bIns="0" anchor="t">
            <a:spAutoFit/>
          </a:bodyPr>
          <a:lstStyle/>
          <a:p>
            <a:pPr algn="l">
              <a:lnSpc>
                <a:spcPct val="100000"/>
              </a:lnSpc>
            </a:pPr>
            <a:r>
              <a:rPr sz="2800" b="1" i="0">
                <a:solidFill>
                  <a:srgbClr val="0B0B0B"/>
                </a:solidFill>
                <a:latin typeface="Helvetica Neue"/>
              </a:rPr>
              <a:t>Ministral-8B — inference flow</a:t>
            </a:r>
          </a:p>
        </p:txBody>
      </p:sp>
      <p:cxnSp>
        <p:nvCxnSpPr>
          <p:cNvPr id="5" name="Connector 4"/>
          <p:cNvCxnSpPr/>
          <p:nvPr/>
        </p:nvCxnSpPr>
        <p:spPr>
          <a:xfrm>
            <a:off x="548640" y="123444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291840" y="1508760"/>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Input tokens</a:t>
            </a:r>
          </a:p>
        </p:txBody>
      </p:sp>
      <p:sp>
        <p:nvSpPr>
          <p:cNvPr id="7" name="Rounded Rectangle 6"/>
          <p:cNvSpPr/>
          <p:nvPr/>
        </p:nvSpPr>
        <p:spPr>
          <a:xfrm>
            <a:off x="3291840" y="2093976"/>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Token embedding + RoPE</a:t>
            </a:r>
          </a:p>
        </p:txBody>
      </p:sp>
      <p:sp>
        <p:nvSpPr>
          <p:cNvPr id="8" name="Rounded Rectangle 7"/>
          <p:cNvSpPr/>
          <p:nvPr/>
        </p:nvSpPr>
        <p:spPr>
          <a:xfrm>
            <a:off x="3291840" y="2679192"/>
            <a:ext cx="5577840" cy="457200"/>
          </a:xfrm>
          <a:prstGeom prst="roundRect">
            <a:avLst>
              <a:gd name="adj" fmla="val 50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Sliding window attention</a:t>
            </a:r>
          </a:p>
        </p:txBody>
      </p:sp>
      <p:sp>
        <p:nvSpPr>
          <p:cNvPr id="9" name="Rounded Rectangle 8"/>
          <p:cNvSpPr/>
          <p:nvPr/>
        </p:nvSpPr>
        <p:spPr>
          <a:xfrm>
            <a:off x="3291840" y="3264408"/>
            <a:ext cx="5577840" cy="457200"/>
          </a:xfrm>
          <a:prstGeom prst="roundRect">
            <a:avLst>
              <a:gd name="adj" fmla="val 50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Grouped Query Attention</a:t>
            </a:r>
          </a:p>
        </p:txBody>
      </p:sp>
      <p:sp>
        <p:nvSpPr>
          <p:cNvPr id="10" name="Rounded Rectangle 9"/>
          <p:cNvSpPr/>
          <p:nvPr/>
        </p:nvSpPr>
        <p:spPr>
          <a:xfrm>
            <a:off x="3291840" y="3849624"/>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SwiGLU feed forward</a:t>
            </a:r>
          </a:p>
        </p:txBody>
      </p:sp>
      <p:sp>
        <p:nvSpPr>
          <p:cNvPr id="11" name="Rounded Rectangle 10"/>
          <p:cNvSpPr/>
          <p:nvPr/>
        </p:nvSpPr>
        <p:spPr>
          <a:xfrm>
            <a:off x="3291840" y="4434840"/>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RMSNorm + residual (×N layers)</a:t>
            </a:r>
          </a:p>
        </p:txBody>
      </p:sp>
      <p:sp>
        <p:nvSpPr>
          <p:cNvPr id="12" name="Rounded Rectangle 11"/>
          <p:cNvSpPr/>
          <p:nvPr/>
        </p:nvSpPr>
        <p:spPr>
          <a:xfrm>
            <a:off x="3291840" y="5020056"/>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Final RMSNorm → LM head</a:t>
            </a:r>
          </a:p>
        </p:txBody>
      </p:sp>
      <p:sp>
        <p:nvSpPr>
          <p:cNvPr id="13" name="Rounded Rectangle 12"/>
          <p:cNvSpPr/>
          <p:nvPr/>
        </p:nvSpPr>
        <p:spPr>
          <a:xfrm>
            <a:off x="3291840" y="5605272"/>
            <a:ext cx="5577840" cy="457200"/>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50">
                <a:solidFill>
                  <a:srgbClr val="0B0B0B"/>
                </a:solidFill>
                <a:latin typeface="Helvetica Neue"/>
              </a:rPr>
              <a:t>Softmax → next token</a:t>
            </a:r>
          </a:p>
        </p:txBody>
      </p:sp>
      <p:sp>
        <p:nvSpPr>
          <p:cNvPr id="14" name="TextBox 13"/>
          <p:cNvSpPr txBox="1"/>
          <p:nvPr/>
        </p:nvSpPr>
        <p:spPr>
          <a:xfrm>
            <a:off x="9144000" y="1508760"/>
            <a:ext cx="24688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NOTE</a:t>
            </a:r>
          </a:p>
        </p:txBody>
      </p:sp>
      <p:sp>
        <p:nvSpPr>
          <p:cNvPr id="15" name="TextBox 14"/>
          <p:cNvSpPr txBox="1"/>
          <p:nvPr/>
        </p:nvSpPr>
        <p:spPr>
          <a:xfrm>
            <a:off x="9144000" y="1828800"/>
            <a:ext cx="2468880" cy="4389120"/>
          </a:xfrm>
          <a:prstGeom prst="rect">
            <a:avLst/>
          </a:prstGeom>
          <a:noFill/>
        </p:spPr>
        <p:txBody>
          <a:bodyPr wrap="square">
            <a:spAutoFit/>
          </a:bodyPr>
          <a:lstStyle/>
          <a:p>
            <a:pPr>
              <a:lnSpc>
                <a:spcPct val="112000"/>
              </a:lnSpc>
              <a:spcAft>
                <a:spcPts val="1000"/>
              </a:spcAft>
            </a:pPr>
            <a:r>
              <a:rPr sz="1100">
                <a:solidFill>
                  <a:srgbClr val="52514E"/>
                </a:solidFill>
                <a:latin typeface="Helvetica Neue"/>
              </a:rPr>
              <a:t>•  Sliding window attention: local context only, per layer — same trick Gemma uses for its 'local' layers, but used on every layer here, not just 4 in 5.</a:t>
            </a:r>
          </a:p>
          <a:p>
            <a:pPr>
              <a:lnSpc>
                <a:spcPct val="112000"/>
              </a:lnSpc>
              <a:spcAft>
                <a:spcPts val="1000"/>
              </a:spcAft>
            </a:pPr>
            <a:r>
              <a:rPr sz="1100">
                <a:solidFill>
                  <a:srgbClr val="52514E"/>
                </a:solidFill>
                <a:latin typeface="Helvetica Neue"/>
              </a:rPr>
              <a:t>•  Grouped Query Attention: shrinks the KV cache for fast decoding on long passages.</a:t>
            </a:r>
          </a:p>
          <a:p>
            <a:pPr>
              <a:lnSpc>
                <a:spcPct val="112000"/>
              </a:lnSpc>
              <a:spcAft>
                <a:spcPts val="1000"/>
              </a:spcAft>
            </a:pPr>
            <a:r>
              <a:rPr sz="1100">
                <a:solidFill>
                  <a:srgbClr val="52514E"/>
                </a:solidFill>
                <a:latin typeface="Helvetica Neue"/>
              </a:rPr>
              <a:t>•  No global-attention layer at all — depth (stacking many windowed layers) substitutes for it.</a:t>
            </a:r>
          </a:p>
        </p:txBody>
      </p:sp>
      <p:sp>
        <p:nvSpPr>
          <p:cNvPr id="16" name="TextBox 15"/>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7" name="TextBox 16"/>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Fine-tuning parameter: Temperature</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91640"/>
            <a:ext cx="56692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WHAT IT DOES</a:t>
            </a:r>
          </a:p>
        </p:txBody>
      </p:sp>
      <p:sp>
        <p:nvSpPr>
          <p:cNvPr id="7" name="TextBox 6"/>
          <p:cNvSpPr txBox="1"/>
          <p:nvPr/>
        </p:nvSpPr>
        <p:spPr>
          <a:xfrm>
            <a:off x="548640" y="2011680"/>
            <a:ext cx="5669280" cy="1554480"/>
          </a:xfrm>
          <a:prstGeom prst="rect">
            <a:avLst/>
          </a:prstGeom>
          <a:noFill/>
        </p:spPr>
        <p:txBody>
          <a:bodyPr wrap="square" lIns="0" tIns="0" rIns="0" bIns="0" anchor="t">
            <a:spAutoFit/>
          </a:bodyPr>
          <a:lstStyle/>
          <a:p>
            <a:pPr algn="l">
              <a:lnSpc>
                <a:spcPct val="125000"/>
              </a:lnSpc>
            </a:pPr>
            <a:r>
              <a:rPr sz="1350" b="0" i="0" dirty="0">
                <a:solidFill>
                  <a:srgbClr val="52514E"/>
                </a:solidFill>
                <a:latin typeface="Helvetica Neue"/>
              </a:rPr>
              <a:t>Scales the logits before the </a:t>
            </a:r>
            <a:r>
              <a:rPr sz="1350" b="0" i="0" dirty="0" err="1">
                <a:solidFill>
                  <a:srgbClr val="52514E"/>
                </a:solidFill>
                <a:latin typeface="Helvetica Neue"/>
              </a:rPr>
              <a:t>softmax</a:t>
            </a:r>
            <a:r>
              <a:rPr sz="1350" b="0" i="0" dirty="0">
                <a:solidFill>
                  <a:srgbClr val="52514E"/>
                </a:solidFill>
                <a:latin typeface="Helvetica Neue"/>
              </a:rPr>
              <a:t> that turns the model's raw output scores into a probability distribution over the vocabulary — the next token is then sampled from that distribution. The Fine Tune panel exposes six such decoding parameters, shared by both benchmarks; none of them change model weights.</a:t>
            </a:r>
          </a:p>
        </p:txBody>
      </p:sp>
      <p:sp>
        <p:nvSpPr>
          <p:cNvPr id="8" name="TextBox 7"/>
          <p:cNvSpPr txBox="1"/>
          <p:nvPr/>
        </p:nvSpPr>
        <p:spPr>
          <a:xfrm>
            <a:off x="548640" y="3657600"/>
            <a:ext cx="2651760" cy="292608"/>
          </a:xfrm>
          <a:prstGeom prst="rect">
            <a:avLst/>
          </a:prstGeom>
          <a:noFill/>
        </p:spPr>
        <p:txBody>
          <a:bodyPr wrap="square" lIns="0" tIns="0" rIns="0" bIns="0" anchor="t">
            <a:spAutoFit/>
          </a:bodyPr>
          <a:lstStyle/>
          <a:p>
            <a:pPr algn="l">
              <a:lnSpc>
                <a:spcPct val="100000"/>
              </a:lnSpc>
            </a:pPr>
            <a:r>
              <a:rPr sz="1100" b="1" i="0" dirty="0">
                <a:solidFill>
                  <a:srgbClr val="898781"/>
                </a:solidFill>
                <a:latin typeface="Helvetica Neue"/>
              </a:rPr>
              <a:t>RANGE</a:t>
            </a:r>
          </a:p>
        </p:txBody>
      </p:sp>
      <p:sp>
        <p:nvSpPr>
          <p:cNvPr id="9" name="TextBox 8"/>
          <p:cNvSpPr txBox="1"/>
          <p:nvPr/>
        </p:nvSpPr>
        <p:spPr>
          <a:xfrm>
            <a:off x="548640" y="3959352"/>
            <a:ext cx="2651760" cy="457200"/>
          </a:xfrm>
          <a:prstGeom prst="rect">
            <a:avLst/>
          </a:prstGeom>
          <a:noFill/>
        </p:spPr>
        <p:txBody>
          <a:bodyPr wrap="square" lIns="0" tIns="0" rIns="0" bIns="0" anchor="t">
            <a:spAutoFit/>
          </a:bodyPr>
          <a:lstStyle/>
          <a:p>
            <a:pPr algn="l">
              <a:lnSpc>
                <a:spcPct val="100000"/>
              </a:lnSpc>
            </a:pPr>
            <a:r>
              <a:rPr sz="1500" b="1" i="0">
                <a:solidFill>
                  <a:srgbClr val="0B0B0B"/>
                </a:solidFill>
                <a:latin typeface="Helvetica Neue"/>
              </a:rPr>
              <a:t>0.0 – 2.0</a:t>
            </a:r>
          </a:p>
        </p:txBody>
      </p:sp>
      <p:sp>
        <p:nvSpPr>
          <p:cNvPr id="10" name="TextBox 9"/>
          <p:cNvSpPr txBox="1"/>
          <p:nvPr/>
        </p:nvSpPr>
        <p:spPr>
          <a:xfrm>
            <a:off x="3383280" y="3657600"/>
            <a:ext cx="2834640" cy="292608"/>
          </a:xfrm>
          <a:prstGeom prst="rect">
            <a:avLst/>
          </a:prstGeom>
          <a:noFill/>
        </p:spPr>
        <p:txBody>
          <a:bodyPr wrap="square" lIns="0" tIns="0" rIns="0" bIns="0" anchor="t">
            <a:spAutoFit/>
          </a:bodyPr>
          <a:lstStyle/>
          <a:p>
            <a:pPr algn="l">
              <a:lnSpc>
                <a:spcPct val="100000"/>
              </a:lnSpc>
            </a:pPr>
            <a:r>
              <a:rPr sz="1100" b="1" i="0" dirty="0">
                <a:solidFill>
                  <a:srgbClr val="898781"/>
                </a:solidFill>
                <a:latin typeface="Helvetica Neue"/>
              </a:rPr>
              <a:t>USED IN THIS EVALUATION</a:t>
            </a:r>
          </a:p>
        </p:txBody>
      </p:sp>
      <p:sp>
        <p:nvSpPr>
          <p:cNvPr id="11" name="Rounded Rectangle 10"/>
          <p:cNvSpPr/>
          <p:nvPr/>
        </p:nvSpPr>
        <p:spPr>
          <a:xfrm>
            <a:off x="3383280" y="3931920"/>
            <a:ext cx="2377440" cy="384048"/>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400" b="1" dirty="0">
                <a:solidFill>
                  <a:srgbClr val="FFFFFF"/>
                </a:solidFill>
                <a:latin typeface="Helvetica Neue"/>
              </a:rPr>
              <a:t>0.0</a:t>
            </a:r>
          </a:p>
        </p:txBody>
      </p:sp>
      <p:cxnSp>
        <p:nvCxnSpPr>
          <p:cNvPr id="12" name="Connector 11"/>
          <p:cNvCxnSpPr>
            <a:cxnSpLocks/>
          </p:cNvCxnSpPr>
          <p:nvPr/>
        </p:nvCxnSpPr>
        <p:spPr>
          <a:xfrm>
            <a:off x="548640" y="4663440"/>
            <a:ext cx="5669280"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48640" y="4846320"/>
            <a:ext cx="56692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WHY THIS VALUE</a:t>
            </a:r>
          </a:p>
        </p:txBody>
      </p:sp>
      <p:sp>
        <p:nvSpPr>
          <p:cNvPr id="14" name="TextBox 13"/>
          <p:cNvSpPr txBox="1"/>
          <p:nvPr/>
        </p:nvSpPr>
        <p:spPr>
          <a:xfrm>
            <a:off x="548640" y="5166360"/>
            <a:ext cx="5669280" cy="1185581"/>
          </a:xfrm>
          <a:prstGeom prst="rect">
            <a:avLst/>
          </a:prstGeom>
          <a:noFill/>
        </p:spPr>
        <p:txBody>
          <a:bodyPr wrap="square">
            <a:spAutoFit/>
          </a:bodyPr>
          <a:lstStyle/>
          <a:p>
            <a:pPr>
              <a:lnSpc>
                <a:spcPct val="112000"/>
              </a:lnSpc>
              <a:spcAft>
                <a:spcPts val="600"/>
              </a:spcAft>
            </a:pPr>
            <a:r>
              <a:rPr sz="1200" dirty="0">
                <a:solidFill>
                  <a:srgbClr val="52514E"/>
                </a:solidFill>
                <a:latin typeface="Helvetica Neue"/>
              </a:rPr>
              <a:t>—  At 0.0 the distribution collapses to argmax — the single highest-probability token is always chosen (greedy decoding): fully deterministic, same input always gives the same output.</a:t>
            </a:r>
            <a:endParaRPr lang="en-US" sz="1200" dirty="0">
              <a:solidFill>
                <a:srgbClr val="52514E"/>
              </a:solidFill>
              <a:latin typeface="Helvetica Neue"/>
            </a:endParaRPr>
          </a:p>
          <a:p>
            <a:pPr>
              <a:lnSpc>
                <a:spcPct val="112000"/>
              </a:lnSpc>
              <a:spcAft>
                <a:spcPts val="600"/>
              </a:spcAft>
            </a:pPr>
            <a:r>
              <a:rPr lang="en-US" sz="1200" dirty="0">
                <a:solidFill>
                  <a:srgbClr val="52514E"/>
                </a:solidFill>
                <a:latin typeface="Helvetica Neue"/>
              </a:rPr>
              <a:t>—  Higher values flatten the distribution, letting lower-probability tokens get picked sometimes</a:t>
            </a:r>
            <a:endParaRPr sz="1200" dirty="0">
              <a:solidFill>
                <a:srgbClr val="52514E"/>
              </a:solidFill>
              <a:latin typeface="Helvetica Neue"/>
            </a:endParaRPr>
          </a:p>
        </p:txBody>
      </p:sp>
      <p:sp>
        <p:nvSpPr>
          <p:cNvPr id="15" name="TextBox 14"/>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6" name="TextBox 15"/>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12</a:t>
            </a:r>
          </a:p>
        </p:txBody>
      </p:sp>
      <p:sp>
        <p:nvSpPr>
          <p:cNvPr id="17" name="Rounded Rectangle 16"/>
          <p:cNvSpPr/>
          <p:nvPr/>
        </p:nvSpPr>
        <p:spPr>
          <a:xfrm>
            <a:off x="6675120" y="1691640"/>
            <a:ext cx="4937760" cy="3035807"/>
          </a:xfrm>
          <a:prstGeom prst="roundRect">
            <a:avLst>
              <a:gd name="adj" fmla="val 4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03720" y="1874519"/>
            <a:ext cx="44805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GREEDY vs SAMPLED</a:t>
            </a:r>
          </a:p>
        </p:txBody>
      </p:sp>
      <p:sp>
        <p:nvSpPr>
          <p:cNvPr id="19" name="Rounded Rectangle 18"/>
          <p:cNvSpPr/>
          <p:nvPr/>
        </p:nvSpPr>
        <p:spPr>
          <a:xfrm>
            <a:off x="6903720" y="2240280"/>
            <a:ext cx="4480560" cy="457200"/>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250" b="1">
                <a:solidFill>
                  <a:srgbClr val="FFFFFF"/>
                </a:solidFill>
                <a:latin typeface="Helvetica Neue"/>
              </a:rPr>
              <a:t>Temperature 0.0 → Greedy / deterministic</a:t>
            </a:r>
          </a:p>
        </p:txBody>
      </p:sp>
      <p:sp>
        <p:nvSpPr>
          <p:cNvPr id="20" name="Rounded Rectangle 19"/>
          <p:cNvSpPr/>
          <p:nvPr/>
        </p:nvSpPr>
        <p:spPr>
          <a:xfrm>
            <a:off x="6903720" y="2834640"/>
            <a:ext cx="4480560" cy="457200"/>
          </a:xfrm>
          <a:prstGeom prst="roundRect">
            <a:avLst>
              <a:gd name="adj" fmla="val 50000"/>
            </a:avLst>
          </a:prstGeom>
          <a:solidFill>
            <a:srgbClr val="52514E"/>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250" b="1">
                <a:solidFill>
                  <a:srgbClr val="FFFFFF"/>
                </a:solidFill>
                <a:latin typeface="Helvetica Neue"/>
              </a:rPr>
              <a:t>Temperature &gt; 0 → Sampled / varied</a:t>
            </a:r>
          </a:p>
        </p:txBody>
      </p:sp>
      <p:sp>
        <p:nvSpPr>
          <p:cNvPr id="21" name="TextBox 20"/>
          <p:cNvSpPr txBox="1"/>
          <p:nvPr/>
        </p:nvSpPr>
        <p:spPr>
          <a:xfrm>
            <a:off x="6903720" y="3520440"/>
            <a:ext cx="4480560" cy="2468880"/>
          </a:xfrm>
          <a:prstGeom prst="rect">
            <a:avLst/>
          </a:prstGeom>
          <a:noFill/>
        </p:spPr>
        <p:txBody>
          <a:bodyPr wrap="square">
            <a:spAutoFit/>
          </a:bodyPr>
          <a:lstStyle/>
          <a:p>
            <a:pPr>
              <a:lnSpc>
                <a:spcPct val="112000"/>
              </a:lnSpc>
              <a:spcAft>
                <a:spcPts val="800"/>
              </a:spcAft>
            </a:pPr>
            <a:r>
              <a:rPr sz="1200">
                <a:solidFill>
                  <a:srgbClr val="52514E"/>
                </a:solidFill>
                <a:latin typeface="Helvetica Neue"/>
              </a:rPr>
              <a:t>—  Greedy decoding is the right call whenever the target is an exact match, not open-ended prose.</a:t>
            </a:r>
          </a:p>
          <a:p>
            <a:pPr>
              <a:lnSpc>
                <a:spcPct val="112000"/>
              </a:lnSpc>
              <a:spcAft>
                <a:spcPts val="800"/>
              </a:spcAft>
            </a:pPr>
            <a:r>
              <a:rPr sz="1200">
                <a:solidFill>
                  <a:srgbClr val="52514E"/>
                </a:solidFill>
                <a:latin typeface="Helvetica Neue"/>
              </a:rPr>
              <a:t>—  This is why every model in this study — regardless of size or architecture — was run at temperature 0.0.</a:t>
            </a:r>
          </a:p>
        </p:txBody>
      </p:sp>
      <p:sp>
        <p:nvSpPr>
          <p:cNvPr id="22" name="TextBox 21">
            <a:extLst>
              <a:ext uri="{FF2B5EF4-FFF2-40B4-BE49-F238E27FC236}">
                <a16:creationId xmlns:a16="http://schemas.microsoft.com/office/drawing/2014/main" id="{5D511EA5-6669-D939-7C62-96BE0A4EEE1A}"/>
              </a:ext>
            </a:extLst>
          </p:cNvPr>
          <p:cNvSpPr txBox="1"/>
          <p:nvPr/>
        </p:nvSpPr>
        <p:spPr>
          <a:xfrm>
            <a:off x="6522720" y="5138928"/>
            <a:ext cx="5090160" cy="1185581"/>
          </a:xfrm>
          <a:prstGeom prst="rect">
            <a:avLst/>
          </a:prstGeom>
          <a:noFill/>
        </p:spPr>
        <p:txBody>
          <a:bodyPr wrap="square">
            <a:spAutoFit/>
          </a:bodyPr>
          <a:lstStyle/>
          <a:p>
            <a:pPr>
              <a:lnSpc>
                <a:spcPct val="112000"/>
              </a:lnSpc>
              <a:spcAft>
                <a:spcPts val="600"/>
              </a:spcAft>
            </a:pPr>
            <a:r>
              <a:rPr lang="en-US" sz="1200" dirty="0">
                <a:solidFill>
                  <a:srgbClr val="52514E"/>
                </a:solidFill>
                <a:latin typeface="Helvetica Neue"/>
              </a:rPr>
              <a:t>— This allows more variety, but more risk of drifting off the one correct word or letter.</a:t>
            </a:r>
          </a:p>
          <a:p>
            <a:pPr>
              <a:lnSpc>
                <a:spcPct val="112000"/>
              </a:lnSpc>
              <a:spcAft>
                <a:spcPts val="600"/>
              </a:spcAft>
            </a:pPr>
            <a:r>
              <a:rPr lang="en-US" sz="1200" dirty="0">
                <a:solidFill>
                  <a:srgbClr val="52514E"/>
                </a:solidFill>
                <a:latin typeface="Helvetica Neue"/>
              </a:rPr>
              <a:t>—  Both LAMBADA (one correct word) and MMLU (one correct letter) have exactly one right answer — no reward for creative variation, only downside risk.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32004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Fine-tuning parameter: Top-p (nucleus sampling)</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91640"/>
            <a:ext cx="56692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WHAT IT DOES</a:t>
            </a:r>
          </a:p>
        </p:txBody>
      </p:sp>
      <p:sp>
        <p:nvSpPr>
          <p:cNvPr id="7" name="TextBox 6"/>
          <p:cNvSpPr txBox="1"/>
          <p:nvPr/>
        </p:nvSpPr>
        <p:spPr>
          <a:xfrm>
            <a:off x="548640" y="2011680"/>
            <a:ext cx="5059985" cy="1011815"/>
          </a:xfrm>
          <a:prstGeom prst="rect">
            <a:avLst/>
          </a:prstGeom>
          <a:noFill/>
        </p:spPr>
        <p:txBody>
          <a:bodyPr wrap="square" lIns="0" tIns="0" rIns="0" bIns="0" anchor="t">
            <a:spAutoFit/>
          </a:bodyPr>
          <a:lstStyle/>
          <a:p>
            <a:pPr algn="l">
              <a:lnSpc>
                <a:spcPct val="125000"/>
              </a:lnSpc>
            </a:pPr>
            <a:r>
              <a:rPr sz="1350" b="0" i="0" dirty="0">
                <a:solidFill>
                  <a:srgbClr val="52514E"/>
                </a:solidFill>
                <a:latin typeface="Helvetica Neue"/>
              </a:rPr>
              <a:t>Restricts sampling to the smallest set of tokens whose cumulative probability reaches p — the 'nucleus'. Anything outside that set is discarded before a token is sampled, so the model can never pick a wildly unlikely continuation.</a:t>
            </a:r>
          </a:p>
        </p:txBody>
      </p:sp>
      <p:sp>
        <p:nvSpPr>
          <p:cNvPr id="8" name="TextBox 7"/>
          <p:cNvSpPr txBox="1"/>
          <p:nvPr/>
        </p:nvSpPr>
        <p:spPr>
          <a:xfrm>
            <a:off x="548640" y="3657600"/>
            <a:ext cx="26517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RANGE</a:t>
            </a:r>
          </a:p>
        </p:txBody>
      </p:sp>
      <p:sp>
        <p:nvSpPr>
          <p:cNvPr id="9" name="TextBox 8"/>
          <p:cNvSpPr txBox="1"/>
          <p:nvPr/>
        </p:nvSpPr>
        <p:spPr>
          <a:xfrm>
            <a:off x="548640" y="3959352"/>
            <a:ext cx="2651760" cy="457200"/>
          </a:xfrm>
          <a:prstGeom prst="rect">
            <a:avLst/>
          </a:prstGeom>
          <a:noFill/>
        </p:spPr>
        <p:txBody>
          <a:bodyPr wrap="square" lIns="0" tIns="0" rIns="0" bIns="0" anchor="t">
            <a:spAutoFit/>
          </a:bodyPr>
          <a:lstStyle/>
          <a:p>
            <a:pPr algn="l">
              <a:lnSpc>
                <a:spcPct val="100000"/>
              </a:lnSpc>
            </a:pPr>
            <a:r>
              <a:rPr sz="1500" b="1" i="0">
                <a:solidFill>
                  <a:srgbClr val="0B0B0B"/>
                </a:solidFill>
                <a:latin typeface="Helvetica Neue"/>
              </a:rPr>
              <a:t>0.0 – 1.0</a:t>
            </a:r>
          </a:p>
        </p:txBody>
      </p:sp>
      <p:sp>
        <p:nvSpPr>
          <p:cNvPr id="10" name="TextBox 9"/>
          <p:cNvSpPr txBox="1"/>
          <p:nvPr/>
        </p:nvSpPr>
        <p:spPr>
          <a:xfrm>
            <a:off x="3383280" y="3657600"/>
            <a:ext cx="283464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USED IN THIS EVALUATION</a:t>
            </a:r>
          </a:p>
        </p:txBody>
      </p:sp>
      <p:sp>
        <p:nvSpPr>
          <p:cNvPr id="11" name="Rounded Rectangle 10"/>
          <p:cNvSpPr/>
          <p:nvPr/>
        </p:nvSpPr>
        <p:spPr>
          <a:xfrm>
            <a:off x="3383280" y="3931920"/>
            <a:ext cx="2377440" cy="384048"/>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400" b="1">
                <a:solidFill>
                  <a:srgbClr val="FFFFFF"/>
                </a:solidFill>
                <a:latin typeface="Helvetica Neue"/>
              </a:rPr>
              <a:t>1.0</a:t>
            </a:r>
          </a:p>
        </p:txBody>
      </p:sp>
      <p:cxnSp>
        <p:nvCxnSpPr>
          <p:cNvPr id="12" name="Connector 11"/>
          <p:cNvCxnSpPr/>
          <p:nvPr/>
        </p:nvCxnSpPr>
        <p:spPr>
          <a:xfrm>
            <a:off x="548640" y="4663440"/>
            <a:ext cx="5669280"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385560" y="1828800"/>
            <a:ext cx="4397320" cy="169277"/>
          </a:xfrm>
          <a:prstGeom prst="rect">
            <a:avLst/>
          </a:prstGeom>
          <a:noFill/>
        </p:spPr>
        <p:txBody>
          <a:bodyPr wrap="square" lIns="0" tIns="0" rIns="0" bIns="0" anchor="t">
            <a:spAutoFit/>
          </a:bodyPr>
          <a:lstStyle/>
          <a:p>
            <a:pPr algn="l">
              <a:lnSpc>
                <a:spcPct val="100000"/>
              </a:lnSpc>
            </a:pPr>
            <a:r>
              <a:rPr sz="1100" b="1" i="0" dirty="0">
                <a:solidFill>
                  <a:srgbClr val="898781"/>
                </a:solidFill>
                <a:latin typeface="Helvetica Neue"/>
              </a:rPr>
              <a:t>WHY THIS VALUE</a:t>
            </a:r>
          </a:p>
        </p:txBody>
      </p:sp>
      <p:sp>
        <p:nvSpPr>
          <p:cNvPr id="14" name="TextBox 13"/>
          <p:cNvSpPr txBox="1"/>
          <p:nvPr/>
        </p:nvSpPr>
        <p:spPr>
          <a:xfrm>
            <a:off x="6385559" y="2148840"/>
            <a:ext cx="5059985" cy="3018262"/>
          </a:xfrm>
          <a:prstGeom prst="rect">
            <a:avLst/>
          </a:prstGeom>
          <a:noFill/>
        </p:spPr>
        <p:txBody>
          <a:bodyPr wrap="square">
            <a:spAutoFit/>
          </a:bodyPr>
          <a:lstStyle/>
          <a:p>
            <a:pPr>
              <a:lnSpc>
                <a:spcPct val="112000"/>
              </a:lnSpc>
              <a:spcAft>
                <a:spcPts val="600"/>
              </a:spcAft>
            </a:pPr>
            <a:r>
              <a:rPr sz="1200" dirty="0">
                <a:solidFill>
                  <a:srgbClr val="52514E"/>
                </a:solidFill>
                <a:latin typeface="Helvetica Neue"/>
              </a:rPr>
              <a:t>—  At 1.0 the nucleus includes the entire distribution — no tokens are excluded.</a:t>
            </a:r>
            <a:endParaRPr lang="en-US" sz="1200" dirty="0">
              <a:solidFill>
                <a:srgbClr val="52514E"/>
              </a:solidFill>
              <a:latin typeface="Helvetica Neue"/>
            </a:endParaRPr>
          </a:p>
          <a:p>
            <a:pPr>
              <a:lnSpc>
                <a:spcPct val="112000"/>
              </a:lnSpc>
              <a:spcAft>
                <a:spcPts val="600"/>
              </a:spcAft>
            </a:pPr>
            <a:endParaRPr sz="1200" dirty="0">
              <a:solidFill>
                <a:srgbClr val="52514E"/>
              </a:solidFill>
              <a:latin typeface="Helvetica Neue"/>
            </a:endParaRPr>
          </a:p>
          <a:p>
            <a:pPr>
              <a:lnSpc>
                <a:spcPct val="112000"/>
              </a:lnSpc>
              <a:spcAft>
                <a:spcPts val="600"/>
              </a:spcAft>
            </a:pPr>
            <a:r>
              <a:rPr sz="1200" dirty="0">
                <a:solidFill>
                  <a:srgbClr val="52514E"/>
                </a:solidFill>
                <a:latin typeface="Helvetica Neue"/>
              </a:rPr>
              <a:t>—  Combined with temperature 0.0, top-p has no practical effect here: greedy decoding already picks one token deterministically regardless of how large the candidate pool is.</a:t>
            </a:r>
            <a:endParaRPr lang="en-US" sz="1200" dirty="0">
              <a:solidFill>
                <a:srgbClr val="52514E"/>
              </a:solidFill>
              <a:latin typeface="Helvetica Neue"/>
            </a:endParaRPr>
          </a:p>
          <a:p>
            <a:pPr>
              <a:lnSpc>
                <a:spcPct val="112000"/>
              </a:lnSpc>
              <a:spcAft>
                <a:spcPts val="600"/>
              </a:spcAft>
            </a:pPr>
            <a:endParaRPr sz="1200" dirty="0">
              <a:solidFill>
                <a:srgbClr val="52514E"/>
              </a:solidFill>
              <a:latin typeface="Helvetica Neue"/>
            </a:endParaRPr>
          </a:p>
          <a:p>
            <a:pPr>
              <a:lnSpc>
                <a:spcPct val="112000"/>
              </a:lnSpc>
              <a:spcAft>
                <a:spcPts val="600"/>
              </a:spcAft>
            </a:pPr>
            <a:r>
              <a:rPr sz="1200" dirty="0">
                <a:solidFill>
                  <a:srgbClr val="52514E"/>
                </a:solidFill>
                <a:latin typeface="Helvetica Neue"/>
              </a:rPr>
              <a:t>—  Lower values would only matter at temperature &gt; 0, where they'd narrow sampling to the most confident tokens.</a:t>
            </a:r>
            <a:endParaRPr lang="en-US" sz="1200" dirty="0">
              <a:solidFill>
                <a:srgbClr val="52514E"/>
              </a:solidFill>
              <a:latin typeface="Helvetica Neue"/>
            </a:endParaRPr>
          </a:p>
          <a:p>
            <a:pPr>
              <a:lnSpc>
                <a:spcPct val="112000"/>
              </a:lnSpc>
              <a:spcAft>
                <a:spcPts val="600"/>
              </a:spcAft>
            </a:pPr>
            <a:endParaRPr sz="1200" dirty="0">
              <a:solidFill>
                <a:srgbClr val="52514E"/>
              </a:solidFill>
              <a:latin typeface="Helvetica Neue"/>
            </a:endParaRPr>
          </a:p>
          <a:p>
            <a:pPr>
              <a:lnSpc>
                <a:spcPct val="112000"/>
              </a:lnSpc>
              <a:spcAft>
                <a:spcPts val="600"/>
              </a:spcAft>
            </a:pPr>
            <a:r>
              <a:rPr sz="1200" dirty="0">
                <a:solidFill>
                  <a:srgbClr val="52514E"/>
                </a:solidFill>
                <a:latin typeface="Helvetica Neue"/>
              </a:rPr>
              <a:t>—  Set to its neutral value here rather than doing any real work in this evaluation.</a:t>
            </a:r>
          </a:p>
        </p:txBody>
      </p:sp>
      <p:sp>
        <p:nvSpPr>
          <p:cNvPr id="15" name="TextBox 14"/>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6" name="TextBox 15"/>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2004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Fine-tuning parameter: Max Tokens</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91640"/>
            <a:ext cx="56692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WHAT IT DOES</a:t>
            </a:r>
          </a:p>
        </p:txBody>
      </p:sp>
      <p:sp>
        <p:nvSpPr>
          <p:cNvPr id="7" name="TextBox 6"/>
          <p:cNvSpPr txBox="1"/>
          <p:nvPr/>
        </p:nvSpPr>
        <p:spPr>
          <a:xfrm>
            <a:off x="548640" y="2011680"/>
            <a:ext cx="5010912" cy="1011815"/>
          </a:xfrm>
          <a:prstGeom prst="rect">
            <a:avLst/>
          </a:prstGeom>
          <a:noFill/>
        </p:spPr>
        <p:txBody>
          <a:bodyPr wrap="square" lIns="0" tIns="0" rIns="0" bIns="0" anchor="t">
            <a:spAutoFit/>
          </a:bodyPr>
          <a:lstStyle/>
          <a:p>
            <a:pPr algn="l">
              <a:lnSpc>
                <a:spcPct val="125000"/>
              </a:lnSpc>
            </a:pPr>
            <a:r>
              <a:rPr sz="1350" b="0" i="0" dirty="0">
                <a:solidFill>
                  <a:srgbClr val="52514E"/>
                </a:solidFill>
                <a:latin typeface="Helvetica Neue"/>
              </a:rPr>
              <a:t>A hard cap on how many tokens the model is allowed to generate before the API cuts it off. Every output token is one more sequential decoding step, so this parameter is also a direct lever on latency, not just on answer length.</a:t>
            </a:r>
          </a:p>
        </p:txBody>
      </p:sp>
      <p:sp>
        <p:nvSpPr>
          <p:cNvPr id="8" name="TextBox 7"/>
          <p:cNvSpPr txBox="1"/>
          <p:nvPr/>
        </p:nvSpPr>
        <p:spPr>
          <a:xfrm>
            <a:off x="548640" y="3657600"/>
            <a:ext cx="26517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RANGE</a:t>
            </a:r>
          </a:p>
        </p:txBody>
      </p:sp>
      <p:sp>
        <p:nvSpPr>
          <p:cNvPr id="9" name="TextBox 8"/>
          <p:cNvSpPr txBox="1"/>
          <p:nvPr/>
        </p:nvSpPr>
        <p:spPr>
          <a:xfrm>
            <a:off x="548640" y="3959352"/>
            <a:ext cx="2651760" cy="457200"/>
          </a:xfrm>
          <a:prstGeom prst="rect">
            <a:avLst/>
          </a:prstGeom>
          <a:noFill/>
        </p:spPr>
        <p:txBody>
          <a:bodyPr wrap="square" lIns="0" tIns="0" rIns="0" bIns="0" anchor="t">
            <a:spAutoFit/>
          </a:bodyPr>
          <a:lstStyle/>
          <a:p>
            <a:pPr algn="l">
              <a:lnSpc>
                <a:spcPct val="100000"/>
              </a:lnSpc>
            </a:pPr>
            <a:r>
              <a:rPr sz="1500" b="1" i="0">
                <a:solidFill>
                  <a:srgbClr val="0B0B0B"/>
                </a:solidFill>
                <a:latin typeface="Helvetica Neue"/>
              </a:rPr>
              <a:t>1 – 128 (LAMBADA panel)</a:t>
            </a:r>
          </a:p>
        </p:txBody>
      </p:sp>
      <p:sp>
        <p:nvSpPr>
          <p:cNvPr id="10" name="TextBox 9"/>
          <p:cNvSpPr txBox="1"/>
          <p:nvPr/>
        </p:nvSpPr>
        <p:spPr>
          <a:xfrm>
            <a:off x="3529584" y="3698756"/>
            <a:ext cx="1895856" cy="169277"/>
          </a:xfrm>
          <a:prstGeom prst="rect">
            <a:avLst/>
          </a:prstGeom>
          <a:noFill/>
        </p:spPr>
        <p:txBody>
          <a:bodyPr wrap="square" lIns="0" tIns="0" rIns="0" bIns="0" anchor="t">
            <a:spAutoFit/>
          </a:bodyPr>
          <a:lstStyle/>
          <a:p>
            <a:pPr algn="l">
              <a:lnSpc>
                <a:spcPct val="100000"/>
              </a:lnSpc>
            </a:pPr>
            <a:r>
              <a:rPr sz="1100" b="1" i="0" dirty="0">
                <a:solidFill>
                  <a:srgbClr val="898781"/>
                </a:solidFill>
                <a:latin typeface="Helvetica Neue"/>
              </a:rPr>
              <a:t>USED IN THIS EVALUATION</a:t>
            </a:r>
          </a:p>
        </p:txBody>
      </p:sp>
      <p:sp>
        <p:nvSpPr>
          <p:cNvPr id="11" name="Rounded Rectangle 10"/>
          <p:cNvSpPr/>
          <p:nvPr/>
        </p:nvSpPr>
        <p:spPr>
          <a:xfrm>
            <a:off x="3291840" y="4032504"/>
            <a:ext cx="2377440" cy="384048"/>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400" b="1" dirty="0">
                <a:solidFill>
                  <a:srgbClr val="FFFFFF"/>
                </a:solidFill>
                <a:latin typeface="Helvetica Neue"/>
              </a:rPr>
              <a:t>32 (LAMBADA)</a:t>
            </a:r>
          </a:p>
        </p:txBody>
      </p:sp>
      <p:cxnSp>
        <p:nvCxnSpPr>
          <p:cNvPr id="12" name="Connector 11"/>
          <p:cNvCxnSpPr/>
          <p:nvPr/>
        </p:nvCxnSpPr>
        <p:spPr>
          <a:xfrm>
            <a:off x="548640" y="5163312"/>
            <a:ext cx="5669280"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217920" y="1979676"/>
            <a:ext cx="5669280" cy="292608"/>
          </a:xfrm>
          <a:prstGeom prst="rect">
            <a:avLst/>
          </a:prstGeom>
          <a:noFill/>
        </p:spPr>
        <p:txBody>
          <a:bodyPr wrap="square" lIns="0" tIns="0" rIns="0" bIns="0" anchor="t">
            <a:spAutoFit/>
          </a:bodyPr>
          <a:lstStyle/>
          <a:p>
            <a:pPr algn="l">
              <a:lnSpc>
                <a:spcPct val="100000"/>
              </a:lnSpc>
            </a:pPr>
            <a:r>
              <a:rPr sz="1100" b="1" i="0" dirty="0">
                <a:solidFill>
                  <a:srgbClr val="898781"/>
                </a:solidFill>
                <a:latin typeface="Helvetica Neue"/>
              </a:rPr>
              <a:t>WHY THIS VALUE</a:t>
            </a:r>
          </a:p>
        </p:txBody>
      </p:sp>
      <p:sp>
        <p:nvSpPr>
          <p:cNvPr id="14" name="TextBox 13"/>
          <p:cNvSpPr txBox="1"/>
          <p:nvPr/>
        </p:nvSpPr>
        <p:spPr>
          <a:xfrm>
            <a:off x="6217920" y="2299716"/>
            <a:ext cx="5669280" cy="3095206"/>
          </a:xfrm>
          <a:prstGeom prst="rect">
            <a:avLst/>
          </a:prstGeom>
          <a:noFill/>
        </p:spPr>
        <p:txBody>
          <a:bodyPr wrap="square">
            <a:spAutoFit/>
          </a:bodyPr>
          <a:lstStyle/>
          <a:p>
            <a:pPr>
              <a:lnSpc>
                <a:spcPct val="112000"/>
              </a:lnSpc>
              <a:spcAft>
                <a:spcPts val="600"/>
              </a:spcAft>
            </a:pPr>
            <a:endParaRPr lang="en-US" sz="1200" dirty="0">
              <a:solidFill>
                <a:srgbClr val="52514E"/>
              </a:solidFill>
              <a:latin typeface="Helvetica Neue"/>
            </a:endParaRPr>
          </a:p>
          <a:p>
            <a:pPr>
              <a:lnSpc>
                <a:spcPct val="112000"/>
              </a:lnSpc>
              <a:spcAft>
                <a:spcPts val="600"/>
              </a:spcAft>
            </a:pPr>
            <a:r>
              <a:rPr sz="1200" dirty="0">
                <a:solidFill>
                  <a:srgbClr val="52514E"/>
                </a:solidFill>
                <a:latin typeface="Helvetica Neue"/>
              </a:rPr>
              <a:t>—  LAMBADA needs only a single word plus a little slack for stray punctuation or formatting — 32 tokens is generous headroom.</a:t>
            </a:r>
            <a:endParaRPr lang="en-US" sz="1200" dirty="0">
              <a:solidFill>
                <a:srgbClr val="52514E"/>
              </a:solidFill>
              <a:latin typeface="Helvetica Neue"/>
            </a:endParaRPr>
          </a:p>
          <a:p>
            <a:pPr>
              <a:lnSpc>
                <a:spcPct val="112000"/>
              </a:lnSpc>
              <a:spcAft>
                <a:spcPts val="600"/>
              </a:spcAft>
            </a:pPr>
            <a:endParaRPr sz="1200" dirty="0">
              <a:solidFill>
                <a:srgbClr val="52514E"/>
              </a:solidFill>
              <a:latin typeface="Helvetica Neue"/>
            </a:endParaRPr>
          </a:p>
          <a:p>
            <a:pPr>
              <a:lnSpc>
                <a:spcPct val="112000"/>
              </a:lnSpc>
              <a:spcAft>
                <a:spcPts val="600"/>
              </a:spcAft>
            </a:pPr>
            <a:r>
              <a:rPr sz="1200" dirty="0">
                <a:solidFill>
                  <a:srgbClr val="52514E"/>
                </a:solidFill>
                <a:latin typeface="Helvetica Neue"/>
              </a:rPr>
              <a:t>—  MMLU needs far more: the model must write a full chain-of-thought explanation before its final 'Answer: &lt;letter&gt;' line.</a:t>
            </a:r>
            <a:endParaRPr lang="en-US" sz="1200" dirty="0">
              <a:solidFill>
                <a:srgbClr val="52514E"/>
              </a:solidFill>
              <a:latin typeface="Helvetica Neue"/>
            </a:endParaRPr>
          </a:p>
          <a:p>
            <a:pPr>
              <a:lnSpc>
                <a:spcPct val="112000"/>
              </a:lnSpc>
              <a:spcAft>
                <a:spcPts val="600"/>
              </a:spcAft>
            </a:pPr>
            <a:endParaRPr sz="1200" dirty="0">
              <a:solidFill>
                <a:srgbClr val="52514E"/>
              </a:solidFill>
              <a:latin typeface="Helvetica Neue"/>
            </a:endParaRPr>
          </a:p>
          <a:p>
            <a:pPr>
              <a:lnSpc>
                <a:spcPct val="112000"/>
              </a:lnSpc>
              <a:spcAft>
                <a:spcPts val="600"/>
              </a:spcAft>
            </a:pPr>
            <a:r>
              <a:rPr sz="1200" dirty="0">
                <a:solidFill>
                  <a:srgbClr val="52514E"/>
                </a:solidFill>
                <a:latin typeface="Helvetica Neue"/>
              </a:rPr>
              <a:t>—  Setting it too low truncates the model mid-reasoning before it reaches the answer line — recorded as a 'no-answer' verdict, not a wrong answer.</a:t>
            </a:r>
            <a:endParaRPr lang="en-US" sz="1200" dirty="0">
              <a:solidFill>
                <a:srgbClr val="52514E"/>
              </a:solidFill>
              <a:latin typeface="Helvetica Neue"/>
            </a:endParaRPr>
          </a:p>
          <a:p>
            <a:pPr>
              <a:lnSpc>
                <a:spcPct val="112000"/>
              </a:lnSpc>
              <a:spcAft>
                <a:spcPts val="600"/>
              </a:spcAft>
            </a:pPr>
            <a:endParaRPr sz="1200" dirty="0">
              <a:solidFill>
                <a:srgbClr val="52514E"/>
              </a:solidFill>
              <a:latin typeface="Helvetica Neue"/>
            </a:endParaRPr>
          </a:p>
          <a:p>
            <a:pPr>
              <a:lnSpc>
                <a:spcPct val="112000"/>
              </a:lnSpc>
              <a:spcAft>
                <a:spcPts val="600"/>
              </a:spcAft>
            </a:pPr>
            <a:r>
              <a:rPr sz="1200" dirty="0">
                <a:solidFill>
                  <a:srgbClr val="52514E"/>
                </a:solidFill>
                <a:latin typeface="Helvetica Neue"/>
              </a:rPr>
              <a:t>—  This budget difference is a major reason MMLU latency (0.6–2.5s) runs systematically higher than LAMBADA latency (0.6–1.2s) for the same models.</a:t>
            </a:r>
          </a:p>
        </p:txBody>
      </p:sp>
      <p:sp>
        <p:nvSpPr>
          <p:cNvPr id="15" name="TextBox 14"/>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6" name="TextBox 15"/>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14</a:t>
            </a:r>
          </a:p>
        </p:txBody>
      </p:sp>
      <p:sp>
        <p:nvSpPr>
          <p:cNvPr id="17" name="Rounded Rectangle 16">
            <a:extLst>
              <a:ext uri="{FF2B5EF4-FFF2-40B4-BE49-F238E27FC236}">
                <a16:creationId xmlns:a16="http://schemas.microsoft.com/office/drawing/2014/main" id="{89EF28A2-8E37-0C88-5E3B-DBAF61ABD01B}"/>
              </a:ext>
            </a:extLst>
          </p:cNvPr>
          <p:cNvSpPr/>
          <p:nvPr/>
        </p:nvSpPr>
        <p:spPr>
          <a:xfrm>
            <a:off x="3291840" y="4581023"/>
            <a:ext cx="2377440" cy="384048"/>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400" b="1" dirty="0">
                <a:solidFill>
                  <a:srgbClr val="FFFFFF"/>
                </a:solidFill>
                <a:latin typeface="Helvetica Neue"/>
              </a:rPr>
              <a:t>384 (MMLU)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Fine-tuning parameter: Few-shot Examples</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91640"/>
            <a:ext cx="56692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WHAT IT DOES</a:t>
            </a:r>
          </a:p>
        </p:txBody>
      </p:sp>
      <p:sp>
        <p:nvSpPr>
          <p:cNvPr id="7" name="TextBox 6"/>
          <p:cNvSpPr txBox="1"/>
          <p:nvPr/>
        </p:nvSpPr>
        <p:spPr>
          <a:xfrm>
            <a:off x="548640" y="2011680"/>
            <a:ext cx="4998720" cy="1011815"/>
          </a:xfrm>
          <a:prstGeom prst="rect">
            <a:avLst/>
          </a:prstGeom>
          <a:noFill/>
        </p:spPr>
        <p:txBody>
          <a:bodyPr wrap="square" lIns="0" tIns="0" rIns="0" bIns="0" anchor="t">
            <a:spAutoFit/>
          </a:bodyPr>
          <a:lstStyle/>
          <a:p>
            <a:pPr algn="l">
              <a:lnSpc>
                <a:spcPct val="125000"/>
              </a:lnSpc>
            </a:pPr>
            <a:r>
              <a:rPr sz="1350" b="0" i="0">
                <a:solidFill>
                  <a:srgbClr val="52514E"/>
                </a:solidFill>
                <a:latin typeface="Helvetica Neue"/>
              </a:rPr>
              <a:t>Prepends worked (context → answer) examples from a fixed pool before the real passage, showing the model the exact input/output format expected — a prompting technique, not a change to the model's weights.</a:t>
            </a:r>
          </a:p>
        </p:txBody>
      </p:sp>
      <p:sp>
        <p:nvSpPr>
          <p:cNvPr id="8" name="TextBox 7"/>
          <p:cNvSpPr txBox="1"/>
          <p:nvPr/>
        </p:nvSpPr>
        <p:spPr>
          <a:xfrm>
            <a:off x="548640" y="3657600"/>
            <a:ext cx="26517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RANGE</a:t>
            </a:r>
          </a:p>
        </p:txBody>
      </p:sp>
      <p:sp>
        <p:nvSpPr>
          <p:cNvPr id="9" name="TextBox 8"/>
          <p:cNvSpPr txBox="1"/>
          <p:nvPr/>
        </p:nvSpPr>
        <p:spPr>
          <a:xfrm>
            <a:off x="548640" y="3959352"/>
            <a:ext cx="2651760" cy="457200"/>
          </a:xfrm>
          <a:prstGeom prst="rect">
            <a:avLst/>
          </a:prstGeom>
          <a:noFill/>
        </p:spPr>
        <p:txBody>
          <a:bodyPr wrap="square" lIns="0" tIns="0" rIns="0" bIns="0" anchor="t">
            <a:spAutoFit/>
          </a:bodyPr>
          <a:lstStyle/>
          <a:p>
            <a:pPr algn="l">
              <a:lnSpc>
                <a:spcPct val="100000"/>
              </a:lnSpc>
            </a:pPr>
            <a:r>
              <a:rPr sz="1500" b="1" i="0">
                <a:solidFill>
                  <a:srgbClr val="0B0B0B"/>
                </a:solidFill>
                <a:latin typeface="Helvetica Neue"/>
              </a:rPr>
              <a:t>0 – 5 (LAMBADA)</a:t>
            </a:r>
          </a:p>
        </p:txBody>
      </p:sp>
      <p:sp>
        <p:nvSpPr>
          <p:cNvPr id="10" name="TextBox 9"/>
          <p:cNvSpPr txBox="1"/>
          <p:nvPr/>
        </p:nvSpPr>
        <p:spPr>
          <a:xfrm>
            <a:off x="3383280" y="3657600"/>
            <a:ext cx="283464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USED IN THIS EVALUATION</a:t>
            </a:r>
          </a:p>
        </p:txBody>
      </p:sp>
      <p:sp>
        <p:nvSpPr>
          <p:cNvPr id="11" name="Rounded Rectangle 10"/>
          <p:cNvSpPr/>
          <p:nvPr/>
        </p:nvSpPr>
        <p:spPr>
          <a:xfrm>
            <a:off x="3383280" y="3931920"/>
            <a:ext cx="2377440" cy="384048"/>
          </a:xfrm>
          <a:prstGeom prst="roundRect">
            <a:avLst>
              <a:gd name="adj" fmla="val 5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none" lIns="0" rIns="0" rtlCol="0" anchor="ctr"/>
          <a:lstStyle/>
          <a:p>
            <a:pPr algn="ctr"/>
            <a:r>
              <a:rPr sz="1400" b="1">
                <a:solidFill>
                  <a:srgbClr val="FFFFFF"/>
                </a:solidFill>
                <a:latin typeface="Helvetica Neue"/>
              </a:rPr>
              <a:t>3 worked examples</a:t>
            </a:r>
          </a:p>
        </p:txBody>
      </p:sp>
      <p:cxnSp>
        <p:nvCxnSpPr>
          <p:cNvPr id="12" name="Connector 11"/>
          <p:cNvCxnSpPr/>
          <p:nvPr/>
        </p:nvCxnSpPr>
        <p:spPr>
          <a:xfrm>
            <a:off x="548640" y="4663440"/>
            <a:ext cx="5669280"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370167" y="1874520"/>
            <a:ext cx="56692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WHY THIS VALUE</a:t>
            </a:r>
          </a:p>
        </p:txBody>
      </p:sp>
      <p:sp>
        <p:nvSpPr>
          <p:cNvPr id="14" name="TextBox 13"/>
          <p:cNvSpPr txBox="1"/>
          <p:nvPr/>
        </p:nvSpPr>
        <p:spPr>
          <a:xfrm>
            <a:off x="6370167" y="2194560"/>
            <a:ext cx="5669280" cy="3302058"/>
          </a:xfrm>
          <a:prstGeom prst="rect">
            <a:avLst/>
          </a:prstGeom>
          <a:noFill/>
        </p:spPr>
        <p:txBody>
          <a:bodyPr wrap="square">
            <a:spAutoFit/>
          </a:bodyPr>
          <a:lstStyle/>
          <a:p>
            <a:pPr>
              <a:lnSpc>
                <a:spcPct val="112000"/>
              </a:lnSpc>
              <a:spcAft>
                <a:spcPts val="600"/>
              </a:spcAft>
            </a:pPr>
            <a:endParaRPr lang="en-US" sz="1200" dirty="0">
              <a:solidFill>
                <a:srgbClr val="52514E"/>
              </a:solidFill>
              <a:latin typeface="Helvetica Neue"/>
            </a:endParaRPr>
          </a:p>
          <a:p>
            <a:pPr>
              <a:lnSpc>
                <a:spcPct val="112000"/>
              </a:lnSpc>
              <a:spcAft>
                <a:spcPts val="600"/>
              </a:spcAft>
            </a:pPr>
            <a:r>
              <a:rPr sz="1200" dirty="0">
                <a:solidFill>
                  <a:srgbClr val="52514E"/>
                </a:solidFill>
                <a:latin typeface="Helvetica Neue"/>
              </a:rPr>
              <a:t>—  Instruction-tuned models sometimes answer in full sentences ('The next word is likely...') unless shown the expected bare-word format.</a:t>
            </a:r>
            <a:endParaRPr lang="en-US" sz="1200" dirty="0">
              <a:solidFill>
                <a:srgbClr val="52514E"/>
              </a:solidFill>
              <a:latin typeface="Helvetica Neue"/>
            </a:endParaRPr>
          </a:p>
          <a:p>
            <a:pPr>
              <a:lnSpc>
                <a:spcPct val="112000"/>
              </a:lnSpc>
              <a:spcAft>
                <a:spcPts val="600"/>
              </a:spcAft>
            </a:pPr>
            <a:endParaRPr sz="1200" dirty="0">
              <a:solidFill>
                <a:srgbClr val="52514E"/>
              </a:solidFill>
              <a:latin typeface="Helvetica Neue"/>
            </a:endParaRPr>
          </a:p>
          <a:p>
            <a:pPr>
              <a:lnSpc>
                <a:spcPct val="112000"/>
              </a:lnSpc>
              <a:spcAft>
                <a:spcPts val="600"/>
              </a:spcAft>
            </a:pPr>
            <a:r>
              <a:rPr sz="1200" dirty="0">
                <a:solidFill>
                  <a:srgbClr val="52514E"/>
                </a:solidFill>
                <a:latin typeface="Helvetica Neue"/>
              </a:rPr>
              <a:t>—  A few worked examples anchor that format without touching the model's weights.</a:t>
            </a:r>
            <a:endParaRPr lang="en-US" sz="1200" dirty="0">
              <a:solidFill>
                <a:srgbClr val="52514E"/>
              </a:solidFill>
              <a:latin typeface="Helvetica Neue"/>
            </a:endParaRPr>
          </a:p>
          <a:p>
            <a:pPr>
              <a:lnSpc>
                <a:spcPct val="112000"/>
              </a:lnSpc>
              <a:spcAft>
                <a:spcPts val="600"/>
              </a:spcAft>
            </a:pPr>
            <a:endParaRPr sz="1200" dirty="0">
              <a:solidFill>
                <a:srgbClr val="52514E"/>
              </a:solidFill>
              <a:latin typeface="Helvetica Neue"/>
            </a:endParaRPr>
          </a:p>
          <a:p>
            <a:pPr>
              <a:lnSpc>
                <a:spcPct val="112000"/>
              </a:lnSpc>
              <a:spcAft>
                <a:spcPts val="600"/>
              </a:spcAft>
            </a:pPr>
            <a:r>
              <a:rPr sz="1200" dirty="0">
                <a:solidFill>
                  <a:srgbClr val="52514E"/>
                </a:solidFill>
                <a:latin typeface="Helvetica Neue"/>
              </a:rPr>
              <a:t>—  MMLU instead uses one fixed worked example baked into the prompt template, rather than a tunable count.</a:t>
            </a:r>
            <a:endParaRPr lang="en-US" sz="1200" dirty="0">
              <a:solidFill>
                <a:srgbClr val="52514E"/>
              </a:solidFill>
              <a:latin typeface="Helvetica Neue"/>
            </a:endParaRPr>
          </a:p>
          <a:p>
            <a:pPr>
              <a:lnSpc>
                <a:spcPct val="112000"/>
              </a:lnSpc>
              <a:spcAft>
                <a:spcPts val="600"/>
              </a:spcAft>
            </a:pPr>
            <a:endParaRPr sz="1200" dirty="0">
              <a:solidFill>
                <a:srgbClr val="52514E"/>
              </a:solidFill>
              <a:latin typeface="Helvetica Neue"/>
            </a:endParaRPr>
          </a:p>
          <a:p>
            <a:pPr>
              <a:lnSpc>
                <a:spcPct val="112000"/>
              </a:lnSpc>
              <a:spcAft>
                <a:spcPts val="600"/>
              </a:spcAft>
            </a:pPr>
            <a:r>
              <a:rPr sz="1200" dirty="0">
                <a:solidFill>
                  <a:srgbClr val="52514E"/>
                </a:solidFill>
                <a:latin typeface="Helvetica Neue"/>
              </a:rPr>
              <a:t>—  Trade-off: each example adds prompt tokens, so more few-shot examples cost a little extra latency per call, even though the model's own output doesn't get any longer.</a:t>
            </a:r>
          </a:p>
        </p:txBody>
      </p:sp>
      <p:sp>
        <p:nvSpPr>
          <p:cNvPr id="15" name="TextBox 14"/>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6" name="TextBox 15"/>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400" b="1" i="0">
                <a:solidFill>
                  <a:srgbClr val="0B0B0B"/>
                </a:solidFill>
                <a:latin typeface="Helvetica Neue"/>
              </a:rPr>
              <a:t>Fine-tuning parameters: Frequency &amp; Presence Penalty</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73736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FREQUENCY PENALTY — WHAT IT DOES</a:t>
            </a:r>
          </a:p>
        </p:txBody>
      </p:sp>
      <p:sp>
        <p:nvSpPr>
          <p:cNvPr id="7" name="TextBox 6"/>
          <p:cNvSpPr txBox="1"/>
          <p:nvPr/>
        </p:nvSpPr>
        <p:spPr>
          <a:xfrm>
            <a:off x="548640" y="208483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Subtracts a penalty proportional to how many times a token has already appeared in the output so far — the more it repeats, the less likely it is to repeat again.</a:t>
            </a:r>
          </a:p>
          <a:p>
            <a:pPr>
              <a:lnSpc>
                <a:spcPct val="112000"/>
              </a:lnSpc>
              <a:spcAft>
                <a:spcPts val="600"/>
              </a:spcAft>
            </a:pPr>
            <a:r>
              <a:rPr sz="1250">
                <a:solidFill>
                  <a:srgbClr val="52514E"/>
                </a:solidFill>
                <a:latin typeface="Helvetica Neue"/>
              </a:rPr>
              <a:t>—  Range: -2.0 to 2.0.</a:t>
            </a:r>
          </a:p>
        </p:txBody>
      </p:sp>
      <p:sp>
        <p:nvSpPr>
          <p:cNvPr id="8" name="TextBox 7"/>
          <p:cNvSpPr txBox="1"/>
          <p:nvPr/>
        </p:nvSpPr>
        <p:spPr>
          <a:xfrm>
            <a:off x="6217920" y="173736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PRESENCE PENALTY — WHAT IT DOES</a:t>
            </a:r>
          </a:p>
        </p:txBody>
      </p:sp>
      <p:sp>
        <p:nvSpPr>
          <p:cNvPr id="9" name="TextBox 8"/>
          <p:cNvSpPr txBox="1"/>
          <p:nvPr/>
        </p:nvSpPr>
        <p:spPr>
          <a:xfrm>
            <a:off x="6217920" y="208483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Applies a flat penalty to any token the moment it appears at least once, regardless of count — encourages introducing new words/topics rather than staying on the same ones.</a:t>
            </a:r>
          </a:p>
          <a:p>
            <a:pPr>
              <a:lnSpc>
                <a:spcPct val="112000"/>
              </a:lnSpc>
              <a:spcAft>
                <a:spcPts val="600"/>
              </a:spcAft>
            </a:pPr>
            <a:r>
              <a:rPr sz="1250">
                <a:solidFill>
                  <a:srgbClr val="52514E"/>
                </a:solidFill>
                <a:latin typeface="Helvetica Neue"/>
              </a:rPr>
              <a:t>—  Range: -2.0 to 2.0.</a:t>
            </a:r>
          </a:p>
        </p:txBody>
      </p:sp>
      <p:sp>
        <p:nvSpPr>
          <p:cNvPr id="10" name="TextBox 9"/>
          <p:cNvSpPr txBox="1"/>
          <p:nvPr/>
        </p:nvSpPr>
        <p:spPr>
          <a:xfrm>
            <a:off x="548640" y="418338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USED IN THIS EVALUATION</a:t>
            </a:r>
          </a:p>
        </p:txBody>
      </p:sp>
      <p:sp>
        <p:nvSpPr>
          <p:cNvPr id="11" name="TextBox 10"/>
          <p:cNvSpPr txBox="1"/>
          <p:nvPr/>
        </p:nvSpPr>
        <p:spPr>
          <a:xfrm>
            <a:off x="548640" y="453085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Both set to 0.0 (neutral / off) for every model, on both benchmarks.</a:t>
            </a:r>
          </a:p>
        </p:txBody>
      </p:sp>
      <p:sp>
        <p:nvSpPr>
          <p:cNvPr id="12" name="TextBox 11"/>
          <p:cNvSpPr txBox="1"/>
          <p:nvPr/>
        </p:nvSpPr>
        <p:spPr>
          <a:xfrm>
            <a:off x="6217920" y="418338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WHY THEY'RE IRRELEVANT HERE</a:t>
            </a:r>
          </a:p>
        </p:txBody>
      </p:sp>
      <p:sp>
        <p:nvSpPr>
          <p:cNvPr id="13" name="TextBox 12"/>
          <p:cNvSpPr txBox="1"/>
          <p:nvPr/>
        </p:nvSpPr>
        <p:spPr>
          <a:xfrm>
            <a:off x="6217920" y="453085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Both tasks produce a single short answer — one word, or one letter plus brief reasoning.</a:t>
            </a:r>
          </a:p>
          <a:p>
            <a:pPr>
              <a:lnSpc>
                <a:spcPct val="112000"/>
              </a:lnSpc>
              <a:spcAft>
                <a:spcPts val="600"/>
              </a:spcAft>
            </a:pPr>
            <a:r>
              <a:rPr sz="1250">
                <a:solidFill>
                  <a:srgbClr val="52514E"/>
                </a:solidFill>
                <a:latin typeface="Helvetica Neue"/>
              </a:rPr>
              <a:t>—  There's no room for the kind of repetitive looping these penalties are designed to prevent in long-form, open-ended generation.</a:t>
            </a:r>
          </a:p>
        </p:txBody>
      </p:sp>
      <p:sp>
        <p:nvSpPr>
          <p:cNvPr id="14" name="TextBox 13"/>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5" name="TextBox 14"/>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Parameter set used in this evaluation</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91640"/>
            <a:ext cx="53949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LAMBADA — actual run configuration</a:t>
            </a:r>
          </a:p>
        </p:txBody>
      </p:sp>
      <p:graphicFrame>
        <p:nvGraphicFramePr>
          <p:cNvPr id="7" name="Table 6"/>
          <p:cNvGraphicFramePr>
            <a:graphicFrameLocks noGrp="1"/>
          </p:cNvGraphicFramePr>
          <p:nvPr/>
        </p:nvGraphicFramePr>
        <p:xfrm>
          <a:off x="548640" y="2011680"/>
          <a:ext cx="5394959" cy="2377440"/>
        </p:xfrm>
        <a:graphic>
          <a:graphicData uri="http://schemas.openxmlformats.org/drawingml/2006/table">
            <a:tbl>
              <a:tblPr firstRow="1" bandRow="1">
                <a:tableStyleId>{5C22544A-7EE6-4342-B048-85BDC9FD1C3A}</a:tableStyleId>
              </a:tblPr>
              <a:tblGrid>
                <a:gridCol w="3296920">
                  <a:extLst>
                    <a:ext uri="{9D8B030D-6E8A-4147-A177-3AD203B41FA5}">
                      <a16:colId xmlns:a16="http://schemas.microsoft.com/office/drawing/2014/main" val="20000"/>
                    </a:ext>
                  </a:extLst>
                </a:gridCol>
                <a:gridCol w="2098039">
                  <a:extLst>
                    <a:ext uri="{9D8B030D-6E8A-4147-A177-3AD203B41FA5}">
                      <a16:colId xmlns:a16="http://schemas.microsoft.com/office/drawing/2014/main" val="20001"/>
                    </a:ext>
                  </a:extLst>
                </a:gridCol>
              </a:tblGrid>
              <a:tr h="339634">
                <a:tc>
                  <a:txBody>
                    <a:bodyPr/>
                    <a:lstStyle/>
                    <a:p>
                      <a:r>
                        <a:rPr sz="1200" b="1">
                          <a:solidFill>
                            <a:srgbClr val="FFFFFF"/>
                          </a:solidFill>
                          <a:latin typeface="Helvetica Neue"/>
                        </a:rPr>
                        <a:t>Parameter</a:t>
                      </a:r>
                    </a:p>
                  </a:txBody>
                  <a:tcPr marL="101600" marR="76200" marT="50800" marB="50800" anchor="ctr">
                    <a:solidFill>
                      <a:srgbClr val="0B0B0B"/>
                    </a:solidFill>
                  </a:tcPr>
                </a:tc>
                <a:tc>
                  <a:txBody>
                    <a:bodyPr/>
                    <a:lstStyle/>
                    <a:p>
                      <a:r>
                        <a:rPr sz="1200" b="1">
                          <a:solidFill>
                            <a:srgbClr val="FFFFFF"/>
                          </a:solidFill>
                          <a:latin typeface="Helvetica Neue"/>
                        </a:rPr>
                        <a:t>Value</a:t>
                      </a:r>
                    </a:p>
                  </a:txBody>
                  <a:tcPr marL="101600" marR="76200" marT="50800" marB="50800" anchor="ctr">
                    <a:solidFill>
                      <a:srgbClr val="0B0B0B"/>
                    </a:solidFill>
                  </a:tcPr>
                </a:tc>
                <a:extLst>
                  <a:ext uri="{0D108BD9-81ED-4DB2-BD59-A6C34878D82A}">
                    <a16:rowId xmlns:a16="http://schemas.microsoft.com/office/drawing/2014/main" val="10000"/>
                  </a:ext>
                </a:extLst>
              </a:tr>
              <a:tr h="339634">
                <a:tc>
                  <a:txBody>
                    <a:bodyPr/>
                    <a:lstStyle/>
                    <a:p>
                      <a:r>
                        <a:rPr sz="1200" b="1">
                          <a:solidFill>
                            <a:srgbClr val="0B0B0B"/>
                          </a:solidFill>
                          <a:latin typeface="Helvetica Neue"/>
                        </a:rPr>
                        <a:t>Temperature</a:t>
                      </a:r>
                    </a:p>
                  </a:txBody>
                  <a:tcPr marL="101600" marR="76200" marT="38100" marB="38100" anchor="ctr">
                    <a:solidFill>
                      <a:srgbClr val="FCFCFB"/>
                    </a:solidFill>
                  </a:tcPr>
                </a:tc>
                <a:tc>
                  <a:txBody>
                    <a:bodyPr/>
                    <a:lstStyle/>
                    <a:p>
                      <a:r>
                        <a:rPr sz="1200">
                          <a:solidFill>
                            <a:srgbClr val="52514E"/>
                          </a:solidFill>
                          <a:latin typeface="Helvetica Neue"/>
                        </a:rPr>
                        <a:t>0.0</a:t>
                      </a:r>
                    </a:p>
                  </a:txBody>
                  <a:tcPr marL="101600" marR="76200" marT="38100" marB="38100" anchor="ctr">
                    <a:solidFill>
                      <a:srgbClr val="FCFCFB"/>
                    </a:solidFill>
                  </a:tcPr>
                </a:tc>
                <a:extLst>
                  <a:ext uri="{0D108BD9-81ED-4DB2-BD59-A6C34878D82A}">
                    <a16:rowId xmlns:a16="http://schemas.microsoft.com/office/drawing/2014/main" val="10001"/>
                  </a:ext>
                </a:extLst>
              </a:tr>
              <a:tr h="339634">
                <a:tc>
                  <a:txBody>
                    <a:bodyPr/>
                    <a:lstStyle/>
                    <a:p>
                      <a:r>
                        <a:rPr sz="1200" b="1">
                          <a:solidFill>
                            <a:srgbClr val="0B0B0B"/>
                          </a:solidFill>
                          <a:latin typeface="Helvetica Neue"/>
                        </a:rPr>
                        <a:t>Top-p</a:t>
                      </a:r>
                    </a:p>
                  </a:txBody>
                  <a:tcPr marL="101600" marR="76200" marT="38100" marB="38100" anchor="ctr">
                    <a:solidFill>
                      <a:srgbClr val="F3F2EE"/>
                    </a:solidFill>
                  </a:tcPr>
                </a:tc>
                <a:tc>
                  <a:txBody>
                    <a:bodyPr/>
                    <a:lstStyle/>
                    <a:p>
                      <a:r>
                        <a:rPr sz="1200">
                          <a:solidFill>
                            <a:srgbClr val="52514E"/>
                          </a:solidFill>
                          <a:latin typeface="Helvetica Neue"/>
                        </a:rPr>
                        <a:t>1.0</a:t>
                      </a:r>
                    </a:p>
                  </a:txBody>
                  <a:tcPr marL="101600" marR="76200" marT="38100" marB="38100" anchor="ctr">
                    <a:solidFill>
                      <a:srgbClr val="F3F2EE"/>
                    </a:solidFill>
                  </a:tcPr>
                </a:tc>
                <a:extLst>
                  <a:ext uri="{0D108BD9-81ED-4DB2-BD59-A6C34878D82A}">
                    <a16:rowId xmlns:a16="http://schemas.microsoft.com/office/drawing/2014/main" val="10002"/>
                  </a:ext>
                </a:extLst>
              </a:tr>
              <a:tr h="339634">
                <a:tc>
                  <a:txBody>
                    <a:bodyPr/>
                    <a:lstStyle/>
                    <a:p>
                      <a:r>
                        <a:rPr sz="1200" b="1">
                          <a:solidFill>
                            <a:srgbClr val="0B0B0B"/>
                          </a:solidFill>
                          <a:latin typeface="Helvetica Neue"/>
                        </a:rPr>
                        <a:t>Max tokens</a:t>
                      </a:r>
                    </a:p>
                  </a:txBody>
                  <a:tcPr marL="101600" marR="76200" marT="38100" marB="38100" anchor="ctr">
                    <a:solidFill>
                      <a:srgbClr val="FCFCFB"/>
                    </a:solidFill>
                  </a:tcPr>
                </a:tc>
                <a:tc>
                  <a:txBody>
                    <a:bodyPr/>
                    <a:lstStyle/>
                    <a:p>
                      <a:r>
                        <a:rPr sz="1200">
                          <a:solidFill>
                            <a:srgbClr val="52514E"/>
                          </a:solidFill>
                          <a:latin typeface="Helvetica Neue"/>
                        </a:rPr>
                        <a:t>32</a:t>
                      </a:r>
                    </a:p>
                  </a:txBody>
                  <a:tcPr marL="101600" marR="76200" marT="38100" marB="38100" anchor="ctr">
                    <a:solidFill>
                      <a:srgbClr val="FCFCFB"/>
                    </a:solidFill>
                  </a:tcPr>
                </a:tc>
                <a:extLst>
                  <a:ext uri="{0D108BD9-81ED-4DB2-BD59-A6C34878D82A}">
                    <a16:rowId xmlns:a16="http://schemas.microsoft.com/office/drawing/2014/main" val="10003"/>
                  </a:ext>
                </a:extLst>
              </a:tr>
              <a:tr h="339634">
                <a:tc>
                  <a:txBody>
                    <a:bodyPr/>
                    <a:lstStyle/>
                    <a:p>
                      <a:r>
                        <a:rPr sz="1200" b="1">
                          <a:solidFill>
                            <a:srgbClr val="0B0B0B"/>
                          </a:solidFill>
                          <a:latin typeface="Helvetica Neue"/>
                        </a:rPr>
                        <a:t>Frequency penalty</a:t>
                      </a:r>
                    </a:p>
                  </a:txBody>
                  <a:tcPr marL="101600" marR="76200" marT="38100" marB="38100" anchor="ctr">
                    <a:solidFill>
                      <a:srgbClr val="F3F2EE"/>
                    </a:solidFill>
                  </a:tcPr>
                </a:tc>
                <a:tc>
                  <a:txBody>
                    <a:bodyPr/>
                    <a:lstStyle/>
                    <a:p>
                      <a:r>
                        <a:rPr sz="1200">
                          <a:solidFill>
                            <a:srgbClr val="52514E"/>
                          </a:solidFill>
                          <a:latin typeface="Helvetica Neue"/>
                        </a:rPr>
                        <a:t>0.0</a:t>
                      </a:r>
                    </a:p>
                  </a:txBody>
                  <a:tcPr marL="101600" marR="76200" marT="38100" marB="38100" anchor="ctr">
                    <a:solidFill>
                      <a:srgbClr val="F3F2EE"/>
                    </a:solidFill>
                  </a:tcPr>
                </a:tc>
                <a:extLst>
                  <a:ext uri="{0D108BD9-81ED-4DB2-BD59-A6C34878D82A}">
                    <a16:rowId xmlns:a16="http://schemas.microsoft.com/office/drawing/2014/main" val="10004"/>
                  </a:ext>
                </a:extLst>
              </a:tr>
              <a:tr h="339634">
                <a:tc>
                  <a:txBody>
                    <a:bodyPr/>
                    <a:lstStyle/>
                    <a:p>
                      <a:r>
                        <a:rPr sz="1200" b="1">
                          <a:solidFill>
                            <a:srgbClr val="0B0B0B"/>
                          </a:solidFill>
                          <a:latin typeface="Helvetica Neue"/>
                        </a:rPr>
                        <a:t>Presence penalty</a:t>
                      </a:r>
                    </a:p>
                  </a:txBody>
                  <a:tcPr marL="101600" marR="76200" marT="38100" marB="38100" anchor="ctr">
                    <a:solidFill>
                      <a:srgbClr val="FCFCFB"/>
                    </a:solidFill>
                  </a:tcPr>
                </a:tc>
                <a:tc>
                  <a:txBody>
                    <a:bodyPr/>
                    <a:lstStyle/>
                    <a:p>
                      <a:r>
                        <a:rPr sz="1200">
                          <a:solidFill>
                            <a:srgbClr val="52514E"/>
                          </a:solidFill>
                          <a:latin typeface="Helvetica Neue"/>
                        </a:rPr>
                        <a:t>0.0</a:t>
                      </a:r>
                    </a:p>
                  </a:txBody>
                  <a:tcPr marL="101600" marR="76200" marT="38100" marB="38100" anchor="ctr">
                    <a:solidFill>
                      <a:srgbClr val="FCFCFB"/>
                    </a:solidFill>
                  </a:tcPr>
                </a:tc>
                <a:extLst>
                  <a:ext uri="{0D108BD9-81ED-4DB2-BD59-A6C34878D82A}">
                    <a16:rowId xmlns:a16="http://schemas.microsoft.com/office/drawing/2014/main" val="10005"/>
                  </a:ext>
                </a:extLst>
              </a:tr>
              <a:tr h="339636">
                <a:tc>
                  <a:txBody>
                    <a:bodyPr/>
                    <a:lstStyle/>
                    <a:p>
                      <a:r>
                        <a:rPr sz="1200" b="1">
                          <a:solidFill>
                            <a:srgbClr val="0B0B0B"/>
                          </a:solidFill>
                          <a:latin typeface="Helvetica Neue"/>
                        </a:rPr>
                        <a:t>Few-shot examples</a:t>
                      </a:r>
                    </a:p>
                  </a:txBody>
                  <a:tcPr marL="101600" marR="76200" marT="38100" marB="38100" anchor="ctr">
                    <a:solidFill>
                      <a:srgbClr val="F3F2EE"/>
                    </a:solidFill>
                  </a:tcPr>
                </a:tc>
                <a:tc>
                  <a:txBody>
                    <a:bodyPr/>
                    <a:lstStyle/>
                    <a:p>
                      <a:r>
                        <a:rPr sz="1200">
                          <a:solidFill>
                            <a:srgbClr val="52514E"/>
                          </a:solidFill>
                          <a:latin typeface="Helvetica Neue"/>
                        </a:rPr>
                        <a:t>3</a:t>
                      </a:r>
                    </a:p>
                  </a:txBody>
                  <a:tcPr marL="101600" marR="76200" marT="38100" marB="38100" anchor="ctr">
                    <a:solidFill>
                      <a:srgbClr val="F3F2EE"/>
                    </a:solidFill>
                  </a:tcPr>
                </a:tc>
                <a:extLst>
                  <a:ext uri="{0D108BD9-81ED-4DB2-BD59-A6C34878D82A}">
                    <a16:rowId xmlns:a16="http://schemas.microsoft.com/office/drawing/2014/main" val="10006"/>
                  </a:ext>
                </a:extLst>
              </a:tr>
            </a:tbl>
          </a:graphicData>
        </a:graphic>
      </p:graphicFrame>
      <p:sp>
        <p:nvSpPr>
          <p:cNvPr id="8" name="TextBox 7"/>
          <p:cNvSpPr txBox="1"/>
          <p:nvPr/>
        </p:nvSpPr>
        <p:spPr>
          <a:xfrm>
            <a:off x="6217920" y="1691640"/>
            <a:ext cx="539496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MMLU — actual run configuration</a:t>
            </a:r>
          </a:p>
        </p:txBody>
      </p:sp>
      <p:graphicFrame>
        <p:nvGraphicFramePr>
          <p:cNvPr id="9" name="Table 8"/>
          <p:cNvGraphicFramePr>
            <a:graphicFrameLocks noGrp="1"/>
          </p:cNvGraphicFramePr>
          <p:nvPr/>
        </p:nvGraphicFramePr>
        <p:xfrm>
          <a:off x="6217920" y="2011680"/>
          <a:ext cx="5394959" cy="1371600"/>
        </p:xfrm>
        <a:graphic>
          <a:graphicData uri="http://schemas.openxmlformats.org/drawingml/2006/table">
            <a:tbl>
              <a:tblPr firstRow="1" bandRow="1">
                <a:tableStyleId>{5C22544A-7EE6-4342-B048-85BDC9FD1C3A}</a:tableStyleId>
              </a:tblPr>
              <a:tblGrid>
                <a:gridCol w="3296920">
                  <a:extLst>
                    <a:ext uri="{9D8B030D-6E8A-4147-A177-3AD203B41FA5}">
                      <a16:colId xmlns:a16="http://schemas.microsoft.com/office/drawing/2014/main" val="20000"/>
                    </a:ext>
                  </a:extLst>
                </a:gridCol>
                <a:gridCol w="2098039">
                  <a:extLst>
                    <a:ext uri="{9D8B030D-6E8A-4147-A177-3AD203B41FA5}">
                      <a16:colId xmlns:a16="http://schemas.microsoft.com/office/drawing/2014/main" val="20001"/>
                    </a:ext>
                  </a:extLst>
                </a:gridCol>
              </a:tblGrid>
              <a:tr h="342900">
                <a:tc>
                  <a:txBody>
                    <a:bodyPr/>
                    <a:lstStyle/>
                    <a:p>
                      <a:r>
                        <a:rPr sz="1200" b="1">
                          <a:solidFill>
                            <a:srgbClr val="FFFFFF"/>
                          </a:solidFill>
                          <a:latin typeface="Helvetica Neue"/>
                        </a:rPr>
                        <a:t>Parameter</a:t>
                      </a:r>
                    </a:p>
                  </a:txBody>
                  <a:tcPr marL="101600" marR="76200" marT="50800" marB="50800" anchor="ctr">
                    <a:solidFill>
                      <a:srgbClr val="0B0B0B"/>
                    </a:solidFill>
                  </a:tcPr>
                </a:tc>
                <a:tc>
                  <a:txBody>
                    <a:bodyPr/>
                    <a:lstStyle/>
                    <a:p>
                      <a:r>
                        <a:rPr sz="1200" b="1">
                          <a:solidFill>
                            <a:srgbClr val="FFFFFF"/>
                          </a:solidFill>
                          <a:latin typeface="Helvetica Neue"/>
                        </a:rPr>
                        <a:t>Value</a:t>
                      </a:r>
                    </a:p>
                  </a:txBody>
                  <a:tcPr marL="101600" marR="76200" marT="50800" marB="50800" anchor="ctr">
                    <a:solidFill>
                      <a:srgbClr val="0B0B0B"/>
                    </a:solidFill>
                  </a:tcPr>
                </a:tc>
                <a:extLst>
                  <a:ext uri="{0D108BD9-81ED-4DB2-BD59-A6C34878D82A}">
                    <a16:rowId xmlns:a16="http://schemas.microsoft.com/office/drawing/2014/main" val="10000"/>
                  </a:ext>
                </a:extLst>
              </a:tr>
              <a:tr h="342900">
                <a:tc>
                  <a:txBody>
                    <a:bodyPr/>
                    <a:lstStyle/>
                    <a:p>
                      <a:r>
                        <a:rPr sz="1200" b="1">
                          <a:solidFill>
                            <a:srgbClr val="0B0B0B"/>
                          </a:solidFill>
                          <a:latin typeface="Helvetica Neue"/>
                        </a:rPr>
                        <a:t>Temperature</a:t>
                      </a:r>
                    </a:p>
                  </a:txBody>
                  <a:tcPr marL="101600" marR="76200" marT="38100" marB="38100" anchor="ctr">
                    <a:solidFill>
                      <a:srgbClr val="FCFCFB"/>
                    </a:solidFill>
                  </a:tcPr>
                </a:tc>
                <a:tc>
                  <a:txBody>
                    <a:bodyPr/>
                    <a:lstStyle/>
                    <a:p>
                      <a:r>
                        <a:rPr sz="1200">
                          <a:solidFill>
                            <a:srgbClr val="52514E"/>
                          </a:solidFill>
                          <a:latin typeface="Helvetica Neue"/>
                        </a:rPr>
                        <a:t>0.0</a:t>
                      </a:r>
                    </a:p>
                  </a:txBody>
                  <a:tcPr marL="101600" marR="76200" marT="38100" marB="38100" anchor="ctr">
                    <a:solidFill>
                      <a:srgbClr val="FCFCFB"/>
                    </a:solidFill>
                  </a:tcPr>
                </a:tc>
                <a:extLst>
                  <a:ext uri="{0D108BD9-81ED-4DB2-BD59-A6C34878D82A}">
                    <a16:rowId xmlns:a16="http://schemas.microsoft.com/office/drawing/2014/main" val="10001"/>
                  </a:ext>
                </a:extLst>
              </a:tr>
              <a:tr h="342900">
                <a:tc>
                  <a:txBody>
                    <a:bodyPr/>
                    <a:lstStyle/>
                    <a:p>
                      <a:r>
                        <a:rPr sz="1200" b="1">
                          <a:solidFill>
                            <a:srgbClr val="0B0B0B"/>
                          </a:solidFill>
                          <a:latin typeface="Helvetica Neue"/>
                        </a:rPr>
                        <a:t>Top-p</a:t>
                      </a:r>
                    </a:p>
                  </a:txBody>
                  <a:tcPr marL="101600" marR="76200" marT="38100" marB="38100" anchor="ctr">
                    <a:solidFill>
                      <a:srgbClr val="F3F2EE"/>
                    </a:solidFill>
                  </a:tcPr>
                </a:tc>
                <a:tc>
                  <a:txBody>
                    <a:bodyPr/>
                    <a:lstStyle/>
                    <a:p>
                      <a:r>
                        <a:rPr sz="1200">
                          <a:solidFill>
                            <a:srgbClr val="52514E"/>
                          </a:solidFill>
                          <a:latin typeface="Helvetica Neue"/>
                        </a:rPr>
                        <a:t>1.0</a:t>
                      </a:r>
                    </a:p>
                  </a:txBody>
                  <a:tcPr marL="101600" marR="76200" marT="38100" marB="38100" anchor="ctr">
                    <a:solidFill>
                      <a:srgbClr val="F3F2EE"/>
                    </a:solidFill>
                  </a:tcPr>
                </a:tc>
                <a:extLst>
                  <a:ext uri="{0D108BD9-81ED-4DB2-BD59-A6C34878D82A}">
                    <a16:rowId xmlns:a16="http://schemas.microsoft.com/office/drawing/2014/main" val="10002"/>
                  </a:ext>
                </a:extLst>
              </a:tr>
              <a:tr h="342900">
                <a:tc>
                  <a:txBody>
                    <a:bodyPr/>
                    <a:lstStyle/>
                    <a:p>
                      <a:r>
                        <a:rPr sz="1200" b="1">
                          <a:solidFill>
                            <a:srgbClr val="0B0B0B"/>
                          </a:solidFill>
                          <a:latin typeface="Helvetica Neue"/>
                        </a:rPr>
                        <a:t>Max tokens</a:t>
                      </a:r>
                    </a:p>
                  </a:txBody>
                  <a:tcPr marL="101600" marR="76200" marT="38100" marB="38100" anchor="ctr">
                    <a:solidFill>
                      <a:srgbClr val="FCFCFB"/>
                    </a:solidFill>
                  </a:tcPr>
                </a:tc>
                <a:tc>
                  <a:txBody>
                    <a:bodyPr/>
                    <a:lstStyle/>
                    <a:p>
                      <a:r>
                        <a:rPr sz="1200">
                          <a:solidFill>
                            <a:srgbClr val="52514E"/>
                          </a:solidFill>
                          <a:latin typeface="Helvetica Neue"/>
                        </a:rPr>
                        <a:t>384</a:t>
                      </a:r>
                    </a:p>
                  </a:txBody>
                  <a:tcPr marL="101600" marR="76200" marT="38100" marB="38100" anchor="ctr">
                    <a:solidFill>
                      <a:srgbClr val="FCFCFB"/>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6217920" y="3566160"/>
            <a:ext cx="5394960" cy="1097280"/>
          </a:xfrm>
          <a:prstGeom prst="rect">
            <a:avLst/>
          </a:prstGeom>
          <a:noFill/>
        </p:spPr>
        <p:txBody>
          <a:bodyPr wrap="square" lIns="0" tIns="0" rIns="0" bIns="0" anchor="t">
            <a:spAutoFit/>
          </a:bodyPr>
          <a:lstStyle/>
          <a:p>
            <a:pPr algn="l">
              <a:lnSpc>
                <a:spcPct val="125000"/>
              </a:lnSpc>
            </a:pPr>
            <a:r>
              <a:rPr sz="1100" b="0" i="1">
                <a:solidFill>
                  <a:srgbClr val="898781"/>
                </a:solidFill>
                <a:latin typeface="Helvetica Neue"/>
              </a:rPr>
              <a:t>Note: this is a hand-set configuration close to, but not identical to, any single named preset (it mixes Optimal's greedy decoding with a different max-token / few-shot budget).</a:t>
            </a:r>
          </a:p>
        </p:txBody>
      </p:sp>
      <p:cxnSp>
        <p:nvCxnSpPr>
          <p:cNvPr id="11" name="Connector 10"/>
          <p:cNvCxnSpPr/>
          <p:nvPr/>
        </p:nvCxnSpPr>
        <p:spPr>
          <a:xfrm>
            <a:off x="548640" y="4892040"/>
            <a:ext cx="11064240"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5074920"/>
            <a:ext cx="11064240" cy="1371600"/>
          </a:xfrm>
          <a:prstGeom prst="rect">
            <a:avLst/>
          </a:prstGeom>
          <a:noFill/>
        </p:spPr>
        <p:txBody>
          <a:bodyPr wrap="square">
            <a:spAutoFit/>
          </a:bodyPr>
          <a:lstStyle/>
          <a:p>
            <a:pPr>
              <a:lnSpc>
                <a:spcPct val="112000"/>
              </a:lnSpc>
              <a:spcAft>
                <a:spcPts val="600"/>
              </a:spcAft>
            </a:pPr>
            <a:r>
              <a:rPr sz="1200">
                <a:solidFill>
                  <a:srgbClr val="52514E"/>
                </a:solidFill>
                <a:latin typeface="Helvetica Neue"/>
              </a:rPr>
              <a:t>—  Applied identically to Gemma-3-4B, Llama-3.2-3B, and Ministral-8B — none of the three received special treatment, such as a larger reasoning-token budget.</a:t>
            </a:r>
          </a:p>
          <a:p>
            <a:pPr>
              <a:lnSpc>
                <a:spcPct val="112000"/>
              </a:lnSpc>
              <a:spcAft>
                <a:spcPts val="600"/>
              </a:spcAft>
            </a:pPr>
            <a:r>
              <a:rPr sz="1200">
                <a:solidFill>
                  <a:srgbClr val="52514E"/>
                </a:solidFill>
                <a:latin typeface="Helvetica Neue"/>
              </a:rPr>
              <a:t>—  config.py reserves a separate MAX_TOKENS_REASONING = 8096 budget for models flagged in REASONING_MODELS — that list is empty for this study, so none of the three models used it.</a:t>
            </a:r>
          </a:p>
          <a:p>
            <a:pPr>
              <a:lnSpc>
                <a:spcPct val="112000"/>
              </a:lnSpc>
              <a:spcAft>
                <a:spcPts val="600"/>
              </a:spcAft>
            </a:pPr>
            <a:r>
              <a:rPr sz="1200">
                <a:solidFill>
                  <a:srgbClr val="52514E"/>
                </a:solidFill>
                <a:latin typeface="Helvetica Neue"/>
              </a:rPr>
              <a:t>—  Any differences in the results come from the models themselves, not from unequal evaluation conditions.</a:t>
            </a:r>
          </a:p>
        </p:txBody>
      </p:sp>
      <p:sp>
        <p:nvSpPr>
          <p:cNvPr id="13" name="TextBox 12"/>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4" name="TextBox 13"/>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700" b="1" i="0">
                <a:solidFill>
                  <a:srgbClr val="0B0B0B"/>
                </a:solidFill>
                <a:latin typeface="Helvetica Neue"/>
              </a:rPr>
              <a:t>Presets — LAMBADA</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48640" y="1737360"/>
          <a:ext cx="11064236" cy="1737360"/>
        </p:xfrm>
        <a:graphic>
          <a:graphicData uri="http://schemas.openxmlformats.org/drawingml/2006/table">
            <a:tbl>
              <a:tblPr firstRow="1" bandRow="1">
                <a:tableStyleId>{5C22544A-7EE6-4342-B048-85BDC9FD1C3A}</a:tableStyleId>
              </a:tblPr>
              <a:tblGrid>
                <a:gridCol w="2405269">
                  <a:extLst>
                    <a:ext uri="{9D8B030D-6E8A-4147-A177-3AD203B41FA5}">
                      <a16:colId xmlns:a16="http://schemas.microsoft.com/office/drawing/2014/main" val="20000"/>
                    </a:ext>
                  </a:extLst>
                </a:gridCol>
                <a:gridCol w="962107">
                  <a:extLst>
                    <a:ext uri="{9D8B030D-6E8A-4147-A177-3AD203B41FA5}">
                      <a16:colId xmlns:a16="http://schemas.microsoft.com/office/drawing/2014/main" val="20001"/>
                    </a:ext>
                  </a:extLst>
                </a:gridCol>
                <a:gridCol w="962107">
                  <a:extLst>
                    <a:ext uri="{9D8B030D-6E8A-4147-A177-3AD203B41FA5}">
                      <a16:colId xmlns:a16="http://schemas.microsoft.com/office/drawing/2014/main" val="20002"/>
                    </a:ext>
                  </a:extLst>
                </a:gridCol>
                <a:gridCol w="1202634">
                  <a:extLst>
                    <a:ext uri="{9D8B030D-6E8A-4147-A177-3AD203B41FA5}">
                      <a16:colId xmlns:a16="http://schemas.microsoft.com/office/drawing/2014/main" val="20003"/>
                    </a:ext>
                  </a:extLst>
                </a:gridCol>
                <a:gridCol w="1202634">
                  <a:extLst>
                    <a:ext uri="{9D8B030D-6E8A-4147-A177-3AD203B41FA5}">
                      <a16:colId xmlns:a16="http://schemas.microsoft.com/office/drawing/2014/main" val="20004"/>
                    </a:ext>
                  </a:extLst>
                </a:gridCol>
                <a:gridCol w="4329485">
                  <a:extLst>
                    <a:ext uri="{9D8B030D-6E8A-4147-A177-3AD203B41FA5}">
                      <a16:colId xmlns:a16="http://schemas.microsoft.com/office/drawing/2014/main" val="20005"/>
                    </a:ext>
                  </a:extLst>
                </a:gridCol>
              </a:tblGrid>
              <a:tr h="434340">
                <a:tc>
                  <a:txBody>
                    <a:bodyPr/>
                    <a:lstStyle/>
                    <a:p>
                      <a:r>
                        <a:rPr sz="1250" b="1">
                          <a:solidFill>
                            <a:srgbClr val="FFFFFF"/>
                          </a:solidFill>
                          <a:latin typeface="Helvetica Neue"/>
                        </a:rPr>
                        <a:t>Preset</a:t>
                      </a:r>
                    </a:p>
                  </a:txBody>
                  <a:tcPr marL="101600" marR="76200" marT="50800" marB="50800" anchor="ctr">
                    <a:solidFill>
                      <a:srgbClr val="0B0B0B"/>
                    </a:solidFill>
                  </a:tcPr>
                </a:tc>
                <a:tc>
                  <a:txBody>
                    <a:bodyPr/>
                    <a:lstStyle/>
                    <a:p>
                      <a:r>
                        <a:rPr sz="1250" b="1">
                          <a:solidFill>
                            <a:srgbClr val="FFFFFF"/>
                          </a:solidFill>
                          <a:latin typeface="Helvetica Neue"/>
                        </a:rPr>
                        <a:t>Temp</a:t>
                      </a:r>
                    </a:p>
                  </a:txBody>
                  <a:tcPr marL="101600" marR="76200" marT="50800" marB="50800" anchor="ctr">
                    <a:solidFill>
                      <a:srgbClr val="0B0B0B"/>
                    </a:solidFill>
                  </a:tcPr>
                </a:tc>
                <a:tc>
                  <a:txBody>
                    <a:bodyPr/>
                    <a:lstStyle/>
                    <a:p>
                      <a:r>
                        <a:rPr sz="1250" b="1">
                          <a:solidFill>
                            <a:srgbClr val="FFFFFF"/>
                          </a:solidFill>
                          <a:latin typeface="Helvetica Neue"/>
                        </a:rPr>
                        <a:t>Top-p</a:t>
                      </a:r>
                    </a:p>
                  </a:txBody>
                  <a:tcPr marL="101600" marR="76200" marT="50800" marB="50800" anchor="ctr">
                    <a:solidFill>
                      <a:srgbClr val="0B0B0B"/>
                    </a:solidFill>
                  </a:tcPr>
                </a:tc>
                <a:tc>
                  <a:txBody>
                    <a:bodyPr/>
                    <a:lstStyle/>
                    <a:p>
                      <a:r>
                        <a:rPr sz="1250" b="1">
                          <a:solidFill>
                            <a:srgbClr val="FFFFFF"/>
                          </a:solidFill>
                          <a:latin typeface="Helvetica Neue"/>
                        </a:rPr>
                        <a:t>Max tok</a:t>
                      </a:r>
                    </a:p>
                  </a:txBody>
                  <a:tcPr marL="101600" marR="76200" marT="50800" marB="50800" anchor="ctr">
                    <a:solidFill>
                      <a:srgbClr val="0B0B0B"/>
                    </a:solidFill>
                  </a:tcPr>
                </a:tc>
                <a:tc>
                  <a:txBody>
                    <a:bodyPr/>
                    <a:lstStyle/>
                    <a:p>
                      <a:r>
                        <a:rPr sz="1250" b="1">
                          <a:solidFill>
                            <a:srgbClr val="FFFFFF"/>
                          </a:solidFill>
                          <a:latin typeface="Helvetica Neue"/>
                        </a:rPr>
                        <a:t>Few-shot</a:t>
                      </a:r>
                    </a:p>
                  </a:txBody>
                  <a:tcPr marL="101600" marR="76200" marT="50800" marB="50800" anchor="ctr">
                    <a:solidFill>
                      <a:srgbClr val="0B0B0B"/>
                    </a:solidFill>
                  </a:tcPr>
                </a:tc>
                <a:tc>
                  <a:txBody>
                    <a:bodyPr/>
                    <a:lstStyle/>
                    <a:p>
                      <a:r>
                        <a:rPr sz="1250" b="1">
                          <a:solidFill>
                            <a:srgbClr val="FFFFFF"/>
                          </a:solidFill>
                          <a:latin typeface="Helvetica Neue"/>
                        </a:rPr>
                        <a:t>Intent</a:t>
                      </a:r>
                    </a:p>
                  </a:txBody>
                  <a:tcPr marL="101600" marR="76200" marT="50800" marB="50800" anchor="ctr">
                    <a:solidFill>
                      <a:srgbClr val="0B0B0B"/>
                    </a:solidFill>
                  </a:tcPr>
                </a:tc>
                <a:extLst>
                  <a:ext uri="{0D108BD9-81ED-4DB2-BD59-A6C34878D82A}">
                    <a16:rowId xmlns:a16="http://schemas.microsoft.com/office/drawing/2014/main" val="10000"/>
                  </a:ext>
                </a:extLst>
              </a:tr>
              <a:tr h="434340">
                <a:tc>
                  <a:txBody>
                    <a:bodyPr/>
                    <a:lstStyle/>
                    <a:p>
                      <a:r>
                        <a:rPr sz="1250" b="1">
                          <a:solidFill>
                            <a:srgbClr val="0B0B0B"/>
                          </a:solidFill>
                          <a:latin typeface="Helvetica Neue"/>
                        </a:rPr>
                        <a:t>Optimal</a:t>
                      </a:r>
                    </a:p>
                  </a:txBody>
                  <a:tcPr marL="101600" marR="76200" marT="38100" marB="38100" anchor="ctr">
                    <a:solidFill>
                      <a:srgbClr val="FCFCFB"/>
                    </a:solidFill>
                  </a:tcPr>
                </a:tc>
                <a:tc>
                  <a:txBody>
                    <a:bodyPr/>
                    <a:lstStyle/>
                    <a:p>
                      <a:r>
                        <a:rPr sz="1250">
                          <a:solidFill>
                            <a:srgbClr val="52514E"/>
                          </a:solidFill>
                          <a:latin typeface="Helvetica Neue"/>
                        </a:rPr>
                        <a:t>0.0</a:t>
                      </a:r>
                    </a:p>
                  </a:txBody>
                  <a:tcPr marL="101600" marR="76200" marT="38100" marB="38100" anchor="ctr">
                    <a:solidFill>
                      <a:srgbClr val="FCFCFB"/>
                    </a:solidFill>
                  </a:tcPr>
                </a:tc>
                <a:tc>
                  <a:txBody>
                    <a:bodyPr/>
                    <a:lstStyle/>
                    <a:p>
                      <a:r>
                        <a:rPr sz="1250">
                          <a:solidFill>
                            <a:srgbClr val="52514E"/>
                          </a:solidFill>
                          <a:latin typeface="Helvetica Neue"/>
                        </a:rPr>
                        <a:t>1.0</a:t>
                      </a:r>
                    </a:p>
                  </a:txBody>
                  <a:tcPr marL="101600" marR="76200" marT="38100" marB="38100" anchor="ctr">
                    <a:solidFill>
                      <a:srgbClr val="FCFCFB"/>
                    </a:solidFill>
                  </a:tcPr>
                </a:tc>
                <a:tc>
                  <a:txBody>
                    <a:bodyPr/>
                    <a:lstStyle/>
                    <a:p>
                      <a:r>
                        <a:rPr sz="1250">
                          <a:solidFill>
                            <a:srgbClr val="52514E"/>
                          </a:solidFill>
                          <a:latin typeface="Helvetica Neue"/>
                        </a:rPr>
                        <a:t>16</a:t>
                      </a:r>
                    </a:p>
                  </a:txBody>
                  <a:tcPr marL="101600" marR="76200" marT="38100" marB="38100" anchor="ctr">
                    <a:solidFill>
                      <a:srgbClr val="FCFCFB"/>
                    </a:solidFill>
                  </a:tcPr>
                </a:tc>
                <a:tc>
                  <a:txBody>
                    <a:bodyPr/>
                    <a:lstStyle/>
                    <a:p>
                      <a:r>
                        <a:rPr sz="1250">
                          <a:solidFill>
                            <a:srgbClr val="52514E"/>
                          </a:solidFill>
                          <a:latin typeface="Helvetica Neue"/>
                        </a:rPr>
                        <a:t>5</a:t>
                      </a:r>
                    </a:p>
                  </a:txBody>
                  <a:tcPr marL="101600" marR="76200" marT="38100" marB="38100" anchor="ctr">
                    <a:solidFill>
                      <a:srgbClr val="FCFCFB"/>
                    </a:solidFill>
                  </a:tcPr>
                </a:tc>
                <a:tc>
                  <a:txBody>
                    <a:bodyPr/>
                    <a:lstStyle/>
                    <a:p>
                      <a:r>
                        <a:rPr sz="1250">
                          <a:solidFill>
                            <a:srgbClr val="52514E"/>
                          </a:solidFill>
                          <a:latin typeface="Helvetica Neue"/>
                        </a:rPr>
                        <a:t>Most reliable accuracy</a:t>
                      </a:r>
                    </a:p>
                  </a:txBody>
                  <a:tcPr marL="101600" marR="76200" marT="38100" marB="38100" anchor="ctr">
                    <a:solidFill>
                      <a:srgbClr val="FCFCFB"/>
                    </a:solidFill>
                  </a:tcPr>
                </a:tc>
                <a:extLst>
                  <a:ext uri="{0D108BD9-81ED-4DB2-BD59-A6C34878D82A}">
                    <a16:rowId xmlns:a16="http://schemas.microsoft.com/office/drawing/2014/main" val="10001"/>
                  </a:ext>
                </a:extLst>
              </a:tr>
              <a:tr h="434340">
                <a:tc>
                  <a:txBody>
                    <a:bodyPr/>
                    <a:lstStyle/>
                    <a:p>
                      <a:r>
                        <a:rPr sz="1250" b="1">
                          <a:solidFill>
                            <a:srgbClr val="0B0B0B"/>
                          </a:solidFill>
                          <a:latin typeface="Helvetica Neue"/>
                        </a:rPr>
                        <a:t>Normal</a:t>
                      </a:r>
                    </a:p>
                  </a:txBody>
                  <a:tcPr marL="101600" marR="76200" marT="38100" marB="38100" anchor="ctr">
                    <a:solidFill>
                      <a:srgbClr val="F3F2EE"/>
                    </a:solidFill>
                  </a:tcPr>
                </a:tc>
                <a:tc>
                  <a:txBody>
                    <a:bodyPr/>
                    <a:lstStyle/>
                    <a:p>
                      <a:r>
                        <a:rPr sz="1250">
                          <a:solidFill>
                            <a:srgbClr val="52514E"/>
                          </a:solidFill>
                          <a:latin typeface="Helvetica Neue"/>
                        </a:rPr>
                        <a:t>0.3</a:t>
                      </a:r>
                    </a:p>
                  </a:txBody>
                  <a:tcPr marL="101600" marR="76200" marT="38100" marB="38100" anchor="ctr">
                    <a:solidFill>
                      <a:srgbClr val="F3F2EE"/>
                    </a:solidFill>
                  </a:tcPr>
                </a:tc>
                <a:tc>
                  <a:txBody>
                    <a:bodyPr/>
                    <a:lstStyle/>
                    <a:p>
                      <a:r>
                        <a:rPr sz="1250">
                          <a:solidFill>
                            <a:srgbClr val="52514E"/>
                          </a:solidFill>
                          <a:latin typeface="Helvetica Neue"/>
                        </a:rPr>
                        <a:t>0.9</a:t>
                      </a:r>
                    </a:p>
                  </a:txBody>
                  <a:tcPr marL="101600" marR="76200" marT="38100" marB="38100" anchor="ctr">
                    <a:solidFill>
                      <a:srgbClr val="F3F2EE"/>
                    </a:solidFill>
                  </a:tcPr>
                </a:tc>
                <a:tc>
                  <a:txBody>
                    <a:bodyPr/>
                    <a:lstStyle/>
                    <a:p>
                      <a:r>
                        <a:rPr sz="1250">
                          <a:solidFill>
                            <a:srgbClr val="52514E"/>
                          </a:solidFill>
                          <a:latin typeface="Helvetica Neue"/>
                        </a:rPr>
                        <a:t>32</a:t>
                      </a:r>
                    </a:p>
                  </a:txBody>
                  <a:tcPr marL="101600" marR="76200" marT="38100" marB="38100" anchor="ctr">
                    <a:solidFill>
                      <a:srgbClr val="F3F2EE"/>
                    </a:solidFill>
                  </a:tcPr>
                </a:tc>
                <a:tc>
                  <a:txBody>
                    <a:bodyPr/>
                    <a:lstStyle/>
                    <a:p>
                      <a:r>
                        <a:rPr sz="1250">
                          <a:solidFill>
                            <a:srgbClr val="52514E"/>
                          </a:solidFill>
                          <a:latin typeface="Helvetica Neue"/>
                        </a:rPr>
                        <a:t>3</a:t>
                      </a:r>
                    </a:p>
                  </a:txBody>
                  <a:tcPr marL="101600" marR="76200" marT="38100" marB="38100" anchor="ctr">
                    <a:solidFill>
                      <a:srgbClr val="F3F2EE"/>
                    </a:solidFill>
                  </a:tcPr>
                </a:tc>
                <a:tc>
                  <a:txBody>
                    <a:bodyPr/>
                    <a:lstStyle/>
                    <a:p>
                      <a:r>
                        <a:rPr sz="1250">
                          <a:solidFill>
                            <a:srgbClr val="52514E"/>
                          </a:solidFill>
                          <a:latin typeface="Helvetica Neue"/>
                        </a:rPr>
                        <a:t>Balanced default</a:t>
                      </a:r>
                    </a:p>
                  </a:txBody>
                  <a:tcPr marL="101600" marR="76200" marT="38100" marB="38100" anchor="ctr">
                    <a:solidFill>
                      <a:srgbClr val="F3F2EE"/>
                    </a:solidFill>
                  </a:tcPr>
                </a:tc>
                <a:extLst>
                  <a:ext uri="{0D108BD9-81ED-4DB2-BD59-A6C34878D82A}">
                    <a16:rowId xmlns:a16="http://schemas.microsoft.com/office/drawing/2014/main" val="10002"/>
                  </a:ext>
                </a:extLst>
              </a:tr>
              <a:tr h="434340">
                <a:tc>
                  <a:txBody>
                    <a:bodyPr/>
                    <a:lstStyle/>
                    <a:p>
                      <a:r>
                        <a:rPr sz="1250" b="1">
                          <a:solidFill>
                            <a:srgbClr val="0B0B0B"/>
                          </a:solidFill>
                          <a:latin typeface="Helvetica Neue"/>
                        </a:rPr>
                        <a:t>Best Performance</a:t>
                      </a:r>
                    </a:p>
                  </a:txBody>
                  <a:tcPr marL="101600" marR="76200" marT="38100" marB="38100" anchor="ctr">
                    <a:solidFill>
                      <a:srgbClr val="FCFCFB"/>
                    </a:solidFill>
                  </a:tcPr>
                </a:tc>
                <a:tc>
                  <a:txBody>
                    <a:bodyPr/>
                    <a:lstStyle/>
                    <a:p>
                      <a:r>
                        <a:rPr sz="1250">
                          <a:solidFill>
                            <a:srgbClr val="52514E"/>
                          </a:solidFill>
                          <a:latin typeface="Helvetica Neue"/>
                        </a:rPr>
                        <a:t>0.0</a:t>
                      </a:r>
                    </a:p>
                  </a:txBody>
                  <a:tcPr marL="101600" marR="76200" marT="38100" marB="38100" anchor="ctr">
                    <a:solidFill>
                      <a:srgbClr val="FCFCFB"/>
                    </a:solidFill>
                  </a:tcPr>
                </a:tc>
                <a:tc>
                  <a:txBody>
                    <a:bodyPr/>
                    <a:lstStyle/>
                    <a:p>
                      <a:r>
                        <a:rPr sz="1250">
                          <a:solidFill>
                            <a:srgbClr val="52514E"/>
                          </a:solidFill>
                          <a:latin typeface="Helvetica Neue"/>
                        </a:rPr>
                        <a:t>1.0</a:t>
                      </a:r>
                    </a:p>
                  </a:txBody>
                  <a:tcPr marL="101600" marR="76200" marT="38100" marB="38100" anchor="ctr">
                    <a:solidFill>
                      <a:srgbClr val="FCFCFB"/>
                    </a:solidFill>
                  </a:tcPr>
                </a:tc>
                <a:tc>
                  <a:txBody>
                    <a:bodyPr/>
                    <a:lstStyle/>
                    <a:p>
                      <a:r>
                        <a:rPr sz="1250">
                          <a:solidFill>
                            <a:srgbClr val="52514E"/>
                          </a:solidFill>
                          <a:latin typeface="Helvetica Neue"/>
                        </a:rPr>
                        <a:t>8</a:t>
                      </a:r>
                    </a:p>
                  </a:txBody>
                  <a:tcPr marL="101600" marR="76200" marT="38100" marB="38100" anchor="ctr">
                    <a:solidFill>
                      <a:srgbClr val="FCFCFB"/>
                    </a:solidFill>
                  </a:tcPr>
                </a:tc>
                <a:tc>
                  <a:txBody>
                    <a:bodyPr/>
                    <a:lstStyle/>
                    <a:p>
                      <a:r>
                        <a:rPr sz="1250">
                          <a:solidFill>
                            <a:srgbClr val="52514E"/>
                          </a:solidFill>
                          <a:latin typeface="Helvetica Neue"/>
                        </a:rPr>
                        <a:t>2</a:t>
                      </a:r>
                    </a:p>
                  </a:txBody>
                  <a:tcPr marL="101600" marR="76200" marT="38100" marB="38100" anchor="ctr">
                    <a:solidFill>
                      <a:srgbClr val="FCFCFB"/>
                    </a:solidFill>
                  </a:tcPr>
                </a:tc>
                <a:tc>
                  <a:txBody>
                    <a:bodyPr/>
                    <a:lstStyle/>
                    <a:p>
                      <a:r>
                        <a:rPr sz="1250">
                          <a:solidFill>
                            <a:srgbClr val="52514E"/>
                          </a:solidFill>
                          <a:latin typeface="Helvetica Neue"/>
                        </a:rPr>
                        <a:t>Fastest, cheapest runs</a:t>
                      </a:r>
                    </a:p>
                  </a:txBody>
                  <a:tcPr marL="101600" marR="76200" marT="38100" marB="38100" anchor="ctr">
                    <a:solidFill>
                      <a:srgbClr val="FCFCFB"/>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3749039"/>
            <a:ext cx="11064240" cy="2377440"/>
          </a:xfrm>
          <a:prstGeom prst="rect">
            <a:avLst/>
          </a:prstGeom>
          <a:noFill/>
        </p:spPr>
        <p:txBody>
          <a:bodyPr wrap="square">
            <a:spAutoFit/>
          </a:bodyPr>
          <a:lstStyle/>
          <a:p>
            <a:pPr>
              <a:lnSpc>
                <a:spcPct val="112000"/>
              </a:lnSpc>
              <a:spcAft>
                <a:spcPts val="800"/>
              </a:spcAft>
            </a:pPr>
            <a:r>
              <a:rPr sz="1250">
                <a:solidFill>
                  <a:srgbClr val="52514E"/>
                </a:solidFill>
                <a:latin typeface="Helvetica Neue"/>
              </a:rPr>
              <a:t>—  Optimal is theoretically the strongest preset for LAMBADA specifically: the task has exactly one correct token, so greedy decoding removes sampling risk entirely, and more worked examples further anchor the one-word output format.</a:t>
            </a:r>
          </a:p>
          <a:p>
            <a:pPr>
              <a:lnSpc>
                <a:spcPct val="112000"/>
              </a:lnSpc>
              <a:spcAft>
                <a:spcPts val="800"/>
              </a:spcAft>
            </a:pPr>
            <a:r>
              <a:rPr sz="1250">
                <a:solidFill>
                  <a:srgbClr val="52514E"/>
                </a:solidFill>
                <a:latin typeface="Helvetica Neue"/>
              </a:rPr>
              <a:t>—  Normal reintroduces randomness (temp 0.3, top-p 0.9) — useful for exploring variability, but with no upside on an exact-match task like this one.</a:t>
            </a:r>
          </a:p>
          <a:p>
            <a:pPr>
              <a:lnSpc>
                <a:spcPct val="112000"/>
              </a:lnSpc>
              <a:spcAft>
                <a:spcPts val="800"/>
              </a:spcAft>
            </a:pPr>
            <a:r>
              <a:rPr sz="1250">
                <a:solidFill>
                  <a:srgbClr val="52514E"/>
                </a:solidFill>
                <a:latin typeface="Helvetica Neue"/>
              </a:rPr>
              <a:t>—  Best Performance trims both the token cap and the example budget for the cheapest, fastest runs, at some risk of losing the format anchor.</a:t>
            </a:r>
          </a:p>
          <a:p>
            <a:pPr>
              <a:lnSpc>
                <a:spcPct val="112000"/>
              </a:lnSpc>
              <a:spcAft>
                <a:spcPts val="800"/>
              </a:spcAft>
            </a:pPr>
            <a:r>
              <a:rPr sz="1250">
                <a:solidFill>
                  <a:srgbClr val="52514E"/>
                </a:solidFill>
                <a:latin typeface="Helvetica Neue"/>
              </a:rPr>
              <a:t>—  The actual saved runs used a nearby but distinct hand-set configuration — 3 few-shot examples, 32 max tokens — rather than one of these three presets exactly.</a:t>
            </a:r>
          </a:p>
        </p:txBody>
      </p:sp>
      <p:sp>
        <p:nvSpPr>
          <p:cNvPr id="8" name="TextBox 7"/>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9" name="TextBox 8"/>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700" b="1" i="0">
                <a:solidFill>
                  <a:srgbClr val="0B0B0B"/>
                </a:solidFill>
                <a:latin typeface="Helvetica Neue"/>
              </a:rPr>
              <a:t>Presets — MMLU</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48640" y="1737360"/>
          <a:ext cx="11064238" cy="1737360"/>
        </p:xfrm>
        <a:graphic>
          <a:graphicData uri="http://schemas.openxmlformats.org/drawingml/2006/table">
            <a:tbl>
              <a:tblPr firstRow="1" bandRow="1">
                <a:tableStyleId>{5C22544A-7EE6-4342-B048-85BDC9FD1C3A}</a:tableStyleId>
              </a:tblPr>
              <a:tblGrid>
                <a:gridCol w="2431701">
                  <a:extLst>
                    <a:ext uri="{9D8B030D-6E8A-4147-A177-3AD203B41FA5}">
                      <a16:colId xmlns:a16="http://schemas.microsoft.com/office/drawing/2014/main" val="20000"/>
                    </a:ext>
                  </a:extLst>
                </a:gridCol>
                <a:gridCol w="972680">
                  <a:extLst>
                    <a:ext uri="{9D8B030D-6E8A-4147-A177-3AD203B41FA5}">
                      <a16:colId xmlns:a16="http://schemas.microsoft.com/office/drawing/2014/main" val="20001"/>
                    </a:ext>
                  </a:extLst>
                </a:gridCol>
                <a:gridCol w="972680">
                  <a:extLst>
                    <a:ext uri="{9D8B030D-6E8A-4147-A177-3AD203B41FA5}">
                      <a16:colId xmlns:a16="http://schemas.microsoft.com/office/drawing/2014/main" val="20002"/>
                    </a:ext>
                  </a:extLst>
                </a:gridCol>
                <a:gridCol w="1215850">
                  <a:extLst>
                    <a:ext uri="{9D8B030D-6E8A-4147-A177-3AD203B41FA5}">
                      <a16:colId xmlns:a16="http://schemas.microsoft.com/office/drawing/2014/main" val="20003"/>
                    </a:ext>
                  </a:extLst>
                </a:gridCol>
                <a:gridCol w="5471327">
                  <a:extLst>
                    <a:ext uri="{9D8B030D-6E8A-4147-A177-3AD203B41FA5}">
                      <a16:colId xmlns:a16="http://schemas.microsoft.com/office/drawing/2014/main" val="20004"/>
                    </a:ext>
                  </a:extLst>
                </a:gridCol>
              </a:tblGrid>
              <a:tr h="434340">
                <a:tc>
                  <a:txBody>
                    <a:bodyPr/>
                    <a:lstStyle/>
                    <a:p>
                      <a:r>
                        <a:rPr sz="1250" b="1">
                          <a:solidFill>
                            <a:srgbClr val="FFFFFF"/>
                          </a:solidFill>
                          <a:latin typeface="Helvetica Neue"/>
                        </a:rPr>
                        <a:t>Preset</a:t>
                      </a:r>
                    </a:p>
                  </a:txBody>
                  <a:tcPr marL="101600" marR="76200" marT="50800" marB="50800" anchor="ctr">
                    <a:solidFill>
                      <a:srgbClr val="0B0B0B"/>
                    </a:solidFill>
                  </a:tcPr>
                </a:tc>
                <a:tc>
                  <a:txBody>
                    <a:bodyPr/>
                    <a:lstStyle/>
                    <a:p>
                      <a:r>
                        <a:rPr sz="1250" b="1">
                          <a:solidFill>
                            <a:srgbClr val="FFFFFF"/>
                          </a:solidFill>
                          <a:latin typeface="Helvetica Neue"/>
                        </a:rPr>
                        <a:t>Temp</a:t>
                      </a:r>
                    </a:p>
                  </a:txBody>
                  <a:tcPr marL="101600" marR="76200" marT="50800" marB="50800" anchor="ctr">
                    <a:solidFill>
                      <a:srgbClr val="0B0B0B"/>
                    </a:solidFill>
                  </a:tcPr>
                </a:tc>
                <a:tc>
                  <a:txBody>
                    <a:bodyPr/>
                    <a:lstStyle/>
                    <a:p>
                      <a:r>
                        <a:rPr sz="1250" b="1">
                          <a:solidFill>
                            <a:srgbClr val="FFFFFF"/>
                          </a:solidFill>
                          <a:latin typeface="Helvetica Neue"/>
                        </a:rPr>
                        <a:t>Top-p</a:t>
                      </a:r>
                    </a:p>
                  </a:txBody>
                  <a:tcPr marL="101600" marR="76200" marT="50800" marB="50800" anchor="ctr">
                    <a:solidFill>
                      <a:srgbClr val="0B0B0B"/>
                    </a:solidFill>
                  </a:tcPr>
                </a:tc>
                <a:tc>
                  <a:txBody>
                    <a:bodyPr/>
                    <a:lstStyle/>
                    <a:p>
                      <a:r>
                        <a:rPr sz="1250" b="1">
                          <a:solidFill>
                            <a:srgbClr val="FFFFFF"/>
                          </a:solidFill>
                          <a:latin typeface="Helvetica Neue"/>
                        </a:rPr>
                        <a:t>Max tok</a:t>
                      </a:r>
                    </a:p>
                  </a:txBody>
                  <a:tcPr marL="101600" marR="76200" marT="50800" marB="50800" anchor="ctr">
                    <a:solidFill>
                      <a:srgbClr val="0B0B0B"/>
                    </a:solidFill>
                  </a:tcPr>
                </a:tc>
                <a:tc>
                  <a:txBody>
                    <a:bodyPr/>
                    <a:lstStyle/>
                    <a:p>
                      <a:r>
                        <a:rPr sz="1250" b="1">
                          <a:solidFill>
                            <a:srgbClr val="FFFFFF"/>
                          </a:solidFill>
                          <a:latin typeface="Helvetica Neue"/>
                        </a:rPr>
                        <a:t>Intent</a:t>
                      </a:r>
                    </a:p>
                  </a:txBody>
                  <a:tcPr marL="101600" marR="76200" marT="50800" marB="50800" anchor="ctr">
                    <a:solidFill>
                      <a:srgbClr val="0B0B0B"/>
                    </a:solidFill>
                  </a:tcPr>
                </a:tc>
                <a:extLst>
                  <a:ext uri="{0D108BD9-81ED-4DB2-BD59-A6C34878D82A}">
                    <a16:rowId xmlns:a16="http://schemas.microsoft.com/office/drawing/2014/main" val="10000"/>
                  </a:ext>
                </a:extLst>
              </a:tr>
              <a:tr h="434340">
                <a:tc>
                  <a:txBody>
                    <a:bodyPr/>
                    <a:lstStyle/>
                    <a:p>
                      <a:r>
                        <a:rPr sz="1250" b="1">
                          <a:solidFill>
                            <a:srgbClr val="0B0B0B"/>
                          </a:solidFill>
                          <a:latin typeface="Helvetica Neue"/>
                        </a:rPr>
                        <a:t>Optimal</a:t>
                      </a:r>
                    </a:p>
                  </a:txBody>
                  <a:tcPr marL="101600" marR="76200" marT="38100" marB="38100" anchor="ctr">
                    <a:solidFill>
                      <a:srgbClr val="FCFCFB"/>
                    </a:solidFill>
                  </a:tcPr>
                </a:tc>
                <a:tc>
                  <a:txBody>
                    <a:bodyPr/>
                    <a:lstStyle/>
                    <a:p>
                      <a:r>
                        <a:rPr sz="1250">
                          <a:solidFill>
                            <a:srgbClr val="52514E"/>
                          </a:solidFill>
                          <a:latin typeface="Helvetica Neue"/>
                        </a:rPr>
                        <a:t>0.0</a:t>
                      </a:r>
                    </a:p>
                  </a:txBody>
                  <a:tcPr marL="101600" marR="76200" marT="38100" marB="38100" anchor="ctr">
                    <a:solidFill>
                      <a:srgbClr val="FCFCFB"/>
                    </a:solidFill>
                  </a:tcPr>
                </a:tc>
                <a:tc>
                  <a:txBody>
                    <a:bodyPr/>
                    <a:lstStyle/>
                    <a:p>
                      <a:r>
                        <a:rPr sz="1250">
                          <a:solidFill>
                            <a:srgbClr val="52514E"/>
                          </a:solidFill>
                          <a:latin typeface="Helvetica Neue"/>
                        </a:rPr>
                        <a:t>1.0</a:t>
                      </a:r>
                    </a:p>
                  </a:txBody>
                  <a:tcPr marL="101600" marR="76200" marT="38100" marB="38100" anchor="ctr">
                    <a:solidFill>
                      <a:srgbClr val="FCFCFB"/>
                    </a:solidFill>
                  </a:tcPr>
                </a:tc>
                <a:tc>
                  <a:txBody>
                    <a:bodyPr/>
                    <a:lstStyle/>
                    <a:p>
                      <a:r>
                        <a:rPr sz="1250">
                          <a:solidFill>
                            <a:srgbClr val="52514E"/>
                          </a:solidFill>
                          <a:latin typeface="Helvetica Neue"/>
                        </a:rPr>
                        <a:t>512</a:t>
                      </a:r>
                    </a:p>
                  </a:txBody>
                  <a:tcPr marL="101600" marR="76200" marT="38100" marB="38100" anchor="ctr">
                    <a:solidFill>
                      <a:srgbClr val="FCFCFB"/>
                    </a:solidFill>
                  </a:tcPr>
                </a:tc>
                <a:tc>
                  <a:txBody>
                    <a:bodyPr/>
                    <a:lstStyle/>
                    <a:p>
                      <a:r>
                        <a:rPr sz="1250">
                          <a:solidFill>
                            <a:srgbClr val="52514E"/>
                          </a:solidFill>
                          <a:latin typeface="Helvetica Neue"/>
                        </a:rPr>
                        <a:t>Most reasoning room — most reliable accuracy</a:t>
                      </a:r>
                    </a:p>
                  </a:txBody>
                  <a:tcPr marL="101600" marR="76200" marT="38100" marB="38100" anchor="ctr">
                    <a:solidFill>
                      <a:srgbClr val="FCFCFB"/>
                    </a:solidFill>
                  </a:tcPr>
                </a:tc>
                <a:extLst>
                  <a:ext uri="{0D108BD9-81ED-4DB2-BD59-A6C34878D82A}">
                    <a16:rowId xmlns:a16="http://schemas.microsoft.com/office/drawing/2014/main" val="10001"/>
                  </a:ext>
                </a:extLst>
              </a:tr>
              <a:tr h="434340">
                <a:tc>
                  <a:txBody>
                    <a:bodyPr/>
                    <a:lstStyle/>
                    <a:p>
                      <a:r>
                        <a:rPr sz="1250" b="1">
                          <a:solidFill>
                            <a:srgbClr val="0B0B0B"/>
                          </a:solidFill>
                          <a:latin typeface="Helvetica Neue"/>
                        </a:rPr>
                        <a:t>Normal</a:t>
                      </a:r>
                    </a:p>
                  </a:txBody>
                  <a:tcPr marL="101600" marR="76200" marT="38100" marB="38100" anchor="ctr">
                    <a:solidFill>
                      <a:srgbClr val="F3F2EE"/>
                    </a:solidFill>
                  </a:tcPr>
                </a:tc>
                <a:tc>
                  <a:txBody>
                    <a:bodyPr/>
                    <a:lstStyle/>
                    <a:p>
                      <a:r>
                        <a:rPr sz="1250">
                          <a:solidFill>
                            <a:srgbClr val="52514E"/>
                          </a:solidFill>
                          <a:latin typeface="Helvetica Neue"/>
                        </a:rPr>
                        <a:t>0.2</a:t>
                      </a:r>
                    </a:p>
                  </a:txBody>
                  <a:tcPr marL="101600" marR="76200" marT="38100" marB="38100" anchor="ctr">
                    <a:solidFill>
                      <a:srgbClr val="F3F2EE"/>
                    </a:solidFill>
                  </a:tcPr>
                </a:tc>
                <a:tc>
                  <a:txBody>
                    <a:bodyPr/>
                    <a:lstStyle/>
                    <a:p>
                      <a:r>
                        <a:rPr sz="1250">
                          <a:solidFill>
                            <a:srgbClr val="52514E"/>
                          </a:solidFill>
                          <a:latin typeface="Helvetica Neue"/>
                        </a:rPr>
                        <a:t>0.95</a:t>
                      </a:r>
                    </a:p>
                  </a:txBody>
                  <a:tcPr marL="101600" marR="76200" marT="38100" marB="38100" anchor="ctr">
                    <a:solidFill>
                      <a:srgbClr val="F3F2EE"/>
                    </a:solidFill>
                  </a:tcPr>
                </a:tc>
                <a:tc>
                  <a:txBody>
                    <a:bodyPr/>
                    <a:lstStyle/>
                    <a:p>
                      <a:r>
                        <a:rPr sz="1250">
                          <a:solidFill>
                            <a:srgbClr val="52514E"/>
                          </a:solidFill>
                          <a:latin typeface="Helvetica Neue"/>
                        </a:rPr>
                        <a:t>384</a:t>
                      </a:r>
                    </a:p>
                  </a:txBody>
                  <a:tcPr marL="101600" marR="76200" marT="38100" marB="38100" anchor="ctr">
                    <a:solidFill>
                      <a:srgbClr val="F3F2EE"/>
                    </a:solidFill>
                  </a:tcPr>
                </a:tc>
                <a:tc>
                  <a:txBody>
                    <a:bodyPr/>
                    <a:lstStyle/>
                    <a:p>
                      <a:r>
                        <a:rPr sz="1250">
                          <a:solidFill>
                            <a:srgbClr val="52514E"/>
                          </a:solidFill>
                          <a:latin typeface="Helvetica Neue"/>
                        </a:rPr>
                        <a:t>Matches the defaults</a:t>
                      </a:r>
                    </a:p>
                  </a:txBody>
                  <a:tcPr marL="101600" marR="76200" marT="38100" marB="38100" anchor="ctr">
                    <a:solidFill>
                      <a:srgbClr val="F3F2EE"/>
                    </a:solidFill>
                  </a:tcPr>
                </a:tc>
                <a:extLst>
                  <a:ext uri="{0D108BD9-81ED-4DB2-BD59-A6C34878D82A}">
                    <a16:rowId xmlns:a16="http://schemas.microsoft.com/office/drawing/2014/main" val="10002"/>
                  </a:ext>
                </a:extLst>
              </a:tr>
              <a:tr h="434340">
                <a:tc>
                  <a:txBody>
                    <a:bodyPr/>
                    <a:lstStyle/>
                    <a:p>
                      <a:r>
                        <a:rPr sz="1250" b="1">
                          <a:solidFill>
                            <a:srgbClr val="0B0B0B"/>
                          </a:solidFill>
                          <a:latin typeface="Helvetica Neue"/>
                        </a:rPr>
                        <a:t>Best Performance</a:t>
                      </a:r>
                    </a:p>
                  </a:txBody>
                  <a:tcPr marL="101600" marR="76200" marT="38100" marB="38100" anchor="ctr">
                    <a:solidFill>
                      <a:srgbClr val="FCFCFB"/>
                    </a:solidFill>
                  </a:tcPr>
                </a:tc>
                <a:tc>
                  <a:txBody>
                    <a:bodyPr/>
                    <a:lstStyle/>
                    <a:p>
                      <a:r>
                        <a:rPr sz="1250">
                          <a:solidFill>
                            <a:srgbClr val="52514E"/>
                          </a:solidFill>
                          <a:latin typeface="Helvetica Neue"/>
                        </a:rPr>
                        <a:t>0.0</a:t>
                      </a:r>
                    </a:p>
                  </a:txBody>
                  <a:tcPr marL="101600" marR="76200" marT="38100" marB="38100" anchor="ctr">
                    <a:solidFill>
                      <a:srgbClr val="FCFCFB"/>
                    </a:solidFill>
                  </a:tcPr>
                </a:tc>
                <a:tc>
                  <a:txBody>
                    <a:bodyPr/>
                    <a:lstStyle/>
                    <a:p>
                      <a:r>
                        <a:rPr sz="1250">
                          <a:solidFill>
                            <a:srgbClr val="52514E"/>
                          </a:solidFill>
                          <a:latin typeface="Helvetica Neue"/>
                        </a:rPr>
                        <a:t>1.0</a:t>
                      </a:r>
                    </a:p>
                  </a:txBody>
                  <a:tcPr marL="101600" marR="76200" marT="38100" marB="38100" anchor="ctr">
                    <a:solidFill>
                      <a:srgbClr val="FCFCFB"/>
                    </a:solidFill>
                  </a:tcPr>
                </a:tc>
                <a:tc>
                  <a:txBody>
                    <a:bodyPr/>
                    <a:lstStyle/>
                    <a:p>
                      <a:r>
                        <a:rPr sz="1250">
                          <a:solidFill>
                            <a:srgbClr val="52514E"/>
                          </a:solidFill>
                          <a:latin typeface="Helvetica Neue"/>
                        </a:rPr>
                        <a:t>192</a:t>
                      </a:r>
                    </a:p>
                  </a:txBody>
                  <a:tcPr marL="101600" marR="76200" marT="38100" marB="38100" anchor="ctr">
                    <a:solidFill>
                      <a:srgbClr val="FCFCFB"/>
                    </a:solidFill>
                  </a:tcPr>
                </a:tc>
                <a:tc>
                  <a:txBody>
                    <a:bodyPr/>
                    <a:lstStyle/>
                    <a:p>
                      <a:r>
                        <a:rPr sz="1250">
                          <a:solidFill>
                            <a:srgbClr val="52514E"/>
                          </a:solidFill>
                          <a:latin typeface="Helvetica Neue"/>
                        </a:rPr>
                        <a:t>Caps the reasoning budget for faster runs</a:t>
                      </a:r>
                    </a:p>
                  </a:txBody>
                  <a:tcPr marL="101600" marR="76200" marT="38100" marB="38100" anchor="ctr">
                    <a:solidFill>
                      <a:srgbClr val="FCFCFB"/>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3749039"/>
            <a:ext cx="11064240" cy="2377440"/>
          </a:xfrm>
          <a:prstGeom prst="rect">
            <a:avLst/>
          </a:prstGeom>
          <a:noFill/>
        </p:spPr>
        <p:txBody>
          <a:bodyPr wrap="square">
            <a:spAutoFit/>
          </a:bodyPr>
          <a:lstStyle/>
          <a:p>
            <a:pPr>
              <a:lnSpc>
                <a:spcPct val="112000"/>
              </a:lnSpc>
              <a:spcAft>
                <a:spcPts val="800"/>
              </a:spcAft>
            </a:pPr>
            <a:r>
              <a:rPr sz="1250">
                <a:solidFill>
                  <a:srgbClr val="52514E"/>
                </a:solidFill>
                <a:latin typeface="Helvetica Neue"/>
              </a:rPr>
              <a:t>—  Optimal gives the most room (512 tokens) for multi-step reasoning before the model commits to a letter — useful for subjects needing longer derivations (e.g. formal_logic, college_mathematics).</a:t>
            </a:r>
          </a:p>
          <a:p>
            <a:pPr>
              <a:lnSpc>
                <a:spcPct val="112000"/>
              </a:lnSpc>
              <a:spcAft>
                <a:spcPts val="800"/>
              </a:spcAft>
            </a:pPr>
            <a:r>
              <a:rPr sz="1250">
                <a:solidFill>
                  <a:srgbClr val="52514E"/>
                </a:solidFill>
                <a:latin typeface="Helvetica Neue"/>
              </a:rPr>
              <a:t>—  Best Performance risks truncating longer reasoning chains before the model reaches its 'Answer:' line, which would surface as a 'no-answer' verdict.</a:t>
            </a:r>
          </a:p>
          <a:p>
            <a:pPr>
              <a:lnSpc>
                <a:spcPct val="112000"/>
              </a:lnSpc>
              <a:spcAft>
                <a:spcPts val="800"/>
              </a:spcAft>
            </a:pPr>
            <a:r>
              <a:rPr sz="1250">
                <a:solidFill>
                  <a:srgbClr val="52514E"/>
                </a:solidFill>
                <a:latin typeface="Helvetica Neue"/>
              </a:rPr>
              <a:t>—  The actual saved runs used 384 tokens — matching Normal's budget — with greedy decoding (temperature 0.0, top-p 1.0) borrowed from Optimal.</a:t>
            </a:r>
          </a:p>
        </p:txBody>
      </p:sp>
      <p:sp>
        <p:nvSpPr>
          <p:cNvPr id="8" name="TextBox 7"/>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9" name="TextBox 8"/>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Metrics explained — LAMBADA</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73736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EXACT-MATCH ACCURACY</a:t>
            </a:r>
          </a:p>
        </p:txBody>
      </p:sp>
      <p:sp>
        <p:nvSpPr>
          <p:cNvPr id="7" name="TextBox 6"/>
          <p:cNvSpPr txBox="1"/>
          <p:nvPr/>
        </p:nvSpPr>
        <p:spPr>
          <a:xfrm>
            <a:off x="548640" y="208483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correct / total, after lowercasing and stripping punctuation from both the prediction and the true target word.</a:t>
            </a:r>
          </a:p>
          <a:p>
            <a:pPr>
              <a:lnSpc>
                <a:spcPct val="112000"/>
              </a:lnSpc>
              <a:spcAft>
                <a:spcPts val="600"/>
              </a:spcAft>
            </a:pPr>
            <a:r>
              <a:rPr sz="1250">
                <a:solidFill>
                  <a:srgbClr val="52514E"/>
                </a:solidFill>
                <a:latin typeface="Helvetica Neue"/>
              </a:rPr>
              <a:t>—  Example: target "Zane." vs. prediction "zane" — different strings, but identical after normalization → counted correct.</a:t>
            </a:r>
          </a:p>
        </p:txBody>
      </p:sp>
      <p:sp>
        <p:nvSpPr>
          <p:cNvPr id="8" name="TextBox 7"/>
          <p:cNvSpPr txBox="1"/>
          <p:nvPr/>
        </p:nvSpPr>
        <p:spPr>
          <a:xfrm>
            <a:off x="6217920" y="173736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AVERAGE RESPONSE TIME</a:t>
            </a:r>
          </a:p>
        </p:txBody>
      </p:sp>
      <p:sp>
        <p:nvSpPr>
          <p:cNvPr id="9" name="TextBox 8"/>
          <p:cNvSpPr txBox="1"/>
          <p:nvPr/>
        </p:nvSpPr>
        <p:spPr>
          <a:xfrm>
            <a:off x="6217920" y="208483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Mean wall-clock seconds per API call, start to finish — not just model compute time.</a:t>
            </a:r>
          </a:p>
          <a:p>
            <a:pPr>
              <a:lnSpc>
                <a:spcPct val="112000"/>
              </a:lnSpc>
              <a:spcAft>
                <a:spcPts val="600"/>
              </a:spcAft>
            </a:pPr>
            <a:r>
              <a:rPr sz="1250">
                <a:solidFill>
                  <a:srgbClr val="52514E"/>
                </a:solidFill>
                <a:latin typeface="Helvetica Neue"/>
              </a:rPr>
              <a:t>—  Includes network round-trip and OpenRouter's provider routing/queueing, which is why it can spike heavily under provider congestion.</a:t>
            </a:r>
          </a:p>
        </p:txBody>
      </p:sp>
      <p:sp>
        <p:nvSpPr>
          <p:cNvPr id="10" name="TextBox 9"/>
          <p:cNvSpPr txBox="1"/>
          <p:nvPr/>
        </p:nvSpPr>
        <p:spPr>
          <a:xfrm>
            <a:off x="548640" y="418338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ERROR RATE</a:t>
            </a:r>
          </a:p>
        </p:txBody>
      </p:sp>
      <p:sp>
        <p:nvSpPr>
          <p:cNvPr id="11" name="TextBox 10"/>
          <p:cNvSpPr txBox="1"/>
          <p:nvPr/>
        </p:nvSpPr>
        <p:spPr>
          <a:xfrm>
            <a:off x="548640" y="453085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errors / total — API calls that failed outright (timeouts, malformed responses) even after retries were exhausted.</a:t>
            </a:r>
          </a:p>
          <a:p>
            <a:pPr>
              <a:lnSpc>
                <a:spcPct val="112000"/>
              </a:lnSpc>
              <a:spcAft>
                <a:spcPts val="600"/>
              </a:spcAft>
            </a:pPr>
            <a:r>
              <a:rPr sz="1250">
                <a:solidFill>
                  <a:srgbClr val="52514E"/>
                </a:solidFill>
                <a:latin typeface="Helvetica Neue"/>
              </a:rPr>
              <a:t>—  All three models finished at 0 errors in the saved runs — every request eventually succeeded, even ones needing multiple retries.</a:t>
            </a:r>
          </a:p>
        </p:txBody>
      </p:sp>
      <p:sp>
        <p:nvSpPr>
          <p:cNvPr id="12" name="TextBox 11"/>
          <p:cNvSpPr txBox="1"/>
          <p:nvPr/>
        </p:nvSpPr>
        <p:spPr>
          <a:xfrm>
            <a:off x="6217920" y="418338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THROUGHPUT</a:t>
            </a:r>
          </a:p>
        </p:txBody>
      </p:sp>
      <p:sp>
        <p:nvSpPr>
          <p:cNvPr id="13" name="TextBox 12"/>
          <p:cNvSpPr txBox="1"/>
          <p:nvPr/>
        </p:nvSpPr>
        <p:spPr>
          <a:xfrm>
            <a:off x="6217920" y="453085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total / total wall-clock time — samples graded per second.</a:t>
            </a:r>
          </a:p>
          <a:p>
            <a:pPr>
              <a:lnSpc>
                <a:spcPct val="112000"/>
              </a:lnSpc>
              <a:spcAft>
                <a:spcPts val="600"/>
              </a:spcAft>
            </a:pPr>
            <a:r>
              <a:rPr sz="1250">
                <a:solidFill>
                  <a:srgbClr val="52514E"/>
                </a:solidFill>
                <a:latin typeface="Helvetica Neue"/>
              </a:rPr>
              <a:t>—  Requests are sent one at a time here (no batching), so throughput is essentially the reciprocal of latency: Llama ≈1.73/s, Ministral ≈1.37/s, Gemma ≈0.84/s.</a:t>
            </a:r>
          </a:p>
        </p:txBody>
      </p:sp>
      <p:sp>
        <p:nvSpPr>
          <p:cNvPr id="14" name="TextBox 13"/>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5" name="TextBox 14"/>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Metrics explained — MMLU (1/2)</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73736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ACCURACY</a:t>
            </a:r>
          </a:p>
        </p:txBody>
      </p:sp>
      <p:sp>
        <p:nvSpPr>
          <p:cNvPr id="7" name="TextBox 6"/>
          <p:cNvSpPr txBox="1"/>
          <p:nvPr/>
        </p:nvSpPr>
        <p:spPr>
          <a:xfrm>
            <a:off x="548640" y="208483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Correct letters / total questions (exact match) — judges only the final answer, not the reasoning behind it.</a:t>
            </a:r>
          </a:p>
        </p:txBody>
      </p:sp>
      <p:sp>
        <p:nvSpPr>
          <p:cNvPr id="8" name="TextBox 7"/>
          <p:cNvSpPr txBox="1"/>
          <p:nvPr/>
        </p:nvSpPr>
        <p:spPr>
          <a:xfrm>
            <a:off x="6217920" y="173736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CATEGORY ACCURACY</a:t>
            </a:r>
          </a:p>
        </p:txBody>
      </p:sp>
      <p:sp>
        <p:nvSpPr>
          <p:cNvPr id="9" name="TextBox 8"/>
          <p:cNvSpPr txBox="1"/>
          <p:nvPr/>
        </p:nvSpPr>
        <p:spPr>
          <a:xfrm>
            <a:off x="6217920" y="208483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The same accuracy computed separately per STEM / Humanities / Social Sciences / Other.</a:t>
            </a:r>
          </a:p>
          <a:p>
            <a:pPr>
              <a:lnSpc>
                <a:spcPct val="112000"/>
              </a:lnSpc>
              <a:spcAft>
                <a:spcPts val="600"/>
              </a:spcAft>
            </a:pPr>
            <a:r>
              <a:rPr sz="1250">
                <a:solidFill>
                  <a:srgbClr val="52514E"/>
                </a:solidFill>
                <a:latin typeface="Helvetica Neue"/>
              </a:rPr>
              <a:t>—  Reveals blind spots the headline number hides — e.g. Llama-3.2-3B: 43.3% STEM vs. 63.3% Social Sciences, a 20-point spread.</a:t>
            </a:r>
          </a:p>
        </p:txBody>
      </p:sp>
      <p:sp>
        <p:nvSpPr>
          <p:cNvPr id="10" name="TextBox 9"/>
          <p:cNvSpPr txBox="1"/>
          <p:nvPr/>
        </p:nvSpPr>
        <p:spPr>
          <a:xfrm>
            <a:off x="548640" y="418338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REASONING RATE</a:t>
            </a:r>
          </a:p>
        </p:txBody>
      </p:sp>
      <p:sp>
        <p:nvSpPr>
          <p:cNvPr id="11" name="TextBox 10"/>
          <p:cNvSpPr txBox="1"/>
          <p:nvPr/>
        </p:nvSpPr>
        <p:spPr>
          <a:xfrm>
            <a:off x="548640" y="453085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Share of answers with a non-trivial explanation (≥5 words).</a:t>
            </a:r>
          </a:p>
          <a:p>
            <a:pPr>
              <a:lnSpc>
                <a:spcPct val="112000"/>
              </a:lnSpc>
              <a:spcAft>
                <a:spcPts val="600"/>
              </a:spcAft>
            </a:pPr>
            <a:r>
              <a:rPr sz="1250">
                <a:solidFill>
                  <a:srgbClr val="52514E"/>
                </a:solidFill>
                <a:latin typeface="Helvetica Neue"/>
              </a:rPr>
              <a:t>—  All three models wrote substantive reasoning on effectively every question (≈100% reasoning rate) — the differentiator is never whether they explained, but whether the explanation held up.</a:t>
            </a:r>
          </a:p>
        </p:txBody>
      </p:sp>
      <p:sp>
        <p:nvSpPr>
          <p:cNvPr id="12" name="TextBox 11"/>
          <p:cNvSpPr txBox="1"/>
          <p:nvPr/>
        </p:nvSpPr>
        <p:spPr>
          <a:xfrm>
            <a:off x="6217920" y="418338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REASONING CONSISTENCY &amp; AVG. WORDS</a:t>
            </a:r>
          </a:p>
        </p:txBody>
      </p:sp>
      <p:sp>
        <p:nvSpPr>
          <p:cNvPr id="13" name="TextBox 12"/>
          <p:cNvSpPr txBox="1"/>
          <p:nvPr/>
        </p:nvSpPr>
        <p:spPr>
          <a:xfrm>
            <a:off x="6217920" y="453085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Consistency = share of answers whose reasoning text actually supports the chosen letter.</a:t>
            </a:r>
          </a:p>
          <a:p>
            <a:pPr>
              <a:lnSpc>
                <a:spcPct val="112000"/>
              </a:lnSpc>
              <a:spcAft>
                <a:spcPts val="600"/>
              </a:spcAft>
            </a:pPr>
            <a:r>
              <a:rPr sz="1250">
                <a:solidFill>
                  <a:srgbClr val="52514E"/>
                </a:solidFill>
                <a:latin typeface="Helvetica Neue"/>
              </a:rPr>
              <a:t>—  Ministral-8B writes the shortest reasoning (54.1 words) yet the highest consistency (69.1%); Llama-3.2-3B writes the most (61.8 words) yet is least consistent (59.7%) — length and quality of explanation are not the same thing.</a:t>
            </a:r>
          </a:p>
        </p:txBody>
      </p:sp>
      <p:sp>
        <p:nvSpPr>
          <p:cNvPr id="14" name="TextBox 13"/>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5" name="TextBox 14"/>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400" b="1" i="0">
                <a:solidFill>
                  <a:srgbClr val="0B0B0B"/>
                </a:solidFill>
                <a:latin typeface="Helvetica Neue"/>
              </a:rPr>
              <a:t>Metrics explained — MMLU composite score (2/2)</a:t>
            </a:r>
          </a:p>
        </p:txBody>
      </p:sp>
      <p:cxnSp>
        <p:nvCxnSpPr>
          <p:cNvPr id="5" name="Connector 4"/>
          <p:cNvCxnSpPr/>
          <p:nvPr/>
        </p:nvCxnSpPr>
        <p:spPr>
          <a:xfrm>
            <a:off x="548640" y="146304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45920"/>
            <a:ext cx="11064240" cy="457200"/>
          </a:xfrm>
          <a:prstGeom prst="rect">
            <a:avLst/>
          </a:prstGeom>
          <a:noFill/>
        </p:spPr>
        <p:txBody>
          <a:bodyPr wrap="square" lIns="0" tIns="0" rIns="0" bIns="0" anchor="t">
            <a:spAutoFit/>
          </a:bodyPr>
          <a:lstStyle/>
          <a:p>
            <a:pPr algn="l">
              <a:lnSpc>
                <a:spcPct val="100000"/>
              </a:lnSpc>
            </a:pPr>
            <a:r>
              <a:rPr sz="1500" b="1" i="0">
                <a:solidFill>
                  <a:srgbClr val="2A78D6"/>
                </a:solidFill>
                <a:latin typeface="Helvetica Neue"/>
              </a:rPr>
              <a:t>Composite = 0.70 × accuracy  +  0.15 × reasoning consistency  +  0.15 × relative speed</a:t>
            </a:r>
          </a:p>
        </p:txBody>
      </p:sp>
      <p:sp>
        <p:nvSpPr>
          <p:cNvPr id="7" name="TextBox 6"/>
          <p:cNvSpPr txBox="1"/>
          <p:nvPr/>
        </p:nvSpPr>
        <p:spPr>
          <a:xfrm>
            <a:off x="548640" y="2084831"/>
            <a:ext cx="11064240" cy="365760"/>
          </a:xfrm>
          <a:prstGeom prst="rect">
            <a:avLst/>
          </a:prstGeom>
          <a:noFill/>
        </p:spPr>
        <p:txBody>
          <a:bodyPr wrap="square" lIns="0" tIns="0" rIns="0" bIns="0" anchor="t">
            <a:spAutoFit/>
          </a:bodyPr>
          <a:lstStyle/>
          <a:p>
            <a:pPr algn="l">
              <a:lnSpc>
                <a:spcPct val="100000"/>
              </a:lnSpc>
            </a:pPr>
            <a:r>
              <a:rPr sz="1200" b="0" i="1">
                <a:solidFill>
                  <a:srgbClr val="52514E"/>
                </a:solidFill>
                <a:latin typeface="Helvetica Neue"/>
              </a:rPr>
              <a:t>Relative speed = fastest model's avg time ÷ this model's avg time (so the fastest model always scores 1.0 on this term).</a:t>
            </a:r>
          </a:p>
        </p:txBody>
      </p:sp>
      <p:graphicFrame>
        <p:nvGraphicFramePr>
          <p:cNvPr id="8" name="Table 7"/>
          <p:cNvGraphicFramePr>
            <a:graphicFrameLocks noGrp="1"/>
          </p:cNvGraphicFramePr>
          <p:nvPr/>
        </p:nvGraphicFramePr>
        <p:xfrm>
          <a:off x="548640" y="2560320"/>
          <a:ext cx="11064238" cy="1828800"/>
        </p:xfrm>
        <a:graphic>
          <a:graphicData uri="http://schemas.openxmlformats.org/drawingml/2006/table">
            <a:tbl>
              <a:tblPr firstRow="1" bandRow="1">
                <a:tableStyleId>{5C22544A-7EE6-4342-B048-85BDC9FD1C3A}</a:tableStyleId>
              </a:tblPr>
              <a:tblGrid>
                <a:gridCol w="1774453">
                  <a:extLst>
                    <a:ext uri="{9D8B030D-6E8A-4147-A177-3AD203B41FA5}">
                      <a16:colId xmlns:a16="http://schemas.microsoft.com/office/drawing/2014/main" val="20000"/>
                    </a:ext>
                  </a:extLst>
                </a:gridCol>
                <a:gridCol w="2713870">
                  <a:extLst>
                    <a:ext uri="{9D8B030D-6E8A-4147-A177-3AD203B41FA5}">
                      <a16:colId xmlns:a16="http://schemas.microsoft.com/office/drawing/2014/main" val="20001"/>
                    </a:ext>
                  </a:extLst>
                </a:gridCol>
                <a:gridCol w="2713870">
                  <a:extLst>
                    <a:ext uri="{9D8B030D-6E8A-4147-A177-3AD203B41FA5}">
                      <a16:colId xmlns:a16="http://schemas.microsoft.com/office/drawing/2014/main" val="20002"/>
                    </a:ext>
                  </a:extLst>
                </a:gridCol>
                <a:gridCol w="2505110">
                  <a:extLst>
                    <a:ext uri="{9D8B030D-6E8A-4147-A177-3AD203B41FA5}">
                      <a16:colId xmlns:a16="http://schemas.microsoft.com/office/drawing/2014/main" val="20003"/>
                    </a:ext>
                  </a:extLst>
                </a:gridCol>
                <a:gridCol w="1356935">
                  <a:extLst>
                    <a:ext uri="{9D8B030D-6E8A-4147-A177-3AD203B41FA5}">
                      <a16:colId xmlns:a16="http://schemas.microsoft.com/office/drawing/2014/main" val="20004"/>
                    </a:ext>
                  </a:extLst>
                </a:gridCol>
              </a:tblGrid>
              <a:tr h="457200">
                <a:tc>
                  <a:txBody>
                    <a:bodyPr/>
                    <a:lstStyle/>
                    <a:p>
                      <a:r>
                        <a:rPr sz="1100" b="1">
                          <a:solidFill>
                            <a:srgbClr val="FFFFFF"/>
                          </a:solidFill>
                          <a:latin typeface="Helvetica Neue"/>
                        </a:rPr>
                        <a:t>Model</a:t>
                      </a:r>
                    </a:p>
                  </a:txBody>
                  <a:tcPr marL="101600" marR="76200" marT="50800" marB="50800" anchor="ctr">
                    <a:solidFill>
                      <a:srgbClr val="0B0B0B"/>
                    </a:solidFill>
                  </a:tcPr>
                </a:tc>
                <a:tc>
                  <a:txBody>
                    <a:bodyPr/>
                    <a:lstStyle/>
                    <a:p>
                      <a:r>
                        <a:rPr sz="1100" b="1">
                          <a:solidFill>
                            <a:srgbClr val="FFFFFF"/>
                          </a:solidFill>
                          <a:latin typeface="Helvetica Neue"/>
                        </a:rPr>
                        <a:t>Accuracy term (0.70×)</a:t>
                      </a:r>
                    </a:p>
                  </a:txBody>
                  <a:tcPr marL="101600" marR="76200" marT="50800" marB="50800" anchor="ctr">
                    <a:solidFill>
                      <a:srgbClr val="0B0B0B"/>
                    </a:solidFill>
                  </a:tcPr>
                </a:tc>
                <a:tc>
                  <a:txBody>
                    <a:bodyPr/>
                    <a:lstStyle/>
                    <a:p>
                      <a:r>
                        <a:rPr sz="1100" b="1">
                          <a:solidFill>
                            <a:srgbClr val="FFFFFF"/>
                          </a:solidFill>
                          <a:latin typeface="Helvetica Neue"/>
                        </a:rPr>
                        <a:t>Reasoning term (0.15×)</a:t>
                      </a:r>
                    </a:p>
                  </a:txBody>
                  <a:tcPr marL="101600" marR="76200" marT="50800" marB="50800" anchor="ctr">
                    <a:solidFill>
                      <a:srgbClr val="0B0B0B"/>
                    </a:solidFill>
                  </a:tcPr>
                </a:tc>
                <a:tc>
                  <a:txBody>
                    <a:bodyPr/>
                    <a:lstStyle/>
                    <a:p>
                      <a:r>
                        <a:rPr sz="1100" b="1">
                          <a:solidFill>
                            <a:srgbClr val="FFFFFF"/>
                          </a:solidFill>
                          <a:latin typeface="Helvetica Neue"/>
                        </a:rPr>
                        <a:t>Speed term (0.15×)</a:t>
                      </a:r>
                    </a:p>
                  </a:txBody>
                  <a:tcPr marL="101600" marR="76200" marT="50800" marB="50800" anchor="ctr">
                    <a:solidFill>
                      <a:srgbClr val="0B0B0B"/>
                    </a:solidFill>
                  </a:tcPr>
                </a:tc>
                <a:tc>
                  <a:txBody>
                    <a:bodyPr/>
                    <a:lstStyle/>
                    <a:p>
                      <a:r>
                        <a:rPr sz="1100" b="1">
                          <a:solidFill>
                            <a:srgbClr val="FFFFFF"/>
                          </a:solidFill>
                          <a:latin typeface="Helvetica Neue"/>
                        </a:rPr>
                        <a:t>Composite</a:t>
                      </a:r>
                    </a:p>
                  </a:txBody>
                  <a:tcPr marL="101600" marR="76200" marT="50800" marB="50800" anchor="ctr">
                    <a:solidFill>
                      <a:srgbClr val="0B0B0B"/>
                    </a:solidFill>
                  </a:tcPr>
                </a:tc>
                <a:extLst>
                  <a:ext uri="{0D108BD9-81ED-4DB2-BD59-A6C34878D82A}">
                    <a16:rowId xmlns:a16="http://schemas.microsoft.com/office/drawing/2014/main" val="10000"/>
                  </a:ext>
                </a:extLst>
              </a:tr>
              <a:tr h="457200">
                <a:tc>
                  <a:txBody>
                    <a:bodyPr/>
                    <a:lstStyle/>
                    <a:p>
                      <a:r>
                        <a:rPr sz="1100" b="1">
                          <a:solidFill>
                            <a:srgbClr val="0B0B0B"/>
                          </a:solidFill>
                          <a:latin typeface="Helvetica Neue"/>
                        </a:rPr>
                        <a:t>Ministral-8B</a:t>
                      </a:r>
                    </a:p>
                  </a:txBody>
                  <a:tcPr marL="101600" marR="76200" marT="38100" marB="38100" anchor="ctr">
                    <a:solidFill>
                      <a:srgbClr val="FCFCFB"/>
                    </a:solidFill>
                  </a:tcPr>
                </a:tc>
                <a:tc>
                  <a:txBody>
                    <a:bodyPr/>
                    <a:lstStyle/>
                    <a:p>
                      <a:r>
                        <a:rPr sz="1100">
                          <a:solidFill>
                            <a:srgbClr val="52514E"/>
                          </a:solidFill>
                          <a:latin typeface="Helvetica Neue"/>
                        </a:rPr>
                        <a:t>0.789 × 0.70 = 0.552</a:t>
                      </a:r>
                    </a:p>
                  </a:txBody>
                  <a:tcPr marL="101600" marR="76200" marT="38100" marB="38100" anchor="ctr">
                    <a:solidFill>
                      <a:srgbClr val="FCFCFB"/>
                    </a:solidFill>
                  </a:tcPr>
                </a:tc>
                <a:tc>
                  <a:txBody>
                    <a:bodyPr/>
                    <a:lstStyle/>
                    <a:p>
                      <a:r>
                        <a:rPr sz="1100">
                          <a:solidFill>
                            <a:srgbClr val="52514E"/>
                          </a:solidFill>
                          <a:latin typeface="Helvetica Neue"/>
                        </a:rPr>
                        <a:t>0.691 × 0.15 = 0.104</a:t>
                      </a:r>
                    </a:p>
                  </a:txBody>
                  <a:tcPr marL="101600" marR="76200" marT="38100" marB="38100" anchor="ctr">
                    <a:solidFill>
                      <a:srgbClr val="FCFCFB"/>
                    </a:solidFill>
                  </a:tcPr>
                </a:tc>
                <a:tc>
                  <a:txBody>
                    <a:bodyPr/>
                    <a:lstStyle/>
                    <a:p>
                      <a:r>
                        <a:rPr sz="1100">
                          <a:solidFill>
                            <a:srgbClr val="52514E"/>
                          </a:solidFill>
                          <a:latin typeface="Helvetica Neue"/>
                        </a:rPr>
                        <a:t>0.500 × 0.15 = 0.075</a:t>
                      </a:r>
                    </a:p>
                  </a:txBody>
                  <a:tcPr marL="101600" marR="76200" marT="38100" marB="38100" anchor="ctr">
                    <a:solidFill>
                      <a:srgbClr val="FCFCFB"/>
                    </a:solidFill>
                  </a:tcPr>
                </a:tc>
                <a:tc>
                  <a:txBody>
                    <a:bodyPr/>
                    <a:lstStyle/>
                    <a:p>
                      <a:r>
                        <a:rPr sz="1100">
                          <a:solidFill>
                            <a:srgbClr val="52514E"/>
                          </a:solidFill>
                          <a:latin typeface="Helvetica Neue"/>
                        </a:rPr>
                        <a:t>0.731</a:t>
                      </a:r>
                    </a:p>
                  </a:txBody>
                  <a:tcPr marL="101600" marR="76200" marT="38100" marB="38100" anchor="ctr">
                    <a:solidFill>
                      <a:srgbClr val="FCFCFB"/>
                    </a:solidFill>
                  </a:tcPr>
                </a:tc>
                <a:extLst>
                  <a:ext uri="{0D108BD9-81ED-4DB2-BD59-A6C34878D82A}">
                    <a16:rowId xmlns:a16="http://schemas.microsoft.com/office/drawing/2014/main" val="10001"/>
                  </a:ext>
                </a:extLst>
              </a:tr>
              <a:tr h="457200">
                <a:tc>
                  <a:txBody>
                    <a:bodyPr/>
                    <a:lstStyle/>
                    <a:p>
                      <a:r>
                        <a:rPr sz="1100" b="1">
                          <a:solidFill>
                            <a:srgbClr val="0B0B0B"/>
                          </a:solidFill>
                          <a:latin typeface="Helvetica Neue"/>
                        </a:rPr>
                        <a:t>Llama-3.2-3B</a:t>
                      </a:r>
                    </a:p>
                  </a:txBody>
                  <a:tcPr marL="101600" marR="76200" marT="38100" marB="38100" anchor="ctr">
                    <a:solidFill>
                      <a:srgbClr val="F3F2EE"/>
                    </a:solidFill>
                  </a:tcPr>
                </a:tc>
                <a:tc>
                  <a:txBody>
                    <a:bodyPr/>
                    <a:lstStyle/>
                    <a:p>
                      <a:r>
                        <a:rPr sz="1100">
                          <a:solidFill>
                            <a:srgbClr val="52514E"/>
                          </a:solidFill>
                          <a:latin typeface="Helvetica Neue"/>
                        </a:rPr>
                        <a:t>0.558 × 0.70 = 0.391</a:t>
                      </a:r>
                    </a:p>
                  </a:txBody>
                  <a:tcPr marL="101600" marR="76200" marT="38100" marB="38100" anchor="ctr">
                    <a:solidFill>
                      <a:srgbClr val="F3F2EE"/>
                    </a:solidFill>
                  </a:tcPr>
                </a:tc>
                <a:tc>
                  <a:txBody>
                    <a:bodyPr/>
                    <a:lstStyle/>
                    <a:p>
                      <a:r>
                        <a:rPr sz="1100">
                          <a:solidFill>
                            <a:srgbClr val="52514E"/>
                          </a:solidFill>
                          <a:latin typeface="Helvetica Neue"/>
                        </a:rPr>
                        <a:t>0.597 × 0.15 = 0.090</a:t>
                      </a:r>
                    </a:p>
                  </a:txBody>
                  <a:tcPr marL="101600" marR="76200" marT="38100" marB="38100" anchor="ctr">
                    <a:solidFill>
                      <a:srgbClr val="F3F2EE"/>
                    </a:solidFill>
                  </a:tcPr>
                </a:tc>
                <a:tc>
                  <a:txBody>
                    <a:bodyPr/>
                    <a:lstStyle/>
                    <a:p>
                      <a:r>
                        <a:rPr sz="1100">
                          <a:solidFill>
                            <a:srgbClr val="52514E"/>
                          </a:solidFill>
                          <a:latin typeface="Helvetica Neue"/>
                        </a:rPr>
                        <a:t>1.000 × 0.15 = 0.150</a:t>
                      </a:r>
                    </a:p>
                  </a:txBody>
                  <a:tcPr marL="101600" marR="76200" marT="38100" marB="38100" anchor="ctr">
                    <a:solidFill>
                      <a:srgbClr val="F3F2EE"/>
                    </a:solidFill>
                  </a:tcPr>
                </a:tc>
                <a:tc>
                  <a:txBody>
                    <a:bodyPr/>
                    <a:lstStyle/>
                    <a:p>
                      <a:r>
                        <a:rPr sz="1100">
                          <a:solidFill>
                            <a:srgbClr val="52514E"/>
                          </a:solidFill>
                          <a:latin typeface="Helvetica Neue"/>
                        </a:rPr>
                        <a:t>0.630</a:t>
                      </a:r>
                    </a:p>
                  </a:txBody>
                  <a:tcPr marL="101600" marR="76200" marT="38100" marB="38100" anchor="ctr">
                    <a:solidFill>
                      <a:srgbClr val="F3F2EE"/>
                    </a:solidFill>
                  </a:tcPr>
                </a:tc>
                <a:extLst>
                  <a:ext uri="{0D108BD9-81ED-4DB2-BD59-A6C34878D82A}">
                    <a16:rowId xmlns:a16="http://schemas.microsoft.com/office/drawing/2014/main" val="10002"/>
                  </a:ext>
                </a:extLst>
              </a:tr>
              <a:tr h="457200">
                <a:tc>
                  <a:txBody>
                    <a:bodyPr/>
                    <a:lstStyle/>
                    <a:p>
                      <a:r>
                        <a:rPr sz="1100" b="1">
                          <a:solidFill>
                            <a:srgbClr val="0B0B0B"/>
                          </a:solidFill>
                          <a:latin typeface="Helvetica Neue"/>
                        </a:rPr>
                        <a:t>Gemma-3-4B</a:t>
                      </a:r>
                    </a:p>
                  </a:txBody>
                  <a:tcPr marL="101600" marR="76200" marT="38100" marB="38100" anchor="ctr">
                    <a:solidFill>
                      <a:srgbClr val="FCFCFB"/>
                    </a:solidFill>
                  </a:tcPr>
                </a:tc>
                <a:tc>
                  <a:txBody>
                    <a:bodyPr/>
                    <a:lstStyle/>
                    <a:p>
                      <a:r>
                        <a:rPr sz="1100">
                          <a:solidFill>
                            <a:srgbClr val="52514E"/>
                          </a:solidFill>
                          <a:latin typeface="Helvetica Neue"/>
                        </a:rPr>
                        <a:t>0.639 × 0.70 = 0.447</a:t>
                      </a:r>
                    </a:p>
                  </a:txBody>
                  <a:tcPr marL="101600" marR="76200" marT="38100" marB="38100" anchor="ctr">
                    <a:solidFill>
                      <a:srgbClr val="FCFCFB"/>
                    </a:solidFill>
                  </a:tcPr>
                </a:tc>
                <a:tc>
                  <a:txBody>
                    <a:bodyPr/>
                    <a:lstStyle/>
                    <a:p>
                      <a:r>
                        <a:rPr sz="1100">
                          <a:solidFill>
                            <a:srgbClr val="52514E"/>
                          </a:solidFill>
                          <a:latin typeface="Helvetica Neue"/>
                        </a:rPr>
                        <a:t>0.646 × 0.15 = 0.097</a:t>
                      </a:r>
                    </a:p>
                  </a:txBody>
                  <a:tcPr marL="101600" marR="76200" marT="38100" marB="38100" anchor="ctr">
                    <a:solidFill>
                      <a:srgbClr val="FCFCFB"/>
                    </a:solidFill>
                  </a:tcPr>
                </a:tc>
                <a:tc>
                  <a:txBody>
                    <a:bodyPr/>
                    <a:lstStyle/>
                    <a:p>
                      <a:r>
                        <a:rPr sz="1100">
                          <a:solidFill>
                            <a:srgbClr val="52514E"/>
                          </a:solidFill>
                          <a:latin typeface="Helvetica Neue"/>
                        </a:rPr>
                        <a:t>0.307 × 0.15 = 0.046</a:t>
                      </a:r>
                    </a:p>
                  </a:txBody>
                  <a:tcPr marL="101600" marR="76200" marT="38100" marB="38100" anchor="ctr">
                    <a:solidFill>
                      <a:srgbClr val="FCFCFB"/>
                    </a:solidFill>
                  </a:tcPr>
                </a:tc>
                <a:tc>
                  <a:txBody>
                    <a:bodyPr/>
                    <a:lstStyle/>
                    <a:p>
                      <a:r>
                        <a:rPr sz="1100">
                          <a:solidFill>
                            <a:srgbClr val="52514E"/>
                          </a:solidFill>
                          <a:latin typeface="Helvetica Neue"/>
                        </a:rPr>
                        <a:t>0.590</a:t>
                      </a:r>
                    </a:p>
                  </a:txBody>
                  <a:tcPr marL="101600" marR="76200" marT="38100" marB="38100" anchor="ctr">
                    <a:solidFill>
                      <a:srgbClr val="FCFCFB"/>
                    </a:solidFill>
                  </a:tcPr>
                </a:tc>
                <a:extLst>
                  <a:ext uri="{0D108BD9-81ED-4DB2-BD59-A6C34878D82A}">
                    <a16:rowId xmlns:a16="http://schemas.microsoft.com/office/drawing/2014/main" val="10003"/>
                  </a:ext>
                </a:extLst>
              </a:tr>
            </a:tbl>
          </a:graphicData>
        </a:graphic>
      </p:graphicFrame>
      <p:sp>
        <p:nvSpPr>
          <p:cNvPr id="9" name="TextBox 8"/>
          <p:cNvSpPr txBox="1"/>
          <p:nvPr/>
        </p:nvSpPr>
        <p:spPr>
          <a:xfrm>
            <a:off x="548640" y="4663440"/>
            <a:ext cx="11064240" cy="1645920"/>
          </a:xfrm>
          <a:prstGeom prst="rect">
            <a:avLst/>
          </a:prstGeom>
          <a:noFill/>
        </p:spPr>
        <p:txBody>
          <a:bodyPr wrap="square">
            <a:spAutoFit/>
          </a:bodyPr>
          <a:lstStyle/>
          <a:p>
            <a:pPr>
              <a:lnSpc>
                <a:spcPct val="112000"/>
              </a:lnSpc>
              <a:spcAft>
                <a:spcPts val="600"/>
              </a:spcAft>
            </a:pPr>
            <a:r>
              <a:rPr sz="1200">
                <a:solidFill>
                  <a:srgbClr val="52514E"/>
                </a:solidFill>
                <a:latin typeface="Helvetica Neue"/>
              </a:rPr>
              <a:t>—  Speed term uses Llama-3.2-3B's 0.768s as the fastest reference time: Ministral 0.768/1.537=0.500, Llama 0.768/0.768=1.000, Gemma 0.768/2.502=0.307.</a:t>
            </a:r>
          </a:p>
          <a:p>
            <a:pPr>
              <a:lnSpc>
                <a:spcPct val="112000"/>
              </a:lnSpc>
              <a:spcAft>
                <a:spcPts val="600"/>
              </a:spcAft>
            </a:pPr>
            <a:r>
              <a:rPr sz="1200">
                <a:solidFill>
                  <a:srgbClr val="52514E"/>
                </a:solidFill>
                <a:latin typeface="Helvetica Neue"/>
              </a:rPr>
              <a:t>—  These figures reconcile exactly with the composite scores reported earlier — verified independently for this deck.</a:t>
            </a:r>
          </a:p>
          <a:p>
            <a:pPr>
              <a:lnSpc>
                <a:spcPct val="112000"/>
              </a:lnSpc>
              <a:spcAft>
                <a:spcPts val="600"/>
              </a:spcAft>
            </a:pPr>
            <a:r>
              <a:rPr sz="1200">
                <a:solidFill>
                  <a:srgbClr val="52514E"/>
                </a:solidFill>
                <a:latin typeface="Helvetica Neue"/>
              </a:rPr>
              <a:t>—  Accuracy dominates the weighting (70%), so Ministral's large accuracy lead carries it to #1 even though it is not the fastest model.</a:t>
            </a:r>
          </a:p>
        </p:txBody>
      </p:sp>
      <p:sp>
        <p:nvSpPr>
          <p:cNvPr id="10" name="TextBox 9"/>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1" name="TextBox 10"/>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400" b="1" i="0">
                <a:solidFill>
                  <a:srgbClr val="0B0B0B"/>
                </a:solidFill>
                <a:latin typeface="Helvetica Neue"/>
              </a:rPr>
              <a:t>LAMBADA: dataset, properties &amp; scoring flow</a:t>
            </a:r>
          </a:p>
        </p:txBody>
      </p:sp>
      <p:cxnSp>
        <p:nvCxnSpPr>
          <p:cNvPr id="5" name="Connector 4"/>
          <p:cNvCxnSpPr/>
          <p:nvPr/>
        </p:nvCxnSpPr>
        <p:spPr>
          <a:xfrm>
            <a:off x="548640" y="146304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45920"/>
            <a:ext cx="548640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DATASET</a:t>
            </a:r>
          </a:p>
        </p:txBody>
      </p:sp>
      <p:sp>
        <p:nvSpPr>
          <p:cNvPr id="7" name="TextBox 6"/>
          <p:cNvSpPr txBox="1"/>
          <p:nvPr/>
        </p:nvSpPr>
        <p:spPr>
          <a:xfrm>
            <a:off x="548640" y="1965960"/>
            <a:ext cx="5577840" cy="1371600"/>
          </a:xfrm>
          <a:prstGeom prst="rect">
            <a:avLst/>
          </a:prstGeom>
          <a:noFill/>
        </p:spPr>
        <p:txBody>
          <a:bodyPr wrap="square">
            <a:spAutoFit/>
          </a:bodyPr>
          <a:lstStyle/>
          <a:p>
            <a:pPr>
              <a:lnSpc>
                <a:spcPct val="112000"/>
              </a:lnSpc>
              <a:spcAft>
                <a:spcPts val="700"/>
              </a:spcAft>
            </a:pPr>
            <a:r>
              <a:rPr sz="1250">
                <a:solidFill>
                  <a:srgbClr val="52514E"/>
                </a:solidFill>
                <a:latin typeface="Helvetica Neue"/>
              </a:rPr>
              <a:t>—  Drawn from the BookCorpus (unpublished novels), English.</a:t>
            </a:r>
          </a:p>
          <a:p>
            <a:pPr>
              <a:lnSpc>
                <a:spcPct val="112000"/>
              </a:lnSpc>
              <a:spcAft>
                <a:spcPts val="700"/>
              </a:spcAft>
            </a:pPr>
            <a:r>
              <a:rPr sz="1250">
                <a:solidFill>
                  <a:srgbClr val="52514E"/>
                </a:solidFill>
                <a:latin typeface="Helvetica Neue"/>
              </a:rPr>
              <a:t>—  Each passage is chosen so the final word is predictable from the full passage but not from the last sentence alone.</a:t>
            </a:r>
          </a:p>
          <a:p>
            <a:pPr>
              <a:lnSpc>
                <a:spcPct val="112000"/>
              </a:lnSpc>
              <a:spcAft>
                <a:spcPts val="700"/>
              </a:spcAft>
            </a:pPr>
            <a:r>
              <a:rPr sz="1250">
                <a:solidFill>
                  <a:srgbClr val="52514E"/>
                </a:solidFill>
                <a:latin typeface="Helvetica Neue"/>
              </a:rPr>
              <a:t>—  Test split: 5,153 passages · first published ACL 2016 (Paperno et al.).</a:t>
            </a:r>
          </a:p>
        </p:txBody>
      </p:sp>
      <p:sp>
        <p:nvSpPr>
          <p:cNvPr id="8" name="TextBox 7"/>
          <p:cNvSpPr txBox="1"/>
          <p:nvPr/>
        </p:nvSpPr>
        <p:spPr>
          <a:xfrm>
            <a:off x="548640" y="3520440"/>
            <a:ext cx="548640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PROPERTIES</a:t>
            </a:r>
          </a:p>
        </p:txBody>
      </p:sp>
      <p:graphicFrame>
        <p:nvGraphicFramePr>
          <p:cNvPr id="9" name="Table 8"/>
          <p:cNvGraphicFramePr>
            <a:graphicFrameLocks noGrp="1"/>
          </p:cNvGraphicFramePr>
          <p:nvPr/>
        </p:nvGraphicFramePr>
        <p:xfrm>
          <a:off x="548640" y="3840480"/>
          <a:ext cx="5577839" cy="1463040"/>
        </p:xfrm>
        <a:graphic>
          <a:graphicData uri="http://schemas.openxmlformats.org/drawingml/2006/table">
            <a:tbl>
              <a:tblPr firstRow="1" bandRow="1">
                <a:tableStyleId>{5C22544A-7EE6-4342-B048-85BDC9FD1C3A}</a:tableStyleId>
              </a:tblPr>
              <a:tblGrid>
                <a:gridCol w="1894360">
                  <a:extLst>
                    <a:ext uri="{9D8B030D-6E8A-4147-A177-3AD203B41FA5}">
                      <a16:colId xmlns:a16="http://schemas.microsoft.com/office/drawing/2014/main" val="20000"/>
                    </a:ext>
                  </a:extLst>
                </a:gridCol>
                <a:gridCol w="3683479">
                  <a:extLst>
                    <a:ext uri="{9D8B030D-6E8A-4147-A177-3AD203B41FA5}">
                      <a16:colId xmlns:a16="http://schemas.microsoft.com/office/drawing/2014/main" val="20001"/>
                    </a:ext>
                  </a:extLst>
                </a:gridCol>
              </a:tblGrid>
              <a:tr h="365760">
                <a:tc>
                  <a:txBody>
                    <a:bodyPr/>
                    <a:lstStyle/>
                    <a:p>
                      <a:r>
                        <a:rPr sz="1150" b="1">
                          <a:solidFill>
                            <a:srgbClr val="FFFFFF"/>
                          </a:solidFill>
                          <a:latin typeface="Helvetica Neue"/>
                        </a:rPr>
                        <a:t>Property</a:t>
                      </a:r>
                    </a:p>
                  </a:txBody>
                  <a:tcPr marL="101600" marR="76200" marT="50800" marB="50800" anchor="ctr">
                    <a:solidFill>
                      <a:srgbClr val="0B0B0B"/>
                    </a:solidFill>
                  </a:tcPr>
                </a:tc>
                <a:tc>
                  <a:txBody>
                    <a:bodyPr/>
                    <a:lstStyle/>
                    <a:p>
                      <a:r>
                        <a:rPr sz="1150" b="1">
                          <a:solidFill>
                            <a:srgbClr val="FFFFFF"/>
                          </a:solidFill>
                          <a:latin typeface="Helvetica Neue"/>
                        </a:rPr>
                        <a:t>Value</a:t>
                      </a:r>
                    </a:p>
                  </a:txBody>
                  <a:tcPr marL="101600" marR="76200" marT="50800" marB="50800" anchor="ctr">
                    <a:solidFill>
                      <a:srgbClr val="0B0B0B"/>
                    </a:solidFill>
                  </a:tcPr>
                </a:tc>
                <a:extLst>
                  <a:ext uri="{0D108BD9-81ED-4DB2-BD59-A6C34878D82A}">
                    <a16:rowId xmlns:a16="http://schemas.microsoft.com/office/drawing/2014/main" val="10000"/>
                  </a:ext>
                </a:extLst>
              </a:tr>
              <a:tr h="365760">
                <a:tc>
                  <a:txBody>
                    <a:bodyPr/>
                    <a:lstStyle/>
                    <a:p>
                      <a:r>
                        <a:rPr sz="1100" b="1">
                          <a:solidFill>
                            <a:srgbClr val="0B0B0B"/>
                          </a:solidFill>
                          <a:latin typeface="Helvetica Neue"/>
                        </a:rPr>
                        <a:t>Source corpus</a:t>
                      </a:r>
                    </a:p>
                  </a:txBody>
                  <a:tcPr marL="101600" marR="76200" marT="38100" marB="38100" anchor="ctr">
                    <a:solidFill>
                      <a:srgbClr val="FCFCFB"/>
                    </a:solidFill>
                  </a:tcPr>
                </a:tc>
                <a:tc>
                  <a:txBody>
                    <a:bodyPr/>
                    <a:lstStyle/>
                    <a:p>
                      <a:r>
                        <a:rPr sz="1100">
                          <a:solidFill>
                            <a:srgbClr val="52514E"/>
                          </a:solidFill>
                          <a:latin typeface="Helvetica Neue"/>
                        </a:rPr>
                        <a:t>BookCorpus (unpublished novels)</a:t>
                      </a:r>
                    </a:p>
                  </a:txBody>
                  <a:tcPr marL="101600" marR="76200" marT="38100" marB="38100" anchor="ctr">
                    <a:solidFill>
                      <a:srgbClr val="FCFCFB"/>
                    </a:solidFill>
                  </a:tcPr>
                </a:tc>
                <a:extLst>
                  <a:ext uri="{0D108BD9-81ED-4DB2-BD59-A6C34878D82A}">
                    <a16:rowId xmlns:a16="http://schemas.microsoft.com/office/drawing/2014/main" val="10001"/>
                  </a:ext>
                </a:extLst>
              </a:tr>
              <a:tr h="365760">
                <a:tc>
                  <a:txBody>
                    <a:bodyPr/>
                    <a:lstStyle/>
                    <a:p>
                      <a:r>
                        <a:rPr sz="1100" b="1">
                          <a:solidFill>
                            <a:srgbClr val="0B0B0B"/>
                          </a:solidFill>
                          <a:latin typeface="Helvetica Neue"/>
                        </a:rPr>
                        <a:t>Task type</a:t>
                      </a:r>
                    </a:p>
                  </a:txBody>
                  <a:tcPr marL="101600" marR="76200" marT="38100" marB="38100" anchor="ctr">
                    <a:solidFill>
                      <a:srgbClr val="F3F2EE"/>
                    </a:solidFill>
                  </a:tcPr>
                </a:tc>
                <a:tc>
                  <a:txBody>
                    <a:bodyPr/>
                    <a:lstStyle/>
                    <a:p>
                      <a:r>
                        <a:rPr sz="1100">
                          <a:solidFill>
                            <a:srgbClr val="52514E"/>
                          </a:solidFill>
                          <a:latin typeface="Helvetica Neue"/>
                        </a:rPr>
                        <a:t>Word prediction</a:t>
                      </a:r>
                    </a:p>
                  </a:txBody>
                  <a:tcPr marL="101600" marR="76200" marT="38100" marB="38100" anchor="ctr">
                    <a:solidFill>
                      <a:srgbClr val="F3F2EE"/>
                    </a:solidFill>
                  </a:tcPr>
                </a:tc>
                <a:extLst>
                  <a:ext uri="{0D108BD9-81ED-4DB2-BD59-A6C34878D82A}">
                    <a16:rowId xmlns:a16="http://schemas.microsoft.com/office/drawing/2014/main" val="10002"/>
                  </a:ext>
                </a:extLst>
              </a:tr>
              <a:tr h="365760">
                <a:tc>
                  <a:txBody>
                    <a:bodyPr/>
                    <a:lstStyle/>
                    <a:p>
                      <a:r>
                        <a:rPr sz="1100" b="1">
                          <a:solidFill>
                            <a:srgbClr val="0B0B0B"/>
                          </a:solidFill>
                          <a:latin typeface="Helvetica Neue"/>
                        </a:rPr>
                        <a:t>Curation criterion</a:t>
                      </a:r>
                    </a:p>
                  </a:txBody>
                  <a:tcPr marL="101600" marR="76200" marT="38100" marB="38100" anchor="ctr">
                    <a:solidFill>
                      <a:srgbClr val="FCFCFB"/>
                    </a:solidFill>
                  </a:tcPr>
                </a:tc>
                <a:tc>
                  <a:txBody>
                    <a:bodyPr/>
                    <a:lstStyle/>
                    <a:p>
                      <a:r>
                        <a:rPr sz="1100">
                          <a:solidFill>
                            <a:srgbClr val="52514E"/>
                          </a:solidFill>
                          <a:latin typeface="Helvetica Neue"/>
                        </a:rPr>
                        <a:t>Target guessable from full context only</a:t>
                      </a:r>
                    </a:p>
                  </a:txBody>
                  <a:tcPr marL="101600" marR="76200" marT="38100" marB="38100" anchor="ctr">
                    <a:solidFill>
                      <a:srgbClr val="FCFCFB"/>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548640" y="5486400"/>
            <a:ext cx="5577840" cy="548640"/>
          </a:xfrm>
          <a:prstGeom prst="rect">
            <a:avLst/>
          </a:prstGeom>
          <a:noFill/>
        </p:spPr>
        <p:txBody>
          <a:bodyPr wrap="square" lIns="0" tIns="0" rIns="0" bIns="0" anchor="t">
            <a:spAutoFit/>
          </a:bodyPr>
          <a:lstStyle/>
          <a:p>
            <a:pPr algn="l">
              <a:lnSpc>
                <a:spcPct val="100000"/>
              </a:lnSpc>
            </a:pPr>
            <a:r>
              <a:rPr sz="1050" b="0" i="1">
                <a:solidFill>
                  <a:srgbClr val="898781"/>
                </a:solidFill>
                <a:latin typeface="Helvetica Neue"/>
              </a:rPr>
              <a:t>See Benchmark (earlier) for the full accuracy / latency / error-rate / throughput criteria.</a:t>
            </a:r>
          </a:p>
        </p:txBody>
      </p:sp>
      <p:sp>
        <p:nvSpPr>
          <p:cNvPr id="11" name="TextBox 10"/>
          <p:cNvSpPr txBox="1"/>
          <p:nvPr/>
        </p:nvSpPr>
        <p:spPr>
          <a:xfrm>
            <a:off x="6492240" y="1645920"/>
            <a:ext cx="512064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SCORING FLOW</a:t>
            </a:r>
          </a:p>
        </p:txBody>
      </p:sp>
      <p:sp>
        <p:nvSpPr>
          <p:cNvPr id="12" name="Rounded Rectangle 11"/>
          <p:cNvSpPr/>
          <p:nvPr/>
        </p:nvSpPr>
        <p:spPr>
          <a:xfrm>
            <a:off x="6492240" y="1965960"/>
            <a:ext cx="5120640" cy="420624"/>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150">
                <a:solidFill>
                  <a:srgbClr val="0B0B0B"/>
                </a:solidFill>
                <a:latin typeface="Helvetica Neue"/>
              </a:rPr>
              <a:t>Passage</a:t>
            </a:r>
          </a:p>
        </p:txBody>
      </p:sp>
      <p:sp>
        <p:nvSpPr>
          <p:cNvPr id="13" name="Rounded Rectangle 12"/>
          <p:cNvSpPr/>
          <p:nvPr/>
        </p:nvSpPr>
        <p:spPr>
          <a:xfrm>
            <a:off x="6492240" y="2496312"/>
            <a:ext cx="5120640" cy="420624"/>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150">
                <a:solidFill>
                  <a:srgbClr val="0B0B0B"/>
                </a:solidFill>
                <a:latin typeface="Helvetica Neue"/>
              </a:rPr>
              <a:t>Remove last word</a:t>
            </a:r>
          </a:p>
        </p:txBody>
      </p:sp>
      <p:sp>
        <p:nvSpPr>
          <p:cNvPr id="14" name="Rounded Rectangle 13"/>
          <p:cNvSpPr/>
          <p:nvPr/>
        </p:nvSpPr>
        <p:spPr>
          <a:xfrm>
            <a:off x="6492240" y="3026664"/>
            <a:ext cx="5120640" cy="420624"/>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150">
                <a:solidFill>
                  <a:srgbClr val="0B0B0B"/>
                </a:solidFill>
                <a:latin typeface="Helvetica Neue"/>
              </a:rPr>
              <a:t>Build prompt (few-shot examples)</a:t>
            </a:r>
          </a:p>
        </p:txBody>
      </p:sp>
      <p:sp>
        <p:nvSpPr>
          <p:cNvPr id="15" name="Rounded Rectangle 14"/>
          <p:cNvSpPr/>
          <p:nvPr/>
        </p:nvSpPr>
        <p:spPr>
          <a:xfrm>
            <a:off x="6492240" y="3557016"/>
            <a:ext cx="5120640" cy="420624"/>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150">
                <a:solidFill>
                  <a:srgbClr val="0B0B0B"/>
                </a:solidFill>
                <a:latin typeface="Helvetica Neue"/>
              </a:rPr>
              <a:t>OpenRouter API call</a:t>
            </a:r>
          </a:p>
        </p:txBody>
      </p:sp>
      <p:sp>
        <p:nvSpPr>
          <p:cNvPr id="16" name="Rounded Rectangle 15"/>
          <p:cNvSpPr/>
          <p:nvPr/>
        </p:nvSpPr>
        <p:spPr>
          <a:xfrm>
            <a:off x="6492240" y="4087368"/>
            <a:ext cx="5120640" cy="420624"/>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150">
                <a:solidFill>
                  <a:srgbClr val="0B0B0B"/>
                </a:solidFill>
                <a:latin typeface="Helvetica Neue"/>
              </a:rPr>
              <a:t>Parse predicted word</a:t>
            </a:r>
          </a:p>
        </p:txBody>
      </p:sp>
      <p:sp>
        <p:nvSpPr>
          <p:cNvPr id="17" name="Rounded Rectangle 16"/>
          <p:cNvSpPr/>
          <p:nvPr/>
        </p:nvSpPr>
        <p:spPr>
          <a:xfrm>
            <a:off x="6492240" y="4617720"/>
            <a:ext cx="5120640" cy="420624"/>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150">
                <a:solidFill>
                  <a:srgbClr val="0B0B0B"/>
                </a:solidFill>
                <a:latin typeface="Helvetica Neue"/>
              </a:rPr>
              <a:t>Normalize (lowercase, strip punctuation)</a:t>
            </a:r>
          </a:p>
        </p:txBody>
      </p:sp>
      <p:sp>
        <p:nvSpPr>
          <p:cNvPr id="18" name="Rounded Rectangle 17"/>
          <p:cNvSpPr/>
          <p:nvPr/>
        </p:nvSpPr>
        <p:spPr>
          <a:xfrm>
            <a:off x="6492240" y="5148072"/>
            <a:ext cx="5120640" cy="420624"/>
          </a:xfrm>
          <a:prstGeom prst="roundRect">
            <a:avLst>
              <a:gd name="adj" fmla="val 50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150">
                <a:solidFill>
                  <a:srgbClr val="0B0B0B"/>
                </a:solidFill>
                <a:latin typeface="Helvetica Neue"/>
              </a:rPr>
              <a:t>Compare to target</a:t>
            </a:r>
          </a:p>
        </p:txBody>
      </p:sp>
      <p:sp>
        <p:nvSpPr>
          <p:cNvPr id="19" name="Rounded Rectangle 18"/>
          <p:cNvSpPr/>
          <p:nvPr/>
        </p:nvSpPr>
        <p:spPr>
          <a:xfrm>
            <a:off x="6492240" y="5678424"/>
            <a:ext cx="5120640" cy="420624"/>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150">
                <a:solidFill>
                  <a:srgbClr val="0B0B0B"/>
                </a:solidFill>
                <a:latin typeface="Helvetica Neue"/>
              </a:rPr>
              <a:t>→ Correct / Incorrect → Accuracy &amp; latency</a:t>
            </a:r>
          </a:p>
        </p:txBody>
      </p:sp>
      <p:sp>
        <p:nvSpPr>
          <p:cNvPr id="20" name="TextBox 19"/>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21" name="TextBox 20"/>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LAMBADA: dataset splits</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48640" y="1783080"/>
          <a:ext cx="11064237" cy="2743200"/>
        </p:xfrm>
        <a:graphic>
          <a:graphicData uri="http://schemas.openxmlformats.org/drawingml/2006/table">
            <a:tbl>
              <a:tblPr firstRow="1" bandRow="1">
                <a:tableStyleId>{5C22544A-7EE6-4342-B048-85BDC9FD1C3A}</a:tableStyleId>
              </a:tblPr>
              <a:tblGrid>
                <a:gridCol w="1979916">
                  <a:extLst>
                    <a:ext uri="{9D8B030D-6E8A-4147-A177-3AD203B41FA5}">
                      <a16:colId xmlns:a16="http://schemas.microsoft.com/office/drawing/2014/main" val="20000"/>
                    </a:ext>
                  </a:extLst>
                </a:gridCol>
                <a:gridCol w="4192764">
                  <a:extLst>
                    <a:ext uri="{9D8B030D-6E8A-4147-A177-3AD203B41FA5}">
                      <a16:colId xmlns:a16="http://schemas.microsoft.com/office/drawing/2014/main" val="20001"/>
                    </a:ext>
                  </a:extLst>
                </a:gridCol>
                <a:gridCol w="1863450">
                  <a:extLst>
                    <a:ext uri="{9D8B030D-6E8A-4147-A177-3AD203B41FA5}">
                      <a16:colId xmlns:a16="http://schemas.microsoft.com/office/drawing/2014/main" val="20002"/>
                    </a:ext>
                  </a:extLst>
                </a:gridCol>
                <a:gridCol w="3028107">
                  <a:extLst>
                    <a:ext uri="{9D8B030D-6E8A-4147-A177-3AD203B41FA5}">
                      <a16:colId xmlns:a16="http://schemas.microsoft.com/office/drawing/2014/main" val="20003"/>
                    </a:ext>
                  </a:extLst>
                </a:gridCol>
              </a:tblGrid>
              <a:tr h="391885">
                <a:tc>
                  <a:txBody>
                    <a:bodyPr/>
                    <a:lstStyle/>
                    <a:p>
                      <a:r>
                        <a:rPr sz="1250" b="1">
                          <a:solidFill>
                            <a:srgbClr val="FFFFFF"/>
                          </a:solidFill>
                          <a:latin typeface="Helvetica Neue"/>
                        </a:rPr>
                        <a:t>Split</a:t>
                      </a:r>
                    </a:p>
                  </a:txBody>
                  <a:tcPr marL="101600" marR="76200" marT="50800" marB="50800" anchor="ctr">
                    <a:solidFill>
                      <a:srgbClr val="0B0B0B"/>
                    </a:solidFill>
                  </a:tcPr>
                </a:tc>
                <a:tc>
                  <a:txBody>
                    <a:bodyPr/>
                    <a:lstStyle/>
                    <a:p>
                      <a:r>
                        <a:rPr sz="1250" b="1">
                          <a:solidFill>
                            <a:srgbClr val="FFFFFF"/>
                          </a:solidFill>
                          <a:latin typeface="Helvetica Neue"/>
                        </a:rPr>
                        <a:t>File</a:t>
                      </a:r>
                    </a:p>
                  </a:txBody>
                  <a:tcPr marL="101600" marR="76200" marT="50800" marB="50800" anchor="ctr">
                    <a:solidFill>
                      <a:srgbClr val="0B0B0B"/>
                    </a:solidFill>
                  </a:tcPr>
                </a:tc>
                <a:tc>
                  <a:txBody>
                    <a:bodyPr/>
                    <a:lstStyle/>
                    <a:p>
                      <a:r>
                        <a:rPr sz="1250" b="1">
                          <a:solidFill>
                            <a:srgbClr val="FFFFFF"/>
                          </a:solidFill>
                          <a:latin typeface="Helvetica Neue"/>
                        </a:rPr>
                        <a:t>Passages</a:t>
                      </a:r>
                    </a:p>
                  </a:txBody>
                  <a:tcPr marL="101600" marR="76200" marT="50800" marB="50800" anchor="ctr">
                    <a:solidFill>
                      <a:srgbClr val="0B0B0B"/>
                    </a:solidFill>
                  </a:tcPr>
                </a:tc>
                <a:tc>
                  <a:txBody>
                    <a:bodyPr/>
                    <a:lstStyle/>
                    <a:p>
                      <a:r>
                        <a:rPr sz="1250" b="1">
                          <a:solidFill>
                            <a:srgbClr val="FFFFFF"/>
                          </a:solidFill>
                          <a:latin typeface="Helvetica Neue"/>
                        </a:rPr>
                        <a:t>Purpose</a:t>
                      </a:r>
                    </a:p>
                  </a:txBody>
                  <a:tcPr marL="101600" marR="76200" marT="50800" marB="50800" anchor="ctr">
                    <a:solidFill>
                      <a:srgbClr val="0B0B0B"/>
                    </a:solidFill>
                  </a:tcPr>
                </a:tc>
                <a:extLst>
                  <a:ext uri="{0D108BD9-81ED-4DB2-BD59-A6C34878D82A}">
                    <a16:rowId xmlns:a16="http://schemas.microsoft.com/office/drawing/2014/main" val="10000"/>
                  </a:ext>
                </a:extLst>
              </a:tr>
              <a:tr h="391885">
                <a:tc>
                  <a:txBody>
                    <a:bodyPr/>
                    <a:lstStyle/>
                    <a:p>
                      <a:r>
                        <a:rPr sz="1200" b="1">
                          <a:solidFill>
                            <a:srgbClr val="0B0B0B"/>
                          </a:solidFill>
                          <a:latin typeface="Helvetica Neue"/>
                        </a:rPr>
                        <a:t>Test</a:t>
                      </a:r>
                    </a:p>
                  </a:txBody>
                  <a:tcPr marL="101600" marR="76200" marT="38100" marB="38100" anchor="ctr">
                    <a:solidFill>
                      <a:srgbClr val="FCFCFB"/>
                    </a:solidFill>
                  </a:tcPr>
                </a:tc>
                <a:tc>
                  <a:txBody>
                    <a:bodyPr/>
                    <a:lstStyle/>
                    <a:p>
                      <a:r>
                        <a:rPr sz="1200">
                          <a:solidFill>
                            <a:srgbClr val="52514E"/>
                          </a:solidFill>
                          <a:latin typeface="Helvetica Neue"/>
                        </a:rPr>
                        <a:t>lambada_test_plain_text.txt</a:t>
                      </a:r>
                    </a:p>
                  </a:txBody>
                  <a:tcPr marL="101600" marR="76200" marT="38100" marB="38100" anchor="ctr">
                    <a:solidFill>
                      <a:srgbClr val="FCFCFB"/>
                    </a:solidFill>
                  </a:tcPr>
                </a:tc>
                <a:tc>
                  <a:txBody>
                    <a:bodyPr/>
                    <a:lstStyle/>
                    <a:p>
                      <a:r>
                        <a:rPr sz="1200">
                          <a:solidFill>
                            <a:srgbClr val="52514E"/>
                          </a:solidFill>
                          <a:latin typeface="Helvetica Neue"/>
                        </a:rPr>
                        <a:t>5,153</a:t>
                      </a:r>
                    </a:p>
                  </a:txBody>
                  <a:tcPr marL="101600" marR="76200" marT="38100" marB="38100" anchor="ctr">
                    <a:solidFill>
                      <a:srgbClr val="FCFCFB"/>
                    </a:solidFill>
                  </a:tcPr>
                </a:tc>
                <a:tc>
                  <a:txBody>
                    <a:bodyPr/>
                    <a:lstStyle/>
                    <a:p>
                      <a:r>
                        <a:rPr sz="1200">
                          <a:solidFill>
                            <a:srgbClr val="52514E"/>
                          </a:solidFill>
                          <a:latin typeface="Helvetica Neue"/>
                        </a:rPr>
                        <a:t>Primary evaluation</a:t>
                      </a:r>
                    </a:p>
                  </a:txBody>
                  <a:tcPr marL="101600" marR="76200" marT="38100" marB="38100" anchor="ctr">
                    <a:solidFill>
                      <a:srgbClr val="FCFCFB"/>
                    </a:solidFill>
                  </a:tcPr>
                </a:tc>
                <a:extLst>
                  <a:ext uri="{0D108BD9-81ED-4DB2-BD59-A6C34878D82A}">
                    <a16:rowId xmlns:a16="http://schemas.microsoft.com/office/drawing/2014/main" val="10001"/>
                  </a:ext>
                </a:extLst>
              </a:tr>
              <a:tr h="391885">
                <a:tc>
                  <a:txBody>
                    <a:bodyPr/>
                    <a:lstStyle/>
                    <a:p>
                      <a:r>
                        <a:rPr sz="1200" b="1">
                          <a:solidFill>
                            <a:srgbClr val="0B0B0B"/>
                          </a:solidFill>
                          <a:latin typeface="Helvetica Neue"/>
                        </a:rPr>
                        <a:t>Development</a:t>
                      </a:r>
                    </a:p>
                  </a:txBody>
                  <a:tcPr marL="101600" marR="76200" marT="38100" marB="38100" anchor="ctr">
                    <a:solidFill>
                      <a:srgbClr val="F3F2EE"/>
                    </a:solidFill>
                  </a:tcPr>
                </a:tc>
                <a:tc>
                  <a:txBody>
                    <a:bodyPr/>
                    <a:lstStyle/>
                    <a:p>
                      <a:r>
                        <a:rPr sz="1200">
                          <a:solidFill>
                            <a:srgbClr val="52514E"/>
                          </a:solidFill>
                          <a:latin typeface="Helvetica Neue"/>
                        </a:rPr>
                        <a:t>lambada_development_plain_text.txt</a:t>
                      </a:r>
                    </a:p>
                  </a:txBody>
                  <a:tcPr marL="101600" marR="76200" marT="38100" marB="38100" anchor="ctr">
                    <a:solidFill>
                      <a:srgbClr val="F3F2EE"/>
                    </a:solidFill>
                  </a:tcPr>
                </a:tc>
                <a:tc>
                  <a:txBody>
                    <a:bodyPr/>
                    <a:lstStyle/>
                    <a:p>
                      <a:r>
                        <a:rPr sz="1200">
                          <a:solidFill>
                            <a:srgbClr val="52514E"/>
                          </a:solidFill>
                          <a:latin typeface="Helvetica Neue"/>
                        </a:rPr>
                        <a:t>4,869</a:t>
                      </a:r>
                    </a:p>
                  </a:txBody>
                  <a:tcPr marL="101600" marR="76200" marT="38100" marB="38100" anchor="ctr">
                    <a:solidFill>
                      <a:srgbClr val="F3F2EE"/>
                    </a:solidFill>
                  </a:tcPr>
                </a:tc>
                <a:tc>
                  <a:txBody>
                    <a:bodyPr/>
                    <a:lstStyle/>
                    <a:p>
                      <a:r>
                        <a:rPr sz="1200">
                          <a:solidFill>
                            <a:srgbClr val="52514E"/>
                          </a:solidFill>
                          <a:latin typeface="Helvetica Neue"/>
                        </a:rPr>
                        <a:t>Validation and tuning</a:t>
                      </a:r>
                    </a:p>
                  </a:txBody>
                  <a:tcPr marL="101600" marR="76200" marT="38100" marB="38100" anchor="ctr">
                    <a:solidFill>
                      <a:srgbClr val="F3F2EE"/>
                    </a:solidFill>
                  </a:tcPr>
                </a:tc>
                <a:extLst>
                  <a:ext uri="{0D108BD9-81ED-4DB2-BD59-A6C34878D82A}">
                    <a16:rowId xmlns:a16="http://schemas.microsoft.com/office/drawing/2014/main" val="10002"/>
                  </a:ext>
                </a:extLst>
              </a:tr>
              <a:tr h="391885">
                <a:tc>
                  <a:txBody>
                    <a:bodyPr/>
                    <a:lstStyle/>
                    <a:p>
                      <a:r>
                        <a:rPr sz="1200" b="1">
                          <a:solidFill>
                            <a:srgbClr val="0B0B0B"/>
                          </a:solidFill>
                          <a:latin typeface="Helvetica Neue"/>
                        </a:rPr>
                        <a:t>Control Test</a:t>
                      </a:r>
                    </a:p>
                  </a:txBody>
                  <a:tcPr marL="101600" marR="76200" marT="38100" marB="38100" anchor="ctr">
                    <a:solidFill>
                      <a:srgbClr val="FCFCFB"/>
                    </a:solidFill>
                  </a:tcPr>
                </a:tc>
                <a:tc>
                  <a:txBody>
                    <a:bodyPr/>
                    <a:lstStyle/>
                    <a:p>
                      <a:r>
                        <a:rPr sz="1200">
                          <a:solidFill>
                            <a:srgbClr val="52514E"/>
                          </a:solidFill>
                          <a:latin typeface="Helvetica Neue"/>
                        </a:rPr>
                        <a:t>lambada_control_test_data_plain_text.txt</a:t>
                      </a:r>
                    </a:p>
                  </a:txBody>
                  <a:tcPr marL="101600" marR="76200" marT="38100" marB="38100" anchor="ctr">
                    <a:solidFill>
                      <a:srgbClr val="FCFCFB"/>
                    </a:solidFill>
                  </a:tcPr>
                </a:tc>
                <a:tc>
                  <a:txBody>
                    <a:bodyPr/>
                    <a:lstStyle/>
                    <a:p>
                      <a:r>
                        <a:rPr sz="1200">
                          <a:solidFill>
                            <a:srgbClr val="52514E"/>
                          </a:solidFill>
                          <a:latin typeface="Helvetica Neue"/>
                        </a:rPr>
                        <a:t>5,000</a:t>
                      </a:r>
                    </a:p>
                  </a:txBody>
                  <a:tcPr marL="101600" marR="76200" marT="38100" marB="38100" anchor="ctr">
                    <a:solidFill>
                      <a:srgbClr val="FCFCFB"/>
                    </a:solidFill>
                  </a:tcPr>
                </a:tc>
                <a:tc>
                  <a:txBody>
                    <a:bodyPr/>
                    <a:lstStyle/>
                    <a:p>
                      <a:r>
                        <a:rPr sz="1200">
                          <a:solidFill>
                            <a:srgbClr val="52514E"/>
                          </a:solidFill>
                          <a:latin typeface="Helvetica Neue"/>
                        </a:rPr>
                        <a:t>Baseline, unfiltered</a:t>
                      </a:r>
                    </a:p>
                  </a:txBody>
                  <a:tcPr marL="101600" marR="76200" marT="38100" marB="38100" anchor="ctr">
                    <a:solidFill>
                      <a:srgbClr val="FCFCFB"/>
                    </a:solidFill>
                  </a:tcPr>
                </a:tc>
                <a:extLst>
                  <a:ext uri="{0D108BD9-81ED-4DB2-BD59-A6C34878D82A}">
                    <a16:rowId xmlns:a16="http://schemas.microsoft.com/office/drawing/2014/main" val="10003"/>
                  </a:ext>
                </a:extLst>
              </a:tr>
              <a:tr h="391885">
                <a:tc>
                  <a:txBody>
                    <a:bodyPr/>
                    <a:lstStyle/>
                    <a:p>
                      <a:r>
                        <a:rPr sz="1200" b="1">
                          <a:solidFill>
                            <a:srgbClr val="0B0B0B"/>
                          </a:solidFill>
                          <a:latin typeface="Helvetica Neue"/>
                        </a:rPr>
                        <a:t>Rejected</a:t>
                      </a:r>
                    </a:p>
                  </a:txBody>
                  <a:tcPr marL="101600" marR="76200" marT="38100" marB="38100" anchor="ctr">
                    <a:solidFill>
                      <a:srgbClr val="F3F2EE"/>
                    </a:solidFill>
                  </a:tcPr>
                </a:tc>
                <a:tc>
                  <a:txBody>
                    <a:bodyPr/>
                    <a:lstStyle/>
                    <a:p>
                      <a:r>
                        <a:rPr sz="1200">
                          <a:solidFill>
                            <a:srgbClr val="52514E"/>
                          </a:solidFill>
                          <a:latin typeface="Helvetica Neue"/>
                        </a:rPr>
                        <a:t>rejected_plain_text.txt</a:t>
                      </a:r>
                    </a:p>
                  </a:txBody>
                  <a:tcPr marL="101600" marR="76200" marT="38100" marB="38100" anchor="ctr">
                    <a:solidFill>
                      <a:srgbClr val="F3F2EE"/>
                    </a:solidFill>
                  </a:tcPr>
                </a:tc>
                <a:tc>
                  <a:txBody>
                    <a:bodyPr/>
                    <a:lstStyle/>
                    <a:p>
                      <a:r>
                        <a:rPr sz="1200">
                          <a:solidFill>
                            <a:srgbClr val="52514E"/>
                          </a:solidFill>
                          <a:latin typeface="Helvetica Neue"/>
                        </a:rPr>
                        <a:t>11,941</a:t>
                      </a:r>
                    </a:p>
                  </a:txBody>
                  <a:tcPr marL="101600" marR="76200" marT="38100" marB="38100" anchor="ctr">
                    <a:solidFill>
                      <a:srgbClr val="F3F2EE"/>
                    </a:solidFill>
                  </a:tcPr>
                </a:tc>
                <a:tc>
                  <a:txBody>
                    <a:bodyPr/>
                    <a:lstStyle/>
                    <a:p>
                      <a:r>
                        <a:rPr sz="1200">
                          <a:solidFill>
                            <a:srgbClr val="52514E"/>
                          </a:solidFill>
                          <a:latin typeface="Helvetica Neue"/>
                        </a:rPr>
                        <a:t>Passages cut during curation</a:t>
                      </a:r>
                    </a:p>
                  </a:txBody>
                  <a:tcPr marL="101600" marR="76200" marT="38100" marB="38100" anchor="ctr">
                    <a:solidFill>
                      <a:srgbClr val="F3F2EE"/>
                    </a:solidFill>
                  </a:tcPr>
                </a:tc>
                <a:extLst>
                  <a:ext uri="{0D108BD9-81ED-4DB2-BD59-A6C34878D82A}">
                    <a16:rowId xmlns:a16="http://schemas.microsoft.com/office/drawing/2014/main" val="10004"/>
                  </a:ext>
                </a:extLst>
              </a:tr>
              <a:tr h="391885">
                <a:tc>
                  <a:txBody>
                    <a:bodyPr/>
                    <a:lstStyle/>
                    <a:p>
                      <a:r>
                        <a:rPr sz="1200" b="1">
                          <a:solidFill>
                            <a:srgbClr val="0B0B0B"/>
                          </a:solidFill>
                          <a:latin typeface="Helvetica Neue"/>
                        </a:rPr>
                        <a:t>Training Novels</a:t>
                      </a:r>
                    </a:p>
                  </a:txBody>
                  <a:tcPr marL="101600" marR="76200" marT="38100" marB="38100" anchor="ctr">
                    <a:solidFill>
                      <a:srgbClr val="FCFCFB"/>
                    </a:solidFill>
                  </a:tcPr>
                </a:tc>
                <a:tc>
                  <a:txBody>
                    <a:bodyPr/>
                    <a:lstStyle/>
                    <a:p>
                      <a:r>
                        <a:rPr sz="1200">
                          <a:solidFill>
                            <a:srgbClr val="52514E"/>
                          </a:solidFill>
                          <a:latin typeface="Helvetica Neue"/>
                        </a:rPr>
                        <a:t>train-novels/ (16 genres)</a:t>
                      </a:r>
                    </a:p>
                  </a:txBody>
                  <a:tcPr marL="101600" marR="76200" marT="38100" marB="38100" anchor="ctr">
                    <a:solidFill>
                      <a:srgbClr val="FCFCFB"/>
                    </a:solidFill>
                  </a:tcPr>
                </a:tc>
                <a:tc>
                  <a:txBody>
                    <a:bodyPr/>
                    <a:lstStyle/>
                    <a:p>
                      <a:r>
                        <a:rPr sz="1200">
                          <a:solidFill>
                            <a:srgbClr val="52514E"/>
                          </a:solidFill>
                          <a:latin typeface="Helvetica Neue"/>
                        </a:rPr>
                        <a:t>2,662 novels</a:t>
                      </a:r>
                    </a:p>
                  </a:txBody>
                  <a:tcPr marL="101600" marR="76200" marT="38100" marB="38100" anchor="ctr">
                    <a:solidFill>
                      <a:srgbClr val="FCFCFB"/>
                    </a:solidFill>
                  </a:tcPr>
                </a:tc>
                <a:tc>
                  <a:txBody>
                    <a:bodyPr/>
                    <a:lstStyle/>
                    <a:p>
                      <a:r>
                        <a:rPr sz="1200">
                          <a:solidFill>
                            <a:srgbClr val="52514E"/>
                          </a:solidFill>
                          <a:latin typeface="Helvetica Neue"/>
                        </a:rPr>
                        <a:t>Pre-training material</a:t>
                      </a:r>
                    </a:p>
                  </a:txBody>
                  <a:tcPr marL="101600" marR="76200" marT="38100" marB="38100" anchor="ctr">
                    <a:solidFill>
                      <a:srgbClr val="FCFCFB"/>
                    </a:solidFill>
                  </a:tcPr>
                </a:tc>
                <a:extLst>
                  <a:ext uri="{0D108BD9-81ED-4DB2-BD59-A6C34878D82A}">
                    <a16:rowId xmlns:a16="http://schemas.microsoft.com/office/drawing/2014/main" val="10005"/>
                  </a:ext>
                </a:extLst>
              </a:tr>
              <a:tr h="391890">
                <a:tc>
                  <a:txBody>
                    <a:bodyPr/>
                    <a:lstStyle/>
                    <a:p>
                      <a:r>
                        <a:rPr sz="1200" b="1">
                          <a:solidFill>
                            <a:srgbClr val="0B0B0B"/>
                          </a:solidFill>
                          <a:latin typeface="Helvetica Neue"/>
                        </a:rPr>
                        <a:t>Vocabulary</a:t>
                      </a:r>
                    </a:p>
                  </a:txBody>
                  <a:tcPr marL="101600" marR="76200" marT="38100" marB="38100" anchor="ctr">
                    <a:solidFill>
                      <a:srgbClr val="F3F2EE"/>
                    </a:solidFill>
                  </a:tcPr>
                </a:tc>
                <a:tc>
                  <a:txBody>
                    <a:bodyPr/>
                    <a:lstStyle/>
                    <a:p>
                      <a:r>
                        <a:rPr sz="1200">
                          <a:solidFill>
                            <a:srgbClr val="52514E"/>
                          </a:solidFill>
                          <a:latin typeface="Helvetica Neue"/>
                        </a:rPr>
                        <a:t>lambada-vocab-2.txt</a:t>
                      </a:r>
                    </a:p>
                  </a:txBody>
                  <a:tcPr marL="101600" marR="76200" marT="38100" marB="38100" anchor="ctr">
                    <a:solidFill>
                      <a:srgbClr val="F3F2EE"/>
                    </a:solidFill>
                  </a:tcPr>
                </a:tc>
                <a:tc>
                  <a:txBody>
                    <a:bodyPr/>
                    <a:lstStyle/>
                    <a:p>
                      <a:r>
                        <a:rPr sz="1200">
                          <a:solidFill>
                            <a:srgbClr val="52514E"/>
                          </a:solidFill>
                          <a:latin typeface="Helvetica Neue"/>
                        </a:rPr>
                        <a:t>112,746 entries</a:t>
                      </a:r>
                    </a:p>
                  </a:txBody>
                  <a:tcPr marL="101600" marR="76200" marT="38100" marB="38100" anchor="ctr">
                    <a:solidFill>
                      <a:srgbClr val="F3F2EE"/>
                    </a:solidFill>
                  </a:tcPr>
                </a:tc>
                <a:tc>
                  <a:txBody>
                    <a:bodyPr/>
                    <a:lstStyle/>
                    <a:p>
                      <a:r>
                        <a:rPr sz="1200">
                          <a:solidFill>
                            <a:srgbClr val="52514E"/>
                          </a:solidFill>
                          <a:latin typeface="Helvetica Neue"/>
                        </a:rPr>
                        <a:t>Reference vocabulary</a:t>
                      </a:r>
                    </a:p>
                  </a:txBody>
                  <a:tcPr marL="101600" marR="76200" marT="38100" marB="38100" anchor="ctr">
                    <a:solidFill>
                      <a:srgbClr val="F3F2EE"/>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48640" y="4846320"/>
            <a:ext cx="11064240" cy="914400"/>
          </a:xfrm>
          <a:prstGeom prst="rect">
            <a:avLst/>
          </a:prstGeom>
          <a:noFill/>
        </p:spPr>
        <p:txBody>
          <a:bodyPr wrap="square" lIns="0" tIns="0" rIns="0" bIns="0" anchor="t">
            <a:spAutoFit/>
          </a:bodyPr>
          <a:lstStyle/>
          <a:p>
            <a:pPr algn="l">
              <a:lnSpc>
                <a:spcPct val="130000"/>
              </a:lnSpc>
            </a:pPr>
            <a:r>
              <a:rPr sz="1300" b="0" i="1">
                <a:solidFill>
                  <a:srgbClr val="52514E"/>
                </a:solidFill>
                <a:latin typeface="Helvetica Neue"/>
              </a:rPr>
              <a:t>This evaluation uses only the Test split (5,153 passages, sampled down to 1,000 for the saved runs) — the other splits exist in the released dataset but aren't used for scoring here.</a:t>
            </a:r>
          </a:p>
        </p:txBody>
      </p:sp>
      <p:sp>
        <p:nvSpPr>
          <p:cNvPr id="8" name="TextBox 7"/>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9" name="TextBox 8"/>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LAMBADA: scoring flow, in detail</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3291840" y="1737360"/>
            <a:ext cx="5577840" cy="402336"/>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Passage</a:t>
            </a:r>
          </a:p>
        </p:txBody>
      </p:sp>
      <p:sp>
        <p:nvSpPr>
          <p:cNvPr id="7" name="Rounded Rectangle 6"/>
          <p:cNvSpPr/>
          <p:nvPr/>
        </p:nvSpPr>
        <p:spPr>
          <a:xfrm>
            <a:off x="3291840" y="2231136"/>
            <a:ext cx="5577840" cy="402336"/>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Remove last word</a:t>
            </a:r>
          </a:p>
        </p:txBody>
      </p:sp>
      <p:sp>
        <p:nvSpPr>
          <p:cNvPr id="8" name="Rounded Rectangle 7"/>
          <p:cNvSpPr/>
          <p:nvPr/>
        </p:nvSpPr>
        <p:spPr>
          <a:xfrm>
            <a:off x="3291840" y="2724912"/>
            <a:ext cx="5577840" cy="402336"/>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Build prompt with few-shot examples</a:t>
            </a:r>
          </a:p>
        </p:txBody>
      </p:sp>
      <p:sp>
        <p:nvSpPr>
          <p:cNvPr id="9" name="Rounded Rectangle 8"/>
          <p:cNvSpPr/>
          <p:nvPr/>
        </p:nvSpPr>
        <p:spPr>
          <a:xfrm>
            <a:off x="3291840" y="3218688"/>
            <a:ext cx="5577840" cy="402336"/>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OpenRouter API call (temperature 0.0, greedy)</a:t>
            </a:r>
          </a:p>
        </p:txBody>
      </p:sp>
      <p:sp>
        <p:nvSpPr>
          <p:cNvPr id="10" name="Rounded Rectangle 9"/>
          <p:cNvSpPr/>
          <p:nvPr/>
        </p:nvSpPr>
        <p:spPr>
          <a:xfrm>
            <a:off x="3291840" y="3712464"/>
            <a:ext cx="5577840" cy="402336"/>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Parse predicted word</a:t>
            </a:r>
          </a:p>
        </p:txBody>
      </p:sp>
      <p:sp>
        <p:nvSpPr>
          <p:cNvPr id="11" name="Rounded Rectangle 10"/>
          <p:cNvSpPr/>
          <p:nvPr/>
        </p:nvSpPr>
        <p:spPr>
          <a:xfrm>
            <a:off x="3291840" y="4206240"/>
            <a:ext cx="5577840" cy="402336"/>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Normalize: lowercase + strip punctuation</a:t>
            </a:r>
          </a:p>
        </p:txBody>
      </p:sp>
      <p:sp>
        <p:nvSpPr>
          <p:cNvPr id="12" name="Rounded Rectangle 11"/>
          <p:cNvSpPr/>
          <p:nvPr/>
        </p:nvSpPr>
        <p:spPr>
          <a:xfrm>
            <a:off x="3291840" y="4700016"/>
            <a:ext cx="5577840" cy="402336"/>
          </a:xfrm>
          <a:prstGeom prst="roundRect">
            <a:avLst>
              <a:gd name="adj" fmla="val 50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Equals target?</a:t>
            </a:r>
          </a:p>
        </p:txBody>
      </p:sp>
      <p:sp>
        <p:nvSpPr>
          <p:cNvPr id="13" name="Rounded Rectangle 12"/>
          <p:cNvSpPr/>
          <p:nvPr/>
        </p:nvSpPr>
        <p:spPr>
          <a:xfrm>
            <a:off x="3291840" y="5193792"/>
            <a:ext cx="5577840" cy="402336"/>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Correct → tally accuracy</a:t>
            </a:r>
          </a:p>
        </p:txBody>
      </p:sp>
      <p:sp>
        <p:nvSpPr>
          <p:cNvPr id="14" name="Rounded Rectangle 13"/>
          <p:cNvSpPr/>
          <p:nvPr/>
        </p:nvSpPr>
        <p:spPr>
          <a:xfrm>
            <a:off x="3291840" y="5687568"/>
            <a:ext cx="5577840" cy="402336"/>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Incorrect → tally accuracy</a:t>
            </a:r>
          </a:p>
        </p:txBody>
      </p:sp>
      <p:sp>
        <p:nvSpPr>
          <p:cNvPr id="15" name="Rounded Rectangle 14"/>
          <p:cNvSpPr/>
          <p:nvPr/>
        </p:nvSpPr>
        <p:spPr>
          <a:xfrm>
            <a:off x="3291840" y="6181344"/>
            <a:ext cx="5577840" cy="402336"/>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200">
                <a:solidFill>
                  <a:srgbClr val="0B0B0B"/>
                </a:solidFill>
                <a:latin typeface="Helvetica Neue"/>
              </a:rPr>
              <a:t>Record latency for every call, right or wrong</a:t>
            </a:r>
          </a:p>
        </p:txBody>
      </p:sp>
      <p:sp>
        <p:nvSpPr>
          <p:cNvPr id="16" name="TextBox 15"/>
          <p:cNvSpPr txBox="1"/>
          <p:nvPr/>
        </p:nvSpPr>
        <p:spPr>
          <a:xfrm>
            <a:off x="548640" y="1737360"/>
            <a:ext cx="256032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KEY STEP</a:t>
            </a:r>
          </a:p>
        </p:txBody>
      </p:sp>
      <p:sp>
        <p:nvSpPr>
          <p:cNvPr id="17" name="TextBox 16"/>
          <p:cNvSpPr txBox="1"/>
          <p:nvPr/>
        </p:nvSpPr>
        <p:spPr>
          <a:xfrm>
            <a:off x="548640" y="2057400"/>
            <a:ext cx="2560320" cy="4114800"/>
          </a:xfrm>
          <a:prstGeom prst="rect">
            <a:avLst/>
          </a:prstGeom>
          <a:noFill/>
        </p:spPr>
        <p:txBody>
          <a:bodyPr wrap="square">
            <a:spAutoFit/>
          </a:bodyPr>
          <a:lstStyle/>
          <a:p>
            <a:pPr>
              <a:lnSpc>
                <a:spcPct val="112000"/>
              </a:lnSpc>
              <a:spcAft>
                <a:spcPts val="800"/>
              </a:spcAft>
            </a:pPr>
            <a:r>
              <a:rPr sz="1200">
                <a:solidFill>
                  <a:srgbClr val="52514E"/>
                </a:solidFill>
                <a:latin typeface="Helvetica Neue"/>
              </a:rPr>
              <a:t>—  Normalization is what makes exact-match accuracy fair — without it, capitalization or a trailing period would wrongly count a correct guess as wrong.</a:t>
            </a:r>
          </a:p>
        </p:txBody>
      </p:sp>
      <p:sp>
        <p:nvSpPr>
          <p:cNvPr id="18" name="TextBox 17"/>
          <p:cNvSpPr txBox="1"/>
          <p:nvPr/>
        </p:nvSpPr>
        <p:spPr>
          <a:xfrm>
            <a:off x="9144000" y="1737360"/>
            <a:ext cx="2468880" cy="292608"/>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NOTE</a:t>
            </a:r>
          </a:p>
        </p:txBody>
      </p:sp>
      <p:sp>
        <p:nvSpPr>
          <p:cNvPr id="19" name="TextBox 18"/>
          <p:cNvSpPr txBox="1"/>
          <p:nvPr/>
        </p:nvSpPr>
        <p:spPr>
          <a:xfrm>
            <a:off x="9144000" y="2057400"/>
            <a:ext cx="2468880" cy="4389120"/>
          </a:xfrm>
          <a:prstGeom prst="rect">
            <a:avLst/>
          </a:prstGeom>
          <a:noFill/>
        </p:spPr>
        <p:txBody>
          <a:bodyPr wrap="square">
            <a:spAutoFit/>
          </a:bodyPr>
          <a:lstStyle/>
          <a:p>
            <a:pPr>
              <a:lnSpc>
                <a:spcPct val="112000"/>
              </a:lnSpc>
              <a:spcAft>
                <a:spcPts val="800"/>
              </a:spcAft>
            </a:pPr>
            <a:r>
              <a:rPr sz="1200">
                <a:solidFill>
                  <a:srgbClr val="52514E"/>
                </a:solidFill>
                <a:latin typeface="Helvetica Neue"/>
              </a:rPr>
              <a:t>—  Latency is recorded for every call — correct, incorrect, or (after retries) failed — so the average reflects real-world response time, not just successful guesses.</a:t>
            </a:r>
          </a:p>
        </p:txBody>
      </p:sp>
      <p:sp>
        <p:nvSpPr>
          <p:cNvPr id="20" name="TextBox 19"/>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21" name="TextBox 20"/>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MMLU: how a run works</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91640"/>
            <a:ext cx="11064240" cy="548640"/>
          </a:xfrm>
          <a:prstGeom prst="rect">
            <a:avLst/>
          </a:prstGeom>
          <a:noFill/>
        </p:spPr>
        <p:txBody>
          <a:bodyPr wrap="square" lIns="0" tIns="0" rIns="0" bIns="0" anchor="t">
            <a:spAutoFit/>
          </a:bodyPr>
          <a:lstStyle/>
          <a:p>
            <a:pPr algn="l">
              <a:lnSpc>
                <a:spcPct val="100000"/>
              </a:lnSpc>
            </a:pPr>
            <a:r>
              <a:rPr sz="1300" b="0" i="0">
                <a:solidFill>
                  <a:srgbClr val="52514E"/>
                </a:solidFill>
                <a:latin typeface="Helvetica Neue"/>
              </a:rPr>
              <a:t>For every question the model first writes short step-by-step reasoning, then commits to one of four options (A–D); both the letter and the reasoning text are parsed and evaluated.</a:t>
            </a:r>
          </a:p>
        </p:txBody>
      </p:sp>
      <p:sp>
        <p:nvSpPr>
          <p:cNvPr id="7" name="Rounded Rectangle 6"/>
          <p:cNvSpPr/>
          <p:nvPr/>
        </p:nvSpPr>
        <p:spPr>
          <a:xfrm>
            <a:off x="548640" y="228600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1. </a:t>
            </a:r>
            <a:r>
              <a:rPr sz="1050">
                <a:solidFill>
                  <a:srgbClr val="0B0B0B"/>
                </a:solidFill>
                <a:latin typeface="Helvetica Neue"/>
              </a:rPr>
              <a:t>Set parameters: subjects, questions/subject, models, decoding</a:t>
            </a:r>
          </a:p>
        </p:txBody>
      </p:sp>
      <p:sp>
        <p:nvSpPr>
          <p:cNvPr id="8" name="Rounded Rectangle 7"/>
          <p:cNvSpPr/>
          <p:nvPr/>
        </p:nvSpPr>
        <p:spPr>
          <a:xfrm>
            <a:off x="548640" y="292608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2. </a:t>
            </a:r>
            <a:r>
              <a:rPr sz="1050">
                <a:solidFill>
                  <a:srgbClr val="0B0B0B"/>
                </a:solidFill>
                <a:latin typeface="Helvetica Neue"/>
              </a:rPr>
              <a:t>Trigger run: web UI, run_mmlu.sh, or evaluate_slm_mmlu.py</a:t>
            </a:r>
          </a:p>
        </p:txBody>
      </p:sp>
      <p:sp>
        <p:nvSpPr>
          <p:cNvPr id="9" name="Rounded Rectangle 8"/>
          <p:cNvSpPr/>
          <p:nvPr/>
        </p:nvSpPr>
        <p:spPr>
          <a:xfrm>
            <a:off x="548640" y="356616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3. </a:t>
            </a:r>
            <a:r>
              <a:rPr sz="1050">
                <a:solidFill>
                  <a:srgbClr val="0B0B0B"/>
                </a:solidFill>
                <a:latin typeface="Helvetica Neue"/>
              </a:rPr>
              <a:t>Resolve subjects (all / group preset / explicit list)</a:t>
            </a:r>
          </a:p>
        </p:txBody>
      </p:sp>
      <p:sp>
        <p:nvSpPr>
          <p:cNvPr id="10" name="Rounded Rectangle 9"/>
          <p:cNvSpPr/>
          <p:nvPr/>
        </p:nvSpPr>
        <p:spPr>
          <a:xfrm>
            <a:off x="548640" y="420624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4. </a:t>
            </a:r>
            <a:r>
              <a:rPr sz="1050">
                <a:solidFill>
                  <a:srgbClr val="0B0B0B"/>
                </a:solidFill>
                <a:latin typeface="Helvetica Neue"/>
              </a:rPr>
              <a:t>Fetch &amp; cache questions from the free HF datasets-server API</a:t>
            </a:r>
          </a:p>
        </p:txBody>
      </p:sp>
      <p:sp>
        <p:nvSpPr>
          <p:cNvPr id="11" name="Rounded Rectangle 10"/>
          <p:cNvSpPr/>
          <p:nvPr/>
        </p:nvSpPr>
        <p:spPr>
          <a:xfrm>
            <a:off x="4325112" y="2286000"/>
            <a:ext cx="3611880" cy="530352"/>
          </a:xfrm>
          <a:prstGeom prst="roundRect">
            <a:avLst>
              <a:gd name="adj" fmla="val 12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5. </a:t>
            </a:r>
            <a:r>
              <a:rPr sz="1050">
                <a:solidFill>
                  <a:srgbClr val="0B0B0B"/>
                </a:solidFill>
                <a:latin typeface="Helvetica Neue"/>
              </a:rPr>
              <a:t>Build chain-of-thought prompt (worked example + Reasoning/Answer format)</a:t>
            </a:r>
          </a:p>
        </p:txBody>
      </p:sp>
      <p:sp>
        <p:nvSpPr>
          <p:cNvPr id="12" name="Rounded Rectangle 11"/>
          <p:cNvSpPr/>
          <p:nvPr/>
        </p:nvSpPr>
        <p:spPr>
          <a:xfrm>
            <a:off x="4325112" y="292608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6. </a:t>
            </a:r>
            <a:r>
              <a:rPr sz="1050">
                <a:solidFill>
                  <a:srgbClr val="0B0B0B"/>
                </a:solidFill>
                <a:latin typeface="Helvetica Neue"/>
              </a:rPr>
              <a:t>Query model via OpenRouter</a:t>
            </a:r>
          </a:p>
        </p:txBody>
      </p:sp>
      <p:sp>
        <p:nvSpPr>
          <p:cNvPr id="13" name="Rounded Rectangle 12"/>
          <p:cNvSpPr/>
          <p:nvPr/>
        </p:nvSpPr>
        <p:spPr>
          <a:xfrm>
            <a:off x="4325112" y="356616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7. </a:t>
            </a:r>
            <a:r>
              <a:rPr sz="1050">
                <a:solidFill>
                  <a:srgbClr val="0B0B0B"/>
                </a:solidFill>
                <a:latin typeface="Helvetica Neue"/>
              </a:rPr>
              <a:t>Parse answer letter + reasoning text</a:t>
            </a:r>
          </a:p>
        </p:txBody>
      </p:sp>
      <p:sp>
        <p:nvSpPr>
          <p:cNvPr id="14" name="Rounded Rectangle 13"/>
          <p:cNvSpPr/>
          <p:nvPr/>
        </p:nvSpPr>
        <p:spPr>
          <a:xfrm>
            <a:off x="4325112" y="4206240"/>
            <a:ext cx="3611880" cy="530352"/>
          </a:xfrm>
          <a:prstGeom prst="roundRect">
            <a:avLst>
              <a:gd name="adj" fmla="val 12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8. </a:t>
            </a:r>
            <a:r>
              <a:rPr sz="1050">
                <a:solidFill>
                  <a:srgbClr val="0B0B0B"/>
                </a:solidFill>
                <a:latin typeface="Helvetica Neue"/>
              </a:rPr>
              <a:t>Analyze reasoning: length, consistency, verdict</a:t>
            </a:r>
          </a:p>
        </p:txBody>
      </p:sp>
      <p:sp>
        <p:nvSpPr>
          <p:cNvPr id="15" name="Rounded Rectangle 14"/>
          <p:cNvSpPr/>
          <p:nvPr/>
        </p:nvSpPr>
        <p:spPr>
          <a:xfrm>
            <a:off x="8101584" y="228600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9. </a:t>
            </a:r>
            <a:r>
              <a:rPr sz="1050">
                <a:solidFill>
                  <a:srgbClr val="0B0B0B"/>
                </a:solidFill>
                <a:latin typeface="Helvetica Neue"/>
              </a:rPr>
              <a:t>Compare to correct letter → correct / incorrect</a:t>
            </a:r>
          </a:p>
        </p:txBody>
      </p:sp>
      <p:sp>
        <p:nvSpPr>
          <p:cNvPr id="16" name="Rounded Rectangle 15"/>
          <p:cNvSpPr/>
          <p:nvPr/>
        </p:nvSpPr>
        <p:spPr>
          <a:xfrm>
            <a:off x="8101584" y="292608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10. </a:t>
            </a:r>
            <a:r>
              <a:rPr sz="1050">
                <a:solidFill>
                  <a:srgbClr val="0B0B0B"/>
                </a:solidFill>
                <a:latin typeface="Helvetica Neue"/>
              </a:rPr>
              <a:t>Aggregate: overall / per-subject / per-category accuracy</a:t>
            </a:r>
          </a:p>
        </p:txBody>
      </p:sp>
      <p:sp>
        <p:nvSpPr>
          <p:cNvPr id="17" name="Rounded Rectangle 16"/>
          <p:cNvSpPr/>
          <p:nvPr/>
        </p:nvSpPr>
        <p:spPr>
          <a:xfrm>
            <a:off x="8101584" y="356616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11. </a:t>
            </a:r>
            <a:r>
              <a:rPr sz="1050">
                <a:solidFill>
                  <a:srgbClr val="0B0B0B"/>
                </a:solidFill>
                <a:latin typeface="Helvetica Neue"/>
              </a:rPr>
              <a:t>Rank models: accuracy, speed, reasoning, composite score</a:t>
            </a:r>
          </a:p>
        </p:txBody>
      </p:sp>
      <p:sp>
        <p:nvSpPr>
          <p:cNvPr id="18" name="Rounded Rectangle 17"/>
          <p:cNvSpPr/>
          <p:nvPr/>
        </p:nvSpPr>
        <p:spPr>
          <a:xfrm>
            <a:off x="8101584" y="4206240"/>
            <a:ext cx="3611880" cy="530352"/>
          </a:xfrm>
          <a:prstGeom prst="roundRect">
            <a:avLst>
              <a:gd name="adj" fmla="val 12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wrap="square" lIns="114300" tIns="38100" rIns="76200" rtlCol="0" anchor="ctr"/>
          <a:lstStyle/>
          <a:p>
            <a:pPr algn="ctr"/>
            <a:r>
              <a:rPr sz="1050" b="1">
                <a:solidFill>
                  <a:srgbClr val="2A78D6"/>
                </a:solidFill>
                <a:latin typeface="Helvetica Neue"/>
              </a:rPr>
              <a:t>12. </a:t>
            </a:r>
            <a:r>
              <a:rPr sz="1050">
                <a:solidFill>
                  <a:srgbClr val="0B0B0B"/>
                </a:solidFill>
                <a:latin typeface="Helvetica Neue"/>
              </a:rPr>
              <a:t>Save results JSON, append to history, render in web app</a:t>
            </a:r>
          </a:p>
        </p:txBody>
      </p:sp>
      <p:sp>
        <p:nvSpPr>
          <p:cNvPr id="19" name="TextBox 18"/>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20" name="TextBox 19"/>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MMLU: components</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48640" y="1737360"/>
          <a:ext cx="11064238" cy="4709160"/>
        </p:xfrm>
        <a:graphic>
          <a:graphicData uri="http://schemas.openxmlformats.org/drawingml/2006/table">
            <a:tbl>
              <a:tblPr firstRow="1" bandRow="1">
                <a:tableStyleId>{5C22544A-7EE6-4342-B048-85BDC9FD1C3A}</a:tableStyleId>
              </a:tblPr>
              <a:tblGrid>
                <a:gridCol w="1971844">
                  <a:extLst>
                    <a:ext uri="{9D8B030D-6E8A-4147-A177-3AD203B41FA5}">
                      <a16:colId xmlns:a16="http://schemas.microsoft.com/office/drawing/2014/main" val="20000"/>
                    </a:ext>
                  </a:extLst>
                </a:gridCol>
                <a:gridCol w="3505501">
                  <a:extLst>
                    <a:ext uri="{9D8B030D-6E8A-4147-A177-3AD203B41FA5}">
                      <a16:colId xmlns:a16="http://schemas.microsoft.com/office/drawing/2014/main" val="20001"/>
                    </a:ext>
                  </a:extLst>
                </a:gridCol>
                <a:gridCol w="5586893">
                  <a:extLst>
                    <a:ext uri="{9D8B030D-6E8A-4147-A177-3AD203B41FA5}">
                      <a16:colId xmlns:a16="http://schemas.microsoft.com/office/drawing/2014/main" val="20002"/>
                    </a:ext>
                  </a:extLst>
                </a:gridCol>
              </a:tblGrid>
              <a:tr h="336368">
                <a:tc>
                  <a:txBody>
                    <a:bodyPr/>
                    <a:lstStyle/>
                    <a:p>
                      <a:r>
                        <a:rPr sz="1050" b="1">
                          <a:solidFill>
                            <a:srgbClr val="FFFFFF"/>
                          </a:solidFill>
                          <a:latin typeface="Helvetica Neue"/>
                        </a:rPr>
                        <a:t>Component</a:t>
                      </a:r>
                    </a:p>
                  </a:txBody>
                  <a:tcPr marL="101600" marR="76200" marT="50800" marB="50800" anchor="ctr">
                    <a:solidFill>
                      <a:srgbClr val="0B0B0B"/>
                    </a:solidFill>
                  </a:tcPr>
                </a:tc>
                <a:tc>
                  <a:txBody>
                    <a:bodyPr/>
                    <a:lstStyle/>
                    <a:p>
                      <a:r>
                        <a:rPr sz="1050" b="1">
                          <a:solidFill>
                            <a:srgbClr val="FFFFFF"/>
                          </a:solidFill>
                          <a:latin typeface="Helvetica Neue"/>
                        </a:rPr>
                        <a:t>File / Function</a:t>
                      </a:r>
                    </a:p>
                  </a:txBody>
                  <a:tcPr marL="101600" marR="76200" marT="50800" marB="50800" anchor="ctr">
                    <a:solidFill>
                      <a:srgbClr val="0B0B0B"/>
                    </a:solidFill>
                  </a:tcPr>
                </a:tc>
                <a:tc>
                  <a:txBody>
                    <a:bodyPr/>
                    <a:lstStyle/>
                    <a:p>
                      <a:r>
                        <a:rPr sz="1050" b="1">
                          <a:solidFill>
                            <a:srgbClr val="FFFFFF"/>
                          </a:solidFill>
                          <a:latin typeface="Helvetica Neue"/>
                        </a:rPr>
                        <a:t>Role</a:t>
                      </a:r>
                    </a:p>
                  </a:txBody>
                  <a:tcPr marL="101600" marR="76200" marT="50800" marB="50800" anchor="ctr">
                    <a:solidFill>
                      <a:srgbClr val="0B0B0B"/>
                    </a:solidFill>
                  </a:tcPr>
                </a:tc>
                <a:extLst>
                  <a:ext uri="{0D108BD9-81ED-4DB2-BD59-A6C34878D82A}">
                    <a16:rowId xmlns:a16="http://schemas.microsoft.com/office/drawing/2014/main" val="10000"/>
                  </a:ext>
                </a:extLst>
              </a:tr>
              <a:tr h="336368">
                <a:tc>
                  <a:txBody>
                    <a:bodyPr/>
                    <a:lstStyle/>
                    <a:p>
                      <a:r>
                        <a:rPr sz="930" b="1">
                          <a:solidFill>
                            <a:srgbClr val="0B0B0B"/>
                          </a:solidFill>
                          <a:latin typeface="Helvetica Neue"/>
                        </a:rPr>
                        <a:t>Run parameters</a:t>
                      </a:r>
                    </a:p>
                  </a:txBody>
                  <a:tcPr marL="101600" marR="76200" marT="38100" marB="38100" anchor="ctr">
                    <a:solidFill>
                      <a:srgbClr val="FCFCFB"/>
                    </a:solidFill>
                  </a:tcPr>
                </a:tc>
                <a:tc>
                  <a:txBody>
                    <a:bodyPr/>
                    <a:lstStyle/>
                    <a:p>
                      <a:r>
                        <a:rPr sz="930">
                          <a:solidFill>
                            <a:srgbClr val="52514E"/>
                          </a:solidFill>
                          <a:latin typeface="Helvetica Neue"/>
                        </a:rPr>
                        <a:t>evaluate_slm_mmlu.py, run_mmlu.sh</a:t>
                      </a:r>
                    </a:p>
                  </a:txBody>
                  <a:tcPr marL="101600" marR="76200" marT="38100" marB="38100" anchor="ctr">
                    <a:solidFill>
                      <a:srgbClr val="FCFCFB"/>
                    </a:solidFill>
                  </a:tcPr>
                </a:tc>
                <a:tc>
                  <a:txBody>
                    <a:bodyPr/>
                    <a:lstStyle/>
                    <a:p>
                      <a:r>
                        <a:rPr sz="930">
                          <a:solidFill>
                            <a:srgbClr val="52514E"/>
                          </a:solidFill>
                          <a:latin typeface="Helvetica Neue"/>
                        </a:rPr>
                        <a:t>Subject selection, questions/subject, models, decoding params</a:t>
                      </a:r>
                    </a:p>
                  </a:txBody>
                  <a:tcPr marL="101600" marR="76200" marT="38100" marB="38100" anchor="ctr">
                    <a:solidFill>
                      <a:srgbClr val="FCFCFB"/>
                    </a:solidFill>
                  </a:tcPr>
                </a:tc>
                <a:extLst>
                  <a:ext uri="{0D108BD9-81ED-4DB2-BD59-A6C34878D82A}">
                    <a16:rowId xmlns:a16="http://schemas.microsoft.com/office/drawing/2014/main" val="10001"/>
                  </a:ext>
                </a:extLst>
              </a:tr>
              <a:tr h="336368">
                <a:tc>
                  <a:txBody>
                    <a:bodyPr/>
                    <a:lstStyle/>
                    <a:p>
                      <a:r>
                        <a:rPr sz="930" b="1">
                          <a:solidFill>
                            <a:srgbClr val="0B0B0B"/>
                          </a:solidFill>
                          <a:latin typeface="Helvetica Neue"/>
                        </a:rPr>
                        <a:t>Subject catalogue</a:t>
                      </a:r>
                    </a:p>
                  </a:txBody>
                  <a:tcPr marL="101600" marR="76200" marT="38100" marB="38100" anchor="ctr">
                    <a:solidFill>
                      <a:srgbClr val="F3F2EE"/>
                    </a:solidFill>
                  </a:tcPr>
                </a:tc>
                <a:tc>
                  <a:txBody>
                    <a:bodyPr/>
                    <a:lstStyle/>
                    <a:p>
                      <a:r>
                        <a:rPr sz="930">
                          <a:solidFill>
                            <a:srgbClr val="52514E"/>
                          </a:solidFill>
                          <a:latin typeface="Helvetica Neue"/>
                        </a:rPr>
                        <a:t>MMLU_SUBJECTS, SUBJECT_GROUPS</a:t>
                      </a:r>
                    </a:p>
                  </a:txBody>
                  <a:tcPr marL="101600" marR="76200" marT="38100" marB="38100" anchor="ctr">
                    <a:solidFill>
                      <a:srgbClr val="F3F2EE"/>
                    </a:solidFill>
                  </a:tcPr>
                </a:tc>
                <a:tc>
                  <a:txBody>
                    <a:bodyPr/>
                    <a:lstStyle/>
                    <a:p>
                      <a:r>
                        <a:rPr sz="930">
                          <a:solidFill>
                            <a:srgbClr val="52514E"/>
                          </a:solidFill>
                          <a:latin typeface="Helvetica Neue"/>
                        </a:rPr>
                        <a:t>57 subjects mapped to their official categories</a:t>
                      </a:r>
                    </a:p>
                  </a:txBody>
                  <a:tcPr marL="101600" marR="76200" marT="38100" marB="38100" anchor="ctr">
                    <a:solidFill>
                      <a:srgbClr val="F3F2EE"/>
                    </a:solidFill>
                  </a:tcPr>
                </a:tc>
                <a:extLst>
                  <a:ext uri="{0D108BD9-81ED-4DB2-BD59-A6C34878D82A}">
                    <a16:rowId xmlns:a16="http://schemas.microsoft.com/office/drawing/2014/main" val="10002"/>
                  </a:ext>
                </a:extLst>
              </a:tr>
              <a:tr h="336368">
                <a:tc>
                  <a:txBody>
                    <a:bodyPr/>
                    <a:lstStyle/>
                    <a:p>
                      <a:r>
                        <a:rPr sz="930" b="1">
                          <a:solidFill>
                            <a:srgbClr val="0B0B0B"/>
                          </a:solidFill>
                          <a:latin typeface="Helvetica Neue"/>
                        </a:rPr>
                        <a:t>Dataset fetcher</a:t>
                      </a:r>
                    </a:p>
                  </a:txBody>
                  <a:tcPr marL="101600" marR="76200" marT="38100" marB="38100" anchor="ctr">
                    <a:solidFill>
                      <a:srgbClr val="FCFCFB"/>
                    </a:solidFill>
                  </a:tcPr>
                </a:tc>
                <a:tc>
                  <a:txBody>
                    <a:bodyPr/>
                    <a:lstStyle/>
                    <a:p>
                      <a:r>
                        <a:rPr sz="930">
                          <a:solidFill>
                            <a:srgbClr val="52514E"/>
                          </a:solidFill>
                          <a:latin typeface="Helvetica Neue"/>
                        </a:rPr>
                        <a:t>fetch_subject_questions, _download_subject</a:t>
                      </a:r>
                    </a:p>
                  </a:txBody>
                  <a:tcPr marL="101600" marR="76200" marT="38100" marB="38100" anchor="ctr">
                    <a:solidFill>
                      <a:srgbClr val="FCFCFB"/>
                    </a:solidFill>
                  </a:tcPr>
                </a:tc>
                <a:tc>
                  <a:txBody>
                    <a:bodyPr/>
                    <a:lstStyle/>
                    <a:p>
                      <a:r>
                        <a:rPr sz="930">
                          <a:solidFill>
                            <a:srgbClr val="52514E"/>
                          </a:solidFill>
                          <a:latin typeface="Helvetica Neue"/>
                        </a:rPr>
                        <a:t>Free HF datasets-server client + local JSON cache</a:t>
                      </a:r>
                    </a:p>
                  </a:txBody>
                  <a:tcPr marL="101600" marR="76200" marT="38100" marB="38100" anchor="ctr">
                    <a:solidFill>
                      <a:srgbClr val="FCFCFB"/>
                    </a:solidFill>
                  </a:tcPr>
                </a:tc>
                <a:extLst>
                  <a:ext uri="{0D108BD9-81ED-4DB2-BD59-A6C34878D82A}">
                    <a16:rowId xmlns:a16="http://schemas.microsoft.com/office/drawing/2014/main" val="10003"/>
                  </a:ext>
                </a:extLst>
              </a:tr>
              <a:tr h="336368">
                <a:tc>
                  <a:txBody>
                    <a:bodyPr/>
                    <a:lstStyle/>
                    <a:p>
                      <a:r>
                        <a:rPr sz="930" b="1">
                          <a:solidFill>
                            <a:srgbClr val="0B0B0B"/>
                          </a:solidFill>
                          <a:latin typeface="Helvetica Neue"/>
                        </a:rPr>
                        <a:t>Task loader</a:t>
                      </a:r>
                    </a:p>
                  </a:txBody>
                  <a:tcPr marL="101600" marR="76200" marT="38100" marB="38100" anchor="ctr">
                    <a:solidFill>
                      <a:srgbClr val="F3F2EE"/>
                    </a:solidFill>
                  </a:tcPr>
                </a:tc>
                <a:tc>
                  <a:txBody>
                    <a:bodyPr/>
                    <a:lstStyle/>
                    <a:p>
                      <a:r>
                        <a:rPr sz="930">
                          <a:solidFill>
                            <a:srgbClr val="52514E"/>
                          </a:solidFill>
                          <a:latin typeface="Helvetica Neue"/>
                        </a:rPr>
                        <a:t>load_mmlu_tasks</a:t>
                      </a:r>
                    </a:p>
                  </a:txBody>
                  <a:tcPr marL="101600" marR="76200" marT="38100" marB="38100" anchor="ctr">
                    <a:solidFill>
                      <a:srgbClr val="F3F2EE"/>
                    </a:solidFill>
                  </a:tcPr>
                </a:tc>
                <a:tc>
                  <a:txBody>
                    <a:bodyPr/>
                    <a:lstStyle/>
                    <a:p>
                      <a:r>
                        <a:rPr sz="930">
                          <a:solidFill>
                            <a:srgbClr val="52514E"/>
                          </a:solidFill>
                          <a:latin typeface="Helvetica Neue"/>
                        </a:rPr>
                        <a:t>Flattens subjects × questions into one ordered task list</a:t>
                      </a:r>
                    </a:p>
                  </a:txBody>
                  <a:tcPr marL="101600" marR="76200" marT="38100" marB="38100" anchor="ctr">
                    <a:solidFill>
                      <a:srgbClr val="F3F2EE"/>
                    </a:solidFill>
                  </a:tcPr>
                </a:tc>
                <a:extLst>
                  <a:ext uri="{0D108BD9-81ED-4DB2-BD59-A6C34878D82A}">
                    <a16:rowId xmlns:a16="http://schemas.microsoft.com/office/drawing/2014/main" val="10004"/>
                  </a:ext>
                </a:extLst>
              </a:tr>
              <a:tr h="336368">
                <a:tc>
                  <a:txBody>
                    <a:bodyPr/>
                    <a:lstStyle/>
                    <a:p>
                      <a:r>
                        <a:rPr sz="930" b="1">
                          <a:solidFill>
                            <a:srgbClr val="0B0B0B"/>
                          </a:solidFill>
                          <a:latin typeface="Helvetica Neue"/>
                        </a:rPr>
                        <a:t>Prompt builder</a:t>
                      </a:r>
                    </a:p>
                  </a:txBody>
                  <a:tcPr marL="101600" marR="76200" marT="38100" marB="38100" anchor="ctr">
                    <a:solidFill>
                      <a:srgbClr val="FCFCFB"/>
                    </a:solidFill>
                  </a:tcPr>
                </a:tc>
                <a:tc>
                  <a:txBody>
                    <a:bodyPr/>
                    <a:lstStyle/>
                    <a:p>
                      <a:r>
                        <a:rPr sz="930">
                          <a:solidFill>
                            <a:srgbClr val="52514E"/>
                          </a:solidFill>
                          <a:latin typeface="Helvetica Neue"/>
                        </a:rPr>
                        <a:t>build_mmlu_prompt, WORKED_EXAMPLE</a:t>
                      </a:r>
                    </a:p>
                  </a:txBody>
                  <a:tcPr marL="101600" marR="76200" marT="38100" marB="38100" anchor="ctr">
                    <a:solidFill>
                      <a:srgbClr val="FCFCFB"/>
                    </a:solidFill>
                  </a:tcPr>
                </a:tc>
                <a:tc>
                  <a:txBody>
                    <a:bodyPr/>
                    <a:lstStyle/>
                    <a:p>
                      <a:r>
                        <a:rPr sz="930">
                          <a:solidFill>
                            <a:srgbClr val="52514E"/>
                          </a:solidFill>
                          <a:latin typeface="Helvetica Neue"/>
                        </a:rPr>
                        <a:t>Chain-of-thought prompt with a worked example</a:t>
                      </a:r>
                    </a:p>
                  </a:txBody>
                  <a:tcPr marL="101600" marR="76200" marT="38100" marB="38100" anchor="ctr">
                    <a:solidFill>
                      <a:srgbClr val="FCFCFB"/>
                    </a:solidFill>
                  </a:tcPr>
                </a:tc>
                <a:extLst>
                  <a:ext uri="{0D108BD9-81ED-4DB2-BD59-A6C34878D82A}">
                    <a16:rowId xmlns:a16="http://schemas.microsoft.com/office/drawing/2014/main" val="10005"/>
                  </a:ext>
                </a:extLst>
              </a:tr>
              <a:tr h="336368">
                <a:tc>
                  <a:txBody>
                    <a:bodyPr/>
                    <a:lstStyle/>
                    <a:p>
                      <a:r>
                        <a:rPr sz="930" b="1">
                          <a:solidFill>
                            <a:srgbClr val="0B0B0B"/>
                          </a:solidFill>
                          <a:latin typeface="Helvetica Neue"/>
                        </a:rPr>
                        <a:t>Model client</a:t>
                      </a:r>
                    </a:p>
                  </a:txBody>
                  <a:tcPr marL="101600" marR="76200" marT="38100" marB="38100" anchor="ctr">
                    <a:solidFill>
                      <a:srgbClr val="F3F2EE"/>
                    </a:solidFill>
                  </a:tcPr>
                </a:tc>
                <a:tc>
                  <a:txBody>
                    <a:bodyPr/>
                    <a:lstStyle/>
                    <a:p>
                      <a:r>
                        <a:rPr sz="930">
                          <a:solidFill>
                            <a:srgbClr val="52514E"/>
                          </a:solidFill>
                          <a:latin typeface="Helvetica Neue"/>
                        </a:rPr>
                        <a:t>query_model_mmlu</a:t>
                      </a:r>
                    </a:p>
                  </a:txBody>
                  <a:tcPr marL="101600" marR="76200" marT="38100" marB="38100" anchor="ctr">
                    <a:solidFill>
                      <a:srgbClr val="F3F2EE"/>
                    </a:solidFill>
                  </a:tcPr>
                </a:tc>
                <a:tc>
                  <a:txBody>
                    <a:bodyPr/>
                    <a:lstStyle/>
                    <a:p>
                      <a:r>
                        <a:rPr sz="930">
                          <a:solidFill>
                            <a:srgbClr val="52514E"/>
                          </a:solidFill>
                          <a:latin typeface="Helvetica Neue"/>
                        </a:rPr>
                        <a:t>OpenRouter call with timing + error capture</a:t>
                      </a:r>
                    </a:p>
                  </a:txBody>
                  <a:tcPr marL="101600" marR="76200" marT="38100" marB="38100" anchor="ctr">
                    <a:solidFill>
                      <a:srgbClr val="F3F2EE"/>
                    </a:solidFill>
                  </a:tcPr>
                </a:tc>
                <a:extLst>
                  <a:ext uri="{0D108BD9-81ED-4DB2-BD59-A6C34878D82A}">
                    <a16:rowId xmlns:a16="http://schemas.microsoft.com/office/drawing/2014/main" val="10006"/>
                  </a:ext>
                </a:extLst>
              </a:tr>
              <a:tr h="336368">
                <a:tc>
                  <a:txBody>
                    <a:bodyPr/>
                    <a:lstStyle/>
                    <a:p>
                      <a:r>
                        <a:rPr sz="930" b="1">
                          <a:solidFill>
                            <a:srgbClr val="0B0B0B"/>
                          </a:solidFill>
                          <a:latin typeface="Helvetica Neue"/>
                        </a:rPr>
                        <a:t>Response parser</a:t>
                      </a:r>
                    </a:p>
                  </a:txBody>
                  <a:tcPr marL="101600" marR="76200" marT="38100" marB="38100" anchor="ctr">
                    <a:solidFill>
                      <a:srgbClr val="FCFCFB"/>
                    </a:solidFill>
                  </a:tcPr>
                </a:tc>
                <a:tc>
                  <a:txBody>
                    <a:bodyPr/>
                    <a:lstStyle/>
                    <a:p>
                      <a:r>
                        <a:rPr sz="930">
                          <a:solidFill>
                            <a:srgbClr val="52514E"/>
                          </a:solidFill>
                          <a:latin typeface="Helvetica Neue"/>
                        </a:rPr>
                        <a:t>parse_mmlu_response</a:t>
                      </a:r>
                    </a:p>
                  </a:txBody>
                  <a:tcPr marL="101600" marR="76200" marT="38100" marB="38100" anchor="ctr">
                    <a:solidFill>
                      <a:srgbClr val="FCFCFB"/>
                    </a:solidFill>
                  </a:tcPr>
                </a:tc>
                <a:tc>
                  <a:txBody>
                    <a:bodyPr/>
                    <a:lstStyle/>
                    <a:p>
                      <a:r>
                        <a:rPr sz="930">
                          <a:solidFill>
                            <a:srgbClr val="52514E"/>
                          </a:solidFill>
                          <a:latin typeface="Helvetica Neue"/>
                        </a:rPr>
                        <a:t>Splits a raw response into (answer letter, reasoning)</a:t>
                      </a:r>
                    </a:p>
                  </a:txBody>
                  <a:tcPr marL="101600" marR="76200" marT="38100" marB="38100" anchor="ctr">
                    <a:solidFill>
                      <a:srgbClr val="FCFCFB"/>
                    </a:solidFill>
                  </a:tcPr>
                </a:tc>
                <a:extLst>
                  <a:ext uri="{0D108BD9-81ED-4DB2-BD59-A6C34878D82A}">
                    <a16:rowId xmlns:a16="http://schemas.microsoft.com/office/drawing/2014/main" val="10007"/>
                  </a:ext>
                </a:extLst>
              </a:tr>
              <a:tr h="336368">
                <a:tc>
                  <a:txBody>
                    <a:bodyPr/>
                    <a:lstStyle/>
                    <a:p>
                      <a:r>
                        <a:rPr sz="930" b="1">
                          <a:solidFill>
                            <a:srgbClr val="0B0B0B"/>
                          </a:solidFill>
                          <a:latin typeface="Helvetica Neue"/>
                        </a:rPr>
                        <a:t>Reasoning analyzer</a:t>
                      </a:r>
                    </a:p>
                  </a:txBody>
                  <a:tcPr marL="101600" marR="76200" marT="38100" marB="38100" anchor="ctr">
                    <a:solidFill>
                      <a:srgbClr val="F3F2EE"/>
                    </a:solidFill>
                  </a:tcPr>
                </a:tc>
                <a:tc>
                  <a:txBody>
                    <a:bodyPr/>
                    <a:lstStyle/>
                    <a:p>
                      <a:r>
                        <a:rPr sz="930">
                          <a:solidFill>
                            <a:srgbClr val="52514E"/>
                          </a:solidFill>
                          <a:latin typeface="Helvetica Neue"/>
                        </a:rPr>
                        <a:t>analyze_reasoning</a:t>
                      </a:r>
                    </a:p>
                  </a:txBody>
                  <a:tcPr marL="101600" marR="76200" marT="38100" marB="38100" anchor="ctr">
                    <a:solidFill>
                      <a:srgbClr val="F3F2EE"/>
                    </a:solidFill>
                  </a:tcPr>
                </a:tc>
                <a:tc>
                  <a:txBody>
                    <a:bodyPr/>
                    <a:lstStyle/>
                    <a:p>
                      <a:r>
                        <a:rPr sz="930">
                          <a:solidFill>
                            <a:srgbClr val="52514E"/>
                          </a:solidFill>
                          <a:latin typeface="Helvetica Neue"/>
                        </a:rPr>
                        <a:t>Presence, word count, consistency, verdict</a:t>
                      </a:r>
                    </a:p>
                  </a:txBody>
                  <a:tcPr marL="101600" marR="76200" marT="38100" marB="38100" anchor="ctr">
                    <a:solidFill>
                      <a:srgbClr val="F3F2EE"/>
                    </a:solidFill>
                  </a:tcPr>
                </a:tc>
                <a:extLst>
                  <a:ext uri="{0D108BD9-81ED-4DB2-BD59-A6C34878D82A}">
                    <a16:rowId xmlns:a16="http://schemas.microsoft.com/office/drawing/2014/main" val="10008"/>
                  </a:ext>
                </a:extLst>
              </a:tr>
              <a:tr h="336368">
                <a:tc>
                  <a:txBody>
                    <a:bodyPr/>
                    <a:lstStyle/>
                    <a:p>
                      <a:r>
                        <a:rPr sz="930" b="1">
                          <a:solidFill>
                            <a:srgbClr val="0B0B0B"/>
                          </a:solidFill>
                          <a:latin typeface="Helvetica Neue"/>
                        </a:rPr>
                        <a:t>Evaluator</a:t>
                      </a:r>
                    </a:p>
                  </a:txBody>
                  <a:tcPr marL="101600" marR="76200" marT="38100" marB="38100" anchor="ctr">
                    <a:solidFill>
                      <a:srgbClr val="FCFCFB"/>
                    </a:solidFill>
                  </a:tcPr>
                </a:tc>
                <a:tc>
                  <a:txBody>
                    <a:bodyPr/>
                    <a:lstStyle/>
                    <a:p>
                      <a:r>
                        <a:rPr sz="930">
                          <a:solidFill>
                            <a:srgbClr val="52514E"/>
                          </a:solidFill>
                          <a:latin typeface="Helvetica Neue"/>
                        </a:rPr>
                        <a:t>evaluate_model_mmlu</a:t>
                      </a:r>
                    </a:p>
                  </a:txBody>
                  <a:tcPr marL="101600" marR="76200" marT="38100" marB="38100" anchor="ctr">
                    <a:solidFill>
                      <a:srgbClr val="FCFCFB"/>
                    </a:solidFill>
                  </a:tcPr>
                </a:tc>
                <a:tc>
                  <a:txBody>
                    <a:bodyPr/>
                    <a:lstStyle/>
                    <a:p>
                      <a:r>
                        <a:rPr sz="930">
                          <a:solidFill>
                            <a:srgbClr val="52514E"/>
                          </a:solidFill>
                          <a:latin typeface="Helvetica Neue"/>
                        </a:rPr>
                        <a:t>Runs all tasks for one model; aggregates accuracy + reasoning</a:t>
                      </a:r>
                    </a:p>
                  </a:txBody>
                  <a:tcPr marL="101600" marR="76200" marT="38100" marB="38100" anchor="ctr">
                    <a:solidFill>
                      <a:srgbClr val="FCFCFB"/>
                    </a:solidFill>
                  </a:tcPr>
                </a:tc>
                <a:extLst>
                  <a:ext uri="{0D108BD9-81ED-4DB2-BD59-A6C34878D82A}">
                    <a16:rowId xmlns:a16="http://schemas.microsoft.com/office/drawing/2014/main" val="10009"/>
                  </a:ext>
                </a:extLst>
              </a:tr>
              <a:tr h="336368">
                <a:tc>
                  <a:txBody>
                    <a:bodyPr/>
                    <a:lstStyle/>
                    <a:p>
                      <a:r>
                        <a:rPr sz="930" b="1">
                          <a:solidFill>
                            <a:srgbClr val="0B0B0B"/>
                          </a:solidFill>
                          <a:latin typeface="Helvetica Neue"/>
                        </a:rPr>
                        <a:t>Ranker</a:t>
                      </a:r>
                    </a:p>
                  </a:txBody>
                  <a:tcPr marL="101600" marR="76200" marT="38100" marB="38100" anchor="ctr">
                    <a:solidFill>
                      <a:srgbClr val="F3F2EE"/>
                    </a:solidFill>
                  </a:tcPr>
                </a:tc>
                <a:tc>
                  <a:txBody>
                    <a:bodyPr/>
                    <a:lstStyle/>
                    <a:p>
                      <a:r>
                        <a:rPr sz="930">
                          <a:solidFill>
                            <a:srgbClr val="52514E"/>
                          </a:solidFill>
                          <a:latin typeface="Helvetica Neue"/>
                        </a:rPr>
                        <a:t>build_mmlu_summary</a:t>
                      </a:r>
                    </a:p>
                  </a:txBody>
                  <a:tcPr marL="101600" marR="76200" marT="38100" marB="38100" anchor="ctr">
                    <a:solidFill>
                      <a:srgbClr val="F3F2EE"/>
                    </a:solidFill>
                  </a:tcPr>
                </a:tc>
                <a:tc>
                  <a:txBody>
                    <a:bodyPr/>
                    <a:lstStyle/>
                    <a:p>
                      <a:r>
                        <a:rPr sz="930">
                          <a:solidFill>
                            <a:srgbClr val="52514E"/>
                          </a:solidFill>
                          <a:latin typeface="Helvetica Neue"/>
                        </a:rPr>
                        <a:t>Per-dimension ranks + composite score across models</a:t>
                      </a:r>
                    </a:p>
                  </a:txBody>
                  <a:tcPr marL="101600" marR="76200" marT="38100" marB="38100" anchor="ctr">
                    <a:solidFill>
                      <a:srgbClr val="F3F2EE"/>
                    </a:solidFill>
                  </a:tcPr>
                </a:tc>
                <a:extLst>
                  <a:ext uri="{0D108BD9-81ED-4DB2-BD59-A6C34878D82A}">
                    <a16:rowId xmlns:a16="http://schemas.microsoft.com/office/drawing/2014/main" val="10010"/>
                  </a:ext>
                </a:extLst>
              </a:tr>
              <a:tr h="336368">
                <a:tc>
                  <a:txBody>
                    <a:bodyPr/>
                    <a:lstStyle/>
                    <a:p>
                      <a:r>
                        <a:rPr sz="930" b="1">
                          <a:solidFill>
                            <a:srgbClr val="0B0B0B"/>
                          </a:solidFill>
                          <a:latin typeface="Helvetica Neue"/>
                        </a:rPr>
                        <a:t>CLI runner</a:t>
                      </a:r>
                    </a:p>
                  </a:txBody>
                  <a:tcPr marL="101600" marR="76200" marT="38100" marB="38100" anchor="ctr">
                    <a:solidFill>
                      <a:srgbClr val="FCFCFB"/>
                    </a:solidFill>
                  </a:tcPr>
                </a:tc>
                <a:tc>
                  <a:txBody>
                    <a:bodyPr/>
                    <a:lstStyle/>
                    <a:p>
                      <a:r>
                        <a:rPr sz="930">
                          <a:solidFill>
                            <a:srgbClr val="52514E"/>
                          </a:solidFill>
                          <a:latin typeface="Helvetica Neue"/>
                        </a:rPr>
                        <a:t>run_mmlu_evaluation, run_mmlu.sh</a:t>
                      </a:r>
                    </a:p>
                  </a:txBody>
                  <a:tcPr marL="101600" marR="76200" marT="38100" marB="38100" anchor="ctr">
                    <a:solidFill>
                      <a:srgbClr val="FCFCFB"/>
                    </a:solidFill>
                  </a:tcPr>
                </a:tc>
                <a:tc>
                  <a:txBody>
                    <a:bodyPr/>
                    <a:lstStyle/>
                    <a:p>
                      <a:r>
                        <a:rPr sz="930">
                          <a:solidFill>
                            <a:srgbClr val="52514E"/>
                          </a:solidFill>
                          <a:latin typeface="Helvetica Neue"/>
                        </a:rPr>
                        <a:t>One-shot terminal pipeline: setup, install, run, print ranking</a:t>
                      </a:r>
                    </a:p>
                  </a:txBody>
                  <a:tcPr marL="101600" marR="76200" marT="38100" marB="38100" anchor="ctr">
                    <a:solidFill>
                      <a:srgbClr val="FCFCFB"/>
                    </a:solidFill>
                  </a:tcPr>
                </a:tc>
                <a:extLst>
                  <a:ext uri="{0D108BD9-81ED-4DB2-BD59-A6C34878D82A}">
                    <a16:rowId xmlns:a16="http://schemas.microsoft.com/office/drawing/2014/main" val="10011"/>
                  </a:ext>
                </a:extLst>
              </a:tr>
              <a:tr h="336368">
                <a:tc>
                  <a:txBody>
                    <a:bodyPr/>
                    <a:lstStyle/>
                    <a:p>
                      <a:r>
                        <a:rPr sz="930" b="1">
                          <a:solidFill>
                            <a:srgbClr val="0B0B0B"/>
                          </a:solidFill>
                          <a:latin typeface="Helvetica Neue"/>
                        </a:rPr>
                        <a:t>Web routes</a:t>
                      </a:r>
                    </a:p>
                  </a:txBody>
                  <a:tcPr marL="101600" marR="76200" marT="38100" marB="38100" anchor="ctr">
                    <a:solidFill>
                      <a:srgbClr val="F3F2EE"/>
                    </a:solidFill>
                  </a:tcPr>
                </a:tc>
                <a:tc>
                  <a:txBody>
                    <a:bodyPr/>
                    <a:lstStyle/>
                    <a:p>
                      <a:r>
                        <a:rPr sz="930">
                          <a:solidFill>
                            <a:srgbClr val="52514E"/>
                          </a:solidFill>
                          <a:latin typeface="Helvetica Neue"/>
                        </a:rPr>
                        <a:t>passenger_wsgi.py</a:t>
                      </a:r>
                    </a:p>
                  </a:txBody>
                  <a:tcPr marL="101600" marR="76200" marT="38100" marB="38100" anchor="ctr">
                    <a:solidFill>
                      <a:srgbClr val="F3F2EE"/>
                    </a:solidFill>
                  </a:tcPr>
                </a:tc>
                <a:tc>
                  <a:txBody>
                    <a:bodyPr/>
                    <a:lstStyle/>
                    <a:p>
                      <a:r>
                        <a:rPr sz="930">
                          <a:solidFill>
                            <a:srgbClr val="52514E"/>
                          </a:solidFill>
                          <a:latin typeface="Helvetica Neue"/>
                        </a:rPr>
                        <a:t>Online runs, live progress feed, ranking JSON, detail feed</a:t>
                      </a:r>
                    </a:p>
                  </a:txBody>
                  <a:tcPr marL="101600" marR="76200" marT="38100" marB="38100" anchor="ctr">
                    <a:solidFill>
                      <a:srgbClr val="F3F2EE"/>
                    </a:solidFill>
                  </a:tcPr>
                </a:tc>
                <a:extLst>
                  <a:ext uri="{0D108BD9-81ED-4DB2-BD59-A6C34878D82A}">
                    <a16:rowId xmlns:a16="http://schemas.microsoft.com/office/drawing/2014/main" val="10012"/>
                  </a:ext>
                </a:extLst>
              </a:tr>
              <a:tr h="336376">
                <a:tc>
                  <a:txBody>
                    <a:bodyPr/>
                    <a:lstStyle/>
                    <a:p>
                      <a:r>
                        <a:rPr sz="930" b="1">
                          <a:solidFill>
                            <a:srgbClr val="0B0B0B"/>
                          </a:solidFill>
                          <a:latin typeface="Helvetica Neue"/>
                        </a:rPr>
                        <a:t>Web page</a:t>
                      </a:r>
                    </a:p>
                  </a:txBody>
                  <a:tcPr marL="101600" marR="76200" marT="38100" marB="38100" anchor="ctr">
                    <a:solidFill>
                      <a:srgbClr val="FCFCFB"/>
                    </a:solidFill>
                  </a:tcPr>
                </a:tc>
                <a:tc>
                  <a:txBody>
                    <a:bodyPr/>
                    <a:lstStyle/>
                    <a:p>
                      <a:r>
                        <a:rPr sz="930">
                          <a:solidFill>
                            <a:srgbClr val="52514E"/>
                          </a:solidFill>
                          <a:latin typeface="Helvetica Neue"/>
                        </a:rPr>
                        <a:t>templates/mmlu.html</a:t>
                      </a:r>
                    </a:p>
                  </a:txBody>
                  <a:tcPr marL="101600" marR="76200" marT="38100" marB="38100" anchor="ctr">
                    <a:solidFill>
                      <a:srgbClr val="FCFCFB"/>
                    </a:solidFill>
                  </a:tcPr>
                </a:tc>
                <a:tc>
                  <a:txBody>
                    <a:bodyPr/>
                    <a:lstStyle/>
                    <a:p>
                      <a:r>
                        <a:rPr sz="930">
                          <a:solidFill>
                            <a:srgbClr val="52514E"/>
                          </a:solidFill>
                          <a:latin typeface="Helvetica Neue"/>
                        </a:rPr>
                        <a:t>Subject picker, terminal, ranking table, charts, Q/A viewer</a:t>
                      </a:r>
                    </a:p>
                  </a:txBody>
                  <a:tcPr marL="101600" marR="76200" marT="38100" marB="38100" anchor="ctr">
                    <a:solidFill>
                      <a:srgbClr val="FCFCFB"/>
                    </a:solidFill>
                  </a:tcPr>
                </a:tc>
                <a:extLst>
                  <a:ext uri="{0D108BD9-81ED-4DB2-BD59-A6C34878D82A}">
                    <a16:rowId xmlns:a16="http://schemas.microsoft.com/office/drawing/2014/main" val="10013"/>
                  </a:ext>
                </a:extLst>
              </a:tr>
            </a:tbl>
          </a:graphicData>
        </a:graphic>
      </p:graphicFrame>
      <p:sp>
        <p:nvSpPr>
          <p:cNvPr id="7" name="TextBox 6"/>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8" name="TextBox 7"/>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MMLU: reasoning verdicts</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91640"/>
            <a:ext cx="11064240" cy="457200"/>
          </a:xfrm>
          <a:prstGeom prst="rect">
            <a:avLst/>
          </a:prstGeom>
          <a:noFill/>
        </p:spPr>
        <p:txBody>
          <a:bodyPr wrap="square" lIns="0" tIns="0" rIns="0" bIns="0" anchor="t">
            <a:spAutoFit/>
          </a:bodyPr>
          <a:lstStyle/>
          <a:p>
            <a:pPr algn="l">
              <a:lnSpc>
                <a:spcPct val="100000"/>
              </a:lnSpc>
            </a:pPr>
            <a:r>
              <a:rPr sz="1300" b="0" i="0">
                <a:solidFill>
                  <a:srgbClr val="52514E"/>
                </a:solidFill>
                <a:latin typeface="Helvetica Neue"/>
              </a:rPr>
              <a:t>Every answer is assigned one of six verdicts, scoring not just whether the letter was correct but whether the reasoning actually supports it.</a:t>
            </a:r>
          </a:p>
        </p:txBody>
      </p:sp>
      <p:sp>
        <p:nvSpPr>
          <p:cNvPr id="7" name="Oval 6"/>
          <p:cNvSpPr/>
          <p:nvPr/>
        </p:nvSpPr>
        <p:spPr>
          <a:xfrm>
            <a:off x="548640" y="2450592"/>
            <a:ext cx="164592" cy="164592"/>
          </a:xfrm>
          <a:prstGeom prst="ellipse">
            <a:avLst/>
          </a:prstGeom>
          <a:solidFill>
            <a:srgbClr val="008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8" y="2377440"/>
            <a:ext cx="5029200" cy="365760"/>
          </a:xfrm>
          <a:prstGeom prst="rect">
            <a:avLst/>
          </a:prstGeom>
          <a:noFill/>
        </p:spPr>
        <p:txBody>
          <a:bodyPr wrap="square" lIns="0" tIns="0" rIns="0" bIns="0" anchor="t">
            <a:spAutoFit/>
          </a:bodyPr>
          <a:lstStyle/>
          <a:p>
            <a:pPr algn="l">
              <a:lnSpc>
                <a:spcPct val="100000"/>
              </a:lnSpc>
            </a:pPr>
            <a:r>
              <a:rPr sz="1450" b="1" i="0">
                <a:solidFill>
                  <a:srgbClr val="0B0B0B"/>
                </a:solidFill>
                <a:latin typeface="Helvetica Neue"/>
              </a:rPr>
              <a:t>sound</a:t>
            </a:r>
          </a:p>
        </p:txBody>
      </p:sp>
      <p:sp>
        <p:nvSpPr>
          <p:cNvPr id="9" name="TextBox 8"/>
          <p:cNvSpPr txBox="1"/>
          <p:nvPr/>
        </p:nvSpPr>
        <p:spPr>
          <a:xfrm>
            <a:off x="841248" y="2743200"/>
            <a:ext cx="5029200" cy="548640"/>
          </a:xfrm>
          <a:prstGeom prst="rect">
            <a:avLst/>
          </a:prstGeom>
          <a:noFill/>
        </p:spPr>
        <p:txBody>
          <a:bodyPr wrap="square" lIns="0" tIns="0" rIns="0" bIns="0" anchor="t">
            <a:spAutoFit/>
          </a:bodyPr>
          <a:lstStyle/>
          <a:p>
            <a:pPr algn="l">
              <a:lnSpc>
                <a:spcPct val="100000"/>
              </a:lnSpc>
            </a:pPr>
            <a:r>
              <a:rPr sz="1200" b="0" i="0">
                <a:solidFill>
                  <a:srgbClr val="52514E"/>
                </a:solidFill>
                <a:latin typeface="Helvetica Neue"/>
              </a:rPr>
              <a:t>Correct answer, reasoning clearly supports it</a:t>
            </a:r>
          </a:p>
        </p:txBody>
      </p:sp>
      <p:sp>
        <p:nvSpPr>
          <p:cNvPr id="10" name="Oval 9"/>
          <p:cNvSpPr/>
          <p:nvPr/>
        </p:nvSpPr>
        <p:spPr>
          <a:xfrm>
            <a:off x="548640" y="3639312"/>
            <a:ext cx="164592" cy="164592"/>
          </a:xfrm>
          <a:prstGeom prst="ellipse">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1248" y="3566160"/>
            <a:ext cx="5029200" cy="365760"/>
          </a:xfrm>
          <a:prstGeom prst="rect">
            <a:avLst/>
          </a:prstGeom>
          <a:noFill/>
        </p:spPr>
        <p:txBody>
          <a:bodyPr wrap="square" lIns="0" tIns="0" rIns="0" bIns="0" anchor="t">
            <a:spAutoFit/>
          </a:bodyPr>
          <a:lstStyle/>
          <a:p>
            <a:pPr algn="l">
              <a:lnSpc>
                <a:spcPct val="100000"/>
              </a:lnSpc>
            </a:pPr>
            <a:r>
              <a:rPr sz="1450" b="1" i="0">
                <a:solidFill>
                  <a:srgbClr val="0B0B0B"/>
                </a:solidFill>
                <a:latin typeface="Helvetica Neue"/>
              </a:rPr>
              <a:t>right-weak-link</a:t>
            </a:r>
          </a:p>
        </p:txBody>
      </p:sp>
      <p:sp>
        <p:nvSpPr>
          <p:cNvPr id="12" name="TextBox 11"/>
          <p:cNvSpPr txBox="1"/>
          <p:nvPr/>
        </p:nvSpPr>
        <p:spPr>
          <a:xfrm>
            <a:off x="841248" y="3931920"/>
            <a:ext cx="5029200" cy="548640"/>
          </a:xfrm>
          <a:prstGeom prst="rect">
            <a:avLst/>
          </a:prstGeom>
          <a:noFill/>
        </p:spPr>
        <p:txBody>
          <a:bodyPr wrap="square" lIns="0" tIns="0" rIns="0" bIns="0" anchor="t">
            <a:spAutoFit/>
          </a:bodyPr>
          <a:lstStyle/>
          <a:p>
            <a:pPr algn="l">
              <a:lnSpc>
                <a:spcPct val="100000"/>
              </a:lnSpc>
            </a:pPr>
            <a:r>
              <a:rPr sz="1200" b="0" i="0">
                <a:solidFill>
                  <a:srgbClr val="52514E"/>
                </a:solidFill>
                <a:latin typeface="Helvetica Neue"/>
              </a:rPr>
              <a:t>Correct answer, reasoning doesn't clearly support it</a:t>
            </a:r>
          </a:p>
        </p:txBody>
      </p:sp>
      <p:sp>
        <p:nvSpPr>
          <p:cNvPr id="13" name="Oval 12"/>
          <p:cNvSpPr/>
          <p:nvPr/>
        </p:nvSpPr>
        <p:spPr>
          <a:xfrm>
            <a:off x="548640" y="4828032"/>
            <a:ext cx="164592" cy="164592"/>
          </a:xfrm>
          <a:prstGeom prst="ellipse">
            <a:avLst/>
          </a:prstGeom>
          <a:solidFill>
            <a:srgbClr val="EDA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8" y="4754880"/>
            <a:ext cx="5029200" cy="365760"/>
          </a:xfrm>
          <a:prstGeom prst="rect">
            <a:avLst/>
          </a:prstGeom>
          <a:noFill/>
        </p:spPr>
        <p:txBody>
          <a:bodyPr wrap="square" lIns="0" tIns="0" rIns="0" bIns="0" anchor="t">
            <a:spAutoFit/>
          </a:bodyPr>
          <a:lstStyle/>
          <a:p>
            <a:pPr algn="l">
              <a:lnSpc>
                <a:spcPct val="100000"/>
              </a:lnSpc>
            </a:pPr>
            <a:r>
              <a:rPr sz="1450" b="1" i="0">
                <a:solidFill>
                  <a:srgbClr val="0B0B0B"/>
                </a:solidFill>
                <a:latin typeface="Helvetica Neue"/>
              </a:rPr>
              <a:t>lucky-guess</a:t>
            </a:r>
          </a:p>
        </p:txBody>
      </p:sp>
      <p:sp>
        <p:nvSpPr>
          <p:cNvPr id="15" name="TextBox 14"/>
          <p:cNvSpPr txBox="1"/>
          <p:nvPr/>
        </p:nvSpPr>
        <p:spPr>
          <a:xfrm>
            <a:off x="841248" y="5120640"/>
            <a:ext cx="5029200" cy="548640"/>
          </a:xfrm>
          <a:prstGeom prst="rect">
            <a:avLst/>
          </a:prstGeom>
          <a:noFill/>
        </p:spPr>
        <p:txBody>
          <a:bodyPr wrap="square" lIns="0" tIns="0" rIns="0" bIns="0" anchor="t">
            <a:spAutoFit/>
          </a:bodyPr>
          <a:lstStyle/>
          <a:p>
            <a:pPr algn="l">
              <a:lnSpc>
                <a:spcPct val="100000"/>
              </a:lnSpc>
            </a:pPr>
            <a:r>
              <a:rPr sz="1200" b="0" i="0">
                <a:solidFill>
                  <a:srgbClr val="52514E"/>
                </a:solidFill>
                <a:latin typeface="Helvetica Neue"/>
              </a:rPr>
              <a:t>Correct answer with no real reasoning</a:t>
            </a:r>
          </a:p>
        </p:txBody>
      </p:sp>
      <p:sp>
        <p:nvSpPr>
          <p:cNvPr id="16" name="Oval 15"/>
          <p:cNvSpPr/>
          <p:nvPr/>
        </p:nvSpPr>
        <p:spPr>
          <a:xfrm>
            <a:off x="6217920" y="2450592"/>
            <a:ext cx="164592" cy="164592"/>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10528" y="2377440"/>
            <a:ext cx="5029200" cy="365760"/>
          </a:xfrm>
          <a:prstGeom prst="rect">
            <a:avLst/>
          </a:prstGeom>
          <a:noFill/>
        </p:spPr>
        <p:txBody>
          <a:bodyPr wrap="square" lIns="0" tIns="0" rIns="0" bIns="0" anchor="t">
            <a:spAutoFit/>
          </a:bodyPr>
          <a:lstStyle/>
          <a:p>
            <a:pPr algn="l">
              <a:lnSpc>
                <a:spcPct val="100000"/>
              </a:lnSpc>
            </a:pPr>
            <a:r>
              <a:rPr sz="1450" b="1" i="0">
                <a:solidFill>
                  <a:srgbClr val="0B0B0B"/>
                </a:solidFill>
                <a:latin typeface="Helvetica Neue"/>
              </a:rPr>
              <a:t>flawed-reasoning</a:t>
            </a:r>
          </a:p>
        </p:txBody>
      </p:sp>
      <p:sp>
        <p:nvSpPr>
          <p:cNvPr id="18" name="TextBox 17"/>
          <p:cNvSpPr txBox="1"/>
          <p:nvPr/>
        </p:nvSpPr>
        <p:spPr>
          <a:xfrm>
            <a:off x="6510528" y="2743200"/>
            <a:ext cx="5029200" cy="548640"/>
          </a:xfrm>
          <a:prstGeom prst="rect">
            <a:avLst/>
          </a:prstGeom>
          <a:noFill/>
        </p:spPr>
        <p:txBody>
          <a:bodyPr wrap="square" lIns="0" tIns="0" rIns="0" bIns="0" anchor="t">
            <a:spAutoFit/>
          </a:bodyPr>
          <a:lstStyle/>
          <a:p>
            <a:pPr algn="l">
              <a:lnSpc>
                <a:spcPct val="100000"/>
              </a:lnSpc>
            </a:pPr>
            <a:r>
              <a:rPr sz="1200" b="0" i="0">
                <a:solidFill>
                  <a:srgbClr val="52514E"/>
                </a:solidFill>
                <a:latin typeface="Helvetica Neue"/>
              </a:rPr>
              <a:t>Reasoned its way to a wrong answer</a:t>
            </a:r>
          </a:p>
        </p:txBody>
      </p:sp>
      <p:sp>
        <p:nvSpPr>
          <p:cNvPr id="19" name="Oval 18"/>
          <p:cNvSpPr/>
          <p:nvPr/>
        </p:nvSpPr>
        <p:spPr>
          <a:xfrm>
            <a:off x="6217920" y="3639312"/>
            <a:ext cx="164592" cy="164592"/>
          </a:xfrm>
          <a:prstGeom prst="ellipse">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10528" y="3566160"/>
            <a:ext cx="5029200" cy="365760"/>
          </a:xfrm>
          <a:prstGeom prst="rect">
            <a:avLst/>
          </a:prstGeom>
          <a:noFill/>
        </p:spPr>
        <p:txBody>
          <a:bodyPr wrap="square" lIns="0" tIns="0" rIns="0" bIns="0" anchor="t">
            <a:spAutoFit/>
          </a:bodyPr>
          <a:lstStyle/>
          <a:p>
            <a:pPr algn="l">
              <a:lnSpc>
                <a:spcPct val="100000"/>
              </a:lnSpc>
            </a:pPr>
            <a:r>
              <a:rPr sz="1450" b="1" i="0">
                <a:solidFill>
                  <a:srgbClr val="0B0B0B"/>
                </a:solidFill>
                <a:latin typeface="Helvetica Neue"/>
              </a:rPr>
              <a:t>blind-guess</a:t>
            </a:r>
          </a:p>
        </p:txBody>
      </p:sp>
      <p:sp>
        <p:nvSpPr>
          <p:cNvPr id="21" name="TextBox 20"/>
          <p:cNvSpPr txBox="1"/>
          <p:nvPr/>
        </p:nvSpPr>
        <p:spPr>
          <a:xfrm>
            <a:off x="6510528" y="3931920"/>
            <a:ext cx="5029200" cy="548640"/>
          </a:xfrm>
          <a:prstGeom prst="rect">
            <a:avLst/>
          </a:prstGeom>
          <a:noFill/>
        </p:spPr>
        <p:txBody>
          <a:bodyPr wrap="square" lIns="0" tIns="0" rIns="0" bIns="0" anchor="t">
            <a:spAutoFit/>
          </a:bodyPr>
          <a:lstStyle/>
          <a:p>
            <a:pPr algn="l">
              <a:lnSpc>
                <a:spcPct val="100000"/>
              </a:lnSpc>
            </a:pPr>
            <a:r>
              <a:rPr sz="1200" b="0" i="0">
                <a:solidFill>
                  <a:srgbClr val="52514E"/>
                </a:solidFill>
                <a:latin typeface="Helvetica Neue"/>
              </a:rPr>
              <a:t>Wrong answer and no reasoning</a:t>
            </a:r>
          </a:p>
        </p:txBody>
      </p:sp>
      <p:sp>
        <p:nvSpPr>
          <p:cNvPr id="22" name="Oval 21"/>
          <p:cNvSpPr/>
          <p:nvPr/>
        </p:nvSpPr>
        <p:spPr>
          <a:xfrm>
            <a:off x="6217920" y="4828032"/>
            <a:ext cx="164592" cy="164592"/>
          </a:xfrm>
          <a:prstGeom prst="ellipse">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10528" y="4754880"/>
            <a:ext cx="5029200" cy="365760"/>
          </a:xfrm>
          <a:prstGeom prst="rect">
            <a:avLst/>
          </a:prstGeom>
          <a:noFill/>
        </p:spPr>
        <p:txBody>
          <a:bodyPr wrap="square" lIns="0" tIns="0" rIns="0" bIns="0" anchor="t">
            <a:spAutoFit/>
          </a:bodyPr>
          <a:lstStyle/>
          <a:p>
            <a:pPr algn="l">
              <a:lnSpc>
                <a:spcPct val="100000"/>
              </a:lnSpc>
            </a:pPr>
            <a:r>
              <a:rPr sz="1450" b="1" i="0">
                <a:solidFill>
                  <a:srgbClr val="0B0B0B"/>
                </a:solidFill>
                <a:latin typeface="Helvetica Neue"/>
              </a:rPr>
              <a:t>no-answer</a:t>
            </a:r>
          </a:p>
        </p:txBody>
      </p:sp>
      <p:sp>
        <p:nvSpPr>
          <p:cNvPr id="24" name="TextBox 23"/>
          <p:cNvSpPr txBox="1"/>
          <p:nvPr/>
        </p:nvSpPr>
        <p:spPr>
          <a:xfrm>
            <a:off x="6510528" y="5120640"/>
            <a:ext cx="5029200" cy="548640"/>
          </a:xfrm>
          <a:prstGeom prst="rect">
            <a:avLst/>
          </a:prstGeom>
          <a:noFill/>
        </p:spPr>
        <p:txBody>
          <a:bodyPr wrap="square" lIns="0" tIns="0" rIns="0" bIns="0" anchor="t">
            <a:spAutoFit/>
          </a:bodyPr>
          <a:lstStyle/>
          <a:p>
            <a:pPr algn="l">
              <a:lnSpc>
                <a:spcPct val="100000"/>
              </a:lnSpc>
            </a:pPr>
            <a:r>
              <a:rPr sz="1200" b="0" i="0">
                <a:solidFill>
                  <a:srgbClr val="52514E"/>
                </a:solidFill>
                <a:latin typeface="Helvetica Neue"/>
              </a:rPr>
              <a:t>No A–D letter could be parsed</a:t>
            </a:r>
          </a:p>
        </p:txBody>
      </p:sp>
      <p:sp>
        <p:nvSpPr>
          <p:cNvPr id="25" name="TextBox 24"/>
          <p:cNvSpPr txBox="1"/>
          <p:nvPr/>
        </p:nvSpPr>
        <p:spPr>
          <a:xfrm>
            <a:off x="548640" y="5989320"/>
            <a:ext cx="11064240" cy="457200"/>
          </a:xfrm>
          <a:prstGeom prst="rect">
            <a:avLst/>
          </a:prstGeom>
          <a:noFill/>
        </p:spPr>
        <p:txBody>
          <a:bodyPr wrap="square" lIns="0" tIns="0" rIns="0" bIns="0" anchor="t">
            <a:spAutoFit/>
          </a:bodyPr>
          <a:lstStyle/>
          <a:p>
            <a:pPr algn="l">
              <a:lnSpc>
                <a:spcPct val="100000"/>
              </a:lnSpc>
            </a:pPr>
            <a:r>
              <a:rPr sz="1050" b="0" i="1">
                <a:solidFill>
                  <a:srgbClr val="898781"/>
                </a:solidFill>
                <a:latin typeface="Helvetica Neue"/>
              </a:rPr>
              <a:t>See Benchmark (earlier) for accuracy, reasoning-rate, and composite-score definitions.</a:t>
            </a:r>
          </a:p>
        </p:txBody>
      </p:sp>
      <p:sp>
        <p:nvSpPr>
          <p:cNvPr id="26" name="TextBox 25"/>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27" name="TextBox 26"/>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COMMENTS AND DISCUSSION BEFORE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600" b="1" i="0">
                <a:solidFill>
                  <a:srgbClr val="0B0B0B"/>
                </a:solidFill>
                <a:latin typeface="Helvetica Neue"/>
              </a:rPr>
              <a:t>Project workflow — end to end</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194560" y="1783080"/>
            <a:ext cx="7772400" cy="475488"/>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300">
                <a:solidFill>
                  <a:srgbClr val="0B0B0B"/>
                </a:solidFill>
                <a:latin typeface="Helvetica Neue"/>
              </a:rPr>
              <a:t>Load configuration (models, decoding params, dataset paths)</a:t>
            </a:r>
          </a:p>
        </p:txBody>
      </p:sp>
      <p:sp>
        <p:nvSpPr>
          <p:cNvPr id="7" name="Rounded Rectangle 6"/>
          <p:cNvSpPr/>
          <p:nvPr/>
        </p:nvSpPr>
        <p:spPr>
          <a:xfrm>
            <a:off x="2194560" y="2386584"/>
            <a:ext cx="7772400" cy="475488"/>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300">
                <a:solidFill>
                  <a:srgbClr val="0B0B0B"/>
                </a:solidFill>
                <a:latin typeface="Helvetica Neue"/>
              </a:rPr>
              <a:t>Load LAMBADA dataset / fetch MMLU subjects</a:t>
            </a:r>
          </a:p>
        </p:txBody>
      </p:sp>
      <p:sp>
        <p:nvSpPr>
          <p:cNvPr id="8" name="Rounded Rectangle 7"/>
          <p:cNvSpPr/>
          <p:nvPr/>
        </p:nvSpPr>
        <p:spPr>
          <a:xfrm>
            <a:off x="2194560" y="2990088"/>
            <a:ext cx="7772400" cy="475488"/>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300">
                <a:solidFill>
                  <a:srgbClr val="0B0B0B"/>
                </a:solidFill>
                <a:latin typeface="Helvetica Neue"/>
              </a:rPr>
              <a:t>Sample N passages, or N questions per subject</a:t>
            </a:r>
          </a:p>
        </p:txBody>
      </p:sp>
      <p:sp>
        <p:nvSpPr>
          <p:cNvPr id="9" name="Rounded Rectangle 8"/>
          <p:cNvSpPr/>
          <p:nvPr/>
        </p:nvSpPr>
        <p:spPr>
          <a:xfrm>
            <a:off x="2194560" y="3593592"/>
            <a:ext cx="7772400" cy="475488"/>
          </a:xfrm>
          <a:prstGeom prst="roundRect">
            <a:avLst>
              <a:gd name="adj" fmla="val 50000"/>
            </a:avLst>
          </a:prstGeom>
          <a:solidFill>
            <a:srgbClr val="F9F9F7"/>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300">
                <a:solidFill>
                  <a:srgbClr val="0B0B0B"/>
                </a:solidFill>
                <a:latin typeface="Helvetica Neue"/>
              </a:rPr>
              <a:t>Run each model via OpenRouter, one at a time: Gemma-3-4B → Llama-3.2-3B → Ministral-8B</a:t>
            </a:r>
          </a:p>
        </p:txBody>
      </p:sp>
      <p:sp>
        <p:nvSpPr>
          <p:cNvPr id="10" name="Rounded Rectangle 9"/>
          <p:cNvSpPr/>
          <p:nvPr/>
        </p:nvSpPr>
        <p:spPr>
          <a:xfrm>
            <a:off x="2194560" y="4197096"/>
            <a:ext cx="7772400" cy="475488"/>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300">
                <a:solidFill>
                  <a:srgbClr val="0B0B0B"/>
                </a:solidFill>
                <a:latin typeface="Helvetica Neue"/>
              </a:rPr>
              <a:t>Collect predictions + stream progress to the live terminal</a:t>
            </a:r>
          </a:p>
        </p:txBody>
      </p:sp>
      <p:sp>
        <p:nvSpPr>
          <p:cNvPr id="11" name="Rounded Rectangle 10"/>
          <p:cNvSpPr/>
          <p:nvPr/>
        </p:nvSpPr>
        <p:spPr>
          <a:xfrm>
            <a:off x="2194560" y="4800600"/>
            <a:ext cx="7772400" cy="475488"/>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300">
                <a:solidFill>
                  <a:srgbClr val="0B0B0B"/>
                </a:solidFill>
                <a:latin typeface="Helvetica Neue"/>
              </a:rPr>
              <a:t>Compute metrics and rankings (accuracy, latency, reasoning, composite score)</a:t>
            </a:r>
          </a:p>
        </p:txBody>
      </p:sp>
      <p:sp>
        <p:nvSpPr>
          <p:cNvPr id="12" name="Rounded Rectangle 11"/>
          <p:cNvSpPr/>
          <p:nvPr/>
        </p:nvSpPr>
        <p:spPr>
          <a:xfrm>
            <a:off x="2194560" y="5404104"/>
            <a:ext cx="7772400" cy="475488"/>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300">
                <a:solidFill>
                  <a:srgbClr val="0B0B0B"/>
                </a:solidFill>
                <a:latin typeface="Helvetica Neue"/>
              </a:rPr>
              <a:t>Save results JSON and append to run history</a:t>
            </a:r>
          </a:p>
        </p:txBody>
      </p:sp>
      <p:sp>
        <p:nvSpPr>
          <p:cNvPr id="13" name="Rounded Rectangle 12"/>
          <p:cNvSpPr/>
          <p:nvPr/>
        </p:nvSpPr>
        <p:spPr>
          <a:xfrm>
            <a:off x="2194560" y="6007608"/>
            <a:ext cx="7772400" cy="475488"/>
          </a:xfrm>
          <a:prstGeom prst="roundRect">
            <a:avLst>
              <a:gd name="adj" fmla="val 50000"/>
            </a:avLst>
          </a:prstGeom>
          <a:solidFill>
            <a:srgbClr val="F9F9F7"/>
          </a:solidFill>
          <a:ln w="9525">
            <a:solidFill>
              <a:srgbClr val="E1E0D9"/>
            </a:solidFill>
          </a:ln>
          <a:effectLst/>
        </p:spPr>
        <p:style>
          <a:lnRef idx="1">
            <a:schemeClr val="accent1"/>
          </a:lnRef>
          <a:fillRef idx="3">
            <a:schemeClr val="accent1"/>
          </a:fillRef>
          <a:effectRef idx="2">
            <a:schemeClr val="accent1"/>
          </a:effectRef>
          <a:fontRef idx="minor">
            <a:schemeClr val="lt1"/>
          </a:fontRef>
        </p:style>
        <p:txBody>
          <a:bodyPr lIns="127000" rtlCol="0" anchor="ctr"/>
          <a:lstStyle/>
          <a:p>
            <a:pPr algn="ctr"/>
            <a:r>
              <a:rPr sz="1300">
                <a:solidFill>
                  <a:srgbClr val="0B0B0B"/>
                </a:solidFill>
                <a:latin typeface="Helvetica Neue"/>
              </a:rPr>
              <a:t>Render charts, report, and presentation</a:t>
            </a:r>
          </a:p>
        </p:txBody>
      </p:sp>
      <p:sp>
        <p:nvSpPr>
          <p:cNvPr id="14" name="TextBox 13"/>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5" name="TextBox 14"/>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29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700" b="1" i="0">
                <a:solidFill>
                  <a:srgbClr val="0B0B0B"/>
                </a:solidFill>
                <a:latin typeface="Helvetica Neue"/>
              </a:rPr>
              <a:t>LAMBADA — results (test split)</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48640" y="1737360"/>
          <a:ext cx="5577839" cy="1770380"/>
        </p:xfrm>
        <a:graphic>
          <a:graphicData uri="http://schemas.openxmlformats.org/drawingml/2006/table">
            <a:tbl>
              <a:tblPr firstRow="1" bandRow="1">
                <a:tableStyleId>{5C22544A-7EE6-4342-B048-85BDC9FD1C3A}</a:tableStyleId>
              </a:tblPr>
              <a:tblGrid>
                <a:gridCol w="1507524">
                  <a:extLst>
                    <a:ext uri="{9D8B030D-6E8A-4147-A177-3AD203B41FA5}">
                      <a16:colId xmlns:a16="http://schemas.microsoft.com/office/drawing/2014/main" val="20000"/>
                    </a:ext>
                  </a:extLst>
                </a:gridCol>
                <a:gridCol w="1055267">
                  <a:extLst>
                    <a:ext uri="{9D8B030D-6E8A-4147-A177-3AD203B41FA5}">
                      <a16:colId xmlns:a16="http://schemas.microsoft.com/office/drawing/2014/main" val="20001"/>
                    </a:ext>
                  </a:extLst>
                </a:gridCol>
                <a:gridCol w="1206019">
                  <a:extLst>
                    <a:ext uri="{9D8B030D-6E8A-4147-A177-3AD203B41FA5}">
                      <a16:colId xmlns:a16="http://schemas.microsoft.com/office/drawing/2014/main" val="20002"/>
                    </a:ext>
                  </a:extLst>
                </a:gridCol>
                <a:gridCol w="1055267">
                  <a:extLst>
                    <a:ext uri="{9D8B030D-6E8A-4147-A177-3AD203B41FA5}">
                      <a16:colId xmlns:a16="http://schemas.microsoft.com/office/drawing/2014/main" val="20003"/>
                    </a:ext>
                  </a:extLst>
                </a:gridCol>
                <a:gridCol w="753762">
                  <a:extLst>
                    <a:ext uri="{9D8B030D-6E8A-4147-A177-3AD203B41FA5}">
                      <a16:colId xmlns:a16="http://schemas.microsoft.com/office/drawing/2014/main" val="20004"/>
                    </a:ext>
                  </a:extLst>
                </a:gridCol>
              </a:tblGrid>
              <a:tr h="434340">
                <a:tc>
                  <a:txBody>
                    <a:bodyPr/>
                    <a:lstStyle/>
                    <a:p>
                      <a:r>
                        <a:rPr sz="1200" b="1">
                          <a:solidFill>
                            <a:srgbClr val="FFFFFF"/>
                          </a:solidFill>
                          <a:latin typeface="Helvetica Neue"/>
                        </a:rPr>
                        <a:t>Model</a:t>
                      </a:r>
                    </a:p>
                  </a:txBody>
                  <a:tcPr marL="101600" marR="76200" marT="50800" marB="50800" anchor="ctr">
                    <a:solidFill>
                      <a:srgbClr val="0B0B0B"/>
                    </a:solidFill>
                  </a:tcPr>
                </a:tc>
                <a:tc>
                  <a:txBody>
                    <a:bodyPr/>
                    <a:lstStyle/>
                    <a:p>
                      <a:r>
                        <a:rPr sz="1200" b="1">
                          <a:solidFill>
                            <a:srgbClr val="FFFFFF"/>
                          </a:solidFill>
                          <a:latin typeface="Helvetica Neue"/>
                        </a:rPr>
                        <a:t>Accuracy (%)</a:t>
                      </a:r>
                    </a:p>
                  </a:txBody>
                  <a:tcPr marL="101600" marR="76200" marT="50800" marB="50800" anchor="ctr">
                    <a:solidFill>
                      <a:srgbClr val="0B0B0B"/>
                    </a:solidFill>
                  </a:tcPr>
                </a:tc>
                <a:tc>
                  <a:txBody>
                    <a:bodyPr/>
                    <a:lstStyle/>
                    <a:p>
                      <a:r>
                        <a:rPr sz="1200" b="1">
                          <a:solidFill>
                            <a:srgbClr val="FFFFFF"/>
                          </a:solidFill>
                          <a:latin typeface="Helvetica Neue"/>
                        </a:rPr>
                        <a:t>Correct / Total</a:t>
                      </a:r>
                    </a:p>
                  </a:txBody>
                  <a:tcPr marL="101600" marR="76200" marT="50800" marB="50800" anchor="ctr">
                    <a:solidFill>
                      <a:srgbClr val="0B0B0B"/>
                    </a:solidFill>
                  </a:tcPr>
                </a:tc>
                <a:tc>
                  <a:txBody>
                    <a:bodyPr/>
                    <a:lstStyle/>
                    <a:p>
                      <a:r>
                        <a:rPr sz="1200" b="1">
                          <a:solidFill>
                            <a:srgbClr val="FFFFFF"/>
                          </a:solidFill>
                          <a:latin typeface="Helvetica Neue"/>
                        </a:rPr>
                        <a:t>Avg Latency (s)</a:t>
                      </a:r>
                    </a:p>
                  </a:txBody>
                  <a:tcPr marL="101600" marR="76200" marT="50800" marB="50800" anchor="ctr">
                    <a:solidFill>
                      <a:srgbClr val="0B0B0B"/>
                    </a:solidFill>
                  </a:tcPr>
                </a:tc>
                <a:tc>
                  <a:txBody>
                    <a:bodyPr/>
                    <a:lstStyle/>
                    <a:p>
                      <a:r>
                        <a:rPr sz="1200" b="1">
                          <a:solidFill>
                            <a:srgbClr val="FFFFFF"/>
                          </a:solidFill>
                          <a:latin typeface="Helvetica Neue"/>
                        </a:rPr>
                        <a:t>Errors</a:t>
                      </a:r>
                    </a:p>
                  </a:txBody>
                  <a:tcPr marL="101600" marR="76200" marT="50800" marB="50800" anchor="ctr">
                    <a:solidFill>
                      <a:srgbClr val="0B0B0B"/>
                    </a:solidFill>
                  </a:tcPr>
                </a:tc>
                <a:extLst>
                  <a:ext uri="{0D108BD9-81ED-4DB2-BD59-A6C34878D82A}">
                    <a16:rowId xmlns:a16="http://schemas.microsoft.com/office/drawing/2014/main" val="10000"/>
                  </a:ext>
                </a:extLst>
              </a:tr>
              <a:tr h="434340">
                <a:tc>
                  <a:txBody>
                    <a:bodyPr/>
                    <a:lstStyle/>
                    <a:p>
                      <a:r>
                        <a:rPr sz="1200" b="1">
                          <a:solidFill>
                            <a:srgbClr val="0B0B0B"/>
                          </a:solidFill>
                          <a:latin typeface="Helvetica Neue"/>
                        </a:rPr>
                        <a:t>Gemma-3-4B</a:t>
                      </a:r>
                    </a:p>
                  </a:txBody>
                  <a:tcPr marL="101600" marR="76200" marT="38100" marB="38100" anchor="ctr">
                    <a:solidFill>
                      <a:srgbClr val="FCFCFB"/>
                    </a:solidFill>
                  </a:tcPr>
                </a:tc>
                <a:tc>
                  <a:txBody>
                    <a:bodyPr/>
                    <a:lstStyle/>
                    <a:p>
                      <a:r>
                        <a:rPr sz="1200">
                          <a:solidFill>
                            <a:srgbClr val="52514E"/>
                          </a:solidFill>
                          <a:latin typeface="Helvetica Neue"/>
                        </a:rPr>
                        <a:t>21.9</a:t>
                      </a:r>
                    </a:p>
                  </a:txBody>
                  <a:tcPr marL="101600" marR="76200" marT="38100" marB="38100" anchor="ctr">
                    <a:solidFill>
                      <a:srgbClr val="FCFCFB"/>
                    </a:solidFill>
                  </a:tcPr>
                </a:tc>
                <a:tc>
                  <a:txBody>
                    <a:bodyPr/>
                    <a:lstStyle/>
                    <a:p>
                      <a:r>
                        <a:rPr sz="1200">
                          <a:solidFill>
                            <a:srgbClr val="52514E"/>
                          </a:solidFill>
                          <a:latin typeface="Helvetica Neue"/>
                        </a:rPr>
                        <a:t>219 / 1000</a:t>
                      </a:r>
                    </a:p>
                  </a:txBody>
                  <a:tcPr marL="101600" marR="76200" marT="38100" marB="38100" anchor="ctr">
                    <a:solidFill>
                      <a:srgbClr val="FCFCFB"/>
                    </a:solidFill>
                  </a:tcPr>
                </a:tc>
                <a:tc>
                  <a:txBody>
                    <a:bodyPr/>
                    <a:lstStyle/>
                    <a:p>
                      <a:r>
                        <a:rPr sz="1200">
                          <a:solidFill>
                            <a:srgbClr val="52514E"/>
                          </a:solidFill>
                          <a:latin typeface="Helvetica Neue"/>
                        </a:rPr>
                        <a:t>1.198</a:t>
                      </a:r>
                    </a:p>
                  </a:txBody>
                  <a:tcPr marL="101600" marR="76200" marT="38100" marB="38100" anchor="ctr">
                    <a:solidFill>
                      <a:srgbClr val="FCFCFB"/>
                    </a:solidFill>
                  </a:tcPr>
                </a:tc>
                <a:tc>
                  <a:txBody>
                    <a:bodyPr/>
                    <a:lstStyle/>
                    <a:p>
                      <a:r>
                        <a:rPr sz="1200">
                          <a:solidFill>
                            <a:srgbClr val="52514E"/>
                          </a:solidFill>
                          <a:latin typeface="Helvetica Neue"/>
                        </a:rPr>
                        <a:t>0</a:t>
                      </a:r>
                    </a:p>
                  </a:txBody>
                  <a:tcPr marL="101600" marR="76200" marT="38100" marB="38100" anchor="ctr">
                    <a:solidFill>
                      <a:srgbClr val="FCFCFB"/>
                    </a:solidFill>
                  </a:tcPr>
                </a:tc>
                <a:extLst>
                  <a:ext uri="{0D108BD9-81ED-4DB2-BD59-A6C34878D82A}">
                    <a16:rowId xmlns:a16="http://schemas.microsoft.com/office/drawing/2014/main" val="10001"/>
                  </a:ext>
                </a:extLst>
              </a:tr>
              <a:tr h="434340">
                <a:tc>
                  <a:txBody>
                    <a:bodyPr/>
                    <a:lstStyle/>
                    <a:p>
                      <a:r>
                        <a:rPr sz="1200" b="1">
                          <a:solidFill>
                            <a:srgbClr val="0B0B0B"/>
                          </a:solidFill>
                          <a:latin typeface="Helvetica Neue"/>
                        </a:rPr>
                        <a:t>Llama-3.2-3B</a:t>
                      </a:r>
                    </a:p>
                  </a:txBody>
                  <a:tcPr marL="101600" marR="76200" marT="38100" marB="38100" anchor="ctr">
                    <a:solidFill>
                      <a:srgbClr val="F3F2EE"/>
                    </a:solidFill>
                  </a:tcPr>
                </a:tc>
                <a:tc>
                  <a:txBody>
                    <a:bodyPr/>
                    <a:lstStyle/>
                    <a:p>
                      <a:r>
                        <a:rPr sz="1200">
                          <a:solidFill>
                            <a:srgbClr val="52514E"/>
                          </a:solidFill>
                          <a:latin typeface="Helvetica Neue"/>
                        </a:rPr>
                        <a:t>20.8</a:t>
                      </a:r>
                    </a:p>
                  </a:txBody>
                  <a:tcPr marL="101600" marR="76200" marT="38100" marB="38100" anchor="ctr">
                    <a:solidFill>
                      <a:srgbClr val="F3F2EE"/>
                    </a:solidFill>
                  </a:tcPr>
                </a:tc>
                <a:tc>
                  <a:txBody>
                    <a:bodyPr/>
                    <a:lstStyle/>
                    <a:p>
                      <a:r>
                        <a:rPr sz="1200">
                          <a:solidFill>
                            <a:srgbClr val="52514E"/>
                          </a:solidFill>
                          <a:latin typeface="Helvetica Neue"/>
                        </a:rPr>
                        <a:t>208 / 1000</a:t>
                      </a:r>
                    </a:p>
                  </a:txBody>
                  <a:tcPr marL="101600" marR="76200" marT="38100" marB="38100" anchor="ctr">
                    <a:solidFill>
                      <a:srgbClr val="F3F2EE"/>
                    </a:solidFill>
                  </a:tcPr>
                </a:tc>
                <a:tc>
                  <a:txBody>
                    <a:bodyPr/>
                    <a:lstStyle/>
                    <a:p>
                      <a:r>
                        <a:rPr sz="1200">
                          <a:solidFill>
                            <a:srgbClr val="52514E"/>
                          </a:solidFill>
                          <a:latin typeface="Helvetica Neue"/>
                        </a:rPr>
                        <a:t>0.577</a:t>
                      </a:r>
                    </a:p>
                  </a:txBody>
                  <a:tcPr marL="101600" marR="76200" marT="38100" marB="38100" anchor="ctr">
                    <a:solidFill>
                      <a:srgbClr val="F3F2EE"/>
                    </a:solidFill>
                  </a:tcPr>
                </a:tc>
                <a:tc>
                  <a:txBody>
                    <a:bodyPr/>
                    <a:lstStyle/>
                    <a:p>
                      <a:r>
                        <a:rPr sz="1200">
                          <a:solidFill>
                            <a:srgbClr val="52514E"/>
                          </a:solidFill>
                          <a:latin typeface="Helvetica Neue"/>
                        </a:rPr>
                        <a:t>0</a:t>
                      </a:r>
                    </a:p>
                  </a:txBody>
                  <a:tcPr marL="101600" marR="76200" marT="38100" marB="38100" anchor="ctr">
                    <a:solidFill>
                      <a:srgbClr val="F3F2EE"/>
                    </a:solidFill>
                  </a:tcPr>
                </a:tc>
                <a:extLst>
                  <a:ext uri="{0D108BD9-81ED-4DB2-BD59-A6C34878D82A}">
                    <a16:rowId xmlns:a16="http://schemas.microsoft.com/office/drawing/2014/main" val="10002"/>
                  </a:ext>
                </a:extLst>
              </a:tr>
              <a:tr h="434340">
                <a:tc>
                  <a:txBody>
                    <a:bodyPr/>
                    <a:lstStyle/>
                    <a:p>
                      <a:r>
                        <a:rPr sz="1200" b="1">
                          <a:solidFill>
                            <a:srgbClr val="0B0B0B"/>
                          </a:solidFill>
                          <a:latin typeface="Helvetica Neue"/>
                        </a:rPr>
                        <a:t>Ministral-8B</a:t>
                      </a:r>
                    </a:p>
                  </a:txBody>
                  <a:tcPr marL="101600" marR="76200" marT="38100" marB="38100" anchor="ctr">
                    <a:solidFill>
                      <a:srgbClr val="FCFCFB"/>
                    </a:solidFill>
                  </a:tcPr>
                </a:tc>
                <a:tc>
                  <a:txBody>
                    <a:bodyPr/>
                    <a:lstStyle/>
                    <a:p>
                      <a:r>
                        <a:rPr sz="1200">
                          <a:solidFill>
                            <a:srgbClr val="52514E"/>
                          </a:solidFill>
                          <a:latin typeface="Helvetica Neue"/>
                        </a:rPr>
                        <a:t>38.1</a:t>
                      </a:r>
                    </a:p>
                  </a:txBody>
                  <a:tcPr marL="101600" marR="76200" marT="38100" marB="38100" anchor="ctr">
                    <a:solidFill>
                      <a:srgbClr val="FCFCFB"/>
                    </a:solidFill>
                  </a:tcPr>
                </a:tc>
                <a:tc>
                  <a:txBody>
                    <a:bodyPr/>
                    <a:lstStyle/>
                    <a:p>
                      <a:r>
                        <a:rPr sz="1200">
                          <a:solidFill>
                            <a:srgbClr val="52514E"/>
                          </a:solidFill>
                          <a:latin typeface="Helvetica Neue"/>
                        </a:rPr>
                        <a:t>381 / 1000</a:t>
                      </a:r>
                    </a:p>
                  </a:txBody>
                  <a:tcPr marL="101600" marR="76200" marT="38100" marB="38100" anchor="ctr">
                    <a:solidFill>
                      <a:srgbClr val="FCFCFB"/>
                    </a:solidFill>
                  </a:tcPr>
                </a:tc>
                <a:tc>
                  <a:txBody>
                    <a:bodyPr/>
                    <a:lstStyle/>
                    <a:p>
                      <a:r>
                        <a:rPr sz="1200">
                          <a:solidFill>
                            <a:srgbClr val="52514E"/>
                          </a:solidFill>
                          <a:latin typeface="Helvetica Neue"/>
                        </a:rPr>
                        <a:t>0.731</a:t>
                      </a:r>
                    </a:p>
                  </a:txBody>
                  <a:tcPr marL="101600" marR="76200" marT="38100" marB="38100" anchor="ctr">
                    <a:solidFill>
                      <a:srgbClr val="FCFCFB"/>
                    </a:solidFill>
                  </a:tcPr>
                </a:tc>
                <a:tc>
                  <a:txBody>
                    <a:bodyPr/>
                    <a:lstStyle/>
                    <a:p>
                      <a:r>
                        <a:rPr sz="1200">
                          <a:solidFill>
                            <a:srgbClr val="52514E"/>
                          </a:solidFill>
                          <a:latin typeface="Helvetica Neue"/>
                        </a:rPr>
                        <a:t>0</a:t>
                      </a:r>
                    </a:p>
                  </a:txBody>
                  <a:tcPr marL="101600" marR="76200" marT="38100" marB="38100" anchor="ctr">
                    <a:solidFill>
                      <a:srgbClr val="FCFCFB"/>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3703320"/>
            <a:ext cx="5577840" cy="1463040"/>
          </a:xfrm>
          <a:prstGeom prst="rect">
            <a:avLst/>
          </a:prstGeom>
          <a:noFill/>
        </p:spPr>
        <p:txBody>
          <a:bodyPr wrap="square" lIns="0" tIns="0" rIns="0" bIns="0" anchor="t">
            <a:spAutoFit/>
          </a:bodyPr>
          <a:lstStyle/>
          <a:p>
            <a:pPr algn="l">
              <a:lnSpc>
                <a:spcPct val="130000"/>
              </a:lnSpc>
            </a:pPr>
            <a:r>
              <a:rPr sz="1250" b="0" i="0">
                <a:solidFill>
                  <a:srgbClr val="52514E"/>
                </a:solidFill>
                <a:latin typeface="Helvetica Neue"/>
              </a:rPr>
              <a:t>Best accuracy: Ministral-8B at 38.1%.
Fastest: Llama-3.2-3B at 0.577 s/query.
Gemma-3-4B holds 21.9% on the full 1,000-sample split (matching its earlier 50-sample estimate) but is now clearly the slowest model at 1.198 s/query.</a:t>
            </a:r>
          </a:p>
        </p:txBody>
      </p:sp>
      <p:pic>
        <p:nvPicPr>
          <p:cNvPr id="8" name="Picture 7" descr="lambada-acc.png"/>
          <p:cNvPicPr>
            <a:picLocks noChangeAspect="1"/>
          </p:cNvPicPr>
          <p:nvPr/>
        </p:nvPicPr>
        <p:blipFill>
          <a:blip r:embed="rId2"/>
          <a:stretch>
            <a:fillRect/>
          </a:stretch>
        </p:blipFill>
        <p:spPr>
          <a:xfrm>
            <a:off x="6355080" y="1691640"/>
            <a:ext cx="3739447" cy="2240280"/>
          </a:xfrm>
          <a:prstGeom prst="rect">
            <a:avLst/>
          </a:prstGeom>
        </p:spPr>
      </p:pic>
      <p:pic>
        <p:nvPicPr>
          <p:cNvPr id="9" name="Picture 8" descr="lambada-resp-time.png"/>
          <p:cNvPicPr>
            <a:picLocks noChangeAspect="1"/>
          </p:cNvPicPr>
          <p:nvPr/>
        </p:nvPicPr>
        <p:blipFill>
          <a:blip r:embed="rId3"/>
          <a:stretch>
            <a:fillRect/>
          </a:stretch>
        </p:blipFill>
        <p:spPr>
          <a:xfrm>
            <a:off x="6355080" y="4069080"/>
            <a:ext cx="3778318" cy="2240280"/>
          </a:xfrm>
          <a:prstGeom prst="rect">
            <a:avLst/>
          </a:prstGeom>
        </p:spPr>
      </p:pic>
      <p:sp>
        <p:nvSpPr>
          <p:cNvPr id="10" name="TextBox 9"/>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1" name="TextBox 10"/>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500" b="1" i="0">
                <a:solidFill>
                  <a:srgbClr val="0B0B0B"/>
                </a:solidFill>
                <a:latin typeface="Helvetica Neue"/>
              </a:rPr>
              <a:t>LAMBADA — SLM web app run panel</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91640"/>
            <a:ext cx="11064240" cy="640080"/>
          </a:xfrm>
          <a:prstGeom prst="rect">
            <a:avLst/>
          </a:prstGeom>
          <a:noFill/>
        </p:spPr>
        <p:txBody>
          <a:bodyPr wrap="square" lIns="0" tIns="0" rIns="0" bIns="0" anchor="t">
            <a:spAutoFit/>
          </a:bodyPr>
          <a:lstStyle/>
          <a:p>
            <a:pPr algn="l">
              <a:lnSpc>
                <a:spcPct val="100000"/>
              </a:lnSpc>
            </a:pPr>
            <a:r>
              <a:rPr sz="1300" b="0" i="0">
                <a:solidFill>
                  <a:srgbClr val="52514E"/>
                </a:solidFill>
                <a:latin typeface="Helvetica Neue"/>
              </a:rPr>
              <a:t>Model and sample-count inputs, Run Benchmark and Fine Tune (presets) buttons, live terminal streaming per-sample output (green = correct, red = wrong), and the metrics table with the latest saved results for all three models.</a:t>
            </a:r>
          </a:p>
        </p:txBody>
      </p:sp>
      <p:pic>
        <p:nvPicPr>
          <p:cNvPr id="7" name="Picture 6" descr="lambada-ui.png"/>
          <p:cNvPicPr>
            <a:picLocks noChangeAspect="1"/>
          </p:cNvPicPr>
          <p:nvPr/>
        </p:nvPicPr>
        <p:blipFill>
          <a:blip r:embed="rId2"/>
          <a:stretch>
            <a:fillRect/>
          </a:stretch>
        </p:blipFill>
        <p:spPr>
          <a:xfrm>
            <a:off x="2617618" y="2468880"/>
            <a:ext cx="6484374" cy="3657600"/>
          </a:xfrm>
          <a:prstGeom prst="rect">
            <a:avLst/>
          </a:prstGeom>
        </p:spPr>
      </p:pic>
      <p:sp>
        <p:nvSpPr>
          <p:cNvPr id="8" name="TextBox 7"/>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9" name="TextBox 8"/>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300" b="1" i="0">
                <a:solidFill>
                  <a:srgbClr val="0B0B0B"/>
                </a:solidFill>
                <a:latin typeface="Helvetica Neue"/>
              </a:rPr>
              <a:t>MMLU — results (57 subjects × 5 questions = 285/model)</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48640" y="1737360"/>
          <a:ext cx="6766556" cy="1737360"/>
        </p:xfrm>
        <a:graphic>
          <a:graphicData uri="http://schemas.openxmlformats.org/drawingml/2006/table">
            <a:tbl>
              <a:tblPr firstRow="1" bandRow="1">
                <a:tableStyleId>{5C22544A-7EE6-4342-B048-85BDC9FD1C3A}</a:tableStyleId>
              </a:tblPr>
              <a:tblGrid>
                <a:gridCol w="430599">
                  <a:extLst>
                    <a:ext uri="{9D8B030D-6E8A-4147-A177-3AD203B41FA5}">
                      <a16:colId xmlns:a16="http://schemas.microsoft.com/office/drawing/2014/main" val="20000"/>
                    </a:ext>
                  </a:extLst>
                </a:gridCol>
                <a:gridCol w="1291797">
                  <a:extLst>
                    <a:ext uri="{9D8B030D-6E8A-4147-A177-3AD203B41FA5}">
                      <a16:colId xmlns:a16="http://schemas.microsoft.com/office/drawing/2014/main" val="20001"/>
                    </a:ext>
                  </a:extLst>
                </a:gridCol>
                <a:gridCol w="676656">
                  <a:extLst>
                    <a:ext uri="{9D8B030D-6E8A-4147-A177-3AD203B41FA5}">
                      <a16:colId xmlns:a16="http://schemas.microsoft.com/office/drawing/2014/main" val="20002"/>
                    </a:ext>
                  </a:extLst>
                </a:gridCol>
                <a:gridCol w="553627">
                  <a:extLst>
                    <a:ext uri="{9D8B030D-6E8A-4147-A177-3AD203B41FA5}">
                      <a16:colId xmlns:a16="http://schemas.microsoft.com/office/drawing/2014/main" val="20003"/>
                    </a:ext>
                  </a:extLst>
                </a:gridCol>
                <a:gridCol w="676656">
                  <a:extLst>
                    <a:ext uri="{9D8B030D-6E8A-4147-A177-3AD203B41FA5}">
                      <a16:colId xmlns:a16="http://schemas.microsoft.com/office/drawing/2014/main" val="20004"/>
                    </a:ext>
                  </a:extLst>
                </a:gridCol>
                <a:gridCol w="553627">
                  <a:extLst>
                    <a:ext uri="{9D8B030D-6E8A-4147-A177-3AD203B41FA5}">
                      <a16:colId xmlns:a16="http://schemas.microsoft.com/office/drawing/2014/main" val="20005"/>
                    </a:ext>
                  </a:extLst>
                </a:gridCol>
                <a:gridCol w="553627">
                  <a:extLst>
                    <a:ext uri="{9D8B030D-6E8A-4147-A177-3AD203B41FA5}">
                      <a16:colId xmlns:a16="http://schemas.microsoft.com/office/drawing/2014/main" val="20006"/>
                    </a:ext>
                  </a:extLst>
                </a:gridCol>
                <a:gridCol w="799684">
                  <a:extLst>
                    <a:ext uri="{9D8B030D-6E8A-4147-A177-3AD203B41FA5}">
                      <a16:colId xmlns:a16="http://schemas.microsoft.com/office/drawing/2014/main" val="20007"/>
                    </a:ext>
                  </a:extLst>
                </a:gridCol>
                <a:gridCol w="553627">
                  <a:extLst>
                    <a:ext uri="{9D8B030D-6E8A-4147-A177-3AD203B41FA5}">
                      <a16:colId xmlns:a16="http://schemas.microsoft.com/office/drawing/2014/main" val="20008"/>
                    </a:ext>
                  </a:extLst>
                </a:gridCol>
                <a:gridCol w="676656">
                  <a:extLst>
                    <a:ext uri="{9D8B030D-6E8A-4147-A177-3AD203B41FA5}">
                      <a16:colId xmlns:a16="http://schemas.microsoft.com/office/drawing/2014/main" val="20009"/>
                    </a:ext>
                  </a:extLst>
                </a:gridCol>
              </a:tblGrid>
              <a:tr h="434340">
                <a:tc>
                  <a:txBody>
                    <a:bodyPr/>
                    <a:lstStyle/>
                    <a:p>
                      <a:r>
                        <a:rPr sz="1000" b="1">
                          <a:solidFill>
                            <a:srgbClr val="FFFFFF"/>
                          </a:solidFill>
                          <a:latin typeface="Helvetica Neue"/>
                        </a:rPr>
                        <a:t>Rank</a:t>
                      </a:r>
                    </a:p>
                  </a:txBody>
                  <a:tcPr marL="101600" marR="76200" marT="50800" marB="50800" anchor="ctr">
                    <a:solidFill>
                      <a:srgbClr val="0B0B0B"/>
                    </a:solidFill>
                  </a:tcPr>
                </a:tc>
                <a:tc>
                  <a:txBody>
                    <a:bodyPr/>
                    <a:lstStyle/>
                    <a:p>
                      <a:r>
                        <a:rPr sz="1000" b="1">
                          <a:solidFill>
                            <a:srgbClr val="FFFFFF"/>
                          </a:solidFill>
                          <a:latin typeface="Helvetica Neue"/>
                        </a:rPr>
                        <a:t>Model</a:t>
                      </a:r>
                    </a:p>
                  </a:txBody>
                  <a:tcPr marL="101600" marR="76200" marT="50800" marB="50800" anchor="ctr">
                    <a:solidFill>
                      <a:srgbClr val="0B0B0B"/>
                    </a:solidFill>
                  </a:tcPr>
                </a:tc>
                <a:tc>
                  <a:txBody>
                    <a:bodyPr/>
                    <a:lstStyle/>
                    <a:p>
                      <a:r>
                        <a:rPr sz="1000" b="1">
                          <a:solidFill>
                            <a:srgbClr val="FFFFFF"/>
                          </a:solidFill>
                          <a:latin typeface="Helvetica Neue"/>
                        </a:rPr>
                        <a:t>Acc. (%)</a:t>
                      </a:r>
                    </a:p>
                  </a:txBody>
                  <a:tcPr marL="101600" marR="76200" marT="50800" marB="50800" anchor="ctr">
                    <a:solidFill>
                      <a:srgbClr val="0B0B0B"/>
                    </a:solidFill>
                  </a:tcPr>
                </a:tc>
                <a:tc>
                  <a:txBody>
                    <a:bodyPr/>
                    <a:lstStyle/>
                    <a:p>
                      <a:r>
                        <a:rPr sz="1000" b="1">
                          <a:solidFill>
                            <a:srgbClr val="FFFFFF"/>
                          </a:solidFill>
                          <a:latin typeface="Helvetica Neue"/>
                        </a:rPr>
                        <a:t>STEM</a:t>
                      </a:r>
                    </a:p>
                  </a:txBody>
                  <a:tcPr marL="101600" marR="76200" marT="50800" marB="50800" anchor="ctr">
                    <a:solidFill>
                      <a:srgbClr val="0B0B0B"/>
                    </a:solidFill>
                  </a:tcPr>
                </a:tc>
                <a:tc>
                  <a:txBody>
                    <a:bodyPr/>
                    <a:lstStyle/>
                    <a:p>
                      <a:r>
                        <a:rPr sz="1000" b="1">
                          <a:solidFill>
                            <a:srgbClr val="FFFFFF"/>
                          </a:solidFill>
                          <a:latin typeface="Helvetica Neue"/>
                        </a:rPr>
                        <a:t>Human.</a:t>
                      </a:r>
                    </a:p>
                  </a:txBody>
                  <a:tcPr marL="101600" marR="76200" marT="50800" marB="50800" anchor="ctr">
                    <a:solidFill>
                      <a:srgbClr val="0B0B0B"/>
                    </a:solidFill>
                  </a:tcPr>
                </a:tc>
                <a:tc>
                  <a:txBody>
                    <a:bodyPr/>
                    <a:lstStyle/>
                    <a:p>
                      <a:r>
                        <a:rPr sz="1000" b="1">
                          <a:solidFill>
                            <a:srgbClr val="FFFFFF"/>
                          </a:solidFill>
                          <a:latin typeface="Helvetica Neue"/>
                        </a:rPr>
                        <a:t>Social</a:t>
                      </a:r>
                    </a:p>
                  </a:txBody>
                  <a:tcPr marL="101600" marR="76200" marT="50800" marB="50800" anchor="ctr">
                    <a:solidFill>
                      <a:srgbClr val="0B0B0B"/>
                    </a:solidFill>
                  </a:tcPr>
                </a:tc>
                <a:tc>
                  <a:txBody>
                    <a:bodyPr/>
                    <a:lstStyle/>
                    <a:p>
                      <a:r>
                        <a:rPr sz="1000" b="1">
                          <a:solidFill>
                            <a:srgbClr val="FFFFFF"/>
                          </a:solidFill>
                          <a:latin typeface="Helvetica Neue"/>
                        </a:rPr>
                        <a:t>Other</a:t>
                      </a:r>
                    </a:p>
                  </a:txBody>
                  <a:tcPr marL="101600" marR="76200" marT="50800" marB="50800" anchor="ctr">
                    <a:solidFill>
                      <a:srgbClr val="0B0B0B"/>
                    </a:solidFill>
                  </a:tcPr>
                </a:tc>
                <a:tc>
                  <a:txBody>
                    <a:bodyPr/>
                    <a:lstStyle/>
                    <a:p>
                      <a:r>
                        <a:rPr sz="1000" b="1">
                          <a:solidFill>
                            <a:srgbClr val="FFFFFF"/>
                          </a:solidFill>
                          <a:latin typeface="Helvetica Neue"/>
                        </a:rPr>
                        <a:t>Reason. (%)</a:t>
                      </a:r>
                    </a:p>
                  </a:txBody>
                  <a:tcPr marL="101600" marR="76200" marT="50800" marB="50800" anchor="ctr">
                    <a:solidFill>
                      <a:srgbClr val="0B0B0B"/>
                    </a:solidFill>
                  </a:tcPr>
                </a:tc>
                <a:tc>
                  <a:txBody>
                    <a:bodyPr/>
                    <a:lstStyle/>
                    <a:p>
                      <a:r>
                        <a:rPr sz="1000" b="1">
                          <a:solidFill>
                            <a:srgbClr val="FFFFFF"/>
                          </a:solidFill>
                          <a:latin typeface="Helvetica Neue"/>
                        </a:rPr>
                        <a:t>Avg s</a:t>
                      </a:r>
                    </a:p>
                  </a:txBody>
                  <a:tcPr marL="101600" marR="76200" marT="50800" marB="50800" anchor="ctr">
                    <a:solidFill>
                      <a:srgbClr val="0B0B0B"/>
                    </a:solidFill>
                  </a:tcPr>
                </a:tc>
                <a:tc>
                  <a:txBody>
                    <a:bodyPr/>
                    <a:lstStyle/>
                    <a:p>
                      <a:r>
                        <a:rPr sz="1000" b="1">
                          <a:solidFill>
                            <a:srgbClr val="FFFFFF"/>
                          </a:solidFill>
                          <a:latin typeface="Helvetica Neue"/>
                        </a:rPr>
                        <a:t>Composite</a:t>
                      </a:r>
                    </a:p>
                  </a:txBody>
                  <a:tcPr marL="101600" marR="76200" marT="50800" marB="50800" anchor="ctr">
                    <a:solidFill>
                      <a:srgbClr val="0B0B0B"/>
                    </a:solidFill>
                  </a:tcPr>
                </a:tc>
                <a:extLst>
                  <a:ext uri="{0D108BD9-81ED-4DB2-BD59-A6C34878D82A}">
                    <a16:rowId xmlns:a16="http://schemas.microsoft.com/office/drawing/2014/main" val="10000"/>
                  </a:ext>
                </a:extLst>
              </a:tr>
              <a:tr h="434340">
                <a:tc>
                  <a:txBody>
                    <a:bodyPr/>
                    <a:lstStyle/>
                    <a:p>
                      <a:r>
                        <a:rPr sz="1000" b="1">
                          <a:solidFill>
                            <a:srgbClr val="0B0B0B"/>
                          </a:solidFill>
                          <a:latin typeface="Helvetica Neue"/>
                        </a:rPr>
                        <a:t>1</a:t>
                      </a:r>
                    </a:p>
                  </a:txBody>
                  <a:tcPr marL="101600" marR="76200" marT="38100" marB="38100" anchor="ctr">
                    <a:solidFill>
                      <a:srgbClr val="FCFCFB"/>
                    </a:solidFill>
                  </a:tcPr>
                </a:tc>
                <a:tc>
                  <a:txBody>
                    <a:bodyPr/>
                    <a:lstStyle/>
                    <a:p>
                      <a:r>
                        <a:rPr sz="1000">
                          <a:solidFill>
                            <a:srgbClr val="52514E"/>
                          </a:solidFill>
                          <a:latin typeface="Helvetica Neue"/>
                        </a:rPr>
                        <a:t>Ministral-8B</a:t>
                      </a:r>
                    </a:p>
                  </a:txBody>
                  <a:tcPr marL="101600" marR="76200" marT="38100" marB="38100" anchor="ctr">
                    <a:solidFill>
                      <a:srgbClr val="FCFCFB"/>
                    </a:solidFill>
                  </a:tcPr>
                </a:tc>
                <a:tc>
                  <a:txBody>
                    <a:bodyPr/>
                    <a:lstStyle/>
                    <a:p>
                      <a:r>
                        <a:rPr sz="1000">
                          <a:solidFill>
                            <a:srgbClr val="52514E"/>
                          </a:solidFill>
                          <a:latin typeface="Helvetica Neue"/>
                        </a:rPr>
                        <a:t>78.9</a:t>
                      </a:r>
                    </a:p>
                  </a:txBody>
                  <a:tcPr marL="101600" marR="76200" marT="38100" marB="38100" anchor="ctr">
                    <a:solidFill>
                      <a:srgbClr val="FCFCFB"/>
                    </a:solidFill>
                  </a:tcPr>
                </a:tc>
                <a:tc>
                  <a:txBody>
                    <a:bodyPr/>
                    <a:lstStyle/>
                    <a:p>
                      <a:r>
                        <a:rPr sz="1000">
                          <a:solidFill>
                            <a:srgbClr val="52514E"/>
                          </a:solidFill>
                          <a:latin typeface="Helvetica Neue"/>
                        </a:rPr>
                        <a:t>78.9</a:t>
                      </a:r>
                    </a:p>
                  </a:txBody>
                  <a:tcPr marL="101600" marR="76200" marT="38100" marB="38100" anchor="ctr">
                    <a:solidFill>
                      <a:srgbClr val="FCFCFB"/>
                    </a:solidFill>
                  </a:tcPr>
                </a:tc>
                <a:tc>
                  <a:txBody>
                    <a:bodyPr/>
                    <a:lstStyle/>
                    <a:p>
                      <a:r>
                        <a:rPr sz="1000">
                          <a:solidFill>
                            <a:srgbClr val="52514E"/>
                          </a:solidFill>
                          <a:latin typeface="Helvetica Neue"/>
                        </a:rPr>
                        <a:t>73.9</a:t>
                      </a:r>
                    </a:p>
                  </a:txBody>
                  <a:tcPr marL="101600" marR="76200" marT="38100" marB="38100" anchor="ctr">
                    <a:solidFill>
                      <a:srgbClr val="FCFCFB"/>
                    </a:solidFill>
                  </a:tcPr>
                </a:tc>
                <a:tc>
                  <a:txBody>
                    <a:bodyPr/>
                    <a:lstStyle/>
                    <a:p>
                      <a:r>
                        <a:rPr sz="1000">
                          <a:solidFill>
                            <a:srgbClr val="52514E"/>
                          </a:solidFill>
                          <a:latin typeface="Helvetica Neue"/>
                        </a:rPr>
                        <a:t>83.3</a:t>
                      </a:r>
                    </a:p>
                  </a:txBody>
                  <a:tcPr marL="101600" marR="76200" marT="38100" marB="38100" anchor="ctr">
                    <a:solidFill>
                      <a:srgbClr val="FCFCFB"/>
                    </a:solidFill>
                  </a:tcPr>
                </a:tc>
                <a:tc>
                  <a:txBody>
                    <a:bodyPr/>
                    <a:lstStyle/>
                    <a:p>
                      <a:r>
                        <a:rPr sz="1000">
                          <a:solidFill>
                            <a:srgbClr val="52514E"/>
                          </a:solidFill>
                          <a:latin typeface="Helvetica Neue"/>
                        </a:rPr>
                        <a:t>80.0</a:t>
                      </a:r>
                    </a:p>
                  </a:txBody>
                  <a:tcPr marL="101600" marR="76200" marT="38100" marB="38100" anchor="ctr">
                    <a:solidFill>
                      <a:srgbClr val="FCFCFB"/>
                    </a:solidFill>
                  </a:tcPr>
                </a:tc>
                <a:tc>
                  <a:txBody>
                    <a:bodyPr/>
                    <a:lstStyle/>
                    <a:p>
                      <a:r>
                        <a:rPr sz="1000">
                          <a:solidFill>
                            <a:srgbClr val="52514E"/>
                          </a:solidFill>
                          <a:latin typeface="Helvetica Neue"/>
                        </a:rPr>
                        <a:t>69.1</a:t>
                      </a:r>
                    </a:p>
                  </a:txBody>
                  <a:tcPr marL="101600" marR="76200" marT="38100" marB="38100" anchor="ctr">
                    <a:solidFill>
                      <a:srgbClr val="FCFCFB"/>
                    </a:solidFill>
                  </a:tcPr>
                </a:tc>
                <a:tc>
                  <a:txBody>
                    <a:bodyPr/>
                    <a:lstStyle/>
                    <a:p>
                      <a:r>
                        <a:rPr sz="1000">
                          <a:solidFill>
                            <a:srgbClr val="52514E"/>
                          </a:solidFill>
                          <a:latin typeface="Helvetica Neue"/>
                        </a:rPr>
                        <a:t>1.537</a:t>
                      </a:r>
                    </a:p>
                  </a:txBody>
                  <a:tcPr marL="101600" marR="76200" marT="38100" marB="38100" anchor="ctr">
                    <a:solidFill>
                      <a:srgbClr val="FCFCFB"/>
                    </a:solidFill>
                  </a:tcPr>
                </a:tc>
                <a:tc>
                  <a:txBody>
                    <a:bodyPr/>
                    <a:lstStyle/>
                    <a:p>
                      <a:r>
                        <a:rPr sz="1000">
                          <a:solidFill>
                            <a:srgbClr val="52514E"/>
                          </a:solidFill>
                          <a:latin typeface="Helvetica Neue"/>
                        </a:rPr>
                        <a:t>0.731</a:t>
                      </a:r>
                    </a:p>
                  </a:txBody>
                  <a:tcPr marL="101600" marR="76200" marT="38100" marB="38100" anchor="ctr">
                    <a:solidFill>
                      <a:srgbClr val="FCFCFB"/>
                    </a:solidFill>
                  </a:tcPr>
                </a:tc>
                <a:extLst>
                  <a:ext uri="{0D108BD9-81ED-4DB2-BD59-A6C34878D82A}">
                    <a16:rowId xmlns:a16="http://schemas.microsoft.com/office/drawing/2014/main" val="10001"/>
                  </a:ext>
                </a:extLst>
              </a:tr>
              <a:tr h="434340">
                <a:tc>
                  <a:txBody>
                    <a:bodyPr/>
                    <a:lstStyle/>
                    <a:p>
                      <a:r>
                        <a:rPr sz="1000" b="1">
                          <a:solidFill>
                            <a:srgbClr val="0B0B0B"/>
                          </a:solidFill>
                          <a:latin typeface="Helvetica Neue"/>
                        </a:rPr>
                        <a:t>2</a:t>
                      </a:r>
                    </a:p>
                  </a:txBody>
                  <a:tcPr marL="101600" marR="76200" marT="38100" marB="38100" anchor="ctr">
                    <a:solidFill>
                      <a:srgbClr val="F3F2EE"/>
                    </a:solidFill>
                  </a:tcPr>
                </a:tc>
                <a:tc>
                  <a:txBody>
                    <a:bodyPr/>
                    <a:lstStyle/>
                    <a:p>
                      <a:r>
                        <a:rPr sz="1000">
                          <a:solidFill>
                            <a:srgbClr val="52514E"/>
                          </a:solidFill>
                          <a:latin typeface="Helvetica Neue"/>
                        </a:rPr>
                        <a:t>Llama-3.2-3B</a:t>
                      </a:r>
                    </a:p>
                  </a:txBody>
                  <a:tcPr marL="101600" marR="76200" marT="38100" marB="38100" anchor="ctr">
                    <a:solidFill>
                      <a:srgbClr val="F3F2EE"/>
                    </a:solidFill>
                  </a:tcPr>
                </a:tc>
                <a:tc>
                  <a:txBody>
                    <a:bodyPr/>
                    <a:lstStyle/>
                    <a:p>
                      <a:r>
                        <a:rPr sz="1000">
                          <a:solidFill>
                            <a:srgbClr val="52514E"/>
                          </a:solidFill>
                          <a:latin typeface="Helvetica Neue"/>
                        </a:rPr>
                        <a:t>55.8</a:t>
                      </a:r>
                    </a:p>
                  </a:txBody>
                  <a:tcPr marL="101600" marR="76200" marT="38100" marB="38100" anchor="ctr">
                    <a:solidFill>
                      <a:srgbClr val="F3F2EE"/>
                    </a:solidFill>
                  </a:tcPr>
                </a:tc>
                <a:tc>
                  <a:txBody>
                    <a:bodyPr/>
                    <a:lstStyle/>
                    <a:p>
                      <a:r>
                        <a:rPr sz="1000">
                          <a:solidFill>
                            <a:srgbClr val="52514E"/>
                          </a:solidFill>
                          <a:latin typeface="Helvetica Neue"/>
                        </a:rPr>
                        <a:t>43.3</a:t>
                      </a:r>
                    </a:p>
                  </a:txBody>
                  <a:tcPr marL="101600" marR="76200" marT="38100" marB="38100" anchor="ctr">
                    <a:solidFill>
                      <a:srgbClr val="F3F2EE"/>
                    </a:solidFill>
                  </a:tcPr>
                </a:tc>
                <a:tc>
                  <a:txBody>
                    <a:bodyPr/>
                    <a:lstStyle/>
                    <a:p>
                      <a:r>
                        <a:rPr sz="1000">
                          <a:solidFill>
                            <a:srgbClr val="52514E"/>
                          </a:solidFill>
                          <a:latin typeface="Helvetica Neue"/>
                        </a:rPr>
                        <a:t>63.1</a:t>
                      </a:r>
                    </a:p>
                  </a:txBody>
                  <a:tcPr marL="101600" marR="76200" marT="38100" marB="38100" anchor="ctr">
                    <a:solidFill>
                      <a:srgbClr val="F3F2EE"/>
                    </a:solidFill>
                  </a:tcPr>
                </a:tc>
                <a:tc>
                  <a:txBody>
                    <a:bodyPr/>
                    <a:lstStyle/>
                    <a:p>
                      <a:r>
                        <a:rPr sz="1000">
                          <a:solidFill>
                            <a:srgbClr val="52514E"/>
                          </a:solidFill>
                          <a:latin typeface="Helvetica Neue"/>
                        </a:rPr>
                        <a:t>63.3</a:t>
                      </a:r>
                    </a:p>
                  </a:txBody>
                  <a:tcPr marL="101600" marR="76200" marT="38100" marB="38100" anchor="ctr">
                    <a:solidFill>
                      <a:srgbClr val="F3F2EE"/>
                    </a:solidFill>
                  </a:tcPr>
                </a:tc>
                <a:tc>
                  <a:txBody>
                    <a:bodyPr/>
                    <a:lstStyle/>
                    <a:p>
                      <a:r>
                        <a:rPr sz="1000">
                          <a:solidFill>
                            <a:srgbClr val="52514E"/>
                          </a:solidFill>
                          <a:latin typeface="Helvetica Neue"/>
                        </a:rPr>
                        <a:t>58.6</a:t>
                      </a:r>
                    </a:p>
                  </a:txBody>
                  <a:tcPr marL="101600" marR="76200" marT="38100" marB="38100" anchor="ctr">
                    <a:solidFill>
                      <a:srgbClr val="F3F2EE"/>
                    </a:solidFill>
                  </a:tcPr>
                </a:tc>
                <a:tc>
                  <a:txBody>
                    <a:bodyPr/>
                    <a:lstStyle/>
                    <a:p>
                      <a:r>
                        <a:rPr sz="1000">
                          <a:solidFill>
                            <a:srgbClr val="52514E"/>
                          </a:solidFill>
                          <a:latin typeface="Helvetica Neue"/>
                        </a:rPr>
                        <a:t>59.7</a:t>
                      </a:r>
                    </a:p>
                  </a:txBody>
                  <a:tcPr marL="101600" marR="76200" marT="38100" marB="38100" anchor="ctr">
                    <a:solidFill>
                      <a:srgbClr val="F3F2EE"/>
                    </a:solidFill>
                  </a:tcPr>
                </a:tc>
                <a:tc>
                  <a:txBody>
                    <a:bodyPr/>
                    <a:lstStyle/>
                    <a:p>
                      <a:r>
                        <a:rPr sz="1000">
                          <a:solidFill>
                            <a:srgbClr val="52514E"/>
                          </a:solidFill>
                          <a:latin typeface="Helvetica Neue"/>
                        </a:rPr>
                        <a:t>0.768</a:t>
                      </a:r>
                    </a:p>
                  </a:txBody>
                  <a:tcPr marL="101600" marR="76200" marT="38100" marB="38100" anchor="ctr">
                    <a:solidFill>
                      <a:srgbClr val="F3F2EE"/>
                    </a:solidFill>
                  </a:tcPr>
                </a:tc>
                <a:tc>
                  <a:txBody>
                    <a:bodyPr/>
                    <a:lstStyle/>
                    <a:p>
                      <a:r>
                        <a:rPr sz="1000">
                          <a:solidFill>
                            <a:srgbClr val="52514E"/>
                          </a:solidFill>
                          <a:latin typeface="Helvetica Neue"/>
                        </a:rPr>
                        <a:t>0.630</a:t>
                      </a:r>
                    </a:p>
                  </a:txBody>
                  <a:tcPr marL="101600" marR="76200" marT="38100" marB="38100" anchor="ctr">
                    <a:solidFill>
                      <a:srgbClr val="F3F2EE"/>
                    </a:solidFill>
                  </a:tcPr>
                </a:tc>
                <a:extLst>
                  <a:ext uri="{0D108BD9-81ED-4DB2-BD59-A6C34878D82A}">
                    <a16:rowId xmlns:a16="http://schemas.microsoft.com/office/drawing/2014/main" val="10002"/>
                  </a:ext>
                </a:extLst>
              </a:tr>
              <a:tr h="434340">
                <a:tc>
                  <a:txBody>
                    <a:bodyPr/>
                    <a:lstStyle/>
                    <a:p>
                      <a:r>
                        <a:rPr sz="1000" b="1">
                          <a:solidFill>
                            <a:srgbClr val="0B0B0B"/>
                          </a:solidFill>
                          <a:latin typeface="Helvetica Neue"/>
                        </a:rPr>
                        <a:t>3</a:t>
                      </a:r>
                    </a:p>
                  </a:txBody>
                  <a:tcPr marL="101600" marR="76200" marT="38100" marB="38100" anchor="ctr">
                    <a:solidFill>
                      <a:srgbClr val="FCFCFB"/>
                    </a:solidFill>
                  </a:tcPr>
                </a:tc>
                <a:tc>
                  <a:txBody>
                    <a:bodyPr/>
                    <a:lstStyle/>
                    <a:p>
                      <a:r>
                        <a:rPr sz="1000">
                          <a:solidFill>
                            <a:srgbClr val="52514E"/>
                          </a:solidFill>
                          <a:latin typeface="Helvetica Neue"/>
                        </a:rPr>
                        <a:t>Gemma-3-4B</a:t>
                      </a:r>
                    </a:p>
                  </a:txBody>
                  <a:tcPr marL="101600" marR="76200" marT="38100" marB="38100" anchor="ctr">
                    <a:solidFill>
                      <a:srgbClr val="FCFCFB"/>
                    </a:solidFill>
                  </a:tcPr>
                </a:tc>
                <a:tc>
                  <a:txBody>
                    <a:bodyPr/>
                    <a:lstStyle/>
                    <a:p>
                      <a:r>
                        <a:rPr sz="1000">
                          <a:solidFill>
                            <a:srgbClr val="52514E"/>
                          </a:solidFill>
                          <a:latin typeface="Helvetica Neue"/>
                        </a:rPr>
                        <a:t>63.9</a:t>
                      </a:r>
                    </a:p>
                  </a:txBody>
                  <a:tcPr marL="101600" marR="76200" marT="38100" marB="38100" anchor="ctr">
                    <a:solidFill>
                      <a:srgbClr val="FCFCFB"/>
                    </a:solidFill>
                  </a:tcPr>
                </a:tc>
                <a:tc>
                  <a:txBody>
                    <a:bodyPr/>
                    <a:lstStyle/>
                    <a:p>
                      <a:r>
                        <a:rPr sz="1000">
                          <a:solidFill>
                            <a:srgbClr val="52514E"/>
                          </a:solidFill>
                          <a:latin typeface="Helvetica Neue"/>
                        </a:rPr>
                        <a:t>61.1</a:t>
                      </a:r>
                    </a:p>
                  </a:txBody>
                  <a:tcPr marL="101600" marR="76200" marT="38100" marB="38100" anchor="ctr">
                    <a:solidFill>
                      <a:srgbClr val="FCFCFB"/>
                    </a:solidFill>
                  </a:tcPr>
                </a:tc>
                <a:tc>
                  <a:txBody>
                    <a:bodyPr/>
                    <a:lstStyle/>
                    <a:p>
                      <a:r>
                        <a:rPr sz="1000">
                          <a:solidFill>
                            <a:srgbClr val="52514E"/>
                          </a:solidFill>
                          <a:latin typeface="Helvetica Neue"/>
                        </a:rPr>
                        <a:t>61.5</a:t>
                      </a:r>
                    </a:p>
                  </a:txBody>
                  <a:tcPr marL="101600" marR="76200" marT="38100" marB="38100" anchor="ctr">
                    <a:solidFill>
                      <a:srgbClr val="FCFCFB"/>
                    </a:solidFill>
                  </a:tcPr>
                </a:tc>
                <a:tc>
                  <a:txBody>
                    <a:bodyPr/>
                    <a:lstStyle/>
                    <a:p>
                      <a:r>
                        <a:rPr sz="1000">
                          <a:solidFill>
                            <a:srgbClr val="52514E"/>
                          </a:solidFill>
                          <a:latin typeface="Helvetica Neue"/>
                        </a:rPr>
                        <a:t>73.3</a:t>
                      </a:r>
                    </a:p>
                  </a:txBody>
                  <a:tcPr marL="101600" marR="76200" marT="38100" marB="38100" anchor="ctr">
                    <a:solidFill>
                      <a:srgbClr val="FCFCFB"/>
                    </a:solidFill>
                  </a:tcPr>
                </a:tc>
                <a:tc>
                  <a:txBody>
                    <a:bodyPr/>
                    <a:lstStyle/>
                    <a:p>
                      <a:r>
                        <a:rPr sz="1000">
                          <a:solidFill>
                            <a:srgbClr val="52514E"/>
                          </a:solidFill>
                          <a:latin typeface="Helvetica Neue"/>
                        </a:rPr>
                        <a:t>61.4</a:t>
                      </a:r>
                    </a:p>
                  </a:txBody>
                  <a:tcPr marL="101600" marR="76200" marT="38100" marB="38100" anchor="ctr">
                    <a:solidFill>
                      <a:srgbClr val="FCFCFB"/>
                    </a:solidFill>
                  </a:tcPr>
                </a:tc>
                <a:tc>
                  <a:txBody>
                    <a:bodyPr/>
                    <a:lstStyle/>
                    <a:p>
                      <a:r>
                        <a:rPr sz="1000">
                          <a:solidFill>
                            <a:srgbClr val="52514E"/>
                          </a:solidFill>
                          <a:latin typeface="Helvetica Neue"/>
                        </a:rPr>
                        <a:t>64.6</a:t>
                      </a:r>
                    </a:p>
                  </a:txBody>
                  <a:tcPr marL="101600" marR="76200" marT="38100" marB="38100" anchor="ctr">
                    <a:solidFill>
                      <a:srgbClr val="FCFCFB"/>
                    </a:solidFill>
                  </a:tcPr>
                </a:tc>
                <a:tc>
                  <a:txBody>
                    <a:bodyPr/>
                    <a:lstStyle/>
                    <a:p>
                      <a:r>
                        <a:rPr sz="1000">
                          <a:solidFill>
                            <a:srgbClr val="52514E"/>
                          </a:solidFill>
                          <a:latin typeface="Helvetica Neue"/>
                        </a:rPr>
                        <a:t>2.502</a:t>
                      </a:r>
                    </a:p>
                  </a:txBody>
                  <a:tcPr marL="101600" marR="76200" marT="38100" marB="38100" anchor="ctr">
                    <a:solidFill>
                      <a:srgbClr val="FCFCFB"/>
                    </a:solidFill>
                  </a:tcPr>
                </a:tc>
                <a:tc>
                  <a:txBody>
                    <a:bodyPr/>
                    <a:lstStyle/>
                    <a:p>
                      <a:r>
                        <a:rPr sz="1000">
                          <a:solidFill>
                            <a:srgbClr val="52514E"/>
                          </a:solidFill>
                          <a:latin typeface="Helvetica Neue"/>
                        </a:rPr>
                        <a:t>0.590</a:t>
                      </a:r>
                    </a:p>
                  </a:txBody>
                  <a:tcPr marL="101600" marR="76200" marT="38100" marB="38100" anchor="ctr">
                    <a:solidFill>
                      <a:srgbClr val="FCFCFB"/>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3657600"/>
            <a:ext cx="6766560" cy="2468880"/>
          </a:xfrm>
          <a:prstGeom prst="rect">
            <a:avLst/>
          </a:prstGeom>
          <a:noFill/>
        </p:spPr>
        <p:txBody>
          <a:bodyPr wrap="square">
            <a:spAutoFit/>
          </a:bodyPr>
          <a:lstStyle/>
          <a:p>
            <a:pPr>
              <a:lnSpc>
                <a:spcPct val="112000"/>
              </a:lnSpc>
              <a:spcAft>
                <a:spcPts val="800"/>
              </a:spcAft>
            </a:pPr>
            <a:r>
              <a:rPr sz="1250">
                <a:solidFill>
                  <a:srgbClr val="52514E"/>
                </a:solidFill>
                <a:latin typeface="Helvetica Neue"/>
              </a:rPr>
              <a:t>—  Ministral-8B leads every category and the composite score.</a:t>
            </a:r>
          </a:p>
          <a:p>
            <a:pPr>
              <a:lnSpc>
                <a:spcPct val="112000"/>
              </a:lnSpc>
              <a:spcAft>
                <a:spcPts val="800"/>
              </a:spcAft>
            </a:pPr>
            <a:r>
              <a:rPr sz="1250">
                <a:solidFill>
                  <a:srgbClr val="52514E"/>
                </a:solidFill>
                <a:latin typeface="Helvetica Neue"/>
              </a:rPr>
              <a:t>—  Gemma-3-4B is second on accuracy and reasoning consistency, but its 2.5 s average latency drops it below the faster Llama-3.2-3B on the composite ranking.</a:t>
            </a:r>
          </a:p>
          <a:p>
            <a:pPr>
              <a:lnSpc>
                <a:spcPct val="112000"/>
              </a:lnSpc>
              <a:spcAft>
                <a:spcPts val="800"/>
              </a:spcAft>
            </a:pPr>
            <a:r>
              <a:rPr sz="1250">
                <a:solidFill>
                  <a:srgbClr val="52514E"/>
                </a:solidFill>
                <a:latin typeface="Helvetica Neue"/>
              </a:rPr>
              <a:t>—  Accuracy dominates the composite (70%); reasoning quality and latency (15% each) break ties — mirroring how small models are picked in practice: quality first, then cost and latency.</a:t>
            </a:r>
          </a:p>
        </p:txBody>
      </p:sp>
      <p:pic>
        <p:nvPicPr>
          <p:cNvPr id="8" name="Picture 7" descr="mmlu-metric-composite.png"/>
          <p:cNvPicPr>
            <a:picLocks noChangeAspect="1"/>
          </p:cNvPicPr>
          <p:nvPr/>
        </p:nvPicPr>
        <p:blipFill>
          <a:blip r:embed="rId2"/>
          <a:stretch>
            <a:fillRect/>
          </a:stretch>
        </p:blipFill>
        <p:spPr>
          <a:xfrm>
            <a:off x="7543800" y="1691640"/>
            <a:ext cx="3921369" cy="2286000"/>
          </a:xfrm>
          <a:prstGeom prst="rect">
            <a:avLst/>
          </a:prstGeom>
        </p:spPr>
      </p:pic>
      <p:pic>
        <p:nvPicPr>
          <p:cNvPr id="9" name="Picture 8" descr="mmlu-metric-subjects.png"/>
          <p:cNvPicPr>
            <a:picLocks noChangeAspect="1"/>
          </p:cNvPicPr>
          <p:nvPr/>
        </p:nvPicPr>
        <p:blipFill>
          <a:blip r:embed="rId3"/>
          <a:stretch>
            <a:fillRect/>
          </a:stretch>
        </p:blipFill>
        <p:spPr>
          <a:xfrm>
            <a:off x="7543800" y="4160520"/>
            <a:ext cx="3960628" cy="2286000"/>
          </a:xfrm>
          <a:prstGeom prst="rect">
            <a:avLst/>
          </a:prstGeom>
        </p:spPr>
      </p:pic>
      <p:sp>
        <p:nvSpPr>
          <p:cNvPr id="10" name="TextBox 9"/>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1" name="TextBox 10"/>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700" b="1" i="0">
                <a:solidFill>
                  <a:srgbClr val="0B0B0B"/>
                </a:solidFill>
                <a:latin typeface="Helvetica Neue"/>
              </a:rPr>
              <a:t>MMLU — web app</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91640"/>
            <a:ext cx="11064240" cy="548640"/>
          </a:xfrm>
          <a:prstGeom prst="rect">
            <a:avLst/>
          </a:prstGeom>
          <a:noFill/>
        </p:spPr>
        <p:txBody>
          <a:bodyPr wrap="square" lIns="0" tIns="0" rIns="0" bIns="0" anchor="t">
            <a:spAutoFit/>
          </a:bodyPr>
          <a:lstStyle/>
          <a:p>
            <a:pPr algn="l">
              <a:lnSpc>
                <a:spcPct val="100000"/>
              </a:lnSpc>
            </a:pPr>
            <a:r>
              <a:rPr sz="1300" b="0" i="0">
                <a:solidFill>
                  <a:srgbClr val="52514E"/>
                </a:solidFill>
                <a:latin typeface="Helvetica Neue"/>
              </a:rPr>
              <a:t>Subject picker with category presets, live terminal, per-question Q/A + reasoning viewer with the model's pick vs. the correct answer and reasoning verdict.</a:t>
            </a:r>
          </a:p>
        </p:txBody>
      </p:sp>
      <p:pic>
        <p:nvPicPr>
          <p:cNvPr id="7" name="Picture 6" descr="mmlu-ui.png"/>
          <p:cNvPicPr>
            <a:picLocks noChangeAspect="1"/>
          </p:cNvPicPr>
          <p:nvPr/>
        </p:nvPicPr>
        <p:blipFill>
          <a:blip r:embed="rId2"/>
          <a:stretch>
            <a:fillRect/>
          </a:stretch>
        </p:blipFill>
        <p:spPr>
          <a:xfrm>
            <a:off x="640080" y="2377440"/>
            <a:ext cx="3115040" cy="1828800"/>
          </a:xfrm>
          <a:prstGeom prst="rect">
            <a:avLst/>
          </a:prstGeom>
        </p:spPr>
      </p:pic>
      <p:pic>
        <p:nvPicPr>
          <p:cNvPr id="8" name="Picture 7" descr="mmlu-qa-1.png"/>
          <p:cNvPicPr>
            <a:picLocks noChangeAspect="1"/>
          </p:cNvPicPr>
          <p:nvPr/>
        </p:nvPicPr>
        <p:blipFill>
          <a:blip r:embed="rId3"/>
          <a:stretch>
            <a:fillRect/>
          </a:stretch>
        </p:blipFill>
        <p:spPr>
          <a:xfrm>
            <a:off x="6400800" y="2377440"/>
            <a:ext cx="3162531" cy="1828800"/>
          </a:xfrm>
          <a:prstGeom prst="rect">
            <a:avLst/>
          </a:prstGeom>
        </p:spPr>
      </p:pic>
      <p:pic>
        <p:nvPicPr>
          <p:cNvPr id="9" name="Picture 8" descr="mmlu-qa-2.png"/>
          <p:cNvPicPr>
            <a:picLocks noChangeAspect="1"/>
          </p:cNvPicPr>
          <p:nvPr/>
        </p:nvPicPr>
        <p:blipFill>
          <a:blip r:embed="rId4"/>
          <a:stretch>
            <a:fillRect/>
          </a:stretch>
        </p:blipFill>
        <p:spPr>
          <a:xfrm>
            <a:off x="3520440" y="4480560"/>
            <a:ext cx="3431421" cy="1965960"/>
          </a:xfrm>
          <a:prstGeom prst="rect">
            <a:avLst/>
          </a:prstGeom>
        </p:spPr>
      </p:pic>
      <p:sp>
        <p:nvSpPr>
          <p:cNvPr id="10" name="TextBox 9"/>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1" name="TextBox 10"/>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DISCUSSION OF THE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700" b="1" i="0">
                <a:solidFill>
                  <a:srgbClr val="0B0B0B"/>
                </a:solidFill>
                <a:latin typeface="Helvetica Neue"/>
              </a:rPr>
              <a:t>Why these LAMBADA results?</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737360"/>
            <a:ext cx="11064240" cy="4572000"/>
          </a:xfrm>
          <a:prstGeom prst="rect">
            <a:avLst/>
          </a:prstGeom>
          <a:noFill/>
        </p:spPr>
        <p:txBody>
          <a:bodyPr wrap="square">
            <a:spAutoFit/>
          </a:bodyPr>
          <a:lstStyle/>
          <a:p>
            <a:pPr>
              <a:lnSpc>
                <a:spcPct val="112000"/>
              </a:lnSpc>
              <a:spcAft>
                <a:spcPts val="1200"/>
              </a:spcAft>
            </a:pPr>
            <a:r>
              <a:rPr sz="1350">
                <a:solidFill>
                  <a:srgbClr val="52514E"/>
                </a:solidFill>
                <a:latin typeface="Helvetica Neue"/>
              </a:rPr>
              <a:t>—  Accuracy gap (38.1% Ministral vs. 20.8–21.9% for the other two) matches the compression story: Ministral is the only model not distilled or pruned from a larger checkpoint. LAMBADA specifically punishes compression, because the correct word is very often a rare proper noun or specific detail that a distilled/pruned model is more likely to have smoothed over.</a:t>
            </a:r>
          </a:p>
          <a:p>
            <a:pPr>
              <a:lnSpc>
                <a:spcPct val="112000"/>
              </a:lnSpc>
              <a:spcAft>
                <a:spcPts val="1200"/>
              </a:spcAft>
            </a:pPr>
            <a:r>
              <a:rPr sz="1350">
                <a:solidFill>
                  <a:srgbClr val="52514E"/>
                </a:solidFill>
                <a:latin typeface="Helvetica Neue"/>
              </a:rPr>
              <a:t>—  LAMBADA gives no multiple-choice options — the model must generate the exact right token from the full vocabulary with nothing to recognize from, stressing raw language-modeling precision more than instruction-following, which is exactly where heavy pruning tends to cost the most.</a:t>
            </a:r>
          </a:p>
          <a:p>
            <a:pPr>
              <a:lnSpc>
                <a:spcPct val="112000"/>
              </a:lnSpc>
              <a:spcAft>
                <a:spcPts val="1200"/>
              </a:spcAft>
            </a:pPr>
            <a:r>
              <a:rPr sz="1350">
                <a:solidFill>
                  <a:srgbClr val="52514E"/>
                </a:solidFill>
                <a:latin typeface="Helvetica Neue"/>
              </a:rPr>
              <a:t>—  Gemma-3-4B's latency (1.198s, more than double Llama's 0.577s) is not primarily an architecture story here: this evaluation's own retry log shows Gemma's run hit a sustained string of HTTP 429 rate-limit responses from its OpenRouter-hosted provider, each costing up to ~60s in retries before succeeding — inflating its measured average well above its likely ‘clean’ speed (~0.58s, based on an earlier 50-sample dry run before that congestion).</a:t>
            </a:r>
          </a:p>
          <a:p>
            <a:pPr>
              <a:lnSpc>
                <a:spcPct val="112000"/>
              </a:lnSpc>
              <a:spcAft>
                <a:spcPts val="1200"/>
              </a:spcAft>
            </a:pPr>
            <a:r>
              <a:rPr sz="1350">
                <a:solidFill>
                  <a:srgbClr val="52514E"/>
                </a:solidFill>
                <a:latin typeface="Helvetica Neue"/>
              </a:rPr>
              <a:t>—  All three models finished at 0 recorded errors — the retry-with-backoff logic added after that congestion was diagnosed always eventually succeeded rather than giving up.</a:t>
            </a:r>
          </a:p>
        </p:txBody>
      </p:sp>
      <p:sp>
        <p:nvSpPr>
          <p:cNvPr id="7" name="TextBox 6"/>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8" name="TextBox 7"/>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DISCUSSION OF THE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700" b="1" i="0">
                <a:solidFill>
                  <a:srgbClr val="0B0B0B"/>
                </a:solidFill>
                <a:latin typeface="Helvetica Neue"/>
              </a:rPr>
              <a:t>Why these MMLU results?</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737360"/>
            <a:ext cx="11064240" cy="4572000"/>
          </a:xfrm>
          <a:prstGeom prst="rect">
            <a:avLst/>
          </a:prstGeom>
          <a:noFill/>
        </p:spPr>
        <p:txBody>
          <a:bodyPr wrap="square">
            <a:spAutoFit/>
          </a:bodyPr>
          <a:lstStyle/>
          <a:p>
            <a:pPr>
              <a:lnSpc>
                <a:spcPct val="112000"/>
              </a:lnSpc>
              <a:spcAft>
                <a:spcPts val="1100"/>
              </a:spcAft>
            </a:pPr>
            <a:r>
              <a:rPr sz="1300">
                <a:solidFill>
                  <a:srgbClr val="52514E"/>
                </a:solidFill>
                <a:latin typeface="Helvetica Neue"/>
              </a:rPr>
              <a:t>—  Ministral-8B's win here is even larger than on LAMBADA (78.9% vs. runner-up 63.9%): MMLU tests knowledge breadth across 57 subjects, and raw parameter count (8B vs. 3–4B) tracks especially closely with how much factual knowledge a model can store — more so than with pure language-modeling fluency.</a:t>
            </a:r>
          </a:p>
          <a:p>
            <a:pPr>
              <a:lnSpc>
                <a:spcPct val="112000"/>
              </a:lnSpc>
              <a:spcAft>
                <a:spcPts val="1100"/>
              </a:spcAft>
            </a:pPr>
            <a:r>
              <a:rPr sz="1300">
                <a:solidFill>
                  <a:srgbClr val="52514E"/>
                </a:solidFill>
                <a:latin typeface="Helvetica Neue"/>
              </a:rPr>
              <a:t>—  Category accuracy reveals unevenness the headline number hides: Llama-3.2-3B swings from 43.3% (STEM) to 63.3% (Social Sciences) — a 20-point gap between its weakest and strongest domains. Ministral-8B's own spread is much tighter (73.9%–83.3%, a 9.4-point gap) — evidence of more consistent competence, not just a higher average.</a:t>
            </a:r>
          </a:p>
          <a:p>
            <a:pPr>
              <a:lnSpc>
                <a:spcPct val="112000"/>
              </a:lnSpc>
              <a:spcAft>
                <a:spcPts val="1100"/>
              </a:spcAft>
            </a:pPr>
            <a:r>
              <a:rPr sz="1300">
                <a:solidFill>
                  <a:srgbClr val="52514E"/>
                </a:solidFill>
                <a:latin typeface="Helvetica Neue"/>
              </a:rPr>
              <a:t>—  Reasoning length is not reasoning quality: Ministral writes the shortest average explanation (54.1 words) yet the most consistent one (69.1%); Llama writes the longest (61.8 words) yet the least consistent (59.7%) — verbosity doesn't buy correctness.</a:t>
            </a:r>
          </a:p>
          <a:p>
            <a:pPr>
              <a:lnSpc>
                <a:spcPct val="112000"/>
              </a:lnSpc>
              <a:spcAft>
                <a:spcPts val="1100"/>
              </a:spcAft>
            </a:pPr>
            <a:r>
              <a:rPr sz="1300">
                <a:solidFill>
                  <a:srgbClr val="52514E"/>
                </a:solidFill>
                <a:latin typeface="Helvetica Neue"/>
              </a:rPr>
              <a:t>—  The composite ranking keeps Llama-3.2-3B ahead of Gemma-3-4B (0.630 vs. 0.590) despite Gemma's higher raw accuracy (63.9% vs. 55.8%) — because Gemma's 2.502s average latency is more than 3× Llama's, and speed carries 15% of the score. This is the clearest illustration in this study of how weighting can reorder a leaderboard relative to accuracy alone.</a:t>
            </a:r>
          </a:p>
        </p:txBody>
      </p:sp>
      <p:sp>
        <p:nvSpPr>
          <p:cNvPr id="7" name="TextBox 6"/>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8" name="TextBox 7"/>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DISCUSSION OF THE RESULTS</a:t>
            </a:r>
          </a:p>
        </p:txBody>
      </p:sp>
      <p:sp>
        <p:nvSpPr>
          <p:cNvPr id="4" name="TextBox 3"/>
          <p:cNvSpPr txBox="1"/>
          <p:nvPr/>
        </p:nvSpPr>
        <p:spPr>
          <a:xfrm>
            <a:off x="548640" y="914400"/>
            <a:ext cx="11064240" cy="640080"/>
          </a:xfrm>
          <a:prstGeom prst="rect">
            <a:avLst/>
          </a:prstGeom>
          <a:noFill/>
        </p:spPr>
        <p:txBody>
          <a:bodyPr wrap="square" lIns="0" tIns="0" rIns="0" bIns="0" anchor="t">
            <a:spAutoFit/>
          </a:bodyPr>
          <a:lstStyle/>
          <a:p>
            <a:pPr algn="l">
              <a:lnSpc>
                <a:spcPct val="100000"/>
              </a:lnSpc>
            </a:pPr>
            <a:r>
              <a:rPr sz="2700" b="1" i="0">
                <a:solidFill>
                  <a:srgbClr val="0B0B0B"/>
                </a:solidFill>
                <a:latin typeface="Helvetica Neue"/>
              </a:rPr>
              <a:t>Comments and discussions</a:t>
            </a:r>
          </a:p>
        </p:txBody>
      </p:sp>
      <p:cxnSp>
        <p:nvCxnSpPr>
          <p:cNvPr id="5" name="Connector 4"/>
          <p:cNvCxnSpPr/>
          <p:nvPr/>
        </p:nvCxnSpPr>
        <p:spPr>
          <a:xfrm>
            <a:off x="548640" y="150876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73736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ACCURACY &amp; KNOWLEDGE DEPTH</a:t>
            </a:r>
          </a:p>
        </p:txBody>
      </p:sp>
      <p:sp>
        <p:nvSpPr>
          <p:cNvPr id="7" name="TextBox 6"/>
          <p:cNvSpPr txBox="1"/>
          <p:nvPr/>
        </p:nvSpPr>
        <p:spPr>
          <a:xfrm>
            <a:off x="548640" y="208483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Ministral-8B leads both benchmarks (38.1% LAMBADA, 78.9% MMLU) — the only model not distilled or pruned from a larger checkpoint, so it keeps more raw capacity for precise recall.</a:t>
            </a:r>
          </a:p>
          <a:p>
            <a:pPr>
              <a:lnSpc>
                <a:spcPct val="112000"/>
              </a:lnSpc>
              <a:spcAft>
                <a:spcPts val="600"/>
              </a:spcAft>
            </a:pPr>
            <a:r>
              <a:rPr sz="1250">
                <a:solidFill>
                  <a:srgbClr val="52514E"/>
                </a:solidFill>
                <a:latin typeface="Helvetica Neue"/>
              </a:rPr>
              <a:t>—  Gemma-3-4B and Llama-3.2-3B are both compressed from bigger teacher/checkpoint models — a cost that shows up most on exact recall of rare words or facts.</a:t>
            </a:r>
          </a:p>
        </p:txBody>
      </p:sp>
      <p:sp>
        <p:nvSpPr>
          <p:cNvPr id="8" name="TextBox 7"/>
          <p:cNvSpPr txBox="1"/>
          <p:nvPr/>
        </p:nvSpPr>
        <p:spPr>
          <a:xfrm>
            <a:off x="6217920" y="173736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SPEED &amp; LATENCY</a:t>
            </a:r>
          </a:p>
        </p:txBody>
      </p:sp>
      <p:sp>
        <p:nvSpPr>
          <p:cNvPr id="9" name="TextBox 8"/>
          <p:cNvSpPr txBox="1"/>
          <p:nvPr/>
        </p:nvSpPr>
        <p:spPr>
          <a:xfrm>
            <a:off x="6217920" y="208483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Llama-3.2-3B is fastest on both benchmarks (0.577s LAMBADA, 0.768s MMLU) — the smallest, most compressed model.</a:t>
            </a:r>
          </a:p>
          <a:p>
            <a:pPr>
              <a:lnSpc>
                <a:spcPct val="112000"/>
              </a:lnSpc>
              <a:spcAft>
                <a:spcPts val="600"/>
              </a:spcAft>
            </a:pPr>
            <a:r>
              <a:rPr sz="1250">
                <a:solidFill>
                  <a:srgbClr val="52514E"/>
                </a:solidFill>
                <a:latin typeface="Helvetica Neue"/>
              </a:rPr>
              <a:t>—  Gemma-3-4B is the slowest despite being smaller than Ministral-8B — interleaved global-attention layers, fewer OpenRouter hosting providers, and (on its LAMBADA run specifically) transient provider rate-limit congestion all inflate its latency.</a:t>
            </a:r>
          </a:p>
        </p:txBody>
      </p:sp>
      <p:sp>
        <p:nvSpPr>
          <p:cNvPr id="10" name="TextBox 9"/>
          <p:cNvSpPr txBox="1"/>
          <p:nvPr/>
        </p:nvSpPr>
        <p:spPr>
          <a:xfrm>
            <a:off x="548640" y="418338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REASONING QUALITY (MMLU)</a:t>
            </a:r>
          </a:p>
        </p:txBody>
      </p:sp>
      <p:sp>
        <p:nvSpPr>
          <p:cNvPr id="11" name="TextBox 10"/>
          <p:cNvSpPr txBox="1"/>
          <p:nvPr/>
        </p:nvSpPr>
        <p:spPr>
          <a:xfrm>
            <a:off x="548640" y="453085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Ministral-8B has the highest reasoning consistency (69.1%); Gemma-3-4B is close behind (64.6%) despite its latency cost; Llama-3.2-3B is lowest (59.7%) despite being fastest.</a:t>
            </a:r>
          </a:p>
          <a:p>
            <a:pPr>
              <a:lnSpc>
                <a:spcPct val="112000"/>
              </a:lnSpc>
              <a:spcAft>
                <a:spcPts val="600"/>
              </a:spcAft>
            </a:pPr>
            <a:r>
              <a:rPr sz="1250">
                <a:solidFill>
                  <a:srgbClr val="52514E"/>
                </a:solidFill>
                <a:latin typeface="Helvetica Neue"/>
              </a:rPr>
              <a:t>—  Speed, accuracy, and reasoning quality don't move together — the composite score (70/15/15) exists precisely to weigh that trade-off.</a:t>
            </a:r>
          </a:p>
        </p:txBody>
      </p:sp>
      <p:sp>
        <p:nvSpPr>
          <p:cNvPr id="12" name="TextBox 11"/>
          <p:cNvSpPr txBox="1"/>
          <p:nvPr/>
        </p:nvSpPr>
        <p:spPr>
          <a:xfrm>
            <a:off x="6217920" y="4183380"/>
            <a:ext cx="5440680" cy="274320"/>
          </a:xfrm>
          <a:prstGeom prst="rect">
            <a:avLst/>
          </a:prstGeom>
          <a:noFill/>
        </p:spPr>
        <p:txBody>
          <a:bodyPr wrap="square" lIns="0" tIns="0" rIns="0" bIns="0" anchor="t">
            <a:spAutoFit/>
          </a:bodyPr>
          <a:lstStyle/>
          <a:p>
            <a:pPr algn="l">
              <a:lnSpc>
                <a:spcPct val="100000"/>
              </a:lnSpc>
            </a:pPr>
            <a:r>
              <a:rPr sz="1100" b="1" i="0">
                <a:solidFill>
                  <a:srgbClr val="898781"/>
                </a:solidFill>
                <a:latin typeface="Helvetica Neue"/>
              </a:rPr>
              <a:t>USE-CASE PERSPECTIVE</a:t>
            </a:r>
          </a:p>
        </p:txBody>
      </p:sp>
      <p:sp>
        <p:nvSpPr>
          <p:cNvPr id="13" name="TextBox 12"/>
          <p:cNvSpPr txBox="1"/>
          <p:nvPr/>
        </p:nvSpPr>
        <p:spPr>
          <a:xfrm>
            <a:off x="6217920" y="4530852"/>
            <a:ext cx="5440680" cy="1824228"/>
          </a:xfrm>
          <a:prstGeom prst="rect">
            <a:avLst/>
          </a:prstGeom>
          <a:noFill/>
        </p:spPr>
        <p:txBody>
          <a:bodyPr wrap="square">
            <a:spAutoFit/>
          </a:bodyPr>
          <a:lstStyle/>
          <a:p>
            <a:pPr>
              <a:lnSpc>
                <a:spcPct val="112000"/>
              </a:lnSpc>
              <a:spcAft>
                <a:spcPts val="600"/>
              </a:spcAft>
            </a:pPr>
            <a:r>
              <a:rPr sz="1250">
                <a:solidFill>
                  <a:srgbClr val="52514E"/>
                </a:solidFill>
                <a:latin typeface="Helvetica Neue"/>
              </a:rPr>
              <a:t>—  Ministral-8B: best when accuracy and reasoning quality matter most and an 8B footprint is affordable.</a:t>
            </a:r>
          </a:p>
          <a:p>
            <a:pPr>
              <a:lnSpc>
                <a:spcPct val="112000"/>
              </a:lnSpc>
              <a:spcAft>
                <a:spcPts val="600"/>
              </a:spcAft>
            </a:pPr>
            <a:r>
              <a:rPr sz="1250">
                <a:solidFill>
                  <a:srgbClr val="52514E"/>
                </a:solidFill>
                <a:latin typeface="Helvetica Neue"/>
              </a:rPr>
              <a:t>—  Llama-3.2-3B: best for latency-sensitive or edge deployment.</a:t>
            </a:r>
          </a:p>
          <a:p>
            <a:pPr>
              <a:lnSpc>
                <a:spcPct val="112000"/>
              </a:lnSpc>
              <a:spcAft>
                <a:spcPts val="600"/>
              </a:spcAft>
            </a:pPr>
            <a:r>
              <a:rPr sz="1250">
                <a:solidFill>
                  <a:srgbClr val="52514E"/>
                </a:solidFill>
                <a:latin typeface="Helvetica Neue"/>
              </a:rPr>
              <a:t>—  Gemma-3-4B: strong quality-per-parameter on paper, but the weakest speed/cost trade-off in this specific hosted (OpenRouter) setup.</a:t>
            </a:r>
          </a:p>
        </p:txBody>
      </p:sp>
      <p:sp>
        <p:nvSpPr>
          <p:cNvPr id="14" name="TextBox 13"/>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5" name="TextBox 14"/>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502920"/>
            <a:ext cx="11064240" cy="640080"/>
          </a:xfrm>
          <a:prstGeom prst="rect">
            <a:avLst/>
          </a:prstGeom>
          <a:noFill/>
        </p:spPr>
        <p:txBody>
          <a:bodyPr wrap="square" lIns="0" tIns="0" rIns="0" bIns="0" anchor="t">
            <a:spAutoFit/>
          </a:bodyPr>
          <a:lstStyle/>
          <a:p>
            <a:pPr algn="l">
              <a:lnSpc>
                <a:spcPct val="100000"/>
              </a:lnSpc>
            </a:pPr>
            <a:r>
              <a:rPr sz="3000" b="1" i="0">
                <a:solidFill>
                  <a:srgbClr val="0B0B0B"/>
                </a:solidFill>
                <a:latin typeface="Helvetica Neue"/>
              </a:rPr>
              <a:t>Conclusions</a:t>
            </a:r>
          </a:p>
        </p:txBody>
      </p:sp>
      <p:cxnSp>
        <p:nvCxnSpPr>
          <p:cNvPr id="4" name="Connector 3"/>
          <p:cNvCxnSpPr/>
          <p:nvPr/>
        </p:nvCxnSpPr>
        <p:spPr>
          <a:xfrm>
            <a:off x="548640" y="118872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463040"/>
            <a:ext cx="11064240" cy="457200"/>
          </a:xfrm>
          <a:prstGeom prst="rect">
            <a:avLst/>
          </a:prstGeom>
          <a:noFill/>
        </p:spPr>
        <p:txBody>
          <a:bodyPr wrap="square" lIns="0" tIns="0" rIns="0" bIns="0" anchor="t">
            <a:spAutoFit/>
          </a:bodyPr>
          <a:lstStyle/>
          <a:p>
            <a:pPr algn="l">
              <a:lnSpc>
                <a:spcPct val="100000"/>
              </a:lnSpc>
            </a:pPr>
            <a:r>
              <a:rPr sz="1700" b="1" i="0">
                <a:solidFill>
                  <a:srgbClr val="0B0B0B"/>
                </a:solidFill>
                <a:latin typeface="Helvetica Neue"/>
              </a:rPr>
              <a:t>Does a larger, non-distilled model beat smaller, compressed ones across both benchmarks?</a:t>
            </a:r>
          </a:p>
        </p:txBody>
      </p:sp>
      <p:sp>
        <p:nvSpPr>
          <p:cNvPr id="6" name="TextBox 5"/>
          <p:cNvSpPr txBox="1"/>
          <p:nvPr/>
        </p:nvSpPr>
        <p:spPr>
          <a:xfrm>
            <a:off x="548640" y="2011680"/>
            <a:ext cx="11064240" cy="1371600"/>
          </a:xfrm>
          <a:prstGeom prst="rect">
            <a:avLst/>
          </a:prstGeom>
          <a:noFill/>
        </p:spPr>
        <p:txBody>
          <a:bodyPr wrap="square">
            <a:spAutoFit/>
          </a:bodyPr>
          <a:lstStyle/>
          <a:p>
            <a:pPr>
              <a:lnSpc>
                <a:spcPct val="112000"/>
              </a:lnSpc>
              <a:spcAft>
                <a:spcPts val="1000"/>
              </a:spcAft>
            </a:pPr>
            <a:r>
              <a:rPr sz="1500">
                <a:solidFill>
                  <a:srgbClr val="52514E"/>
                </a:solidFill>
                <a:latin typeface="Helvetica Neue"/>
              </a:rPr>
              <a:t>—  Yes — in raw accuracy and knowledge depth: Ministral-8B wins LAMBADA (38.1%) and MMLU (78.9%).</a:t>
            </a:r>
          </a:p>
          <a:p>
            <a:pPr>
              <a:lnSpc>
                <a:spcPct val="112000"/>
              </a:lnSpc>
              <a:spcAft>
                <a:spcPts val="1000"/>
              </a:spcAft>
            </a:pPr>
            <a:r>
              <a:rPr sz="1500">
                <a:solidFill>
                  <a:srgbClr val="52514E"/>
                </a:solidFill>
                <a:latin typeface="Helvetica Neue"/>
              </a:rPr>
              <a:t>—  No — in latency and cost-efficiency: Llama-3.2-3B, the smallest and most compressed model, is consistently the fastest.</a:t>
            </a:r>
          </a:p>
        </p:txBody>
      </p:sp>
      <p:cxnSp>
        <p:nvCxnSpPr>
          <p:cNvPr id="7" name="Connector 6"/>
          <p:cNvCxnSpPr/>
          <p:nvPr/>
        </p:nvCxnSpPr>
        <p:spPr>
          <a:xfrm>
            <a:off x="548640" y="352044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3703320"/>
            <a:ext cx="11064240" cy="365760"/>
          </a:xfrm>
          <a:prstGeom prst="rect">
            <a:avLst/>
          </a:prstGeom>
          <a:noFill/>
        </p:spPr>
        <p:txBody>
          <a:bodyPr wrap="square" lIns="0" tIns="0" rIns="0" bIns="0" anchor="t">
            <a:spAutoFit/>
          </a:bodyPr>
          <a:lstStyle/>
          <a:p>
            <a:pPr algn="l">
              <a:lnSpc>
                <a:spcPct val="100000"/>
              </a:lnSpc>
            </a:pPr>
            <a:r>
              <a:rPr sz="1700" b="1" i="0">
                <a:solidFill>
                  <a:srgbClr val="0B0B0B"/>
                </a:solidFill>
                <a:latin typeface="Helvetica Neue"/>
              </a:rPr>
              <a:t>For this evaluation:</a:t>
            </a:r>
          </a:p>
        </p:txBody>
      </p:sp>
      <p:sp>
        <p:nvSpPr>
          <p:cNvPr id="9" name="TextBox 8"/>
          <p:cNvSpPr txBox="1"/>
          <p:nvPr/>
        </p:nvSpPr>
        <p:spPr>
          <a:xfrm>
            <a:off x="548640" y="4160520"/>
            <a:ext cx="11064240" cy="2011680"/>
          </a:xfrm>
          <a:prstGeom prst="rect">
            <a:avLst/>
          </a:prstGeom>
          <a:noFill/>
        </p:spPr>
        <p:txBody>
          <a:bodyPr wrap="square">
            <a:spAutoFit/>
          </a:bodyPr>
          <a:lstStyle/>
          <a:p>
            <a:pPr>
              <a:lnSpc>
                <a:spcPct val="112000"/>
              </a:lnSpc>
              <a:spcAft>
                <a:spcPts val="1000"/>
              </a:spcAft>
            </a:pPr>
            <a:r>
              <a:rPr sz="1450">
                <a:solidFill>
                  <a:srgbClr val="52514E"/>
                </a:solidFill>
                <a:latin typeface="Helvetica Neue"/>
              </a:rPr>
              <a:t>—  Ministral-8B is the strongest choice when accuracy and reasoning quality matter most.</a:t>
            </a:r>
          </a:p>
          <a:p>
            <a:pPr>
              <a:lnSpc>
                <a:spcPct val="112000"/>
              </a:lnSpc>
              <a:spcAft>
                <a:spcPts val="1000"/>
              </a:spcAft>
            </a:pPr>
            <a:r>
              <a:rPr sz="1450">
                <a:solidFill>
                  <a:srgbClr val="52514E"/>
                </a:solidFill>
                <a:latin typeface="Helvetica Neue"/>
              </a:rPr>
              <a:t>—  Llama-3.2-3B is preferable for latency-sensitive or edge deployment.</a:t>
            </a:r>
          </a:p>
          <a:p>
            <a:pPr>
              <a:lnSpc>
                <a:spcPct val="112000"/>
              </a:lnSpc>
              <a:spcAft>
                <a:spcPts val="1000"/>
              </a:spcAft>
            </a:pPr>
            <a:r>
              <a:rPr sz="1450">
                <a:solidFill>
                  <a:srgbClr val="52514E"/>
                </a:solidFill>
                <a:latin typeface="Helvetica Neue"/>
              </a:rPr>
              <a:t>—  Gemma-3-4B sits in between — competitive in quality-per-parameter terms, but currently the weakest on measured speed via this hosted setup.</a:t>
            </a:r>
          </a:p>
          <a:p>
            <a:pPr>
              <a:lnSpc>
                <a:spcPct val="112000"/>
              </a:lnSpc>
              <a:spcAft>
                <a:spcPts val="1000"/>
              </a:spcAft>
            </a:pPr>
            <a:r>
              <a:rPr sz="1450">
                <a:solidFill>
                  <a:srgbClr val="52514E"/>
                </a:solidFill>
                <a:latin typeface="Helvetica Neue"/>
              </a:rPr>
              <a:t>—  LAMBADA rewards real use of context; MMLU rewards breadth of knowledge and reasoning that actually supports the answer — together they separate raw language modeling from broader competence.</a:t>
            </a:r>
          </a:p>
        </p:txBody>
      </p:sp>
      <p:sp>
        <p:nvSpPr>
          <p:cNvPr id="10" name="TextBox 9"/>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11" name="TextBox 10"/>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058400" cy="320040"/>
          </a:xfrm>
          <a:prstGeom prst="rect">
            <a:avLst/>
          </a:prstGeom>
          <a:noFill/>
        </p:spPr>
        <p:txBody>
          <a:bodyPr wrap="square" lIns="0" tIns="0" rIns="0" bIns="0" anchor="t">
            <a:spAutoFit/>
          </a:bodyPr>
          <a:lstStyle/>
          <a:p>
            <a:pPr algn="l">
              <a:lnSpc>
                <a:spcPct val="100000"/>
              </a:lnSpc>
            </a:pPr>
            <a:r>
              <a:rPr sz="1250" b="1" i="0">
                <a:solidFill>
                  <a:srgbClr val="2A78D6"/>
                </a:solidFill>
                <a:latin typeface="Helvetica Neue"/>
              </a:rPr>
              <a:t>REFERENCES</a:t>
            </a:r>
          </a:p>
        </p:txBody>
      </p:sp>
      <p:sp>
        <p:nvSpPr>
          <p:cNvPr id="4" name="TextBox 3"/>
          <p:cNvSpPr txBox="1"/>
          <p:nvPr/>
        </p:nvSpPr>
        <p:spPr>
          <a:xfrm>
            <a:off x="548640" y="566928"/>
            <a:ext cx="11064240" cy="640080"/>
          </a:xfrm>
          <a:prstGeom prst="rect">
            <a:avLst/>
          </a:prstGeom>
          <a:noFill/>
        </p:spPr>
        <p:txBody>
          <a:bodyPr wrap="square" lIns="0" tIns="0" rIns="0" bIns="0" anchor="t">
            <a:spAutoFit/>
          </a:bodyPr>
          <a:lstStyle/>
          <a:p>
            <a:pPr algn="l">
              <a:lnSpc>
                <a:spcPct val="100000"/>
              </a:lnSpc>
            </a:pPr>
            <a:r>
              <a:rPr sz="2800" b="1" i="0">
                <a:solidFill>
                  <a:srgbClr val="0B0B0B"/>
                </a:solidFill>
                <a:latin typeface="Helvetica Neue"/>
              </a:rPr>
              <a:t>Sources</a:t>
            </a:r>
          </a:p>
        </p:txBody>
      </p:sp>
      <p:cxnSp>
        <p:nvCxnSpPr>
          <p:cNvPr id="5" name="Connector 4"/>
          <p:cNvCxnSpPr/>
          <p:nvPr/>
        </p:nvCxnSpPr>
        <p:spPr>
          <a:xfrm>
            <a:off x="548640" y="1234440"/>
            <a:ext cx="11094415" cy="0"/>
          </a:xfrm>
          <a:prstGeom prst="line">
            <a:avLst/>
          </a:prstGeom>
          <a:ln w="9525">
            <a:solidFill>
              <a:srgbClr val="E1E0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600200"/>
            <a:ext cx="10881360" cy="3657600"/>
          </a:xfrm>
          <a:prstGeom prst="rect">
            <a:avLst/>
          </a:prstGeom>
          <a:noFill/>
        </p:spPr>
        <p:txBody>
          <a:bodyPr wrap="square">
            <a:spAutoFit/>
          </a:bodyPr>
          <a:lstStyle/>
          <a:p>
            <a:pPr>
              <a:lnSpc>
                <a:spcPct val="112000"/>
              </a:lnSpc>
              <a:spcAft>
                <a:spcPts val="1200"/>
              </a:spcAft>
            </a:pPr>
            <a:r>
              <a:rPr sz="1500" dirty="0">
                <a:solidFill>
                  <a:srgbClr val="52514E"/>
                </a:solidFill>
                <a:latin typeface="Helvetica Neue"/>
              </a:rPr>
              <a:t>—  </a:t>
            </a:r>
            <a:r>
              <a:rPr sz="1500" dirty="0" err="1">
                <a:solidFill>
                  <a:srgbClr val="52514E"/>
                </a:solidFill>
                <a:latin typeface="Helvetica Neue"/>
              </a:rPr>
              <a:t>Paperno</a:t>
            </a:r>
            <a:r>
              <a:rPr sz="1500" dirty="0">
                <a:solidFill>
                  <a:srgbClr val="52514E"/>
                </a:solidFill>
                <a:latin typeface="Helvetica Neue"/>
              </a:rPr>
              <a:t>, D. et al. (2016). The LAMBADA dataset. Proceedings of ACL 2016.</a:t>
            </a:r>
          </a:p>
          <a:p>
            <a:pPr>
              <a:lnSpc>
                <a:spcPct val="112000"/>
              </a:lnSpc>
              <a:spcAft>
                <a:spcPts val="1200"/>
              </a:spcAft>
            </a:pPr>
            <a:r>
              <a:rPr sz="1500" dirty="0">
                <a:solidFill>
                  <a:srgbClr val="52514E"/>
                </a:solidFill>
                <a:latin typeface="Helvetica Neue"/>
              </a:rPr>
              <a:t>—  Hendrycks, D. et al. (2021). Measuring Massive Multitask Language Understanding. Proceedings of ICLR 2021.</a:t>
            </a:r>
          </a:p>
          <a:p>
            <a:pPr>
              <a:lnSpc>
                <a:spcPct val="112000"/>
              </a:lnSpc>
              <a:spcAft>
                <a:spcPts val="1200"/>
              </a:spcAft>
            </a:pPr>
            <a:r>
              <a:rPr sz="1500" dirty="0">
                <a:solidFill>
                  <a:srgbClr val="52514E"/>
                </a:solidFill>
                <a:latin typeface="Helvetica Neue"/>
              </a:rPr>
              <a:t>—  Google (2025). Gemma 3 technical report.</a:t>
            </a:r>
          </a:p>
          <a:p>
            <a:pPr>
              <a:lnSpc>
                <a:spcPct val="112000"/>
              </a:lnSpc>
              <a:spcAft>
                <a:spcPts val="1200"/>
              </a:spcAft>
            </a:pPr>
            <a:r>
              <a:rPr sz="1500" dirty="0">
                <a:solidFill>
                  <a:srgbClr val="52514E"/>
                </a:solidFill>
                <a:latin typeface="Helvetica Neue"/>
              </a:rPr>
              <a:t>—  Meta (2024). Llama 3.2 model card.</a:t>
            </a:r>
          </a:p>
          <a:p>
            <a:pPr>
              <a:lnSpc>
                <a:spcPct val="112000"/>
              </a:lnSpc>
              <a:spcAft>
                <a:spcPts val="1200"/>
              </a:spcAft>
            </a:pPr>
            <a:r>
              <a:rPr sz="1500" dirty="0">
                <a:solidFill>
                  <a:srgbClr val="52514E"/>
                </a:solidFill>
                <a:latin typeface="Helvetica Neue"/>
              </a:rPr>
              <a:t>—  Mistral AI (2024). </a:t>
            </a:r>
            <a:r>
              <a:rPr sz="1500" dirty="0" err="1">
                <a:solidFill>
                  <a:srgbClr val="52514E"/>
                </a:solidFill>
                <a:latin typeface="Helvetica Neue"/>
              </a:rPr>
              <a:t>Ministral</a:t>
            </a:r>
            <a:r>
              <a:rPr sz="1500" dirty="0">
                <a:solidFill>
                  <a:srgbClr val="52514E"/>
                </a:solidFill>
                <a:latin typeface="Helvetica Neue"/>
              </a:rPr>
              <a:t> model family.</a:t>
            </a:r>
          </a:p>
        </p:txBody>
      </p:sp>
      <p:sp>
        <p:nvSpPr>
          <p:cNvPr id="7" name="TextBox 6"/>
          <p:cNvSpPr txBox="1"/>
          <p:nvPr/>
        </p:nvSpPr>
        <p:spPr>
          <a:xfrm>
            <a:off x="548640" y="5852160"/>
            <a:ext cx="10881360" cy="457200"/>
          </a:xfrm>
          <a:prstGeom prst="rect">
            <a:avLst/>
          </a:prstGeom>
          <a:noFill/>
        </p:spPr>
        <p:txBody>
          <a:bodyPr wrap="square" lIns="0" tIns="0" rIns="0" bIns="0" anchor="t">
            <a:spAutoFit/>
          </a:bodyPr>
          <a:lstStyle/>
          <a:p>
            <a:pPr algn="l">
              <a:lnSpc>
                <a:spcPct val="100000"/>
              </a:lnSpc>
            </a:pPr>
            <a:r>
              <a:rPr sz="1200" b="0" i="0">
                <a:solidFill>
                  <a:srgbClr val="898781"/>
                </a:solidFill>
                <a:latin typeface="Helvetica Neue"/>
              </a:rPr>
              <a:t>github.com/ronvoy/gen-ai   ·   unina.cc/gen-ai</a:t>
            </a:r>
          </a:p>
        </p:txBody>
      </p:sp>
      <p:sp>
        <p:nvSpPr>
          <p:cNvPr id="8" name="TextBox 7"/>
          <p:cNvSpPr txBox="1"/>
          <p:nvPr/>
        </p:nvSpPr>
        <p:spPr>
          <a:xfrm>
            <a:off x="548640" y="6510528"/>
            <a:ext cx="5486400" cy="274320"/>
          </a:xfrm>
          <a:prstGeom prst="rect">
            <a:avLst/>
          </a:prstGeom>
          <a:noFill/>
        </p:spPr>
        <p:txBody>
          <a:bodyPr wrap="square" lIns="0" tIns="0" rIns="0" bIns="0" anchor="t">
            <a:spAutoFit/>
          </a:bodyPr>
          <a:lstStyle/>
          <a:p>
            <a:pPr algn="l">
              <a:lnSpc>
                <a:spcPct val="100000"/>
              </a:lnSpc>
            </a:pPr>
            <a:r>
              <a:rPr sz="900" b="0" i="0">
                <a:solidFill>
                  <a:srgbClr val="898781"/>
                </a:solidFill>
                <a:latin typeface="Helvetica Neue"/>
              </a:rPr>
              <a:t>LAMBADA &amp; MMLU Benchmark Evaluation</a:t>
            </a:r>
          </a:p>
        </p:txBody>
      </p:sp>
      <p:sp>
        <p:nvSpPr>
          <p:cNvPr id="9" name="TextBox 8"/>
          <p:cNvSpPr txBox="1"/>
          <p:nvPr/>
        </p:nvSpPr>
        <p:spPr>
          <a:xfrm>
            <a:off x="11338560" y="6510528"/>
            <a:ext cx="457200" cy="274320"/>
          </a:xfrm>
          <a:prstGeom prst="rect">
            <a:avLst/>
          </a:prstGeom>
          <a:noFill/>
        </p:spPr>
        <p:txBody>
          <a:bodyPr wrap="square" lIns="0" tIns="0" rIns="0" bIns="0" anchor="t">
            <a:spAutoFit/>
          </a:bodyPr>
          <a:lstStyle/>
          <a:p>
            <a:pPr algn="r">
              <a:lnSpc>
                <a:spcPct val="100000"/>
              </a:lnSpc>
            </a:pPr>
            <a:r>
              <a:rPr sz="900" b="0" i="0">
                <a:solidFill>
                  <a:srgbClr val="898781"/>
                </a:solidFill>
                <a:latin typeface="Helvetica Neue"/>
              </a:rPr>
              <a:t>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208</TotalTime>
  <Words>6076</Words>
  <Application>Microsoft Macintosh PowerPoint</Application>
  <PresentationFormat>Widescreen</PresentationFormat>
  <Paragraphs>737</Paragraphs>
  <Slides>38</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ROHAN BAIDYA</cp:lastModifiedBy>
  <cp:revision>4</cp:revision>
  <dcterms:created xsi:type="dcterms:W3CDTF">2013-01-27T09:14:16Z</dcterms:created>
  <dcterms:modified xsi:type="dcterms:W3CDTF">2026-07-22T17:49:36Z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ad0b24d-6422-44b0-b3de-abb3a9e8c81a_Enabled">
    <vt:lpwstr>true</vt:lpwstr>
  </property>
  <property fmtid="{D5CDD505-2E9C-101B-9397-08002B2CF9AE}" pid="3" name="MSIP_Label_2ad0b24d-6422-44b0-b3de-abb3a9e8c81a_SetDate">
    <vt:lpwstr>2026-07-22T14:19:57Z</vt:lpwstr>
  </property>
  <property fmtid="{D5CDD505-2E9C-101B-9397-08002B2CF9AE}" pid="4" name="MSIP_Label_2ad0b24d-6422-44b0-b3de-abb3a9e8c81a_Method">
    <vt:lpwstr>Standard</vt:lpwstr>
  </property>
  <property fmtid="{D5CDD505-2E9C-101B-9397-08002B2CF9AE}" pid="5" name="MSIP_Label_2ad0b24d-6422-44b0-b3de-abb3a9e8c81a_Name">
    <vt:lpwstr>defa4170-0d19-0005-0004-bc88714345d2</vt:lpwstr>
  </property>
  <property fmtid="{D5CDD505-2E9C-101B-9397-08002B2CF9AE}" pid="6" name="MSIP_Label_2ad0b24d-6422-44b0-b3de-abb3a9e8c81a_SiteId">
    <vt:lpwstr>2fcfe26a-bb62-46b0-b1e3-28f9da0c45fd</vt:lpwstr>
  </property>
  <property fmtid="{D5CDD505-2E9C-101B-9397-08002B2CF9AE}" pid="7" name="MSIP_Label_2ad0b24d-6422-44b0-b3de-abb3a9e8c81a_ActionId">
    <vt:lpwstr>52b17656-897d-4811-9a6c-3be0954c3b34</vt:lpwstr>
  </property>
  <property fmtid="{D5CDD505-2E9C-101B-9397-08002B2CF9AE}" pid="8" name="MSIP_Label_2ad0b24d-6422-44b0-b3de-abb3a9e8c81a_ContentBits">
    <vt:lpwstr>0</vt:lpwstr>
  </property>
  <property fmtid="{D5CDD505-2E9C-101B-9397-08002B2CF9AE}" pid="9" name="MSIP_Label_2ad0b24d-6422-44b0-b3de-abb3a9e8c81a_Tag">
    <vt:lpwstr>50, 3, 0, 1</vt:lpwstr>
  </property>
</Properties>
</file>