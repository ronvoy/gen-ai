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6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Helvetica Neue"/>
              </a:rPr>
              <a:t>BENCHMARK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B0B0B"/>
                </a:solidFill>
                <a:latin typeface="Helvetica Neue"/>
              </a:rPr>
              <a:t>LAMBADA &amp; MMLU Benchmark
Evaluation of Small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2514E"/>
                </a:solidFill>
                <a:latin typeface="Helvetica Neue"/>
              </a:rPr>
              <a:t>Evaluating small language models on long-range word prediction (LAMBADA) and multi-subject knowledge &amp; reasoning (MMLU)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709160"/>
            <a:ext cx="10515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98781"/>
                </a:solidFill>
                <a:latin typeface="Helvetica Neue"/>
              </a:rPr>
              <a:t>SUBMITTED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3036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0B0B"/>
                </a:solidFill>
                <a:latin typeface="Helvetica Neue"/>
              </a:rPr>
              <a:t>Prof. Anna Corazza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98781"/>
                </a:solidFill>
                <a:latin typeface="Helvetica Neue"/>
              </a:rPr>
              <a:t>SUBMITTED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161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0B0B"/>
                </a:solidFill>
                <a:latin typeface="Helvetica Neue"/>
              </a:rPr>
              <a:t>Francesco Ventimiglia   ·   Danilo Rodriguez   ·   Rohan Baidya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Helvetica Neue"/>
              </a:rPr>
              <a:t>github.com/ronvoy/gen-ai   ·   unina.cc/gen-ai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Two complementary benchmarks, one evaluation harness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52514E"/>
                </a:solidFill>
                <a:latin typeface="Helvetica Neue"/>
              </a:rPr>
              <a:t>—  Three small language models are tested on two complementary benchmarks.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52514E"/>
                </a:solidFill>
                <a:latin typeface="Helvetica Neue"/>
              </a:rPr>
              <a:t>—  LAMBADA asks the model to predict the final word of a passage, guessable only from the full context — a focused test of long-range context handling.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52514E"/>
                </a:solidFill>
                <a:latin typeface="Helvetica Neue"/>
              </a:rPr>
              <a:t>—  MMLU (Massive Multitask Language Understanding) is a multiple-choice knowledge and reasoning test spanning 57 subjects across four categories (STEM, Humanities, Social Sciences, Other); the model must write short step-by-step reasoning before committing to an answer letter.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52514E"/>
                </a:solidFill>
                <a:latin typeface="Helvetica Neue"/>
              </a:rPr>
              <a:t>—  All models run through the OpenRouter API for a hardware-neutral comparison.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52514E"/>
                </a:solidFill>
                <a:latin typeface="Helvetica Neue"/>
              </a:rPr>
              <a:t>—  Both benchmarks share one web app with live terminal output, run history, presets, and 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2. SMALL LANGUAGE 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Models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3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9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Developer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Params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Key Technique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Gemma-3-4B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Google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4B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Knowledge distillation + local/global attention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Llama-3.2-3B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Meta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3B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Compact dense transformer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Ministral-8B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Mistral AI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8B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514E"/>
                          </a:solidFill>
                          <a:latin typeface="Helvetica Neue"/>
                        </a:rPr>
                        <a:t>Sliding Window Attention + GQA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033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Helvetica Neue"/>
              </a:rPr>
              <a:t>—  Gemma-3-4B: dense decoder-only transformer with interleaved local/global attention, distilled from a larger teacher, 128k-token context.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Helvetica Neue"/>
              </a:rPr>
              <a:t>—  Llama-3.2-3B: standard dense transformer recipe — RoPE, Grouped Query Attention, SwiGLU — pruned and distilled from larger Llama 3.1 models.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Helvetica Neue"/>
              </a:rPr>
              <a:t>—  Ministral-8B: sliding window attention + GQA for efficient long-context inference at the 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2. SMALL LANGUAGE 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Gemma-3-4B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704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Google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1704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4B parameters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874519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WORKING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8300"/>
                </a:solidFill>
                <a:latin typeface="Helvetica Neue"/>
              </a:rPr>
              <a:t>Knowledge distillation + local/global attention interleaving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4B instruction-tuned dense decoder-only transformer from Google, built with the same research that powers Gemini.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Interleaves several local sliding-window attention layers with an occasional global attention layer — memory stays low while information still flows across a long context (up to 128k tokens).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The small Gemma 3 models are trained with knowledge distillation from larger teacher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KEY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Dense decoder-only transformer, no expert routing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5:1 interleaving of local sliding-window and global attention layers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Grouped Query Attention with QK-norm; 128k-token context window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Distilled from larger Gemma / Gemini-family teacher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74519"/>
            <a:ext cx="4434840" cy="4526280"/>
          </a:xfrm>
          <a:prstGeom prst="roundRect">
            <a:avLst>
              <a:gd name="adj" fmla="val 3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INFERENCE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51460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Input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80360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990088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Token embedding + RoPE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55848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465576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Local sliding-window attention ×5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831336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941064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Global attention ×1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306824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416552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GeGLU feed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82312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89204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RMSNorm + residual (×N layers)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257800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367528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Final RMSNorm → LM 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733288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843016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Softmax → next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2. SMALL LANGUAGE 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Llama-3.2-3B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704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1704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3B parameters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874519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WORKING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8300"/>
                </a:solidFill>
                <a:latin typeface="Helvetica Neue"/>
              </a:rPr>
              <a:t>Compact dense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3B instruction-tuned model from Meta, built for on-device, low-cost use.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Standard Llama recipe: dense transformer with RoPE, GQA, and SwiGLU layers.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Built by pruning and distilling from larger Llama 3.1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KEY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Dense decoder-only transformer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RoPE position embeddings for length generalisation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Grouped Query Attention and SwiGLU feed-forward layers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Predictable and easy to serve on modest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74519"/>
            <a:ext cx="4434840" cy="4526280"/>
          </a:xfrm>
          <a:prstGeom prst="roundRect">
            <a:avLst>
              <a:gd name="adj" fmla="val 3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INFERENCE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51460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Input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80360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990088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Token embedding + RoPE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55848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465576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Multi-head attention (GQA)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831336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941064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SwiGLU feed 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306824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416552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RMSNorm + residual (×N layers)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82312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89204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Final RMSNorm → LM 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257800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367528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Softmax → next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2. SMALL LANGUAGE 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Ministral-8B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704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Mistral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1704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8B parameters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874519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WORKING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8300"/>
                </a:solidFill>
                <a:latin typeface="Helvetica Neue"/>
              </a:rPr>
              <a:t>Sliding Window Attention + GQA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8B model from Mistral AI, built for edge use.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Interleaved sliding window attention keeps memory and compute low on long inputs.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Helvetica Neue"/>
              </a:rPr>
              <a:t>—  Grouped query attention further shrinks the KV cache.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KEY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Sliding window attention for local context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Grouped Query Attention for a smaller KV cache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Helvetica Neue"/>
              </a:rPr>
              <a:t>•  Efficient long-context inference at the 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74519"/>
            <a:ext cx="4434840" cy="4526280"/>
          </a:xfrm>
          <a:prstGeom prst="roundRect">
            <a:avLst>
              <a:gd name="adj" fmla="val 3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INFERENCE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51460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Input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80360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990088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Token embedding + RoPE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55848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465576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Sliding window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831336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941064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Grouped Query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306824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416552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SwiGLU feed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82312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89204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RMSNorm + residual (×N layers)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257800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367528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Final RMSNorm → LM 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733288"/>
            <a:ext cx="3977639" cy="10972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898781"/>
                </a:solidFill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843016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pPr algn="ctr"/>
            <a:r>
              <a:rPr sz="1100">
                <a:solidFill>
                  <a:srgbClr val="0B0B0B"/>
                </a:solidFill>
                <a:latin typeface="Helvetica Neue"/>
              </a:rPr>
              <a:t>Softmax → next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3. LAMBADA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Dataset, metrics &amp; scoring 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Drawn from the BookCorpus (unpublished novels), English.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Each passage is chosen so the final word is predictable from the full passage but not from the last sentence alone.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Test split: 5,153 passages · first published ACL 2016 (Paperno et al.).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METRICS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931920"/>
          <a:ext cx="557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Better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Exact-match accuracy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Higher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Average response time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Lower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Error rate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Lower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Throughput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Higher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141732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SCORING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Passage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313432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Remove last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843784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Build prompt (few-shot examples)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74136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OpenRouter API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04488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Parse predicted 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434840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Normalize (lowercase, strip punctuation)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965192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Compare to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495544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150">
                <a:solidFill>
                  <a:srgbClr val="0B0B0B"/>
                </a:solidFill>
                <a:latin typeface="Helvetica Neue"/>
              </a:rPr>
              <a:t>→ Correct / Incorrect → Accuracy &amp;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3. LAMBADA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Results — test split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577839" cy="177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3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Accuracy (%)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Correct / Total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Avg Latency (s)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Errors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Gemma-3-4B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21.9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219 / 1000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1.198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Llama-3.2-3B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20.8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208 / 1000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0.577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Ministral-8B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38.1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381 / 1000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0.731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2514E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29000"/>
            <a:ext cx="5577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Helvetica Neue"/>
              </a:rPr>
              <a:t>Best accuracy: Ministral-8B at 38.1%.
Fastest: Llama-3.2-3B at 0.577 s/query.
Gemma-3-4B holds 21.9% on the full 1,000-sample split (matching its earlier 50-sample estimate) but is now clearly the slowest model at 1.198 s/query.</a:t>
            </a:r>
          </a:p>
        </p:txBody>
      </p:sp>
      <p:pic>
        <p:nvPicPr>
          <p:cNvPr id="8" name="Picture 7" descr="lambada-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3892077" cy="2331720"/>
          </a:xfrm>
          <a:prstGeom prst="rect">
            <a:avLst/>
          </a:prstGeom>
        </p:spPr>
      </p:pic>
      <p:pic>
        <p:nvPicPr>
          <p:cNvPr id="9" name="Picture 8" descr="lambada-resp-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86200"/>
            <a:ext cx="3932535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3. LAMBADA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SLM web app — LAMBADA run panel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Helvetica Neue"/>
              </a:rPr>
              <a:t>Model and sample-count inputs, Run Benchmark and Fine Tune (presets) buttons, live terminal streaming per-sample output (green = correct, red = wrong), and the metrics table with the latest saved results for all three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9</a:t>
            </a:r>
          </a:p>
        </p:txBody>
      </p:sp>
      <p:pic>
        <p:nvPicPr>
          <p:cNvPr id="11" name="Picture 10" descr="A screenshot of a benchmark&#10;&#10;AI-generated content may be incorrect.">
            <a:extLst>
              <a:ext uri="{FF2B5EF4-FFF2-40B4-BE49-F238E27FC236}">
                <a16:creationId xmlns:a16="http://schemas.microsoft.com/office/drawing/2014/main" id="{2EF851E3-7EA2-2268-F157-69F86F15B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656" y="2051304"/>
            <a:ext cx="7772400" cy="403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4. MMLU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How an MMLU run works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Helvetica Neue"/>
              </a:rPr>
              <a:t>For every question the model first writes short step-by-step reasoning, then commits to one of four options (A–D); both the letter and the reasoning text are parsed and evaluated.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1. </a:t>
            </a:r>
            <a:r>
              <a:rPr sz="1100">
                <a:solidFill>
                  <a:srgbClr val="0B0B0B"/>
                </a:solidFill>
                <a:latin typeface="Helvetica Neue"/>
              </a:rPr>
              <a:t>Set parameters: subjects, questions/subject, models, decoding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79776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2. </a:t>
            </a:r>
            <a:r>
              <a:rPr sz="1100">
                <a:solidFill>
                  <a:srgbClr val="0B0B0B"/>
                </a:solidFill>
                <a:latin typeface="Helvetica Neue"/>
              </a:rPr>
              <a:t>Trigger run: web UI, run_mmlu.sh, or evaluate_slm_mmlu.py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56432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3. </a:t>
            </a:r>
            <a:r>
              <a:rPr sz="1100">
                <a:solidFill>
                  <a:srgbClr val="0B0B0B"/>
                </a:solidFill>
                <a:latin typeface="Helvetica Neue"/>
              </a:rPr>
              <a:t>Resolve subjects (all / group preset / explicit list)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33088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4. </a:t>
            </a:r>
            <a:r>
              <a:rPr sz="1100">
                <a:solidFill>
                  <a:srgbClr val="0B0B0B"/>
                </a:solidFill>
                <a:latin typeface="Helvetica Neue"/>
              </a:rPr>
              <a:t>Fetch &amp; cache questions from the free HF datasets-server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0312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5. </a:t>
            </a:r>
            <a:r>
              <a:rPr sz="1100">
                <a:solidFill>
                  <a:srgbClr val="0B0B0B"/>
                </a:solidFill>
                <a:latin typeface="Helvetica Neue"/>
              </a:rPr>
              <a:t>Build chain-of-thought prompt (worked example + Reasoning/Answer format)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779776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6. </a:t>
            </a:r>
            <a:r>
              <a:rPr sz="1100">
                <a:solidFill>
                  <a:srgbClr val="0B0B0B"/>
                </a:solidFill>
                <a:latin typeface="Helvetica Neue"/>
              </a:rPr>
              <a:t>Query model via OpenRouter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456432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7. </a:t>
            </a:r>
            <a:r>
              <a:rPr sz="1100">
                <a:solidFill>
                  <a:srgbClr val="0B0B0B"/>
                </a:solidFill>
                <a:latin typeface="Helvetica Neue"/>
              </a:rPr>
              <a:t>Parse answer letter + reasoning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133088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8. </a:t>
            </a:r>
            <a:r>
              <a:rPr sz="1100">
                <a:solidFill>
                  <a:srgbClr val="0B0B0B"/>
                </a:solidFill>
                <a:latin typeface="Helvetica Neue"/>
              </a:rPr>
              <a:t>Analyze reasoning: length, consistency, verdict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10312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9. </a:t>
            </a:r>
            <a:r>
              <a:rPr sz="1100">
                <a:solidFill>
                  <a:srgbClr val="0B0B0B"/>
                </a:solidFill>
                <a:latin typeface="Helvetica Neue"/>
              </a:rPr>
              <a:t>Compare to correct letter → correct / incorrect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2779776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10. </a:t>
            </a:r>
            <a:r>
              <a:rPr sz="1100">
                <a:solidFill>
                  <a:srgbClr val="0B0B0B"/>
                </a:solidFill>
                <a:latin typeface="Helvetica Neue"/>
              </a:rPr>
              <a:t>Aggregate: overall / per-subject / per-category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3456432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11. </a:t>
            </a:r>
            <a:r>
              <a:rPr sz="1100">
                <a:solidFill>
                  <a:srgbClr val="0B0B0B"/>
                </a:solidFill>
                <a:latin typeface="Helvetica Neue"/>
              </a:rPr>
              <a:t>Rank models: accuracy, speed, reasoning, composite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4133088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38100" rIns="76200" rtlCol="0" anchor="ctr"/>
          <a:lstStyle/>
          <a:p>
            <a:pPr algn="ctr"/>
            <a:r>
              <a:rPr sz="1100" b="1">
                <a:solidFill>
                  <a:srgbClr val="2A78D6"/>
                </a:solidFill>
                <a:latin typeface="Helvetica Neue"/>
              </a:rPr>
              <a:t>12. </a:t>
            </a:r>
            <a:r>
              <a:rPr sz="1100">
                <a:solidFill>
                  <a:srgbClr val="0B0B0B"/>
                </a:solidFill>
                <a:latin typeface="Helvetica Neue"/>
              </a:rPr>
              <a:t>Save results JSON, append to history, render in web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4. MMLU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Metrics produced &amp; reasoning verdicts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5577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Helvetica Neue"/>
                        </a:rPr>
                        <a:t>Accuracy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2514E"/>
                          </a:solidFill>
                          <a:latin typeface="Helvetica Neue"/>
                        </a:rPr>
                        <a:t>Correct letters / total (exact match)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Helvetica Neue"/>
                        </a:rPr>
                        <a:t>Category accuracy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2514E"/>
                          </a:solidFill>
                          <a:latin typeface="Helvetica Neue"/>
                        </a:rPr>
                        <a:t>Accuracy per STEM / Human. / Social / Other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Helvetica Neue"/>
                        </a:rPr>
                        <a:t>Reasoning rate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2514E"/>
                          </a:solidFill>
                          <a:latin typeface="Helvetica Neue"/>
                        </a:rPr>
                        <a:t>Share of answers with a non-trivial explanation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Helvetica Neue"/>
                        </a:rPr>
                        <a:t>Reasoning consistency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2514E"/>
                          </a:solidFill>
                          <a:latin typeface="Helvetica Neue"/>
                        </a:rPr>
                        <a:t>Share whose reasoning supports the chosen option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Helvetica Neue"/>
                        </a:rPr>
                        <a:t>Composite score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2514E"/>
                          </a:solidFill>
                          <a:latin typeface="Helvetica Neue"/>
                        </a:rPr>
                        <a:t>0.70·accuracy + 0.15·reasoning + 0.15·speed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41732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REASONING VERDICTS (PER QUESTION)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1837944"/>
            <a:ext cx="128016" cy="128016"/>
          </a:xfrm>
          <a:prstGeom prst="ellipse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48272" y="17830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Helvetica Neue"/>
              </a:rPr>
              <a:t>sound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83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Helvetica Neue"/>
              </a:rPr>
              <a:t>Correct answer, reasoning clearly supports it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2404872"/>
            <a:ext cx="128016" cy="128016"/>
          </a:xfrm>
          <a:prstGeom prst="ellipse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235000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Helvetica Neue"/>
              </a:rPr>
              <a:t>right-weak-link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35000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Helvetica Neue"/>
              </a:rPr>
              <a:t>Correct answer, reasoning doesn't clearly support it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2971800"/>
            <a:ext cx="128016" cy="128016"/>
          </a:xfrm>
          <a:prstGeom prst="ellipse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2" y="291693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Helvetica Neue"/>
              </a:rPr>
              <a:t>lucky-guess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1693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Helvetica Neue"/>
              </a:rPr>
              <a:t>Correct answer with no real reasoning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538728"/>
            <a:ext cx="128016" cy="128016"/>
          </a:xfrm>
          <a:prstGeom prst="ellipse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48386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Helvetica Neue"/>
              </a:rPr>
              <a:t>flawed-reasoning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48386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Helvetica Neue"/>
              </a:rPr>
              <a:t>Reasoned its way to a wrong answer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4105656"/>
            <a:ext cx="128016" cy="128016"/>
          </a:xfrm>
          <a:prstGeom prst="ellipse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8272" y="405079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Helvetica Neue"/>
              </a:rPr>
              <a:t>blind-guess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0507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Helvetica Neue"/>
              </a:rPr>
              <a:t>Wrong answer and no reasoning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672584"/>
            <a:ext cx="128016" cy="128016"/>
          </a:xfrm>
          <a:prstGeom prst="ellips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46177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Helvetica Neue"/>
              </a:rPr>
              <a:t>no-answer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Helvetica Neue"/>
              </a:rPr>
              <a:t>No A–D letter could be parsed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4. MMLU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Results — 57 subjects × 5 questions = 285 per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676655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6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6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9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6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Rank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Acc. (%)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STEM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Human.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Social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Reason. (%)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Avg s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Composite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0B0B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Ministral-8B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78.9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78.9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73.9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83.3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80.0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69.1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1.537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0.731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0B0B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Llama-3.2-3B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55.8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43.3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63.1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63.3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58.6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59.7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0.768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0.630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0B0B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Gemma-3-4B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63.9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61.1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61.5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73.3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61.4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64.6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2.502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2514E"/>
                          </a:solidFill>
                          <a:latin typeface="Helvetica Neue"/>
                        </a:rPr>
                        <a:t>0.590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83280"/>
            <a:ext cx="6766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Ministral-8B leads every category and the composite score.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Gemma-3-4B is second on accuracy and reasoning consistency, but its 2.5 s average latency drops it below the faster Llama-3.2-3B on the composite ranking.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Accuracy dominates the composite (70%); reasoning quality and latency (15% each) break ties — mirroring how small models are picked in practice: quality first, then cost and latency.</a:t>
            </a:r>
          </a:p>
        </p:txBody>
      </p:sp>
      <p:pic>
        <p:nvPicPr>
          <p:cNvPr id="8" name="Picture 7" descr="mmlu-metric-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417320"/>
            <a:ext cx="4078224" cy="2377440"/>
          </a:xfrm>
          <a:prstGeom prst="rect">
            <a:avLst/>
          </a:prstGeom>
        </p:spPr>
      </p:pic>
      <p:pic>
        <p:nvPicPr>
          <p:cNvPr id="9" name="Picture 8" descr="mmlu-metric-su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77639"/>
            <a:ext cx="4119053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4. MMLU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MMLU web app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Helvetica Neue"/>
              </a:rPr>
              <a:t>Subject picker with category presets, live terminal, per-question Q/A + reasoning viewer with the model's pick vs. the correct answer and reasoning verdict.</a:t>
            </a:r>
          </a:p>
        </p:txBody>
      </p:sp>
      <p:pic>
        <p:nvPicPr>
          <p:cNvPr id="7" name="Picture 6" descr="mmlu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3348668" cy="1965960"/>
          </a:xfrm>
          <a:prstGeom prst="rect">
            <a:avLst/>
          </a:prstGeom>
        </p:spPr>
      </p:pic>
      <p:pic>
        <p:nvPicPr>
          <p:cNvPr id="8" name="Picture 7" descr="mmlu-q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92524"/>
            <a:ext cx="3399721" cy="1965960"/>
          </a:xfrm>
          <a:prstGeom prst="rect">
            <a:avLst/>
          </a:prstGeom>
        </p:spPr>
      </p:pic>
      <p:pic>
        <p:nvPicPr>
          <p:cNvPr id="9" name="Picture 8" descr="mmlu-q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448" y="2263139"/>
            <a:ext cx="6956038" cy="39853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5. FINE-TUNING PRESETS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One-click presets over decoding parameters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Helvetica Neue"/>
              </a:rPr>
              <a:t>Both benchmark pages expose presets that control decoding — not model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LAMBADA PRESETS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86000"/>
          <a:ext cx="557783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4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Preset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Temp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Top-p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Max tok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Few-shot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0B0B"/>
                          </a:solidFill>
                          <a:latin typeface="Helvetica Neue"/>
                        </a:rPr>
                        <a:t>Optimal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1.0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0B0B"/>
                          </a:solidFill>
                          <a:latin typeface="Helvetica Neue"/>
                        </a:rPr>
                        <a:t>Normal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0.3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0.9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32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0B0B"/>
                          </a:solidFill>
                          <a:latin typeface="Helvetica Neue"/>
                        </a:rPr>
                        <a:t>Best Performance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1.0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8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196596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Helvetica Neue"/>
              </a:rPr>
              <a:t>MMLU PRESETS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2286000"/>
          <a:ext cx="530351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Preset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Temp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Top-p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Max tok</a:t>
                      </a:r>
                    </a:p>
                  </a:txBody>
                  <a:tcPr marL="101600" marR="76200" marT="50800" marB="50800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0B0B"/>
                          </a:solidFill>
                          <a:latin typeface="Helvetica Neue"/>
                        </a:rPr>
                        <a:t>Optimal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1.0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512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0B0B"/>
                          </a:solidFill>
                          <a:latin typeface="Helvetica Neue"/>
                        </a:rPr>
                        <a:t>Normal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0.2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0.95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384</a:t>
                      </a:r>
                    </a:p>
                  </a:txBody>
                  <a:tcPr marL="101600" marR="76200" marT="38100" marB="38100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0B0B"/>
                          </a:solidFill>
                          <a:latin typeface="Helvetica Neue"/>
                        </a:rPr>
                        <a:t>Best Performance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0.0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1.0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2514E"/>
                          </a:solidFill>
                          <a:latin typeface="Helvetica Neue"/>
                        </a:rPr>
                        <a:t>192</a:t>
                      </a:r>
                    </a:p>
                  </a:txBody>
                  <a:tcPr marL="101600" marR="76200" marT="38100" marB="3810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Optimal: greedy decoding with the most worked examples / reasoning room — most reliable accuracy.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Normal: balanced defaults matching typical usage.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52514E"/>
                </a:solidFill>
                <a:latin typeface="Helvetica Neue"/>
              </a:rPr>
              <a:t>—  Best Performance: trimmed token / example budget — fastest, cheapest runs.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Takeaways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52514E"/>
                </a:solidFill>
                <a:latin typeface="Helvetica Neue"/>
              </a:rPr>
              <a:t>—  Ministral-8B was the most accurate on both benchmarks (38.1% LAMBADA, 78.9% MMLU); Llama-3.2-3B was consistently the fastest.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52514E"/>
                </a:solidFill>
                <a:latin typeface="Helvetica Neue"/>
              </a:rPr>
              <a:t>—  Gemma-3-4B is competitive on accuracy and reasoning quality but pays for it in latency.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52514E"/>
                </a:solidFill>
                <a:latin typeface="Helvetica Neue"/>
              </a:rPr>
              <a:t>—  LAMBADA rewards real use of context over surface patterns; MMLU adds breadth of knowledge and rewards reasoning that actually supports the answer.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52514E"/>
                </a:solidFill>
                <a:latin typeface="Helvetica Neue"/>
              </a:rPr>
              <a:t>—  The usual trade-off holds: stronger context handling and reasoning help accuracy, smaller/simpler models answer faster.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52514E"/>
                </a:solidFill>
                <a:latin typeface="Helvetica Neue"/>
              </a:rPr>
              <a:t>—  Live terminal streaming and the Optimal / Normal / Best Performance presets make runs observable in real time and easy to reproduce.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Helvetica Neue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Helvetica Neue"/>
              </a:rPr>
              <a:t>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52514E"/>
                </a:solidFill>
                <a:latin typeface="Helvetica Neue"/>
              </a:rPr>
              <a:t>—  Paperno, D. et al. (2016). The LAMBADA dataset. Proceedings of ACL 2016.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52514E"/>
                </a:solidFill>
                <a:latin typeface="Helvetica Neue"/>
              </a:rPr>
              <a:t>—  Hendrycks, D. et al. (2021). Measuring Massive Multitask Language Understanding. Proceedings of ICLR 2021.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52514E"/>
                </a:solidFill>
                <a:latin typeface="Helvetica Neue"/>
              </a:rPr>
              <a:t>—  Google (2025). Gemma 3 technical report.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52514E"/>
                </a:solidFill>
                <a:latin typeface="Helvetica Neue"/>
              </a:rPr>
              <a:t>—  Meta (2024). Llama 3.2 model card.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52514E"/>
                </a:solidFill>
                <a:latin typeface="Helvetica Neue"/>
              </a:rPr>
              <a:t>—  Mistral AI (2024). Ministral model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Helvetica Neue"/>
              </a:rPr>
              <a:t>github.com/ronvoy/gen-ai   ·   unina.cc/gen-ai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LAMBADA &amp; MMLU Benchmark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1839</Words>
  <Application>Microsoft Macintosh PowerPoint</Application>
  <PresentationFormat>Widescreen</PresentationFormat>
  <Paragraphs>359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BAIDYA</cp:lastModifiedBy>
  <cp:revision>3</cp:revision>
  <dcterms:created xsi:type="dcterms:W3CDTF">2013-01-27T09:14:16Z</dcterms:created>
  <dcterms:modified xsi:type="dcterms:W3CDTF">2026-07-21T11:15:06Z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2026-07-21T11:04:16Z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41c50501-1b5f-4df7-9668-dac17f9c8ac4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